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70" r:id="rId9"/>
    <p:sldId id="271" r:id="rId10"/>
    <p:sldId id="274" r:id="rId11"/>
    <p:sldId id="275" r:id="rId12"/>
    <p:sldId id="279" r:id="rId13"/>
    <p:sldId id="28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6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minutes, four missions. Suggested pace: 15 minutes framing (slides 2–5), then Mission 1 about 20 min, Mission 2 about 20 min, Mission 3 about 25 min, Mission 4 about 20 min, each briefed with its slides then run. Participants work in ~/freshmart with .venv active; nothing is downloaded, everything is generated from seed 42. Every number on these slides is a real capture from the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hand-off. M2 ended with a routed list of quality findings and a grain — not a chart. This lab picks up M2's dataset, not a new one: src/generate_data.py is M2's gen.py with the same draw order, so seed 42 reproduces the same 31,598 rows and the same injected defects. Faculty who ran M2 will recognise every number on the first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role in this lab is Data Engineer. The situation is the opening of the handout: M2 found the defects by hand, once. Doing that every morning at 06:10 is a contract. Note the third number — the ops feed arrives separately, which turns out to drive the shape of the whole DAG in Mission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missions, four tools, one pipeline. Each mission ends in a coded challenge with a verified solution in the Faculty Edition. Setup, if anyone is not ready: pip install prefect dvc great-expectations feast pandas pyarrow numpy, then mkdir -p src pipelines feature_repo/data data and git init -q &amp;&amp; dvc init -q — DVC requires a git repository. Targets current releases: GE 1.x, Feast 0.65+, Prefect 3.x, DVC 3.x.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one to have ready when someone asks "why not Airflow?" — and someone always does. The honest answer for each row is that the choice is a teaching choice, not a claim that it is the industry default. Airflow is the incumbent; Tecton is more powerful and not free or local. What transfers is the concept, not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Five-minute discussion before any code. The mistake students make is to reach for a repair strategy uniformly — usually imputation — without asking which field it is. Note that M2's Mission 1 challenge already routed each finding; this lab executes those decisions rather than re-litigating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Authority is the operative word. A contract that reports without stopping is a dashboard, and dashboards get ignored at 06:10. The exit code is what turns the check into a gate, and Mission 3's flow is what honours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 before the code: if one upstream source changes, what re-runs — everything, or only the affected stage and its descendants? That answer is the difference between a five-second incremental run and a full rebuild, and DVC's dependency graph decides it for you rather than leaving it to whoever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dvc.yaml, and dvc dag prints the same shape in ASCII. M2's gen.py wrote the POS log and the reference tables in one go, because a snapshot only needs to exist once. Keeping them in one stage here would mean re-cleaning 31,000 transactions because a lead time moved from 3 days to 4 — that is how a 90-second pipeline becomes a 40-minute one. Validate sits beside the main path as a gate, not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"why not just a shell script with &amp;&amp; between the commands?" — the script gives you ordering and nothing else on this list. The orchestration-versus-choreography distinction is worth naming because participants will meet event-driven pipelines in industry; for a DAG with clear dependencies, a conductor is the right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decide: why must training and serving read from the same definition rather than two hand-written queries? Name the failure when they diverge — training–serving skew, the top cause of a model that scores well offline and fails live. Then the harder version of the question: whose job is it to notice when they have diverged? Usually nobody's, which is why the answer has to be 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lab: the POS log ingested and cleaned once, contract-checked against M2's rules, versioned as a DAG, and served offline and online from one Feast definition at Store × Product × Day. Prepare → Build. Break, then M3 + Lab 2 at 15:00; tell participants to leave the folder exactly as it is, because Lab 2 starts from the feature store they just materialised.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assessment kit in the Faculty Edition. Use them as quick-fire: ask, take one answer from the room, then reveal. Each is also a viva question for your own courses — the third one in particular separates students who understand the pipeline from those who only ran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13:15–14:45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1 · DataOps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026841"/>
            <a:ext cx="981075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overnight data supply chain: Prefect · DVC · Great Expectations · Feast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5200749"/>
            <a:ext cx="10566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800" y="54102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as code · the five observability pillars in practice · stage DAGs · offline and online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BITS Pilani WILP · CSIS · Pravin Y Pawar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Prepare: make M2's data trustworthy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1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1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3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25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5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7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49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49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1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73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73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15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97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7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39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521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Re-execute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21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63150" y="1936651"/>
            <a:ext cx="1409700" cy="924520"/>
          </a:xfrm>
          <a:prstGeom prst="roundRect">
            <a:avLst>
              <a:gd name="adj" fmla="val 892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45700" y="2120801"/>
            <a:ext cx="1244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45700" y="2463701"/>
            <a:ext cx="124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3232646"/>
            <a:ext cx="3318867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2800" y="3369171"/>
            <a:ext cx="34184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31,598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2800" y="3917752"/>
            <a:ext cx="34184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M2 profiled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36467" y="3232646"/>
            <a:ext cx="3318966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436467" y="3369171"/>
            <a:ext cx="34185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252 · 150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436467" y="3917752"/>
            <a:ext cx="341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quantities · duplicate IDs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60234" y="3232646"/>
            <a:ext cx="3318966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60234" y="3369171"/>
            <a:ext cx="3418535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× Product × Day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060234" y="4415532"/>
            <a:ext cx="341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grain M2 handed over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3202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06:10 · THE BATCH LANDS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95014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file arrived” and “the data is trustworthy” are different claims.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423345"/>
            <a:ext cx="981075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Closing that gap is DataOps. The ML team is waiting for a trusted Store × Product × Day feature set, and the transfer job has already reported SUCCESS.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4354215"/>
            <a:ext cx="166300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4973935"/>
            <a:ext cx="166300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re-sent transactions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1405" y="4354215"/>
            <a:ext cx="176624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31405" y="4973935"/>
            <a:ext cx="176624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with no quantity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52603" y="4354215"/>
            <a:ext cx="37893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separate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52603" y="4973935"/>
            <a:ext cx="3789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feed of lead times and promotions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M2's hand-off into a running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2514600" cy="2039243"/>
          </a:xfrm>
          <a:prstGeom prst="roundRect">
            <a:avLst>
              <a:gd name="adj" fmla="val 404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3300" y="2095401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300" y="2384921"/>
            <a:ext cx="22106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Expectations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3300" y="2720181"/>
            <a:ext cx="221068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M2's three rules become an executable, versionable contract that fails loudly.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8850" y="1885851"/>
            <a:ext cx="2514600" cy="2039243"/>
          </a:xfrm>
          <a:prstGeom prst="roundRect">
            <a:avLst>
              <a:gd name="adj" fmla="val 404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83000" y="2095401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83000" y="2384921"/>
            <a:ext cx="22106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pillars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83000" y="2720181"/>
            <a:ext cx="2210689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Freshness, volume, schema, distribution and lineage, emitted and gated.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8550" y="1885851"/>
            <a:ext cx="2514600" cy="2039243"/>
          </a:xfrm>
          <a:prstGeom prst="roundRect">
            <a:avLst>
              <a:gd name="adj" fmla="val 404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700" y="2095401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2700" y="2384921"/>
            <a:ext cx="22106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DVC + Prefect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2700" y="2720181"/>
            <a:ext cx="221068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stage DAG that versions every input and output, executed as a flow.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8250" y="1885851"/>
            <a:ext cx="2514600" cy="2039243"/>
          </a:xfrm>
          <a:prstGeom prst="roundRect">
            <a:avLst>
              <a:gd name="adj" fmla="val 404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42400" y="2095401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42400" y="2384921"/>
            <a:ext cx="22106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42400" y="2720181"/>
            <a:ext cx="221068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definition served two ways: point-in-time offline, millisecond online.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4236244"/>
            <a:ext cx="10566400" cy="908050"/>
          </a:xfrm>
          <a:prstGeom prst="roundRect">
            <a:avLst>
              <a:gd name="adj" fmla="val 11189"/>
            </a:avLst>
          </a:prstGeom>
          <a:solidFill>
            <a:srgbClr val="E2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41400" y="4414044"/>
            <a:ext cx="10412476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downloaded. </a:t>
            </a:r>
            <a:r>
              <a:rPr lang="en-US" sz="1500" b="1" dirty="0">
                <a:solidFill>
                  <a:srgbClr val="0E6F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src/generate_data.py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M2's generator with its draw order intact, so seed 42 reproduces M2's extract exactly — and a wiped data/ directory is repaired by dvc repro.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RATIONALE</a:t>
            </a:r>
            <a:endParaRPr lang="en-US" sz="1159" dirty="0"/>
          </a:p>
        </p:txBody>
      </p:sp>
      <p:sp>
        <p:nvSpPr>
          <p:cNvPr id="3" name="Text 1"/>
          <p:cNvSpPr/>
          <p:nvPr/>
        </p:nvSpPr>
        <p:spPr>
          <a:xfrm>
            <a:off x="812800" y="1119088"/>
            <a:ext cx="10883392" cy="454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311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these four, and what we rejected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2800" y="1808163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9150" y="1801813"/>
            <a:ext cx="0" cy="325308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903413"/>
          <a:ext cx="10299700" cy="3062584"/>
        </p:xfrm>
        <a:graphic>
          <a:graphicData uri="http://schemas.openxmlformats.org/drawingml/2006/table">
            <a:tbl>
              <a:tblPr/>
              <a:tblGrid>
                <a:gridCol w="164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20"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Concern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Our choice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alternatives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this one, for teaching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491"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Contracts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Great Expectations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Pandera · dbt tests · hand-rolled asserts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contract should be an artifact the whole team reads, not asserts buried in a script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491"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Orchestration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Prefect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Airflow (incumbent, heavy) · Dagster (asset-centric)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Python-native and lightest on a laptop; the concepts transfer to all three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491"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Versioning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DVC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lakeFS · Delta and table formats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dvc.lock makes reproducibility concrete and visible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591"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 store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Feast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Tecton (managed) · build-your-own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29"/>
                        </a:lnSpc>
                        <a:buNone/>
                      </a:pPr>
                      <a:r>
                        <a:rPr lang="en-US" sz="1378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Open, local, and teaches the offline/online split cleanly</a:t>
                      </a:r>
                      <a:endParaRPr lang="en-US" sz="137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1258" marR="61258" marT="61258" marB="61258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308898"/>
            <a:ext cx="10883392" cy="558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7"/>
              </a:lnSpc>
              <a:buNone/>
            </a:pPr>
            <a:r>
              <a:rPr lang="en-US" sz="1453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Hand-rolled asserts are fine until they sprawl; dbt tests live in the warehouse; build-your-own is what most teams accidentally do — and regret.</a:t>
            </a:r>
            <a:endParaRPr lang="en-US" sz="1453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THE FILE THAT SAYS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batch violates the contract. What do you do?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373934" cy="1828403"/>
          </a:xfrm>
          <a:prstGeom prst="roundRect">
            <a:avLst>
              <a:gd name="adj" fmla="val 520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120801"/>
            <a:ext cx="29911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 the 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4100" y="2483941"/>
            <a:ext cx="299115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unknown store_id is fatal — the grain itself is gone, and nothing downstream can be trusted.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8984" y="1885851"/>
            <a:ext cx="3374033" cy="1828403"/>
          </a:xfrm>
          <a:prstGeom prst="roundRect">
            <a:avLst>
              <a:gd name="adj" fmla="val 5209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643934" y="2120801"/>
            <a:ext cx="299125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Quarantine the rows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43934" y="2483941"/>
            <a:ext cx="2991257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price outside the ₹20–₹500 band is a feed defect: hold those rows, pass the rest, investigate the source.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8916" y="1885851"/>
            <a:ext cx="3373934" cy="1828403"/>
          </a:xfrm>
          <a:prstGeom prst="roundRect">
            <a:avLst>
              <a:gd name="adj" fmla="val 5209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33866" y="2120801"/>
            <a:ext cx="29911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the rows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33866" y="2483941"/>
            <a:ext cx="299115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missing quantity is a row you cannot use. M2's triage table already made this call.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25404"/>
            <a:ext cx="10883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is right for a different field. </a:t>
            </a: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the policy first; the code only encodes it.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794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 · MAKE THE CONTRACT EXECUTABLE IN 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95265"/>
            <a:ext cx="10883392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checklist must run automatically — and have the authority to stop the run.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900785"/>
            <a:ext cx="981075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validate stage returns non-zero on failure. The Prefect flow raises on that, halting before a single feature is built on data nobody trusts.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501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3 · THE PIPELINE HAS DEPENDENCIES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32335"/>
            <a:ext cx="10883392" cy="160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notebook cannot express “if a lead time changes, recompute features — but do not re-clean the POS log.”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163616"/>
            <a:ext cx="981075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DVC declares the stage DAG and versions every input and output. Prefect executes it, with logging, retries and a visible run.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DVC.YAML · THE STAGE DAG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feeds, split by how often they change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673350"/>
            <a:ext cx="1638300" cy="647700"/>
          </a:xfrm>
          <a:prstGeom prst="roundRect">
            <a:avLst>
              <a:gd name="adj" fmla="val 1078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9800" y="2755900"/>
            <a:ext cx="1447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</a:t>
            </a:r>
            <a:endParaRPr lang="en-US" sz="1444" dirty="0"/>
          </a:p>
        </p:txBody>
      </p:sp>
      <p:sp>
        <p:nvSpPr>
          <p:cNvPr id="6" name="Text 4"/>
          <p:cNvSpPr/>
          <p:nvPr/>
        </p:nvSpPr>
        <p:spPr>
          <a:xfrm>
            <a:off x="939800" y="3035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 + masters</a:t>
            </a:r>
            <a:endParaRPr lang="en-US" sz="1159" dirty="0"/>
          </a:p>
        </p:txBody>
      </p:sp>
      <p:sp>
        <p:nvSpPr>
          <p:cNvPr id="7" name="Shape 5"/>
          <p:cNvSpPr/>
          <p:nvPr/>
        </p:nvSpPr>
        <p:spPr>
          <a:xfrm>
            <a:off x="2978150" y="2673350"/>
            <a:ext cx="1638300" cy="647700"/>
          </a:xfrm>
          <a:prstGeom prst="roundRect">
            <a:avLst>
              <a:gd name="adj" fmla="val 1078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98800" y="2755900"/>
            <a:ext cx="1447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</a:t>
            </a:r>
            <a:endParaRPr lang="en-US" sz="1444" dirty="0"/>
          </a:p>
        </p:txBody>
      </p:sp>
      <p:sp>
        <p:nvSpPr>
          <p:cNvPr id="9" name="Text 7"/>
          <p:cNvSpPr/>
          <p:nvPr/>
        </p:nvSpPr>
        <p:spPr>
          <a:xfrm>
            <a:off x="3098800" y="3035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immutable history</a:t>
            </a:r>
            <a:endParaRPr lang="en-US" sz="1159" dirty="0"/>
          </a:p>
        </p:txBody>
      </p:sp>
      <p:sp>
        <p:nvSpPr>
          <p:cNvPr id="10" name="Shape 8"/>
          <p:cNvSpPr/>
          <p:nvPr/>
        </p:nvSpPr>
        <p:spPr>
          <a:xfrm>
            <a:off x="5391150" y="1784350"/>
            <a:ext cx="1638300" cy="647700"/>
          </a:xfrm>
          <a:prstGeom prst="roundRect">
            <a:avLst>
              <a:gd name="adj" fmla="val 10784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11800" y="1866900"/>
            <a:ext cx="1447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</a:t>
            </a:r>
            <a:endParaRPr lang="en-US" sz="1444" dirty="0"/>
          </a:p>
        </p:txBody>
      </p:sp>
      <p:sp>
        <p:nvSpPr>
          <p:cNvPr id="12" name="Text 10"/>
          <p:cNvSpPr/>
          <p:nvPr/>
        </p:nvSpPr>
        <p:spPr>
          <a:xfrm>
            <a:off x="5511800" y="2146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contract gate</a:t>
            </a:r>
            <a:endParaRPr lang="en-US" sz="1159" dirty="0"/>
          </a:p>
        </p:txBody>
      </p:sp>
      <p:sp>
        <p:nvSpPr>
          <p:cNvPr id="13" name="Shape 11"/>
          <p:cNvSpPr/>
          <p:nvPr/>
        </p:nvSpPr>
        <p:spPr>
          <a:xfrm>
            <a:off x="5391150" y="3689350"/>
            <a:ext cx="1638300" cy="647700"/>
          </a:xfrm>
          <a:prstGeom prst="roundRect">
            <a:avLst>
              <a:gd name="adj" fmla="val 1078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11800" y="3771900"/>
            <a:ext cx="1447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ops</a:t>
            </a:r>
            <a:endParaRPr lang="en-US" sz="1444" dirty="0"/>
          </a:p>
        </p:txBody>
      </p:sp>
      <p:sp>
        <p:nvSpPr>
          <p:cNvPr id="15" name="Text 13"/>
          <p:cNvSpPr/>
          <p:nvPr/>
        </p:nvSpPr>
        <p:spPr>
          <a:xfrm>
            <a:off x="5511800" y="4051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pulled daily</a:t>
            </a:r>
            <a:endParaRPr lang="en-US" sz="1159" dirty="0"/>
          </a:p>
        </p:txBody>
      </p:sp>
      <p:sp>
        <p:nvSpPr>
          <p:cNvPr id="16" name="Shape 14"/>
          <p:cNvSpPr/>
          <p:nvPr/>
        </p:nvSpPr>
        <p:spPr>
          <a:xfrm>
            <a:off x="7550150" y="2673350"/>
            <a:ext cx="1638300" cy="647700"/>
          </a:xfrm>
          <a:prstGeom prst="roundRect">
            <a:avLst>
              <a:gd name="adj" fmla="val 1078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670800" y="2755900"/>
            <a:ext cx="1447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engineer</a:t>
            </a:r>
            <a:endParaRPr lang="en-US" sz="1444" dirty="0"/>
          </a:p>
        </p:txBody>
      </p:sp>
      <p:sp>
        <p:nvSpPr>
          <p:cNvPr id="18" name="Text 16"/>
          <p:cNvSpPr/>
          <p:nvPr/>
        </p:nvSpPr>
        <p:spPr>
          <a:xfrm>
            <a:off x="7670800" y="3035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table</a:t>
            </a:r>
            <a:endParaRPr lang="en-US" sz="1159" dirty="0"/>
          </a:p>
        </p:txBody>
      </p:sp>
      <p:sp>
        <p:nvSpPr>
          <p:cNvPr id="19" name="Shape 17"/>
          <p:cNvSpPr/>
          <p:nvPr/>
        </p:nvSpPr>
        <p:spPr>
          <a:xfrm>
            <a:off x="9709150" y="2673350"/>
            <a:ext cx="1663700" cy="647700"/>
          </a:xfrm>
          <a:prstGeom prst="roundRect">
            <a:avLst>
              <a:gd name="adj" fmla="val 1078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29800" y="2755900"/>
            <a:ext cx="147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444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feast</a:t>
            </a:r>
            <a:endParaRPr lang="en-US" sz="1444" dirty="0"/>
          </a:p>
        </p:txBody>
      </p:sp>
      <p:sp>
        <p:nvSpPr>
          <p:cNvPr id="21" name="Text 19"/>
          <p:cNvSpPr/>
          <p:nvPr/>
        </p:nvSpPr>
        <p:spPr>
          <a:xfrm>
            <a:off x="9829800" y="3035300"/>
            <a:ext cx="147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+ materialize</a:t>
            </a:r>
            <a:endParaRPr lang="en-US" sz="1159" dirty="0"/>
          </a:p>
        </p:txBody>
      </p:sp>
      <p:pic>
        <p:nvPicPr>
          <p:cNvPr id="2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3000" y="2946400"/>
            <a:ext cx="609600" cy="101600"/>
          </a:xfrm>
          <a:prstGeom prst="rect">
            <a:avLst/>
          </a:prstGeom>
        </p:spPr>
      </p:pic>
      <p:pic>
        <p:nvPicPr>
          <p:cNvPr id="2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057400"/>
            <a:ext cx="863600" cy="990600"/>
          </a:xfrm>
          <a:prstGeom prst="rect">
            <a:avLst/>
          </a:prstGeom>
        </p:spPr>
      </p:pic>
      <p:pic>
        <p:nvPicPr>
          <p:cNvPr id="24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2946400"/>
            <a:ext cx="3022600" cy="101600"/>
          </a:xfrm>
          <a:prstGeom prst="rect">
            <a:avLst/>
          </a:prstGeom>
        </p:spPr>
      </p:pic>
      <p:pic>
        <p:nvPicPr>
          <p:cNvPr id="25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87500" y="3276600"/>
            <a:ext cx="3848100" cy="787400"/>
          </a:xfrm>
          <a:prstGeom prst="rect">
            <a:avLst/>
          </a:prstGeom>
        </p:spPr>
      </p:pic>
      <p:pic>
        <p:nvPicPr>
          <p:cNvPr id="26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85000" y="3124200"/>
            <a:ext cx="609600" cy="939800"/>
          </a:xfrm>
          <a:prstGeom prst="rect">
            <a:avLst/>
          </a:prstGeom>
        </p:spPr>
      </p:pic>
      <p:pic>
        <p:nvPicPr>
          <p:cNvPr id="27" name="Image 5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2946400"/>
            <a:ext cx="609600" cy="101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2800" y="4826000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POS log is ingested and cleaned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</a:t>
            </a: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 is immutable history. Lead times and promotions are pulled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morning</a:t>
            </a: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Only engineer depends on both.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FOCUS · ORCHESTRATION, DEEPENED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orchestration buys, beyond “run the scripts in order”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282031"/>
            <a:ext cx="1998960" cy="1594941"/>
          </a:xfrm>
          <a:prstGeom prst="roundRect">
            <a:avLst>
              <a:gd name="adj" fmla="val 517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5200" y="2466181"/>
            <a:ext cx="1758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5200" y="2770981"/>
            <a:ext cx="175806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stage runs only when its inputs are ready.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7810" y="2282031"/>
            <a:ext cx="1998960" cy="1594941"/>
          </a:xfrm>
          <a:prstGeom prst="roundRect">
            <a:avLst>
              <a:gd name="adj" fmla="val 517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03860" y="2466181"/>
            <a:ext cx="1758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3860" y="2770981"/>
            <a:ext cx="17580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flaky source does not fail the whole run.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96470" y="2282031"/>
            <a:ext cx="1998960" cy="1594941"/>
          </a:xfrm>
          <a:prstGeom prst="roundRect">
            <a:avLst>
              <a:gd name="adj" fmla="val 517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42520" y="2466181"/>
            <a:ext cx="1758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42520" y="2770981"/>
            <a:ext cx="17580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nightly, or backfill a missed window.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35130" y="2282031"/>
            <a:ext cx="1998960" cy="1594941"/>
          </a:xfrm>
          <a:prstGeom prst="roundRect">
            <a:avLst>
              <a:gd name="adj" fmla="val 517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81180" y="2466181"/>
            <a:ext cx="1758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81180" y="2770981"/>
            <a:ext cx="175806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 is inspectable after the fact.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3791" y="2282031"/>
            <a:ext cx="1998960" cy="1594941"/>
          </a:xfrm>
          <a:prstGeom prst="roundRect">
            <a:avLst>
              <a:gd name="adj" fmla="val 5176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19841" y="2466181"/>
            <a:ext cx="175806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Selective re-execution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19841" y="2999581"/>
            <a:ext cx="175806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what changed re-runs — what Lab 4 triggers on drift.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150" y="4143673"/>
            <a:ext cx="5168900" cy="1252041"/>
          </a:xfrm>
          <a:prstGeom prst="roundRect">
            <a:avLst>
              <a:gd name="adj" fmla="val 760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28700" y="4353223"/>
            <a:ext cx="48922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28700" y="4688483"/>
            <a:ext cx="489229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conductor centrally directs the flow — Prefect, Airflow, Dagster. The right default when dependencies are clear.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03950" y="4143673"/>
            <a:ext cx="5168900" cy="1252041"/>
          </a:xfrm>
          <a:prstGeom prst="roundRect">
            <a:avLst>
              <a:gd name="adj" fmla="val 7608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13500" y="4353223"/>
            <a:ext cx="48922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Choreography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13500" y="4688483"/>
            <a:ext cx="489229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react to events with no conductor. Looser coupling, and no single place that knows the plan.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137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VERSION THE ANSWER, AND SERVE IT TWO 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38698"/>
            <a:ext cx="10883392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definition is the structural defence against training–serving skew.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744218"/>
            <a:ext cx="9810750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the data, not just the code, so any result is reproducible — dvc.lock pins every hash. Then serve features offline for training, point-in-time correct, and online for serving, by entity key in milliseconds.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ANSWERED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FreshMart can produce M2's data requirement reliably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8226"/>
            <a:ext cx="24511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1974751"/>
            <a:ext cx="25246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16/16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2523331"/>
            <a:ext cx="25246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 expectations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17900" y="1838226"/>
            <a:ext cx="24511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17900" y="1974751"/>
            <a:ext cx="25246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17900" y="2523331"/>
            <a:ext cx="25246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 stages in the DAG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3000" y="1838226"/>
            <a:ext cx="24511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23000" y="1974751"/>
            <a:ext cx="25246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23,589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23000" y="2523331"/>
            <a:ext cx="25246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rows, served two ways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28100" y="1838226"/>
            <a:ext cx="24511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28100" y="1974751"/>
            <a:ext cx="2524633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e0ce921bf845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28100" y="3021112"/>
            <a:ext cx="252463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data_hash that follows the model to production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720802"/>
            <a:ext cx="10566400" cy="1602581"/>
          </a:xfrm>
          <a:prstGeom prst="roundRect">
            <a:avLst>
              <a:gd name="adj" fmla="val 6340"/>
            </a:avLst>
          </a:prstGeom>
          <a:solidFill>
            <a:srgbClr val="E2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66800" y="392400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THE QUESTION THIS OPENS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6800" y="4213523"/>
            <a:ext cx="10360152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have 23,589 trustworthy feature rows and a reorder_7d label with a 13.5% base rate — and no model. Can we build one and defend it, without leaking and without fooling ourselves with a single number on an imbalanced label?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DEBRIEF · QUESTIONS STUDENTS WILL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 to close Lab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81600" cy="1236762"/>
          </a:xfrm>
          <a:prstGeom prst="roundRect">
            <a:avLst>
              <a:gd name="adj" fmla="val 7702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4460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not just assert in the script?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8700" y="236458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named suite is an artifact the team reads and diffs. Asserts sprawl, and nobody reviews a change to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1250" y="1835051"/>
            <a:ext cx="5181600" cy="1236762"/>
          </a:xfrm>
          <a:prstGeom prst="roundRect">
            <a:avLst>
              <a:gd name="adj" fmla="val 7702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204460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five pillars, not one health check?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64581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are orthogonal. The drifted batch passed schema and volume; only distribution saw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3262313"/>
            <a:ext cx="5181600" cy="1485602"/>
          </a:xfrm>
          <a:prstGeom prst="roundRect">
            <a:avLst>
              <a:gd name="adj" fmla="val 6412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8700" y="3471863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scores 0.85 offline, 0.60 live. Why?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8700" y="3791843"/>
            <a:ext cx="490537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data-pipeline causes: training–serving skew, fixed by one Feast definition; and point-in-time leakage, fixed by the as-of join.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1250" y="3262313"/>
            <a:ext cx="5181600" cy="1485602"/>
          </a:xfrm>
          <a:prstGeom prst="roundRect">
            <a:avLst>
              <a:gd name="adj" fmla="val 6412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3471863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split the POS log from the ops feed?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91843"/>
            <a:ext cx="490537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change at different rates. Together, a lead time moving from 3 days to 4 would re-clean 31,000 transactions.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Lab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2169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IBM Plex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Day 1 · 13:15 — Lab 1: Orchestrated Data Pipeline as DataOps</dc:title>
  <dc:subject>PptxGenJS Presentation</dc:subject>
  <dc:creator>PptxGenJS</dc:creator>
  <cp:lastModifiedBy>Pravin Yashwant Pawar .</cp:lastModifiedBy>
  <cp:revision>3</cp:revision>
  <dcterms:created xsi:type="dcterms:W3CDTF">2026-09-27T04:11:56Z</dcterms:created>
  <dcterms:modified xsi:type="dcterms:W3CDTF">2026-09-28T12:55:48Z</dcterms:modified>
</cp:coreProperties>
</file>
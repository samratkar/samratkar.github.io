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5" r:id="rId9"/>
    <p:sldId id="266" r:id="rId10"/>
    <p:sldId id="267" r:id="rId11"/>
    <p:sldId id="268" r:id="rId12"/>
    <p:sldId id="270" r:id="rId13"/>
    <p:sldId id="271" r:id="rId14"/>
    <p:sldId id="272" r:id="rId15"/>
    <p:sldId id="273" r:id="rId16"/>
    <p:sldId id="274" r:id="rId17"/>
    <p:sldId id="275" r:id="rId18"/>
    <p:sldId id="276" r:id="rId19"/>
    <p:sldId id="277" r:id="rId20"/>
    <p:sldId id="278" r:id="rId21"/>
    <p:sldId id="279"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4482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session of Day 1, two hours. Suggested split: M3 theory about 40 minutes (slides 2–14), Lab 2 briefing and hands-on about 70 minutes (slides 15–22 used as the lab runs, each mission briefed then run), 10 minutes debrief (23–24). Everything runs in Lab 1's repository with .venv active; nothing new is generated.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Lab 1's hand-off. These four numbers are what Lab 2 inherits. The hash is the thread for this session: it is the SHA-256 of the raw POS extract, truncated to 12 characters, written by Lab 1's generate stage. By 17:00 it will be a tag on a registered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session around 'defensible'. A defensible model is one you could justify to an auditor, a planner or a student asking why. Each of these five maps to a mission, and each is independent of AUC.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situation paragraph from the Lab 2 handout. Ask the room: how many of your students' submissions are exactly this? The file name model_final_v3_REALLY.pkl comes up in Mission 7. The rest of the session builds the alternative piece by piece.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theory. Architecture before tooling: for each idea, establish the failure it prevents before showing the MLflow or Feast call.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maps to something built in Lab 1 or coming later. The point: a feature is an engineered, versioned asset with an owner. The feature store's job is to make the Define step the single source of truth for both training and serving.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window looks backwards only, by construction. The 1.5x spike factor is a business parameter set with Supply Chain, not a fact discovered in the data — worth pointing out as a teaching moment about who owns a label definition. Note: the label definition shown is the one in the v9 engineer_features.py script.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classroom test: could a student delete everything except the repository and get the same AUC tomorrow? Each card is one reason they couldn't. All six are handled in Labs 1–2. The data hash reproduces exactly: re-running Lab 1's generate stage from the starter scripts gives e0ce921bf845 again.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Lineage is a two-way query. The hash is computed once in Lab 1's generate stage, attached to the MLflow run in Lab 2, copied onto the model version, and follows the model through Lab 3 serving and Lab 5 deployment. Rule in train.py: nothing is registered without lineage.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URI is sqlite:///artifacts/mlflow.db, so the whole experiment history lives in the repository folder. Participants can open it with mlflow ui --backend-store-uri sqlite:///artifacts/mlflow.db on port 5000. Nested runs keep one build's candidates together so they are compared on the same split and the same data hash.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are immutable; aliases move. Lab 2 creates v1 and points @champion at it. Lab 3 registers the XGBoost as @candidate for shadow testing; Lab 5 introduces promotion gates and rollback by moving aliases. The version numbers for v2 and v3 here are illustrative — they depend on how many times participants re-run. MLflow deprecated fixed stages in favour of aliases in the 2.x 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begins. dvc repro is a no-op if Lab 1 is up to date, and repairs the feature store if not. Each mission ends in a coded challenge with a verified solution in the Faculty Edition. Brief each mission with its slide, then let participants run it. The captured numbers on the next slides are the real outputs — participants should see the same values.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later decision must respect 'known at t', including the split. With rolling features a random split lets the model be scored on a world it has already seen. Note the base rate shifts from 18% to 24% between train and test: the hold-out is harder, which is realistic.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decide before running: what AUC would make you suspicious rather than pleased? The loud leak is computed from the label. The quiet one is a centred rolling window, reading 3 days into the future — nothing computed from the label, a modest lift. The coded challenge builds a two-screen audit: correlation, plus recomputing each feature using only rows dated on or before the prediction date. The habit that defends against it: for every feature, ask what timestamp its value could first have been computed 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students always ask: why is F1 near zero if the AUC is fine? AUC scores the ranking; F1 scores one threshold on it. At a 24% base rate almost nothing clears 0.5. Also: the stratified dummy has an F1 of 0.204 at 0.5 while the real model has 0.051 — the inversion that confuses everyone. Pricing the errors in rupees turns the threshold into a business decision.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owns the threshold in their organisation. If the answer is 'the data scientist', the operating point is being set by whoever last edited a notebook rather than whoever carries the cost of a stockout. The sensitivity block is the part worth the whiteboard.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for this honest surprise: the logistic regression wins. XGBoost is regularised deliberately; an unregularised one scores 0.63 on the hold-out. The MLP costs the most to train and explains the least. The coded challenge asks participants to decide on business criteria and say what each column is worth to FreshMart. XGBoost is worth revisiting when the data grows or the relationships become non-linear.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coded challenge adds a hypothetical notebook_model_v3 with AUC 0.82 and no recorded data_hash. It is the best model in the room and it is blocked — the whole session in one slide. Latency must be measured the way it will be incurred: single-row requests. Amortising a 6,561-row batch gives 0.000 ms per row and lets anything through. Discussion: what else belongs in a gate? Increasingly, a fairness check.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captured output participants should reproduce: champion = v1 with these four tags. If someone's version number is higher, they have re-run train.py — that's fine, the alias still points at the latest gated winner. Have them open the MLflow UI on port 5000 and find the parent build run, the nested candidates and the registered model.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assessment kit in the Faculty Edition. Use them as a quick-fire debrief: ask the question, take one answer from the room, then reveal. Each is also a viva question for your own courses.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Day 1. Answered today: a defensible model, trained through the feature store, audited for both kinds of leakage, priced in rupees, chosen on business criteria and registered as @champion with the data_hash that reaches back to M2's extract. Remind participants to leave their ~/freshmart folder intact: Day 2 starts from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FROM PIPELINES TO PRODUCTION · DAY 1 · 15:00–17:00</a:t>
            </a:r>
            <a:endParaRPr lang="en-US" sz="1200" dirty="0"/>
          </a:p>
        </p:txBody>
      </p:sp>
      <p:sp>
        <p:nvSpPr>
          <p:cNvPr id="3" name="Text 1"/>
          <p:cNvSpPr/>
          <p:nvPr/>
        </p:nvSpPr>
        <p:spPr>
          <a:xfrm>
            <a:off x="812800" y="115312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6F4EE"/>
                </a:solidFill>
                <a:latin typeface="IBM Plex Sans" pitchFamily="34" charset="0"/>
                <a:ea typeface="IBM Plex Sans" pitchFamily="34" charset="-122"/>
                <a:cs typeface="IBM Plex Sans" pitchFamily="34" charset="-120"/>
              </a:rPr>
              <a:t>M3 + Lab 2</a:t>
            </a:r>
            <a:endParaRPr lang="en-US" sz="5600" dirty="0"/>
          </a:p>
        </p:txBody>
      </p:sp>
      <p:sp>
        <p:nvSpPr>
          <p:cNvPr id="4" name="Text 2"/>
          <p:cNvSpPr/>
          <p:nvPr/>
        </p:nvSpPr>
        <p:spPr>
          <a:xfrm>
            <a:off x="812800" y="2026841"/>
            <a:ext cx="9810750" cy="817761"/>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F6F4EE"/>
                </a:solidFill>
                <a:latin typeface="IBM Plex Sans" pitchFamily="34" charset="0"/>
                <a:ea typeface="IBM Plex Sans" pitchFamily="34" charset="-122"/>
                <a:cs typeface="IBM Plex Sans" pitchFamily="34" charset="-120"/>
              </a:rPr>
              <a:t>Feature stores and reproducibility → an orchestrated ML pipeline with MLflow and registry aliases</a:t>
            </a:r>
            <a:endParaRPr lang="en-US" sz="2400" dirty="0"/>
          </a:p>
        </p:txBody>
      </p:sp>
      <p:sp>
        <p:nvSpPr>
          <p:cNvPr id="5" name="Shape 3"/>
          <p:cNvSpPr/>
          <p:nvPr/>
        </p:nvSpPr>
        <p:spPr>
          <a:xfrm>
            <a:off x="812800" y="5200749"/>
            <a:ext cx="10566400" cy="0"/>
          </a:xfrm>
          <a:prstGeom prst="line">
            <a:avLst/>
          </a:prstGeom>
          <a:noFill/>
          <a:ln w="12700">
            <a:solidFill>
              <a:srgbClr val="3A4B57"/>
            </a:solidFill>
            <a:prstDash val="solid"/>
          </a:ln>
        </p:spPr>
        <p:txBody>
          <a:bodyPr/>
          <a:lstStyle/>
          <a:p>
            <a:endParaRPr lang="en-IN"/>
          </a:p>
        </p:txBody>
      </p:sp>
      <p:sp>
        <p:nvSpPr>
          <p:cNvPr id="6" name="Text 4"/>
          <p:cNvSpPr/>
          <p:nvPr/>
        </p:nvSpPr>
        <p:spPr>
          <a:xfrm>
            <a:off x="812800" y="541029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5CB"/>
                </a:solidFill>
                <a:latin typeface="IBM Plex Sans" pitchFamily="34" charset="0"/>
                <a:ea typeface="IBM Plex Sans" pitchFamily="34" charset="-122"/>
                <a:cs typeface="IBM Plex Sans" pitchFamily="34" charset="-120"/>
              </a:rPr>
              <a:t>Feature lifecycle · data–model lineage · MLflow tracking · registry aliases · data-hash tagging</a:t>
            </a:r>
            <a:endParaRPr lang="en-US" sz="16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BITS Pilani WILP · CSIS · Pravin Y Pawar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WHERE WE ARE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Build: turn trusted features into a defensible model</a:t>
            </a:r>
            <a:endParaRPr lang="en-US" sz="3200" dirty="0"/>
          </a:p>
        </p:txBody>
      </p:sp>
      <p:sp>
        <p:nvSpPr>
          <p:cNvPr id="4" name="Shape 2"/>
          <p:cNvSpPr/>
          <p:nvPr/>
        </p:nvSpPr>
        <p:spPr>
          <a:xfrm>
            <a:off x="819150" y="1987451"/>
            <a:ext cx="1420515"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889000" y="2146201"/>
            <a:ext cx="1280815"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Discover</a:t>
            </a:r>
            <a:endParaRPr lang="en-US" sz="1400" dirty="0"/>
          </a:p>
        </p:txBody>
      </p:sp>
      <p:sp>
        <p:nvSpPr>
          <p:cNvPr id="6" name="Text 4"/>
          <p:cNvSpPr/>
          <p:nvPr/>
        </p:nvSpPr>
        <p:spPr>
          <a:xfrm>
            <a:off x="889000" y="2458541"/>
            <a:ext cx="128081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M2</a:t>
            </a:r>
            <a:endParaRPr lang="en-US" sz="1200" dirty="0"/>
          </a:p>
        </p:txBody>
      </p:sp>
      <p:sp>
        <p:nvSpPr>
          <p:cNvPr id="7" name="Shape 5"/>
          <p:cNvSpPr/>
          <p:nvPr/>
        </p:nvSpPr>
        <p:spPr>
          <a:xfrm>
            <a:off x="2341265"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2411115"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Prepare</a:t>
            </a:r>
            <a:endParaRPr lang="en-US" sz="1400" dirty="0"/>
          </a:p>
        </p:txBody>
      </p:sp>
      <p:sp>
        <p:nvSpPr>
          <p:cNvPr id="9" name="Text 7"/>
          <p:cNvSpPr/>
          <p:nvPr/>
        </p:nvSpPr>
        <p:spPr>
          <a:xfrm>
            <a:off x="2411115"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1</a:t>
            </a:r>
            <a:endParaRPr lang="en-US" sz="1200" dirty="0"/>
          </a:p>
        </p:txBody>
      </p:sp>
      <p:sp>
        <p:nvSpPr>
          <p:cNvPr id="10" name="Shape 8"/>
          <p:cNvSpPr/>
          <p:nvPr/>
        </p:nvSpPr>
        <p:spPr>
          <a:xfrm>
            <a:off x="3863479" y="1987451"/>
            <a:ext cx="1420515" cy="843161"/>
          </a:xfrm>
          <a:prstGeom prst="roundRect">
            <a:avLst>
              <a:gd name="adj" fmla="val 9791"/>
            </a:avLst>
          </a:prstGeom>
          <a:solidFill>
            <a:srgbClr val="0E6F6D"/>
          </a:solidFill>
          <a:ln w="12700">
            <a:solidFill>
              <a:srgbClr val="0E6F6D"/>
            </a:solidFill>
            <a:prstDash val="solid"/>
          </a:ln>
        </p:spPr>
        <p:txBody>
          <a:bodyPr/>
          <a:lstStyle/>
          <a:p>
            <a:endParaRPr lang="en-IN"/>
          </a:p>
        </p:txBody>
      </p:sp>
      <p:sp>
        <p:nvSpPr>
          <p:cNvPr id="11" name="Text 9"/>
          <p:cNvSpPr/>
          <p:nvPr/>
        </p:nvSpPr>
        <p:spPr>
          <a:xfrm>
            <a:off x="3933329" y="2146201"/>
            <a:ext cx="1280815"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Build</a:t>
            </a:r>
            <a:endParaRPr lang="en-US" sz="1400" dirty="0"/>
          </a:p>
        </p:txBody>
      </p:sp>
      <p:sp>
        <p:nvSpPr>
          <p:cNvPr id="12" name="Text 10"/>
          <p:cNvSpPr/>
          <p:nvPr/>
        </p:nvSpPr>
        <p:spPr>
          <a:xfrm>
            <a:off x="3933329" y="2458541"/>
            <a:ext cx="128081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Lab 2</a:t>
            </a:r>
            <a:endParaRPr lang="en-US" sz="1200" dirty="0"/>
          </a:p>
        </p:txBody>
      </p:sp>
      <p:sp>
        <p:nvSpPr>
          <p:cNvPr id="13" name="Shape 11"/>
          <p:cNvSpPr/>
          <p:nvPr/>
        </p:nvSpPr>
        <p:spPr>
          <a:xfrm>
            <a:off x="5385594"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5455444"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Serve</a:t>
            </a:r>
            <a:endParaRPr lang="en-US" sz="1400" dirty="0"/>
          </a:p>
        </p:txBody>
      </p:sp>
      <p:sp>
        <p:nvSpPr>
          <p:cNvPr id="15" name="Text 13"/>
          <p:cNvSpPr/>
          <p:nvPr/>
        </p:nvSpPr>
        <p:spPr>
          <a:xfrm>
            <a:off x="5455444"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3</a:t>
            </a:r>
            <a:endParaRPr lang="en-US" sz="1200" dirty="0"/>
          </a:p>
        </p:txBody>
      </p:sp>
      <p:sp>
        <p:nvSpPr>
          <p:cNvPr id="16" name="Shape 14"/>
          <p:cNvSpPr/>
          <p:nvPr/>
        </p:nvSpPr>
        <p:spPr>
          <a:xfrm>
            <a:off x="6907808"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6977658"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Monitor</a:t>
            </a:r>
            <a:endParaRPr lang="en-US" sz="1400" dirty="0"/>
          </a:p>
        </p:txBody>
      </p:sp>
      <p:sp>
        <p:nvSpPr>
          <p:cNvPr id="18" name="Text 16"/>
          <p:cNvSpPr/>
          <p:nvPr/>
        </p:nvSpPr>
        <p:spPr>
          <a:xfrm>
            <a:off x="6977658"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19" name="Shape 17"/>
          <p:cNvSpPr/>
          <p:nvPr/>
        </p:nvSpPr>
        <p:spPr>
          <a:xfrm>
            <a:off x="8430022"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20" name="Text 18"/>
          <p:cNvSpPr/>
          <p:nvPr/>
        </p:nvSpPr>
        <p:spPr>
          <a:xfrm>
            <a:off x="8499872"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Re-execute</a:t>
            </a:r>
            <a:endParaRPr lang="en-US" sz="1400" dirty="0"/>
          </a:p>
        </p:txBody>
      </p:sp>
      <p:sp>
        <p:nvSpPr>
          <p:cNvPr id="21" name="Text 19"/>
          <p:cNvSpPr/>
          <p:nvPr/>
        </p:nvSpPr>
        <p:spPr>
          <a:xfrm>
            <a:off x="8499872"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22" name="Shape 20"/>
          <p:cNvSpPr/>
          <p:nvPr/>
        </p:nvSpPr>
        <p:spPr>
          <a:xfrm>
            <a:off x="9952236"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23" name="Text 21"/>
          <p:cNvSpPr/>
          <p:nvPr/>
        </p:nvSpPr>
        <p:spPr>
          <a:xfrm>
            <a:off x="10022086"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Release</a:t>
            </a:r>
            <a:endParaRPr lang="en-US" sz="1400" dirty="0"/>
          </a:p>
        </p:txBody>
      </p:sp>
      <p:sp>
        <p:nvSpPr>
          <p:cNvPr id="24" name="Text 22"/>
          <p:cNvSpPr/>
          <p:nvPr/>
        </p:nvSpPr>
        <p:spPr>
          <a:xfrm>
            <a:off x="10022086"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5</a:t>
            </a:r>
            <a:endParaRPr lang="en-US" sz="1200" dirty="0"/>
          </a:p>
        </p:txBody>
      </p:sp>
      <p:sp>
        <p:nvSpPr>
          <p:cNvPr id="25" name="Shape 23"/>
          <p:cNvSpPr/>
          <p:nvPr/>
        </p:nvSpPr>
        <p:spPr>
          <a:xfrm>
            <a:off x="812800" y="3252887"/>
            <a:ext cx="2451100" cy="0"/>
          </a:xfrm>
          <a:prstGeom prst="line">
            <a:avLst/>
          </a:prstGeom>
          <a:noFill/>
          <a:ln w="19050">
            <a:solidFill>
              <a:srgbClr val="0E6F6D"/>
            </a:solidFill>
            <a:prstDash val="solid"/>
          </a:ln>
        </p:spPr>
        <p:txBody>
          <a:bodyPr/>
          <a:lstStyle/>
          <a:p>
            <a:endParaRPr lang="en-IN"/>
          </a:p>
        </p:txBody>
      </p:sp>
      <p:sp>
        <p:nvSpPr>
          <p:cNvPr id="26" name="Text 24"/>
          <p:cNvSpPr/>
          <p:nvPr/>
        </p:nvSpPr>
        <p:spPr>
          <a:xfrm>
            <a:off x="812800" y="3389412"/>
            <a:ext cx="25246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23,589</a:t>
            </a:r>
            <a:endParaRPr lang="en-US" sz="3200" dirty="0"/>
          </a:p>
        </p:txBody>
      </p:sp>
      <p:sp>
        <p:nvSpPr>
          <p:cNvPr id="27" name="Text 25"/>
          <p:cNvSpPr/>
          <p:nvPr/>
        </p:nvSpPr>
        <p:spPr>
          <a:xfrm>
            <a:off x="812800" y="4009132"/>
            <a:ext cx="252463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Store × Product × Day rows in the feature store</a:t>
            </a:r>
            <a:endParaRPr lang="en-US" sz="1300" dirty="0"/>
          </a:p>
        </p:txBody>
      </p:sp>
      <p:sp>
        <p:nvSpPr>
          <p:cNvPr id="28" name="Shape 26"/>
          <p:cNvSpPr/>
          <p:nvPr/>
        </p:nvSpPr>
        <p:spPr>
          <a:xfrm>
            <a:off x="3517900" y="3252887"/>
            <a:ext cx="2451100" cy="0"/>
          </a:xfrm>
          <a:prstGeom prst="line">
            <a:avLst/>
          </a:prstGeom>
          <a:noFill/>
          <a:ln w="19050">
            <a:solidFill>
              <a:srgbClr val="0E6F6D"/>
            </a:solidFill>
            <a:prstDash val="solid"/>
          </a:ln>
        </p:spPr>
        <p:txBody>
          <a:bodyPr/>
          <a:lstStyle/>
          <a:p>
            <a:endParaRPr lang="en-IN"/>
          </a:p>
        </p:txBody>
      </p:sp>
      <p:sp>
        <p:nvSpPr>
          <p:cNvPr id="29" name="Text 27"/>
          <p:cNvSpPr/>
          <p:nvPr/>
        </p:nvSpPr>
        <p:spPr>
          <a:xfrm>
            <a:off x="3517900" y="3389412"/>
            <a:ext cx="25246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8</a:t>
            </a:r>
            <a:endParaRPr lang="en-US" sz="3200" dirty="0"/>
          </a:p>
        </p:txBody>
      </p:sp>
      <p:sp>
        <p:nvSpPr>
          <p:cNvPr id="30" name="Text 28"/>
          <p:cNvSpPr/>
          <p:nvPr/>
        </p:nvSpPr>
        <p:spPr>
          <a:xfrm>
            <a:off x="3517900" y="4009132"/>
            <a:ext cx="252463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served features, offline and online</a:t>
            </a:r>
            <a:endParaRPr lang="en-US" sz="1300" dirty="0"/>
          </a:p>
        </p:txBody>
      </p:sp>
      <p:sp>
        <p:nvSpPr>
          <p:cNvPr id="31" name="Shape 29"/>
          <p:cNvSpPr/>
          <p:nvPr/>
        </p:nvSpPr>
        <p:spPr>
          <a:xfrm>
            <a:off x="6223000" y="3252887"/>
            <a:ext cx="2451100" cy="0"/>
          </a:xfrm>
          <a:prstGeom prst="line">
            <a:avLst/>
          </a:prstGeom>
          <a:noFill/>
          <a:ln w="19050">
            <a:solidFill>
              <a:srgbClr val="0E6F6D"/>
            </a:solidFill>
            <a:prstDash val="solid"/>
          </a:ln>
        </p:spPr>
        <p:txBody>
          <a:bodyPr/>
          <a:lstStyle/>
          <a:p>
            <a:endParaRPr lang="en-IN"/>
          </a:p>
        </p:txBody>
      </p:sp>
      <p:sp>
        <p:nvSpPr>
          <p:cNvPr id="32" name="Text 30"/>
          <p:cNvSpPr/>
          <p:nvPr/>
        </p:nvSpPr>
        <p:spPr>
          <a:xfrm>
            <a:off x="6223000" y="3389412"/>
            <a:ext cx="25246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20%</a:t>
            </a:r>
            <a:endParaRPr lang="en-US" sz="3200" dirty="0"/>
          </a:p>
        </p:txBody>
      </p:sp>
      <p:sp>
        <p:nvSpPr>
          <p:cNvPr id="33" name="Text 31"/>
          <p:cNvSpPr/>
          <p:nvPr/>
        </p:nvSpPr>
        <p:spPr>
          <a:xfrm>
            <a:off x="6223000" y="4009132"/>
            <a:ext cx="2524633"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base rate of the reorder_7d label</a:t>
            </a:r>
            <a:endParaRPr lang="en-US" sz="1300" dirty="0"/>
          </a:p>
        </p:txBody>
      </p:sp>
      <p:sp>
        <p:nvSpPr>
          <p:cNvPr id="34" name="Shape 32"/>
          <p:cNvSpPr/>
          <p:nvPr/>
        </p:nvSpPr>
        <p:spPr>
          <a:xfrm>
            <a:off x="8928100" y="3252887"/>
            <a:ext cx="2451100" cy="0"/>
          </a:xfrm>
          <a:prstGeom prst="line">
            <a:avLst/>
          </a:prstGeom>
          <a:noFill/>
          <a:ln w="19050">
            <a:solidFill>
              <a:srgbClr val="0E6F6D"/>
            </a:solidFill>
            <a:prstDash val="solid"/>
          </a:ln>
        </p:spPr>
        <p:txBody>
          <a:bodyPr/>
          <a:lstStyle/>
          <a:p>
            <a:endParaRPr lang="en-IN"/>
          </a:p>
        </p:txBody>
      </p:sp>
      <p:sp>
        <p:nvSpPr>
          <p:cNvPr id="35" name="Text 33"/>
          <p:cNvSpPr/>
          <p:nvPr/>
        </p:nvSpPr>
        <p:spPr>
          <a:xfrm>
            <a:off x="8928100" y="3389412"/>
            <a:ext cx="2524633" cy="1163241"/>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0E6F6D"/>
                </a:solidFill>
                <a:latin typeface="JetBrains Mono" pitchFamily="34" charset="0"/>
                <a:ea typeface="JetBrains Mono" pitchFamily="34" charset="-122"/>
                <a:cs typeface="JetBrains Mono" pitchFamily="34" charset="-120"/>
              </a:rPr>
              <a:t>e0ce921bf845</a:t>
            </a:r>
            <a:endParaRPr lang="en-US" sz="3200" dirty="0"/>
          </a:p>
        </p:txBody>
      </p:sp>
      <p:sp>
        <p:nvSpPr>
          <p:cNvPr id="36" name="Text 34"/>
          <p:cNvSpPr/>
          <p:nvPr/>
        </p:nvSpPr>
        <p:spPr>
          <a:xfrm>
            <a:off x="8928100" y="4578052"/>
            <a:ext cx="252463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data_hash of the extract M2 profiled</a:t>
            </a:r>
            <a:endParaRPr lang="en-US" sz="1300" dirty="0"/>
          </a:p>
        </p:txBody>
      </p:sp>
      <p:sp>
        <p:nvSpPr>
          <p:cNvPr id="37" name="Text 3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38"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THE QUESTION FOR THIS SESSION</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Can we build a model we can defend?</a:t>
            </a:r>
            <a:endParaRPr lang="en-US" sz="3200" dirty="0"/>
          </a:p>
        </p:txBody>
      </p:sp>
      <p:sp>
        <p:nvSpPr>
          <p:cNvPr id="4" name="Shape 2"/>
          <p:cNvSpPr/>
          <p:nvPr/>
        </p:nvSpPr>
        <p:spPr>
          <a:xfrm>
            <a:off x="819150" y="1885851"/>
            <a:ext cx="1998960" cy="1709142"/>
          </a:xfrm>
          <a:prstGeom prst="roundRect">
            <a:avLst>
              <a:gd name="adj" fmla="val 4830"/>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77900" y="207000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977900" y="2372221"/>
            <a:ext cx="17322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No leakage</a:t>
            </a:r>
            <a:endParaRPr lang="en-US" sz="1600" dirty="0"/>
          </a:p>
        </p:txBody>
      </p:sp>
      <p:sp>
        <p:nvSpPr>
          <p:cNvPr id="7" name="Text 5"/>
          <p:cNvSpPr/>
          <p:nvPr/>
        </p:nvSpPr>
        <p:spPr>
          <a:xfrm>
            <a:off x="977900" y="2704902"/>
            <a:ext cx="173226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Only information known at prediction time</a:t>
            </a:r>
            <a:endParaRPr lang="en-US" sz="1300" dirty="0"/>
          </a:p>
        </p:txBody>
      </p:sp>
      <p:sp>
        <p:nvSpPr>
          <p:cNvPr id="8" name="Shape 6"/>
          <p:cNvSpPr/>
          <p:nvPr/>
        </p:nvSpPr>
        <p:spPr>
          <a:xfrm>
            <a:off x="2957810" y="1885851"/>
            <a:ext cx="1999059" cy="1709142"/>
          </a:xfrm>
          <a:prstGeom prst="roundRect">
            <a:avLst>
              <a:gd name="adj" fmla="val 4830"/>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3116560" y="2070001"/>
            <a:ext cx="17323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02</a:t>
            </a:r>
            <a:endParaRPr lang="en-US" sz="1200" dirty="0"/>
          </a:p>
        </p:txBody>
      </p:sp>
      <p:sp>
        <p:nvSpPr>
          <p:cNvPr id="10" name="Text 8"/>
          <p:cNvSpPr/>
          <p:nvPr/>
        </p:nvSpPr>
        <p:spPr>
          <a:xfrm>
            <a:off x="3116560" y="2372221"/>
            <a:ext cx="17323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Baseline beaten</a:t>
            </a:r>
            <a:endParaRPr lang="en-US" sz="1600" dirty="0"/>
          </a:p>
        </p:txBody>
      </p:sp>
      <p:sp>
        <p:nvSpPr>
          <p:cNvPr id="11" name="Text 9"/>
          <p:cNvSpPr/>
          <p:nvPr/>
        </p:nvSpPr>
        <p:spPr>
          <a:xfrm>
            <a:off x="3116560" y="2704902"/>
            <a:ext cx="173235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By a margin, on a temporal hold-out</a:t>
            </a:r>
            <a:endParaRPr lang="en-US" sz="1300" dirty="0"/>
          </a:p>
        </p:txBody>
      </p:sp>
      <p:sp>
        <p:nvSpPr>
          <p:cNvPr id="12" name="Shape 10"/>
          <p:cNvSpPr/>
          <p:nvPr/>
        </p:nvSpPr>
        <p:spPr>
          <a:xfrm>
            <a:off x="5096570" y="1885851"/>
            <a:ext cx="1998960" cy="1709142"/>
          </a:xfrm>
          <a:prstGeom prst="roundRect">
            <a:avLst>
              <a:gd name="adj" fmla="val 4830"/>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5255320" y="207000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03</a:t>
            </a:r>
            <a:endParaRPr lang="en-US" sz="1200" dirty="0"/>
          </a:p>
        </p:txBody>
      </p:sp>
      <p:sp>
        <p:nvSpPr>
          <p:cNvPr id="14" name="Text 12"/>
          <p:cNvSpPr/>
          <p:nvPr/>
        </p:nvSpPr>
        <p:spPr>
          <a:xfrm>
            <a:off x="5255320" y="2372221"/>
            <a:ext cx="17322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Threshold priced</a:t>
            </a:r>
            <a:endParaRPr lang="en-US" sz="1600" dirty="0"/>
          </a:p>
        </p:txBody>
      </p:sp>
      <p:sp>
        <p:nvSpPr>
          <p:cNvPr id="15" name="Text 13"/>
          <p:cNvSpPr/>
          <p:nvPr/>
        </p:nvSpPr>
        <p:spPr>
          <a:xfrm>
            <a:off x="5255320" y="2704902"/>
            <a:ext cx="173226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Chosen on rupees, not on 0.5</a:t>
            </a:r>
            <a:endParaRPr lang="en-US" sz="1300" dirty="0"/>
          </a:p>
        </p:txBody>
      </p:sp>
      <p:sp>
        <p:nvSpPr>
          <p:cNvPr id="16" name="Shape 14"/>
          <p:cNvSpPr/>
          <p:nvPr/>
        </p:nvSpPr>
        <p:spPr>
          <a:xfrm>
            <a:off x="7235230" y="1885851"/>
            <a:ext cx="1998960" cy="1709142"/>
          </a:xfrm>
          <a:prstGeom prst="roundRect">
            <a:avLst>
              <a:gd name="adj" fmla="val 4830"/>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7393980" y="207000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04</a:t>
            </a:r>
            <a:endParaRPr lang="en-US" sz="1200" dirty="0"/>
          </a:p>
        </p:txBody>
      </p:sp>
      <p:sp>
        <p:nvSpPr>
          <p:cNvPr id="18" name="Text 16"/>
          <p:cNvSpPr/>
          <p:nvPr/>
        </p:nvSpPr>
        <p:spPr>
          <a:xfrm>
            <a:off x="7393980" y="2372221"/>
            <a:ext cx="173226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Compared honestly</a:t>
            </a:r>
            <a:endParaRPr lang="en-US" sz="1600" dirty="0"/>
          </a:p>
        </p:txBody>
      </p:sp>
      <p:sp>
        <p:nvSpPr>
          <p:cNvPr id="19" name="Text 17"/>
          <p:cNvSpPr/>
          <p:nvPr/>
        </p:nvSpPr>
        <p:spPr>
          <a:xfrm>
            <a:off x="7393980" y="2948682"/>
            <a:ext cx="173226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AUC, latency and explainability</a:t>
            </a:r>
            <a:endParaRPr lang="en-US" sz="1300" dirty="0"/>
          </a:p>
        </p:txBody>
      </p:sp>
      <p:sp>
        <p:nvSpPr>
          <p:cNvPr id="20" name="Shape 18"/>
          <p:cNvSpPr/>
          <p:nvPr/>
        </p:nvSpPr>
        <p:spPr>
          <a:xfrm>
            <a:off x="9373890" y="1885851"/>
            <a:ext cx="1998960" cy="1709142"/>
          </a:xfrm>
          <a:prstGeom prst="roundRect">
            <a:avLst>
              <a:gd name="adj" fmla="val 4830"/>
            </a:avLst>
          </a:prstGeom>
          <a:solidFill>
            <a:srgbClr val="FDFCF8"/>
          </a:solidFill>
          <a:ln w="12700">
            <a:solidFill>
              <a:srgbClr val="DCD6C8"/>
            </a:solidFill>
            <a:prstDash val="solid"/>
          </a:ln>
        </p:spPr>
        <p:txBody>
          <a:bodyPr/>
          <a:lstStyle/>
          <a:p>
            <a:endParaRPr lang="en-IN"/>
          </a:p>
        </p:txBody>
      </p:sp>
      <p:sp>
        <p:nvSpPr>
          <p:cNvPr id="21" name="Text 19"/>
          <p:cNvSpPr/>
          <p:nvPr/>
        </p:nvSpPr>
        <p:spPr>
          <a:xfrm>
            <a:off x="9532640" y="207000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05</a:t>
            </a:r>
            <a:endParaRPr lang="en-US" sz="1200" dirty="0"/>
          </a:p>
        </p:txBody>
      </p:sp>
      <p:sp>
        <p:nvSpPr>
          <p:cNvPr id="22" name="Text 20"/>
          <p:cNvSpPr/>
          <p:nvPr/>
        </p:nvSpPr>
        <p:spPr>
          <a:xfrm>
            <a:off x="9532640" y="2372221"/>
            <a:ext cx="173226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Gated and registered</a:t>
            </a:r>
            <a:endParaRPr lang="en-US" sz="1600" dirty="0"/>
          </a:p>
        </p:txBody>
      </p:sp>
      <p:sp>
        <p:nvSpPr>
          <p:cNvPr id="23" name="Text 21"/>
          <p:cNvSpPr/>
          <p:nvPr/>
        </p:nvSpPr>
        <p:spPr>
          <a:xfrm>
            <a:off x="9532640" y="2948682"/>
            <a:ext cx="173226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With lineage attached, or not at all</a:t>
            </a:r>
            <a:endParaRPr lang="en-US" sz="1300" dirty="0"/>
          </a:p>
        </p:txBody>
      </p:sp>
      <p:sp>
        <p:nvSpPr>
          <p:cNvPr id="24" name="Text 22"/>
          <p:cNvSpPr/>
          <p:nvPr/>
        </p:nvSpPr>
        <p:spPr>
          <a:xfrm>
            <a:off x="812800" y="3906143"/>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Each criterion is one Lab 2 mission — and each can be failed by a model with a high AUC.</a:t>
            </a:r>
            <a:endParaRPr lang="en-US" sz="15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201870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THE PRESSURE</a:t>
            </a:r>
            <a:endParaRPr lang="en-US" sz="1200" dirty="0"/>
          </a:p>
        </p:txBody>
      </p:sp>
      <p:sp>
        <p:nvSpPr>
          <p:cNvPr id="3" name="Text 1"/>
          <p:cNvSpPr/>
          <p:nvPr/>
        </p:nvSpPr>
        <p:spPr>
          <a:xfrm>
            <a:off x="812800" y="2536825"/>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6F4EE"/>
                </a:solidFill>
                <a:latin typeface="IBM Plex Sans" pitchFamily="34" charset="0"/>
                <a:ea typeface="IBM Plex Sans" pitchFamily="34" charset="-122"/>
                <a:cs typeface="IBM Plex Sans" pitchFamily="34" charset="-120"/>
              </a:rPr>
              <a:t>Open a notebook, fit something with a high number, and email a pickle file.</a:t>
            </a:r>
            <a:endParaRPr lang="en-US" sz="4000" dirty="0"/>
          </a:p>
        </p:txBody>
      </p:sp>
      <p:sp>
        <p:nvSpPr>
          <p:cNvPr id="4" name="Text 2"/>
          <p:cNvSpPr/>
          <p:nvPr/>
        </p:nvSpPr>
        <p:spPr>
          <a:xfrm>
            <a:off x="812800" y="4010025"/>
            <a:ext cx="915670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Everything in this session exists to stop that — and to replace it with a pipeline anyone can re-run and audit.</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75389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E3A63B"/>
                </a:solidFill>
                <a:latin typeface="JetBrains Mono" pitchFamily="34" charset="0"/>
                <a:ea typeface="JetBrains Mono" pitchFamily="34" charset="-122"/>
                <a:cs typeface="JetBrains Mono" pitchFamily="34" charset="-120"/>
              </a:rPr>
              <a:t>M3</a:t>
            </a:r>
            <a:endParaRPr lang="en-US" sz="8000" dirty="0"/>
          </a:p>
        </p:txBody>
      </p:sp>
      <p:sp>
        <p:nvSpPr>
          <p:cNvPr id="3" name="Text 1"/>
          <p:cNvSpPr/>
          <p:nvPr/>
        </p:nvSpPr>
        <p:spPr>
          <a:xfrm>
            <a:off x="812800" y="3023890"/>
            <a:ext cx="10883392" cy="107692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Feature Stores, Experimentation</a:t>
            </a:r>
            <a:endParaRPr lang="en-US" sz="3600" dirty="0"/>
          </a:p>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&amp; Reproducibility</a:t>
            </a:r>
            <a:endParaRPr lang="en-US" sz="3600" dirty="0"/>
          </a:p>
        </p:txBody>
      </p:sp>
      <p:sp>
        <p:nvSpPr>
          <p:cNvPr id="4" name="Text 2"/>
          <p:cNvSpPr/>
          <p:nvPr/>
        </p:nvSpPr>
        <p:spPr>
          <a:xfrm>
            <a:off x="812800" y="4329410"/>
            <a:ext cx="9810750"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B8C5CB"/>
                </a:solidFill>
                <a:latin typeface="IBM Plex Sans" pitchFamily="34" charset="0"/>
                <a:ea typeface="IBM Plex Sans" pitchFamily="34" charset="-122"/>
                <a:cs typeface="IBM Plex Sans" pitchFamily="34" charset="-120"/>
              </a:rPr>
              <a:t>Feature lifecycle · point-in-time correctness · data–model lineage · MLflow tracking · registry aliases · data-hash tagging</a:t>
            </a:r>
            <a:endParaRPr lang="en-US" sz="15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FEATURE LIFECYCLE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A feature has a lifecycle, not just a column</a:t>
            </a:r>
            <a:endParaRPr lang="en-US" sz="3200" dirty="0"/>
          </a:p>
        </p:txBody>
      </p:sp>
      <p:sp>
        <p:nvSpPr>
          <p:cNvPr id="4" name="Shape 2"/>
          <p:cNvSpPr/>
          <p:nvPr/>
        </p:nvSpPr>
        <p:spPr>
          <a:xfrm>
            <a:off x="819150" y="1987451"/>
            <a:ext cx="1235472"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876300" y="2146201"/>
            <a:ext cx="112117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Define</a:t>
            </a:r>
            <a:endParaRPr lang="en-US" sz="1400" dirty="0"/>
          </a:p>
        </p:txBody>
      </p:sp>
      <p:sp>
        <p:nvSpPr>
          <p:cNvPr id="6" name="Text 4"/>
          <p:cNvSpPr/>
          <p:nvPr/>
        </p:nvSpPr>
        <p:spPr>
          <a:xfrm>
            <a:off x="876300" y="2458541"/>
            <a:ext cx="1121172"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repo.py FeatureView</a:t>
            </a:r>
            <a:endParaRPr lang="en-US" sz="1200" dirty="0"/>
          </a:p>
        </p:txBody>
      </p:sp>
      <p:pic>
        <p:nvPicPr>
          <p:cNvPr id="7" name="Image 0" descr="arrow-right"/>
          <p:cNvPicPr>
            <a:picLocks noChangeAspect="1"/>
          </p:cNvPicPr>
          <p:nvPr/>
        </p:nvPicPr>
        <p:blipFill>
          <a:blip r:embed="rId3"/>
          <a:srcRect/>
          <a:stretch/>
        </p:blipFill>
        <p:spPr>
          <a:xfrm>
            <a:off x="2124472" y="2436912"/>
            <a:ext cx="177800" cy="127000"/>
          </a:xfrm>
          <a:prstGeom prst="rect">
            <a:avLst/>
          </a:prstGeom>
        </p:spPr>
      </p:pic>
      <p:sp>
        <p:nvSpPr>
          <p:cNvPr id="8" name="Shape 5"/>
          <p:cNvSpPr/>
          <p:nvPr/>
        </p:nvSpPr>
        <p:spPr>
          <a:xfrm>
            <a:off x="2372122" y="2086471"/>
            <a:ext cx="1235571" cy="827881"/>
          </a:xfrm>
          <a:prstGeom prst="roundRect">
            <a:avLst>
              <a:gd name="adj" fmla="val 9971"/>
            </a:avLst>
          </a:prstGeom>
          <a:solidFill>
            <a:srgbClr val="FDFCF8"/>
          </a:solidFill>
          <a:ln w="12700">
            <a:solidFill>
              <a:srgbClr val="DCD6C8"/>
            </a:solidFill>
            <a:prstDash val="solid"/>
          </a:ln>
        </p:spPr>
        <p:txBody>
          <a:bodyPr/>
          <a:lstStyle/>
          <a:p>
            <a:endParaRPr lang="en-IN"/>
          </a:p>
        </p:txBody>
      </p:sp>
      <p:sp>
        <p:nvSpPr>
          <p:cNvPr id="9" name="Text 6"/>
          <p:cNvSpPr/>
          <p:nvPr/>
        </p:nvSpPr>
        <p:spPr>
          <a:xfrm>
            <a:off x="2429272" y="224522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Compute</a:t>
            </a:r>
            <a:endParaRPr lang="en-US" sz="1400" dirty="0"/>
          </a:p>
        </p:txBody>
      </p:sp>
      <p:sp>
        <p:nvSpPr>
          <p:cNvPr id="10" name="Text 7"/>
          <p:cNvSpPr/>
          <p:nvPr/>
        </p:nvSpPr>
        <p:spPr>
          <a:xfrm>
            <a:off x="2429272" y="2557562"/>
            <a:ext cx="1121271"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engineer stage</a:t>
            </a:r>
            <a:endParaRPr lang="en-US" sz="1200" dirty="0"/>
          </a:p>
        </p:txBody>
      </p:sp>
      <p:pic>
        <p:nvPicPr>
          <p:cNvPr id="11" name="Image 1" descr="arrow-right"/>
          <p:cNvPicPr>
            <a:picLocks noChangeAspect="1"/>
          </p:cNvPicPr>
          <p:nvPr/>
        </p:nvPicPr>
        <p:blipFill>
          <a:blip r:embed="rId3"/>
          <a:srcRect/>
          <a:stretch/>
        </p:blipFill>
        <p:spPr>
          <a:xfrm>
            <a:off x="3677543" y="2436912"/>
            <a:ext cx="177800" cy="127000"/>
          </a:xfrm>
          <a:prstGeom prst="rect">
            <a:avLst/>
          </a:prstGeom>
        </p:spPr>
      </p:pic>
      <p:sp>
        <p:nvSpPr>
          <p:cNvPr id="12" name="Shape 8"/>
          <p:cNvSpPr/>
          <p:nvPr/>
        </p:nvSpPr>
        <p:spPr>
          <a:xfrm>
            <a:off x="3925193" y="2086471"/>
            <a:ext cx="1235472" cy="827881"/>
          </a:xfrm>
          <a:prstGeom prst="roundRect">
            <a:avLst>
              <a:gd name="adj" fmla="val 9971"/>
            </a:avLst>
          </a:prstGeom>
          <a:solidFill>
            <a:srgbClr val="FDFCF8"/>
          </a:solidFill>
          <a:ln w="12700">
            <a:solidFill>
              <a:srgbClr val="DCD6C8"/>
            </a:solidFill>
            <a:prstDash val="solid"/>
          </a:ln>
        </p:spPr>
        <p:txBody>
          <a:bodyPr/>
          <a:lstStyle/>
          <a:p>
            <a:endParaRPr lang="en-IN"/>
          </a:p>
        </p:txBody>
      </p:sp>
      <p:sp>
        <p:nvSpPr>
          <p:cNvPr id="13" name="Text 9"/>
          <p:cNvSpPr/>
          <p:nvPr/>
        </p:nvSpPr>
        <p:spPr>
          <a:xfrm>
            <a:off x="3982343" y="2245221"/>
            <a:ext cx="112117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Validate</a:t>
            </a:r>
            <a:endParaRPr lang="en-US" sz="1400" dirty="0"/>
          </a:p>
        </p:txBody>
      </p:sp>
      <p:sp>
        <p:nvSpPr>
          <p:cNvPr id="14" name="Text 10"/>
          <p:cNvSpPr/>
          <p:nvPr/>
        </p:nvSpPr>
        <p:spPr>
          <a:xfrm>
            <a:off x="3982343" y="2557562"/>
            <a:ext cx="1121172"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contract gate</a:t>
            </a:r>
            <a:endParaRPr lang="en-US" sz="1200" dirty="0"/>
          </a:p>
        </p:txBody>
      </p:sp>
      <p:pic>
        <p:nvPicPr>
          <p:cNvPr id="15" name="Image 2" descr="arrow-right"/>
          <p:cNvPicPr>
            <a:picLocks noChangeAspect="1"/>
          </p:cNvPicPr>
          <p:nvPr/>
        </p:nvPicPr>
        <p:blipFill>
          <a:blip r:embed="rId3"/>
          <a:srcRect/>
          <a:stretch/>
        </p:blipFill>
        <p:spPr>
          <a:xfrm>
            <a:off x="5230515" y="2436912"/>
            <a:ext cx="177800" cy="127000"/>
          </a:xfrm>
          <a:prstGeom prst="rect">
            <a:avLst/>
          </a:prstGeom>
        </p:spPr>
      </p:pic>
      <p:sp>
        <p:nvSpPr>
          <p:cNvPr id="16" name="Shape 11"/>
          <p:cNvSpPr/>
          <p:nvPr/>
        </p:nvSpPr>
        <p:spPr>
          <a:xfrm>
            <a:off x="5478165" y="2086471"/>
            <a:ext cx="1235571" cy="827881"/>
          </a:xfrm>
          <a:prstGeom prst="roundRect">
            <a:avLst>
              <a:gd name="adj" fmla="val 9971"/>
            </a:avLst>
          </a:prstGeom>
          <a:solidFill>
            <a:srgbClr val="FDFCF8"/>
          </a:solidFill>
          <a:ln w="12700">
            <a:solidFill>
              <a:srgbClr val="DCD6C8"/>
            </a:solidFill>
            <a:prstDash val="solid"/>
          </a:ln>
        </p:spPr>
        <p:txBody>
          <a:bodyPr/>
          <a:lstStyle/>
          <a:p>
            <a:endParaRPr lang="en-IN"/>
          </a:p>
        </p:txBody>
      </p:sp>
      <p:sp>
        <p:nvSpPr>
          <p:cNvPr id="17" name="Text 12"/>
          <p:cNvSpPr/>
          <p:nvPr/>
        </p:nvSpPr>
        <p:spPr>
          <a:xfrm>
            <a:off x="5535315" y="224522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Store</a:t>
            </a:r>
            <a:endParaRPr lang="en-US" sz="1400" dirty="0"/>
          </a:p>
        </p:txBody>
      </p:sp>
      <p:sp>
        <p:nvSpPr>
          <p:cNvPr id="18" name="Text 13"/>
          <p:cNvSpPr/>
          <p:nvPr/>
        </p:nvSpPr>
        <p:spPr>
          <a:xfrm>
            <a:off x="5535315" y="2557562"/>
            <a:ext cx="1121271"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offline Parquet</a:t>
            </a:r>
            <a:endParaRPr lang="en-US" sz="1200" dirty="0"/>
          </a:p>
        </p:txBody>
      </p:sp>
      <p:pic>
        <p:nvPicPr>
          <p:cNvPr id="19" name="Image 3" descr="arrow-right"/>
          <p:cNvPicPr>
            <a:picLocks noChangeAspect="1"/>
          </p:cNvPicPr>
          <p:nvPr/>
        </p:nvPicPr>
        <p:blipFill>
          <a:blip r:embed="rId3"/>
          <a:srcRect/>
          <a:stretch/>
        </p:blipFill>
        <p:spPr>
          <a:xfrm>
            <a:off x="6783586" y="2436912"/>
            <a:ext cx="177800" cy="127000"/>
          </a:xfrm>
          <a:prstGeom prst="rect">
            <a:avLst/>
          </a:prstGeom>
        </p:spPr>
      </p:pic>
      <p:sp>
        <p:nvSpPr>
          <p:cNvPr id="20" name="Shape 14"/>
          <p:cNvSpPr/>
          <p:nvPr/>
        </p:nvSpPr>
        <p:spPr>
          <a:xfrm>
            <a:off x="7031236" y="2086471"/>
            <a:ext cx="1235472" cy="827881"/>
          </a:xfrm>
          <a:prstGeom prst="roundRect">
            <a:avLst>
              <a:gd name="adj" fmla="val 9971"/>
            </a:avLst>
          </a:prstGeom>
          <a:solidFill>
            <a:srgbClr val="FDFCF8"/>
          </a:solidFill>
          <a:ln w="12700">
            <a:solidFill>
              <a:srgbClr val="DCD6C8"/>
            </a:solidFill>
            <a:prstDash val="solid"/>
          </a:ln>
        </p:spPr>
        <p:txBody>
          <a:bodyPr/>
          <a:lstStyle/>
          <a:p>
            <a:endParaRPr lang="en-IN"/>
          </a:p>
        </p:txBody>
      </p:sp>
      <p:sp>
        <p:nvSpPr>
          <p:cNvPr id="21" name="Text 15"/>
          <p:cNvSpPr/>
          <p:nvPr/>
        </p:nvSpPr>
        <p:spPr>
          <a:xfrm>
            <a:off x="7088386" y="2245221"/>
            <a:ext cx="112117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Materialize</a:t>
            </a:r>
            <a:endParaRPr lang="en-US" sz="1400" dirty="0"/>
          </a:p>
        </p:txBody>
      </p:sp>
      <p:sp>
        <p:nvSpPr>
          <p:cNvPr id="22" name="Text 16"/>
          <p:cNvSpPr/>
          <p:nvPr/>
        </p:nvSpPr>
        <p:spPr>
          <a:xfrm>
            <a:off x="7088386" y="2557562"/>
            <a:ext cx="1121172"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online SQLite</a:t>
            </a:r>
            <a:endParaRPr lang="en-US" sz="1200" dirty="0"/>
          </a:p>
        </p:txBody>
      </p:sp>
      <p:pic>
        <p:nvPicPr>
          <p:cNvPr id="23" name="Image 4" descr="arrow-right"/>
          <p:cNvPicPr>
            <a:picLocks noChangeAspect="1"/>
          </p:cNvPicPr>
          <p:nvPr/>
        </p:nvPicPr>
        <p:blipFill>
          <a:blip r:embed="rId3"/>
          <a:srcRect/>
          <a:stretch/>
        </p:blipFill>
        <p:spPr>
          <a:xfrm>
            <a:off x="8336558" y="2436912"/>
            <a:ext cx="177800" cy="127000"/>
          </a:xfrm>
          <a:prstGeom prst="rect">
            <a:avLst/>
          </a:prstGeom>
        </p:spPr>
      </p:pic>
      <p:sp>
        <p:nvSpPr>
          <p:cNvPr id="24" name="Shape 17"/>
          <p:cNvSpPr/>
          <p:nvPr/>
        </p:nvSpPr>
        <p:spPr>
          <a:xfrm>
            <a:off x="8584208" y="2086471"/>
            <a:ext cx="1235571" cy="827881"/>
          </a:xfrm>
          <a:prstGeom prst="roundRect">
            <a:avLst>
              <a:gd name="adj" fmla="val 9971"/>
            </a:avLst>
          </a:prstGeom>
          <a:solidFill>
            <a:srgbClr val="FDFCF8"/>
          </a:solidFill>
          <a:ln w="12700">
            <a:solidFill>
              <a:srgbClr val="DCD6C8"/>
            </a:solidFill>
            <a:prstDash val="solid"/>
          </a:ln>
        </p:spPr>
        <p:txBody>
          <a:bodyPr/>
          <a:lstStyle/>
          <a:p>
            <a:endParaRPr lang="en-IN"/>
          </a:p>
        </p:txBody>
      </p:sp>
      <p:sp>
        <p:nvSpPr>
          <p:cNvPr id="25" name="Text 18"/>
          <p:cNvSpPr/>
          <p:nvPr/>
        </p:nvSpPr>
        <p:spPr>
          <a:xfrm>
            <a:off x="8641358" y="224522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Serve</a:t>
            </a:r>
            <a:endParaRPr lang="en-US" sz="1400" dirty="0"/>
          </a:p>
        </p:txBody>
      </p:sp>
      <p:sp>
        <p:nvSpPr>
          <p:cNvPr id="26" name="Text 19"/>
          <p:cNvSpPr/>
          <p:nvPr/>
        </p:nvSpPr>
        <p:spPr>
          <a:xfrm>
            <a:off x="8641358" y="2557562"/>
            <a:ext cx="1121271"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by entity key</a:t>
            </a:r>
            <a:endParaRPr lang="en-US" sz="1200" dirty="0"/>
          </a:p>
        </p:txBody>
      </p:sp>
      <p:pic>
        <p:nvPicPr>
          <p:cNvPr id="27" name="Image 5" descr="arrow-right"/>
          <p:cNvPicPr>
            <a:picLocks noChangeAspect="1"/>
          </p:cNvPicPr>
          <p:nvPr/>
        </p:nvPicPr>
        <p:blipFill>
          <a:blip r:embed="rId3"/>
          <a:srcRect/>
          <a:stretch/>
        </p:blipFill>
        <p:spPr>
          <a:xfrm>
            <a:off x="9889629" y="2436912"/>
            <a:ext cx="177800" cy="127000"/>
          </a:xfrm>
          <a:prstGeom prst="rect">
            <a:avLst/>
          </a:prstGeom>
        </p:spPr>
      </p:pic>
      <p:sp>
        <p:nvSpPr>
          <p:cNvPr id="28" name="Shape 20"/>
          <p:cNvSpPr/>
          <p:nvPr/>
        </p:nvSpPr>
        <p:spPr>
          <a:xfrm>
            <a:off x="10137279" y="2086471"/>
            <a:ext cx="1235571" cy="827881"/>
          </a:xfrm>
          <a:prstGeom prst="roundRect">
            <a:avLst>
              <a:gd name="adj" fmla="val 9971"/>
            </a:avLst>
          </a:prstGeom>
          <a:solidFill>
            <a:srgbClr val="FDFCF8"/>
          </a:solidFill>
          <a:ln w="12700">
            <a:solidFill>
              <a:srgbClr val="DCD6C8"/>
            </a:solidFill>
            <a:prstDash val="solid"/>
          </a:ln>
        </p:spPr>
        <p:txBody>
          <a:bodyPr/>
          <a:lstStyle/>
          <a:p>
            <a:endParaRPr lang="en-IN"/>
          </a:p>
        </p:txBody>
      </p:sp>
      <p:sp>
        <p:nvSpPr>
          <p:cNvPr id="29" name="Text 21"/>
          <p:cNvSpPr/>
          <p:nvPr/>
        </p:nvSpPr>
        <p:spPr>
          <a:xfrm>
            <a:off x="10194429" y="224522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Monitor</a:t>
            </a:r>
            <a:endParaRPr lang="en-US" sz="1400" dirty="0"/>
          </a:p>
        </p:txBody>
      </p:sp>
      <p:sp>
        <p:nvSpPr>
          <p:cNvPr id="30" name="Text 22"/>
          <p:cNvSpPr/>
          <p:nvPr/>
        </p:nvSpPr>
        <p:spPr>
          <a:xfrm>
            <a:off x="10194429" y="2557562"/>
            <a:ext cx="1121271"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drift, Lab 4</a:t>
            </a:r>
            <a:endParaRPr lang="en-US" sz="1200" dirty="0"/>
          </a:p>
        </p:txBody>
      </p:sp>
      <p:sp>
        <p:nvSpPr>
          <p:cNvPr id="31" name="Text 23"/>
          <p:cNvSpPr/>
          <p:nvPr/>
        </p:nvSpPr>
        <p:spPr>
          <a:xfrm>
            <a:off x="812800" y="3426123"/>
            <a:ext cx="5284724" cy="85407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Computed once, served twice.</a:t>
            </a:r>
            <a:r>
              <a:rPr lang="en-US" sz="1500" dirty="0">
                <a:solidFill>
                  <a:srgbClr val="4E5B63"/>
                </a:solidFill>
                <a:latin typeface="IBM Plex Sans" pitchFamily="34" charset="0"/>
                <a:ea typeface="IBM Plex Sans" pitchFamily="34" charset="-122"/>
                <a:cs typeface="IBM Plex Sans" pitchFamily="34" charset="-120"/>
              </a:rPr>
              <a:t> Anything a modeller recomputes in a notebook instead is training–serving skew waiting to happen.</a:t>
            </a:r>
            <a:endParaRPr lang="en-US" sz="1500" dirty="0"/>
          </a:p>
        </p:txBody>
      </p:sp>
      <p:sp>
        <p:nvSpPr>
          <p:cNvPr id="32" name="Text 24"/>
          <p:cNvSpPr/>
          <p:nvPr/>
        </p:nvSpPr>
        <p:spPr>
          <a:xfrm>
            <a:off x="6248400" y="3426123"/>
            <a:ext cx="5284724" cy="85407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Changing a definition is a release.</a:t>
            </a:r>
            <a:r>
              <a:rPr lang="en-US" sz="1500" dirty="0">
                <a:solidFill>
                  <a:srgbClr val="4E5B63"/>
                </a:solidFill>
                <a:latin typeface="IBM Plex Sans" pitchFamily="34" charset="0"/>
                <a:ea typeface="IBM Plex Sans" pitchFamily="34" charset="-122"/>
                <a:cs typeface="IBM Plex Sans" pitchFamily="34" charset="-120"/>
              </a:rPr>
              <a:t> Edit the view and every model trained on the old one needs retraining or a version bump.</a:t>
            </a:r>
            <a:endParaRPr lang="en-US" sz="1500" dirty="0"/>
          </a:p>
        </p:txBody>
      </p:sp>
      <p:sp>
        <p:nvSpPr>
          <p:cNvPr id="33"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34" name="Text 2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THE FRESHMART FEATURE SET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Eight served features, one label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28701"/>
          <a:ext cx="6654800" cy="3233439"/>
        </p:xfrm>
        <a:graphic>
          <a:graphicData uri="http://schemas.openxmlformats.org/drawingml/2006/table">
            <a:tbl>
              <a:tblPr/>
              <a:tblGrid>
                <a:gridCol w="2528824">
                  <a:extLst>
                    <a:ext uri="{9D8B030D-6E8A-4147-A177-3AD203B41FA5}">
                      <a16:colId xmlns:a16="http://schemas.microsoft.com/office/drawing/2014/main" val="20000"/>
                    </a:ext>
                  </a:extLst>
                </a:gridCol>
                <a:gridCol w="4125976">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6232E"/>
                          </a:solidFill>
                          <a:latin typeface="IBM Plex Sans" pitchFamily="34" charset="0"/>
                          <a:ea typeface="IBM Plex Sans" pitchFamily="34" charset="-122"/>
                          <a:cs typeface="IBM Plex Sans" pitchFamily="34" charset="-120"/>
                        </a:rPr>
                        <a:t>Feature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820"/>
                        </a:lnSpc>
                        <a:buNone/>
                      </a:pPr>
                      <a:r>
                        <a:rPr lang="en-US" sz="1300" b="1" dirty="0">
                          <a:solidFill>
                            <a:srgbClr val="16232E"/>
                          </a:solidFill>
                          <a:latin typeface="IBM Plex Sans" pitchFamily="34" charset="0"/>
                          <a:ea typeface="IBM Plex Sans" pitchFamily="34" charset="-122"/>
                          <a:cs typeface="IBM Plex Sans" pitchFamily="34" charset="-120"/>
                        </a:rPr>
                        <a:t>Meaning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units_7d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Units sold in the trailing 7 days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units_28d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Units sold in the trailing 28 days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trend_ratio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units_7d against the 28-day weekly rate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days_since_last_sale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Gap since the line last sold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quiet_days_28d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How often the line went quiet recently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avg_unit_price_7d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Trailing 7-day average price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lead_time_days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Supplier lead time, from the ops feed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promo_active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820"/>
                        </a:lnSpc>
                        <a:buNone/>
                      </a:pPr>
                      <a:r>
                        <a:rPr lang="en-US" sz="1300" dirty="0">
                          <a:solidFill>
                            <a:srgbClr val="16232E"/>
                          </a:solidFill>
                          <a:latin typeface="IBM Plex Sans" pitchFamily="34" charset="0"/>
                          <a:ea typeface="IBM Plex Sans" pitchFamily="34" charset="-122"/>
                          <a:cs typeface="IBM Plex Sans" pitchFamily="34" charset="-120"/>
                        </a:rPr>
                        <a:t>Promotion running, from the ops feed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Shape 2"/>
          <p:cNvSpPr/>
          <p:nvPr/>
        </p:nvSpPr>
        <p:spPr>
          <a:xfrm>
            <a:off x="7829550" y="1835051"/>
            <a:ext cx="3543300" cy="3411240"/>
          </a:xfrm>
          <a:prstGeom prst="roundRect">
            <a:avLst>
              <a:gd name="adj" fmla="val 2792"/>
            </a:avLst>
          </a:prstGeom>
          <a:solidFill>
            <a:srgbClr val="E2EEEC"/>
          </a:solidFill>
          <a:ln w="12700">
            <a:solidFill>
              <a:srgbClr val="0E6F6D"/>
            </a:solidFill>
            <a:prstDash val="solid"/>
          </a:ln>
        </p:spPr>
        <p:txBody>
          <a:bodyPr/>
          <a:lstStyle/>
          <a:p>
            <a:endParaRPr lang="en-IN"/>
          </a:p>
        </p:txBody>
      </p:sp>
      <p:sp>
        <p:nvSpPr>
          <p:cNvPr id="6" name="Text 3"/>
          <p:cNvSpPr/>
          <p:nvPr/>
        </p:nvSpPr>
        <p:spPr>
          <a:xfrm>
            <a:off x="8064500" y="2070001"/>
            <a:ext cx="31656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THE LABEL · reorder_7d</a:t>
            </a:r>
            <a:endParaRPr lang="en-US" sz="1200" dirty="0"/>
          </a:p>
        </p:txBody>
      </p:sp>
      <p:sp>
        <p:nvSpPr>
          <p:cNvPr id="7" name="Text 4"/>
          <p:cNvSpPr/>
          <p:nvPr/>
        </p:nvSpPr>
        <p:spPr>
          <a:xfrm>
            <a:off x="8064500" y="2410321"/>
            <a:ext cx="3165602" cy="882650"/>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16232E"/>
                </a:solidFill>
                <a:latin typeface="IBM Plex Sans" pitchFamily="34" charset="0"/>
                <a:ea typeface="IBM Plex Sans" pitchFamily="34" charset="-122"/>
                <a:cs typeface="IBM Plex Sans" pitchFamily="34" charset="-120"/>
              </a:rPr>
              <a:t>Will next-week demand exceed 1.5× the trailing week?</a:t>
            </a:r>
            <a:endParaRPr lang="en-US" sz="1800" dirty="0"/>
          </a:p>
        </p:txBody>
      </p:sp>
      <p:sp>
        <p:nvSpPr>
          <p:cNvPr id="8" name="Text 5"/>
          <p:cNvSpPr/>
          <p:nvPr/>
        </p:nvSpPr>
        <p:spPr>
          <a:xfrm>
            <a:off x="8064500" y="3394571"/>
            <a:ext cx="3165602"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E5B63"/>
                </a:solidFill>
                <a:latin typeface="IBM Plex Sans" pitchFamily="34" charset="0"/>
                <a:ea typeface="IBM Plex Sans" pitchFamily="34" charset="-122"/>
                <a:cs typeface="IBM Plex Sans" pitchFamily="34" charset="-120"/>
              </a:rPr>
              <a:t>A spike big enough to need an off-cycle order. The only forward-looking quantity in the table — and never a feature.</a:t>
            </a:r>
            <a:endParaRPr lang="en-US" sz="13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REPRODUCIBILITY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Six things must be pinned to re-run a result</a:t>
            </a:r>
            <a:endParaRPr lang="en-US" sz="3200" dirty="0"/>
          </a:p>
        </p:txBody>
      </p:sp>
      <p:sp>
        <p:nvSpPr>
          <p:cNvPr id="4" name="Shape 2"/>
          <p:cNvSpPr/>
          <p:nvPr/>
        </p:nvSpPr>
        <p:spPr>
          <a:xfrm>
            <a:off x="819150" y="1835051"/>
            <a:ext cx="3407767" cy="1429841"/>
          </a:xfrm>
          <a:prstGeom prst="roundRect">
            <a:avLst>
              <a:gd name="adj" fmla="val 6662"/>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03300" y="2019201"/>
            <a:ext cx="31306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data_hash + dvc.lock</a:t>
            </a:r>
            <a:endParaRPr lang="en-US" sz="1200" dirty="0"/>
          </a:p>
        </p:txBody>
      </p:sp>
      <p:sp>
        <p:nvSpPr>
          <p:cNvPr id="6" name="Text 4"/>
          <p:cNvSpPr/>
          <p:nvPr/>
        </p:nvSpPr>
        <p:spPr>
          <a:xfrm>
            <a:off x="1003300" y="2296021"/>
            <a:ext cx="31306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Data</a:t>
            </a:r>
            <a:endParaRPr lang="en-US" sz="1700" dirty="0"/>
          </a:p>
        </p:txBody>
      </p:sp>
      <p:sp>
        <p:nvSpPr>
          <p:cNvPr id="7" name="Text 5"/>
          <p:cNvSpPr/>
          <p:nvPr/>
        </p:nvSpPr>
        <p:spPr>
          <a:xfrm>
            <a:off x="1003300" y="2618581"/>
            <a:ext cx="313065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SHA-256 of the raw extract, every stage hashed</a:t>
            </a:r>
            <a:endParaRPr lang="en-US" sz="1300" dirty="0"/>
          </a:p>
        </p:txBody>
      </p:sp>
      <p:sp>
        <p:nvSpPr>
          <p:cNvPr id="8" name="Shape 6"/>
          <p:cNvSpPr/>
          <p:nvPr/>
        </p:nvSpPr>
        <p:spPr>
          <a:xfrm>
            <a:off x="4392017" y="1835051"/>
            <a:ext cx="3407866" cy="1429841"/>
          </a:xfrm>
          <a:prstGeom prst="roundRect">
            <a:avLst>
              <a:gd name="adj" fmla="val 6662"/>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4576167" y="2019201"/>
            <a:ext cx="31307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Git commit</a:t>
            </a:r>
            <a:endParaRPr lang="en-US" sz="1200" dirty="0"/>
          </a:p>
        </p:txBody>
      </p:sp>
      <p:sp>
        <p:nvSpPr>
          <p:cNvPr id="10" name="Text 8"/>
          <p:cNvSpPr/>
          <p:nvPr/>
        </p:nvSpPr>
        <p:spPr>
          <a:xfrm>
            <a:off x="4576167" y="2296021"/>
            <a:ext cx="31307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Code</a:t>
            </a:r>
            <a:endParaRPr lang="en-US" sz="1700" dirty="0"/>
          </a:p>
        </p:txBody>
      </p:sp>
      <p:sp>
        <p:nvSpPr>
          <p:cNvPr id="11" name="Text 9"/>
          <p:cNvSpPr/>
          <p:nvPr/>
        </p:nvSpPr>
        <p:spPr>
          <a:xfrm>
            <a:off x="4576167" y="2618581"/>
            <a:ext cx="313075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The pipeline scripts under version control</a:t>
            </a:r>
            <a:endParaRPr lang="en-US" sz="1300" dirty="0"/>
          </a:p>
        </p:txBody>
      </p:sp>
      <p:sp>
        <p:nvSpPr>
          <p:cNvPr id="12" name="Shape 10"/>
          <p:cNvSpPr/>
          <p:nvPr/>
        </p:nvSpPr>
        <p:spPr>
          <a:xfrm>
            <a:off x="7964984" y="1835051"/>
            <a:ext cx="3407866" cy="1429841"/>
          </a:xfrm>
          <a:prstGeom prst="roundRect">
            <a:avLst>
              <a:gd name="adj" fmla="val 6662"/>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8149134" y="2019201"/>
            <a:ext cx="31307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Pinned requirements</a:t>
            </a:r>
            <a:endParaRPr lang="en-US" sz="1200" dirty="0"/>
          </a:p>
        </p:txBody>
      </p:sp>
      <p:sp>
        <p:nvSpPr>
          <p:cNvPr id="14" name="Text 12"/>
          <p:cNvSpPr/>
          <p:nvPr/>
        </p:nvSpPr>
        <p:spPr>
          <a:xfrm>
            <a:off x="8149134" y="2296021"/>
            <a:ext cx="31307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Environment</a:t>
            </a:r>
            <a:endParaRPr lang="en-US" sz="1700" dirty="0"/>
          </a:p>
        </p:txBody>
      </p:sp>
      <p:sp>
        <p:nvSpPr>
          <p:cNvPr id="15" name="Text 13"/>
          <p:cNvSpPr/>
          <p:nvPr/>
        </p:nvSpPr>
        <p:spPr>
          <a:xfrm>
            <a:off x="8149134" y="2618581"/>
            <a:ext cx="313075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 scikit-learn bump can change how a pickle loads</a:t>
            </a:r>
            <a:endParaRPr lang="en-US" sz="1300" dirty="0"/>
          </a:p>
        </p:txBody>
      </p:sp>
      <p:sp>
        <p:nvSpPr>
          <p:cNvPr id="16" name="Shape 14"/>
          <p:cNvSpPr/>
          <p:nvPr/>
        </p:nvSpPr>
        <p:spPr>
          <a:xfrm>
            <a:off x="819150" y="3429992"/>
            <a:ext cx="3407767" cy="1429841"/>
          </a:xfrm>
          <a:prstGeom prst="roundRect">
            <a:avLst>
              <a:gd name="adj" fmla="val 6662"/>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1003300" y="3614142"/>
            <a:ext cx="313065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MLflow params</a:t>
            </a:r>
            <a:endParaRPr lang="en-US" sz="1200" dirty="0"/>
          </a:p>
        </p:txBody>
      </p:sp>
      <p:sp>
        <p:nvSpPr>
          <p:cNvPr id="18" name="Text 16"/>
          <p:cNvSpPr/>
          <p:nvPr/>
        </p:nvSpPr>
        <p:spPr>
          <a:xfrm>
            <a:off x="1003300" y="3890962"/>
            <a:ext cx="31306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Parameters</a:t>
            </a:r>
            <a:endParaRPr lang="en-US" sz="1700" dirty="0"/>
          </a:p>
        </p:txBody>
      </p:sp>
      <p:sp>
        <p:nvSpPr>
          <p:cNvPr id="19" name="Text 17"/>
          <p:cNvSpPr/>
          <p:nvPr/>
        </p:nvSpPr>
        <p:spPr>
          <a:xfrm>
            <a:off x="1003300" y="4213523"/>
            <a:ext cx="313065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Features, split, model settings on every run</a:t>
            </a:r>
            <a:endParaRPr lang="en-US" sz="1300" dirty="0"/>
          </a:p>
        </p:txBody>
      </p:sp>
      <p:sp>
        <p:nvSpPr>
          <p:cNvPr id="20" name="Shape 18"/>
          <p:cNvSpPr/>
          <p:nvPr/>
        </p:nvSpPr>
        <p:spPr>
          <a:xfrm>
            <a:off x="4392017" y="3429992"/>
            <a:ext cx="3407866" cy="1429841"/>
          </a:xfrm>
          <a:prstGeom prst="roundRect">
            <a:avLst>
              <a:gd name="adj" fmla="val 6662"/>
            </a:avLst>
          </a:prstGeom>
          <a:solidFill>
            <a:srgbClr val="FDFCF8"/>
          </a:solidFill>
          <a:ln w="12700">
            <a:solidFill>
              <a:srgbClr val="DCD6C8"/>
            </a:solidFill>
            <a:prstDash val="solid"/>
          </a:ln>
        </p:spPr>
        <p:txBody>
          <a:bodyPr/>
          <a:lstStyle/>
          <a:p>
            <a:endParaRPr lang="en-IN"/>
          </a:p>
        </p:txBody>
      </p:sp>
      <p:sp>
        <p:nvSpPr>
          <p:cNvPr id="21" name="Text 19"/>
          <p:cNvSpPr/>
          <p:nvPr/>
        </p:nvSpPr>
        <p:spPr>
          <a:xfrm>
            <a:off x="4576167" y="3614142"/>
            <a:ext cx="31307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seed = 42</a:t>
            </a:r>
            <a:endParaRPr lang="en-US" sz="1200" dirty="0"/>
          </a:p>
        </p:txBody>
      </p:sp>
      <p:sp>
        <p:nvSpPr>
          <p:cNvPr id="22" name="Text 20"/>
          <p:cNvSpPr/>
          <p:nvPr/>
        </p:nvSpPr>
        <p:spPr>
          <a:xfrm>
            <a:off x="4576167" y="3890962"/>
            <a:ext cx="31307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Randomness</a:t>
            </a:r>
            <a:endParaRPr lang="en-US" sz="1700" dirty="0"/>
          </a:p>
        </p:txBody>
      </p:sp>
      <p:sp>
        <p:nvSpPr>
          <p:cNvPr id="23" name="Text 21"/>
          <p:cNvSpPr/>
          <p:nvPr/>
        </p:nvSpPr>
        <p:spPr>
          <a:xfrm>
            <a:off x="4576167" y="4213523"/>
            <a:ext cx="313075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Same generator draw order as M2</a:t>
            </a:r>
            <a:endParaRPr lang="en-US" sz="1300" dirty="0"/>
          </a:p>
        </p:txBody>
      </p:sp>
      <p:sp>
        <p:nvSpPr>
          <p:cNvPr id="24" name="Shape 22"/>
          <p:cNvSpPr/>
          <p:nvPr/>
        </p:nvSpPr>
        <p:spPr>
          <a:xfrm>
            <a:off x="7964984" y="3429992"/>
            <a:ext cx="3407866" cy="1429841"/>
          </a:xfrm>
          <a:prstGeom prst="roundRect">
            <a:avLst>
              <a:gd name="adj" fmla="val 6662"/>
            </a:avLst>
          </a:prstGeom>
          <a:solidFill>
            <a:srgbClr val="FDFCF8"/>
          </a:solidFill>
          <a:ln w="12700">
            <a:solidFill>
              <a:srgbClr val="DCD6C8"/>
            </a:solidFill>
            <a:prstDash val="solid"/>
          </a:ln>
        </p:spPr>
        <p:txBody>
          <a:bodyPr/>
          <a:lstStyle/>
          <a:p>
            <a:endParaRPr lang="en-IN"/>
          </a:p>
        </p:txBody>
      </p:sp>
      <p:sp>
        <p:nvSpPr>
          <p:cNvPr id="25" name="Text 23"/>
          <p:cNvSpPr/>
          <p:nvPr/>
        </p:nvSpPr>
        <p:spPr>
          <a:xfrm>
            <a:off x="8149134" y="3614142"/>
            <a:ext cx="31307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Temporal, 2026-08-01</a:t>
            </a:r>
            <a:endParaRPr lang="en-US" sz="1200" dirty="0"/>
          </a:p>
        </p:txBody>
      </p:sp>
      <p:sp>
        <p:nvSpPr>
          <p:cNvPr id="26" name="Text 24"/>
          <p:cNvSpPr/>
          <p:nvPr/>
        </p:nvSpPr>
        <p:spPr>
          <a:xfrm>
            <a:off x="8149134" y="3890962"/>
            <a:ext cx="313075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Split</a:t>
            </a:r>
            <a:endParaRPr lang="en-US" sz="1700" dirty="0"/>
          </a:p>
        </p:txBody>
      </p:sp>
      <p:sp>
        <p:nvSpPr>
          <p:cNvPr id="27" name="Text 25"/>
          <p:cNvSpPr/>
          <p:nvPr/>
        </p:nvSpPr>
        <p:spPr>
          <a:xfrm>
            <a:off x="8149134" y="4213523"/>
            <a:ext cx="313075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Train on the past, test on the future</a:t>
            </a:r>
            <a:endParaRPr lang="en-US" sz="13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DATA–MODEL LINEAGE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Every prediction traces back to one extract</a:t>
            </a:r>
            <a:endParaRPr lang="en-US" sz="3200" dirty="0"/>
          </a:p>
        </p:txBody>
      </p:sp>
      <p:sp>
        <p:nvSpPr>
          <p:cNvPr id="4" name="Shape 2"/>
          <p:cNvSpPr/>
          <p:nvPr/>
        </p:nvSpPr>
        <p:spPr>
          <a:xfrm>
            <a:off x="819150" y="1987451"/>
            <a:ext cx="1430834" cy="1081881"/>
          </a:xfrm>
          <a:prstGeom prst="roundRect">
            <a:avLst>
              <a:gd name="adj" fmla="val 7630"/>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01700" y="2158901"/>
            <a:ext cx="126573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POS extract</a:t>
            </a:r>
            <a:endParaRPr lang="en-US" sz="1400" dirty="0"/>
          </a:p>
        </p:txBody>
      </p:sp>
      <p:sp>
        <p:nvSpPr>
          <p:cNvPr id="6" name="Text 4"/>
          <p:cNvSpPr/>
          <p:nvPr/>
        </p:nvSpPr>
        <p:spPr>
          <a:xfrm>
            <a:off x="901700" y="2471241"/>
            <a:ext cx="1265734"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pos_raw.parquet</a:t>
            </a:r>
            <a:endParaRPr lang="en-US" sz="1200" dirty="0"/>
          </a:p>
        </p:txBody>
      </p:sp>
      <p:pic>
        <p:nvPicPr>
          <p:cNvPr id="7" name="Image 0" descr="arrow-right"/>
          <p:cNvPicPr>
            <a:picLocks noChangeAspect="1"/>
          </p:cNvPicPr>
          <p:nvPr/>
        </p:nvPicPr>
        <p:blipFill>
          <a:blip r:embed="rId3"/>
          <a:srcRect/>
          <a:stretch/>
        </p:blipFill>
        <p:spPr>
          <a:xfrm>
            <a:off x="2332534" y="2458541"/>
            <a:ext cx="228600" cy="139700"/>
          </a:xfrm>
          <a:prstGeom prst="rect">
            <a:avLst/>
          </a:prstGeom>
        </p:spPr>
      </p:pic>
      <p:sp>
        <p:nvSpPr>
          <p:cNvPr id="8" name="Shape 5"/>
          <p:cNvSpPr/>
          <p:nvPr/>
        </p:nvSpPr>
        <p:spPr>
          <a:xfrm>
            <a:off x="2643684" y="2094111"/>
            <a:ext cx="1430933" cy="868561"/>
          </a:xfrm>
          <a:prstGeom prst="roundRect">
            <a:avLst>
              <a:gd name="adj" fmla="val 9504"/>
            </a:avLst>
          </a:prstGeom>
          <a:solidFill>
            <a:srgbClr val="E2EEEC"/>
          </a:solidFill>
          <a:ln w="12700">
            <a:solidFill>
              <a:srgbClr val="0E6F6D"/>
            </a:solidFill>
            <a:prstDash val="solid"/>
          </a:ln>
        </p:spPr>
        <p:txBody>
          <a:bodyPr/>
          <a:lstStyle/>
          <a:p>
            <a:endParaRPr lang="en-IN"/>
          </a:p>
        </p:txBody>
      </p:sp>
      <p:sp>
        <p:nvSpPr>
          <p:cNvPr id="9" name="Text 6"/>
          <p:cNvSpPr/>
          <p:nvPr/>
        </p:nvSpPr>
        <p:spPr>
          <a:xfrm>
            <a:off x="2726234" y="2265561"/>
            <a:ext cx="1265833"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data_hash</a:t>
            </a:r>
            <a:endParaRPr lang="en-US" sz="1400" dirty="0"/>
          </a:p>
        </p:txBody>
      </p:sp>
      <p:sp>
        <p:nvSpPr>
          <p:cNvPr id="10" name="Text 7"/>
          <p:cNvSpPr/>
          <p:nvPr/>
        </p:nvSpPr>
        <p:spPr>
          <a:xfrm>
            <a:off x="2726234" y="2577902"/>
            <a:ext cx="1265833"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e0ce921bf845</a:t>
            </a:r>
            <a:endParaRPr lang="en-US" sz="1200" dirty="0"/>
          </a:p>
        </p:txBody>
      </p:sp>
      <p:pic>
        <p:nvPicPr>
          <p:cNvPr id="11" name="Image 1" descr="arrow-right"/>
          <p:cNvPicPr>
            <a:picLocks noChangeAspect="1"/>
          </p:cNvPicPr>
          <p:nvPr/>
        </p:nvPicPr>
        <p:blipFill>
          <a:blip r:embed="rId3"/>
          <a:srcRect/>
          <a:stretch/>
        </p:blipFill>
        <p:spPr>
          <a:xfrm>
            <a:off x="4157166" y="2458541"/>
            <a:ext cx="228600" cy="139700"/>
          </a:xfrm>
          <a:prstGeom prst="rect">
            <a:avLst/>
          </a:prstGeom>
        </p:spPr>
      </p:pic>
      <p:sp>
        <p:nvSpPr>
          <p:cNvPr id="12" name="Shape 8"/>
          <p:cNvSpPr/>
          <p:nvPr/>
        </p:nvSpPr>
        <p:spPr>
          <a:xfrm>
            <a:off x="4468316" y="1987451"/>
            <a:ext cx="1430834" cy="1081881"/>
          </a:xfrm>
          <a:prstGeom prst="roundRect">
            <a:avLst>
              <a:gd name="adj" fmla="val 7630"/>
            </a:avLst>
          </a:prstGeom>
          <a:solidFill>
            <a:srgbClr val="FDFCF8"/>
          </a:solidFill>
          <a:ln w="12700">
            <a:solidFill>
              <a:srgbClr val="DCD6C8"/>
            </a:solidFill>
            <a:prstDash val="solid"/>
          </a:ln>
        </p:spPr>
        <p:txBody>
          <a:bodyPr/>
          <a:lstStyle/>
          <a:p>
            <a:endParaRPr lang="en-IN"/>
          </a:p>
        </p:txBody>
      </p:sp>
      <p:sp>
        <p:nvSpPr>
          <p:cNvPr id="13" name="Text 9"/>
          <p:cNvSpPr/>
          <p:nvPr/>
        </p:nvSpPr>
        <p:spPr>
          <a:xfrm>
            <a:off x="4550866" y="2158901"/>
            <a:ext cx="126573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Feature store</a:t>
            </a:r>
            <a:endParaRPr lang="en-US" sz="1400" dirty="0"/>
          </a:p>
        </p:txBody>
      </p:sp>
      <p:sp>
        <p:nvSpPr>
          <p:cNvPr id="14" name="Text 10"/>
          <p:cNvSpPr/>
          <p:nvPr/>
        </p:nvSpPr>
        <p:spPr>
          <a:xfrm>
            <a:off x="4550866" y="2471241"/>
            <a:ext cx="1265734"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reorder_features</a:t>
            </a:r>
            <a:endParaRPr lang="en-US" sz="1200" dirty="0"/>
          </a:p>
        </p:txBody>
      </p:sp>
      <p:pic>
        <p:nvPicPr>
          <p:cNvPr id="15" name="Image 2" descr="arrow-right"/>
          <p:cNvPicPr>
            <a:picLocks noChangeAspect="1"/>
          </p:cNvPicPr>
          <p:nvPr/>
        </p:nvPicPr>
        <p:blipFill>
          <a:blip r:embed="rId3"/>
          <a:srcRect/>
          <a:stretch/>
        </p:blipFill>
        <p:spPr>
          <a:xfrm>
            <a:off x="5981700" y="2458541"/>
            <a:ext cx="228600" cy="139700"/>
          </a:xfrm>
          <a:prstGeom prst="rect">
            <a:avLst/>
          </a:prstGeom>
        </p:spPr>
      </p:pic>
      <p:sp>
        <p:nvSpPr>
          <p:cNvPr id="16" name="Shape 11"/>
          <p:cNvSpPr/>
          <p:nvPr/>
        </p:nvSpPr>
        <p:spPr>
          <a:xfrm>
            <a:off x="6292850" y="1987451"/>
            <a:ext cx="1430933" cy="1081881"/>
          </a:xfrm>
          <a:prstGeom prst="roundRect">
            <a:avLst>
              <a:gd name="adj" fmla="val 7630"/>
            </a:avLst>
          </a:prstGeom>
          <a:solidFill>
            <a:srgbClr val="FDFCF8"/>
          </a:solidFill>
          <a:ln w="12700">
            <a:solidFill>
              <a:srgbClr val="DCD6C8"/>
            </a:solidFill>
            <a:prstDash val="solid"/>
          </a:ln>
        </p:spPr>
        <p:txBody>
          <a:bodyPr/>
          <a:lstStyle/>
          <a:p>
            <a:endParaRPr lang="en-IN"/>
          </a:p>
        </p:txBody>
      </p:sp>
      <p:sp>
        <p:nvSpPr>
          <p:cNvPr id="17" name="Text 12"/>
          <p:cNvSpPr/>
          <p:nvPr/>
        </p:nvSpPr>
        <p:spPr>
          <a:xfrm>
            <a:off x="6375400" y="2158901"/>
            <a:ext cx="1265833"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Training run</a:t>
            </a:r>
            <a:endParaRPr lang="en-US" sz="1400" dirty="0"/>
          </a:p>
        </p:txBody>
      </p:sp>
      <p:sp>
        <p:nvSpPr>
          <p:cNvPr id="18" name="Text 13"/>
          <p:cNvSpPr/>
          <p:nvPr/>
        </p:nvSpPr>
        <p:spPr>
          <a:xfrm>
            <a:off x="6375400" y="2471241"/>
            <a:ext cx="1265833"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tag: data_hash</a:t>
            </a:r>
            <a:endParaRPr lang="en-US" sz="1200" dirty="0"/>
          </a:p>
        </p:txBody>
      </p:sp>
      <p:pic>
        <p:nvPicPr>
          <p:cNvPr id="19" name="Image 3" descr="arrow-right"/>
          <p:cNvPicPr>
            <a:picLocks noChangeAspect="1"/>
          </p:cNvPicPr>
          <p:nvPr/>
        </p:nvPicPr>
        <p:blipFill>
          <a:blip r:embed="rId3"/>
          <a:srcRect/>
          <a:stretch/>
        </p:blipFill>
        <p:spPr>
          <a:xfrm>
            <a:off x="7806333" y="2458541"/>
            <a:ext cx="228600" cy="139700"/>
          </a:xfrm>
          <a:prstGeom prst="rect">
            <a:avLst/>
          </a:prstGeom>
        </p:spPr>
      </p:pic>
      <p:sp>
        <p:nvSpPr>
          <p:cNvPr id="20" name="Shape 14"/>
          <p:cNvSpPr/>
          <p:nvPr/>
        </p:nvSpPr>
        <p:spPr>
          <a:xfrm>
            <a:off x="8117483" y="2094111"/>
            <a:ext cx="1430834" cy="868561"/>
          </a:xfrm>
          <a:prstGeom prst="roundRect">
            <a:avLst>
              <a:gd name="adj" fmla="val 9504"/>
            </a:avLst>
          </a:prstGeom>
          <a:solidFill>
            <a:srgbClr val="FDFCF8"/>
          </a:solidFill>
          <a:ln w="12700">
            <a:solidFill>
              <a:srgbClr val="DCD6C8"/>
            </a:solidFill>
            <a:prstDash val="solid"/>
          </a:ln>
        </p:spPr>
        <p:txBody>
          <a:bodyPr/>
          <a:lstStyle/>
          <a:p>
            <a:endParaRPr lang="en-IN"/>
          </a:p>
        </p:txBody>
      </p:sp>
      <p:sp>
        <p:nvSpPr>
          <p:cNvPr id="21" name="Text 15"/>
          <p:cNvSpPr/>
          <p:nvPr/>
        </p:nvSpPr>
        <p:spPr>
          <a:xfrm>
            <a:off x="8200033" y="2265561"/>
            <a:ext cx="126573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Model version</a:t>
            </a:r>
            <a:endParaRPr lang="en-US" sz="1400" dirty="0"/>
          </a:p>
        </p:txBody>
      </p:sp>
      <p:sp>
        <p:nvSpPr>
          <p:cNvPr id="22" name="Text 16"/>
          <p:cNvSpPr/>
          <p:nvPr/>
        </p:nvSpPr>
        <p:spPr>
          <a:xfrm>
            <a:off x="8200033" y="2577902"/>
            <a:ext cx="126573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v1 + tags</a:t>
            </a:r>
            <a:endParaRPr lang="en-US" sz="1200" dirty="0"/>
          </a:p>
        </p:txBody>
      </p:sp>
      <p:pic>
        <p:nvPicPr>
          <p:cNvPr id="23" name="Image 4" descr="arrow-right"/>
          <p:cNvPicPr>
            <a:picLocks noChangeAspect="1"/>
          </p:cNvPicPr>
          <p:nvPr/>
        </p:nvPicPr>
        <p:blipFill>
          <a:blip r:embed="rId3"/>
          <a:srcRect/>
          <a:stretch/>
        </p:blipFill>
        <p:spPr>
          <a:xfrm>
            <a:off x="9630866" y="2458541"/>
            <a:ext cx="228600" cy="139700"/>
          </a:xfrm>
          <a:prstGeom prst="rect">
            <a:avLst/>
          </a:prstGeom>
        </p:spPr>
      </p:pic>
      <p:sp>
        <p:nvSpPr>
          <p:cNvPr id="24" name="Shape 17"/>
          <p:cNvSpPr/>
          <p:nvPr/>
        </p:nvSpPr>
        <p:spPr>
          <a:xfrm>
            <a:off x="9942016" y="1987451"/>
            <a:ext cx="1430834" cy="1081881"/>
          </a:xfrm>
          <a:prstGeom prst="roundRect">
            <a:avLst>
              <a:gd name="adj" fmla="val 7630"/>
            </a:avLst>
          </a:prstGeom>
          <a:solidFill>
            <a:srgbClr val="E2EEEC"/>
          </a:solidFill>
          <a:ln w="12700">
            <a:solidFill>
              <a:srgbClr val="0E6F6D"/>
            </a:solidFill>
            <a:prstDash val="solid"/>
          </a:ln>
        </p:spPr>
        <p:txBody>
          <a:bodyPr/>
          <a:lstStyle/>
          <a:p>
            <a:endParaRPr lang="en-IN"/>
          </a:p>
        </p:txBody>
      </p:sp>
      <p:sp>
        <p:nvSpPr>
          <p:cNvPr id="25" name="Text 18"/>
          <p:cNvSpPr/>
          <p:nvPr/>
        </p:nvSpPr>
        <p:spPr>
          <a:xfrm>
            <a:off x="10024566" y="2158901"/>
            <a:ext cx="126573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@champion</a:t>
            </a:r>
            <a:endParaRPr lang="en-US" sz="1400" dirty="0"/>
          </a:p>
        </p:txBody>
      </p:sp>
      <p:sp>
        <p:nvSpPr>
          <p:cNvPr id="26" name="Text 19"/>
          <p:cNvSpPr/>
          <p:nvPr/>
        </p:nvSpPr>
        <p:spPr>
          <a:xfrm>
            <a:off x="10024566" y="2471241"/>
            <a:ext cx="1265734"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loaded by Lab 3</a:t>
            </a:r>
            <a:endParaRPr lang="en-US" sz="1200" dirty="0"/>
          </a:p>
        </p:txBody>
      </p:sp>
      <p:sp>
        <p:nvSpPr>
          <p:cNvPr id="27" name="Text 20"/>
          <p:cNvSpPr/>
          <p:nvPr/>
        </p:nvSpPr>
        <p:spPr>
          <a:xfrm>
            <a:off x="812800" y="3482082"/>
            <a:ext cx="5284724"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Forward:</a:t>
            </a:r>
            <a:r>
              <a:rPr lang="en-US" sz="1500" dirty="0">
                <a:solidFill>
                  <a:srgbClr val="4E5B63"/>
                </a:solidFill>
                <a:latin typeface="IBM Plex Sans" pitchFamily="34" charset="0"/>
                <a:ea typeface="IBM Plex Sans" pitchFamily="34" charset="-122"/>
                <a:cs typeface="IBM Plex Sans" pitchFamily="34" charset="-120"/>
              </a:rPr>
              <a:t> a bad extract is found — which models were trained on it? Query the registry for its hash.</a:t>
            </a:r>
            <a:endParaRPr lang="en-US" sz="1500" dirty="0"/>
          </a:p>
        </p:txBody>
      </p:sp>
      <p:sp>
        <p:nvSpPr>
          <p:cNvPr id="28" name="Text 21"/>
          <p:cNvSpPr/>
          <p:nvPr/>
        </p:nvSpPr>
        <p:spPr>
          <a:xfrm>
            <a:off x="6248400" y="3482082"/>
            <a:ext cx="5284724" cy="577850"/>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Backward:</a:t>
            </a:r>
            <a:r>
              <a:rPr lang="en-US" sz="1500" dirty="0">
                <a:solidFill>
                  <a:srgbClr val="4E5B63"/>
                </a:solidFill>
                <a:latin typeface="IBM Plex Sans" pitchFamily="34" charset="0"/>
                <a:ea typeface="IBM Plex Sans" pitchFamily="34" charset="-122"/>
                <a:cs typeface="IBM Plex Sans" pitchFamily="34" charset="-120"/>
              </a:rPr>
              <a:t> a strange prediction — which data made this model? Read the version's data_hash tag.</a:t>
            </a:r>
            <a:endParaRPr lang="en-US" sz="1500" dirty="0"/>
          </a:p>
        </p:txBody>
      </p:sp>
      <p:sp>
        <p:nvSpPr>
          <p:cNvPr id="29" name="Text 2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30" name="Text 2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MLFLOW TRACKING</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One parent run, one nested run per candidate</a:t>
            </a:r>
            <a:endParaRPr lang="en-US" sz="3200" dirty="0"/>
          </a:p>
        </p:txBody>
      </p:sp>
      <p:sp>
        <p:nvSpPr>
          <p:cNvPr id="4" name="Shape 2"/>
          <p:cNvSpPr/>
          <p:nvPr/>
        </p:nvSpPr>
        <p:spPr>
          <a:xfrm>
            <a:off x="812800" y="1828701"/>
            <a:ext cx="4826000" cy="477441"/>
          </a:xfrm>
          <a:prstGeom prst="roundRect">
            <a:avLst>
              <a:gd name="adj" fmla="val 15960"/>
            </a:avLst>
          </a:prstGeom>
          <a:solidFill>
            <a:srgbClr val="16232E"/>
          </a:solidFill>
          <a:ln/>
        </p:spPr>
        <p:txBody>
          <a:bodyPr/>
          <a:lstStyle/>
          <a:p>
            <a:endParaRPr lang="en-IN"/>
          </a:p>
        </p:txBody>
      </p:sp>
      <p:sp>
        <p:nvSpPr>
          <p:cNvPr id="5" name="Text 3"/>
          <p:cNvSpPr/>
          <p:nvPr/>
        </p:nvSpPr>
        <p:spPr>
          <a:xfrm>
            <a:off x="965200" y="1943001"/>
            <a:ext cx="465683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JetBrains Mono" pitchFamily="34" charset="0"/>
                <a:ea typeface="JetBrains Mono" pitchFamily="34" charset="-122"/>
                <a:cs typeface="JetBrains Mono" pitchFamily="34" charset="-120"/>
              </a:rPr>
              <a:t>run: build </a:t>
            </a:r>
            <a:r>
              <a:rPr lang="en-US" sz="1400" b="1" dirty="0">
                <a:solidFill>
                  <a:srgbClr val="E3A63B"/>
                </a:solidFill>
                <a:latin typeface="JetBrains Mono" pitchFamily="34" charset="0"/>
                <a:ea typeface="JetBrains Mono" pitchFamily="34" charset="-122"/>
                <a:cs typeface="JetBrains Mono" pitchFamily="34" charset="-120"/>
              </a:rPr>
              <a:t>(parent)</a:t>
            </a:r>
            <a:endParaRPr lang="en-US" sz="1400" dirty="0"/>
          </a:p>
        </p:txBody>
      </p:sp>
      <p:sp>
        <p:nvSpPr>
          <p:cNvPr id="6" name="Shape 4"/>
          <p:cNvSpPr/>
          <p:nvPr/>
        </p:nvSpPr>
        <p:spPr>
          <a:xfrm>
            <a:off x="825500" y="2395041"/>
            <a:ext cx="0" cy="2239963"/>
          </a:xfrm>
          <a:prstGeom prst="line">
            <a:avLst/>
          </a:prstGeom>
          <a:noFill/>
          <a:ln w="25400">
            <a:solidFill>
              <a:srgbClr val="0E6F6D"/>
            </a:solidFill>
            <a:prstDash val="solid"/>
          </a:ln>
        </p:spPr>
        <p:txBody>
          <a:bodyPr/>
          <a:lstStyle/>
          <a:p>
            <a:endParaRPr lang="en-IN"/>
          </a:p>
        </p:txBody>
      </p:sp>
      <p:sp>
        <p:nvSpPr>
          <p:cNvPr id="7" name="Shape 5"/>
          <p:cNvSpPr/>
          <p:nvPr/>
        </p:nvSpPr>
        <p:spPr>
          <a:xfrm>
            <a:off x="1047750" y="2401391"/>
            <a:ext cx="4584700" cy="490141"/>
          </a:xfrm>
          <a:prstGeom prst="roundRect">
            <a:avLst>
              <a:gd name="adj" fmla="val 14251"/>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1206500" y="2522041"/>
            <a:ext cx="9042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2E"/>
                </a:solidFill>
                <a:latin typeface="JetBrains Mono" pitchFamily="34" charset="0"/>
                <a:ea typeface="JetBrains Mono" pitchFamily="34" charset="-122"/>
                <a:cs typeface="JetBrains Mono" pitchFamily="34" charset="-120"/>
              </a:rPr>
              <a:t>baseline</a:t>
            </a:r>
            <a:endParaRPr lang="en-US" sz="1400" dirty="0"/>
          </a:p>
        </p:txBody>
      </p:sp>
      <p:sp>
        <p:nvSpPr>
          <p:cNvPr id="9" name="Text 7"/>
          <p:cNvSpPr/>
          <p:nvPr/>
        </p:nvSpPr>
        <p:spPr>
          <a:xfrm>
            <a:off x="4310658" y="2539802"/>
            <a:ext cx="1213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dummy classifier</a:t>
            </a:r>
            <a:endParaRPr lang="en-US" sz="1200" dirty="0"/>
          </a:p>
        </p:txBody>
      </p:sp>
      <p:sp>
        <p:nvSpPr>
          <p:cNvPr id="10" name="Shape 8"/>
          <p:cNvSpPr/>
          <p:nvPr/>
        </p:nvSpPr>
        <p:spPr>
          <a:xfrm>
            <a:off x="1047750" y="2980432"/>
            <a:ext cx="4584700" cy="490141"/>
          </a:xfrm>
          <a:prstGeom prst="roundRect">
            <a:avLst>
              <a:gd name="adj" fmla="val 14251"/>
            </a:avLst>
          </a:prstGeom>
          <a:solidFill>
            <a:srgbClr val="E2EEEC"/>
          </a:solidFill>
          <a:ln w="12700">
            <a:solidFill>
              <a:srgbClr val="0E6F6D"/>
            </a:solidFill>
            <a:prstDash val="solid"/>
          </a:ln>
        </p:spPr>
        <p:txBody>
          <a:bodyPr/>
          <a:lstStyle/>
          <a:p>
            <a:endParaRPr lang="en-IN"/>
          </a:p>
        </p:txBody>
      </p:sp>
      <p:sp>
        <p:nvSpPr>
          <p:cNvPr id="11" name="Text 9"/>
          <p:cNvSpPr/>
          <p:nvPr/>
        </p:nvSpPr>
        <p:spPr>
          <a:xfrm>
            <a:off x="1206500" y="3101082"/>
            <a:ext cx="69095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2E"/>
                </a:solidFill>
                <a:latin typeface="JetBrains Mono" pitchFamily="34" charset="0"/>
                <a:ea typeface="JetBrains Mono" pitchFamily="34" charset="-122"/>
                <a:cs typeface="JetBrains Mono" pitchFamily="34" charset="-120"/>
              </a:rPr>
              <a:t>logreg</a:t>
            </a:r>
            <a:endParaRPr lang="en-US" sz="1400" dirty="0"/>
          </a:p>
        </p:txBody>
      </p:sp>
      <p:sp>
        <p:nvSpPr>
          <p:cNvPr id="12" name="Text 10"/>
          <p:cNvSpPr/>
          <p:nvPr/>
        </p:nvSpPr>
        <p:spPr>
          <a:xfrm>
            <a:off x="4736802" y="3118842"/>
            <a:ext cx="787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AUC 0.697</a:t>
            </a:r>
            <a:endParaRPr lang="en-US" sz="1200" dirty="0"/>
          </a:p>
        </p:txBody>
      </p:sp>
      <p:sp>
        <p:nvSpPr>
          <p:cNvPr id="13" name="Shape 11"/>
          <p:cNvSpPr/>
          <p:nvPr/>
        </p:nvSpPr>
        <p:spPr>
          <a:xfrm>
            <a:off x="1047750" y="3559473"/>
            <a:ext cx="4584700" cy="490141"/>
          </a:xfrm>
          <a:prstGeom prst="roundRect">
            <a:avLst>
              <a:gd name="adj" fmla="val 14251"/>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1206500" y="3680123"/>
            <a:ext cx="79762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2E"/>
                </a:solidFill>
                <a:latin typeface="JetBrains Mono" pitchFamily="34" charset="0"/>
                <a:ea typeface="JetBrains Mono" pitchFamily="34" charset="-122"/>
                <a:cs typeface="JetBrains Mono" pitchFamily="34" charset="-120"/>
              </a:rPr>
              <a:t>xgboost</a:t>
            </a:r>
            <a:endParaRPr lang="en-US" sz="1400" dirty="0"/>
          </a:p>
        </p:txBody>
      </p:sp>
      <p:sp>
        <p:nvSpPr>
          <p:cNvPr id="15" name="Text 13"/>
          <p:cNvSpPr/>
          <p:nvPr/>
        </p:nvSpPr>
        <p:spPr>
          <a:xfrm>
            <a:off x="4736802" y="3697883"/>
            <a:ext cx="787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AUC 0.674</a:t>
            </a:r>
            <a:endParaRPr lang="en-US" sz="1200" dirty="0"/>
          </a:p>
        </p:txBody>
      </p:sp>
      <p:sp>
        <p:nvSpPr>
          <p:cNvPr id="16" name="Shape 14"/>
          <p:cNvSpPr/>
          <p:nvPr/>
        </p:nvSpPr>
        <p:spPr>
          <a:xfrm>
            <a:off x="1047750" y="4138513"/>
            <a:ext cx="4584700" cy="490141"/>
          </a:xfrm>
          <a:prstGeom prst="roundRect">
            <a:avLst>
              <a:gd name="adj" fmla="val 14251"/>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1206500" y="4259163"/>
            <a:ext cx="3708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2E"/>
                </a:solidFill>
                <a:latin typeface="JetBrains Mono" pitchFamily="34" charset="0"/>
                <a:ea typeface="JetBrains Mono" pitchFamily="34" charset="-122"/>
                <a:cs typeface="JetBrains Mono" pitchFamily="34" charset="-120"/>
              </a:rPr>
              <a:t>mlp</a:t>
            </a:r>
            <a:endParaRPr lang="en-US" sz="1400" dirty="0"/>
          </a:p>
        </p:txBody>
      </p:sp>
      <p:sp>
        <p:nvSpPr>
          <p:cNvPr id="18" name="Text 16"/>
          <p:cNvSpPr/>
          <p:nvPr/>
        </p:nvSpPr>
        <p:spPr>
          <a:xfrm>
            <a:off x="4736802" y="4276923"/>
            <a:ext cx="7876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AUC 0.660</a:t>
            </a:r>
            <a:endParaRPr lang="en-US" sz="1200" dirty="0"/>
          </a:p>
        </p:txBody>
      </p:sp>
      <p:sp>
        <p:nvSpPr>
          <p:cNvPr id="19" name="Shape 17"/>
          <p:cNvSpPr/>
          <p:nvPr/>
        </p:nvSpPr>
        <p:spPr>
          <a:xfrm>
            <a:off x="6045200" y="1835051"/>
            <a:ext cx="5334000" cy="0"/>
          </a:xfrm>
          <a:prstGeom prst="line">
            <a:avLst/>
          </a:prstGeom>
          <a:noFill/>
          <a:ln w="12700">
            <a:solidFill>
              <a:srgbClr val="DCD6C8"/>
            </a:solidFill>
            <a:prstDash val="solid"/>
          </a:ln>
        </p:spPr>
        <p:txBody>
          <a:bodyPr/>
          <a:lstStyle/>
          <a:p>
            <a:endParaRPr lang="en-IN"/>
          </a:p>
        </p:txBody>
      </p:sp>
      <p:sp>
        <p:nvSpPr>
          <p:cNvPr id="20" name="Text 18"/>
          <p:cNvSpPr/>
          <p:nvPr/>
        </p:nvSpPr>
        <p:spPr>
          <a:xfrm>
            <a:off x="6045200" y="1943001"/>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Params</a:t>
            </a:r>
            <a:endParaRPr lang="en-US" sz="1500" dirty="0"/>
          </a:p>
        </p:txBody>
      </p:sp>
      <p:sp>
        <p:nvSpPr>
          <p:cNvPr id="21" name="Text 19"/>
          <p:cNvSpPr/>
          <p:nvPr/>
        </p:nvSpPr>
        <p:spPr>
          <a:xfrm>
            <a:off x="6045200" y="2209701"/>
            <a:ext cx="54940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n_features, split = temporal, model settings</a:t>
            </a:r>
            <a:endParaRPr lang="en-US" sz="1300" dirty="0"/>
          </a:p>
        </p:txBody>
      </p:sp>
      <p:sp>
        <p:nvSpPr>
          <p:cNvPr id="22" name="Shape 20"/>
          <p:cNvSpPr/>
          <p:nvPr/>
        </p:nvSpPr>
        <p:spPr>
          <a:xfrm>
            <a:off x="6045200" y="2574131"/>
            <a:ext cx="5334000" cy="0"/>
          </a:xfrm>
          <a:prstGeom prst="line">
            <a:avLst/>
          </a:prstGeom>
          <a:noFill/>
          <a:ln w="12700">
            <a:solidFill>
              <a:srgbClr val="DCD6C8"/>
            </a:solidFill>
            <a:prstDash val="solid"/>
          </a:ln>
        </p:spPr>
        <p:txBody>
          <a:bodyPr/>
          <a:lstStyle/>
          <a:p>
            <a:endParaRPr lang="en-IN"/>
          </a:p>
        </p:txBody>
      </p:sp>
      <p:sp>
        <p:nvSpPr>
          <p:cNvPr id="23" name="Text 21"/>
          <p:cNvSpPr/>
          <p:nvPr/>
        </p:nvSpPr>
        <p:spPr>
          <a:xfrm>
            <a:off x="6045200" y="2682081"/>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Metrics</a:t>
            </a:r>
            <a:endParaRPr lang="en-US" sz="1500" dirty="0"/>
          </a:p>
        </p:txBody>
      </p:sp>
      <p:sp>
        <p:nvSpPr>
          <p:cNvPr id="24" name="Text 22"/>
          <p:cNvSpPr/>
          <p:nvPr/>
        </p:nvSpPr>
        <p:spPr>
          <a:xfrm>
            <a:off x="6045200" y="2948781"/>
            <a:ext cx="54940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AUC, F1, precision, recall, single-row latency</a:t>
            </a:r>
            <a:endParaRPr lang="en-US" sz="1300" dirty="0"/>
          </a:p>
        </p:txBody>
      </p:sp>
      <p:sp>
        <p:nvSpPr>
          <p:cNvPr id="25" name="Shape 23"/>
          <p:cNvSpPr/>
          <p:nvPr/>
        </p:nvSpPr>
        <p:spPr>
          <a:xfrm>
            <a:off x="6045200" y="3313212"/>
            <a:ext cx="5334000" cy="0"/>
          </a:xfrm>
          <a:prstGeom prst="line">
            <a:avLst/>
          </a:prstGeom>
          <a:noFill/>
          <a:ln w="12700">
            <a:solidFill>
              <a:srgbClr val="DCD6C8"/>
            </a:solidFill>
            <a:prstDash val="solid"/>
          </a:ln>
        </p:spPr>
        <p:txBody>
          <a:bodyPr/>
          <a:lstStyle/>
          <a:p>
            <a:endParaRPr lang="en-IN"/>
          </a:p>
        </p:txBody>
      </p:sp>
      <p:sp>
        <p:nvSpPr>
          <p:cNvPr id="26" name="Text 24"/>
          <p:cNvSpPr/>
          <p:nvPr/>
        </p:nvSpPr>
        <p:spPr>
          <a:xfrm>
            <a:off x="6045200" y="3421162"/>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Tags</a:t>
            </a:r>
            <a:endParaRPr lang="en-US" sz="1500" dirty="0"/>
          </a:p>
        </p:txBody>
      </p:sp>
      <p:sp>
        <p:nvSpPr>
          <p:cNvPr id="27" name="Text 25"/>
          <p:cNvSpPr/>
          <p:nvPr/>
        </p:nvSpPr>
        <p:spPr>
          <a:xfrm>
            <a:off x="6045200" y="3687862"/>
            <a:ext cx="54940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data_hash on every run</a:t>
            </a:r>
            <a:endParaRPr lang="en-US" sz="1300" dirty="0"/>
          </a:p>
        </p:txBody>
      </p:sp>
      <p:sp>
        <p:nvSpPr>
          <p:cNvPr id="28" name="Shape 26"/>
          <p:cNvSpPr/>
          <p:nvPr/>
        </p:nvSpPr>
        <p:spPr>
          <a:xfrm>
            <a:off x="6045200" y="4052292"/>
            <a:ext cx="5334000" cy="0"/>
          </a:xfrm>
          <a:prstGeom prst="line">
            <a:avLst/>
          </a:prstGeom>
          <a:noFill/>
          <a:ln w="12700">
            <a:solidFill>
              <a:srgbClr val="DCD6C8"/>
            </a:solidFill>
            <a:prstDash val="solid"/>
          </a:ln>
        </p:spPr>
        <p:txBody>
          <a:bodyPr/>
          <a:lstStyle/>
          <a:p>
            <a:endParaRPr lang="en-IN"/>
          </a:p>
        </p:txBody>
      </p:sp>
      <p:sp>
        <p:nvSpPr>
          <p:cNvPr id="29" name="Text 27"/>
          <p:cNvSpPr/>
          <p:nvPr/>
        </p:nvSpPr>
        <p:spPr>
          <a:xfrm>
            <a:off x="6045200" y="4160242"/>
            <a:ext cx="5494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IBM Plex Sans" pitchFamily="34" charset="0"/>
                <a:ea typeface="IBM Plex Sans" pitchFamily="34" charset="-122"/>
                <a:cs typeface="IBM Plex Sans" pitchFamily="34" charset="-120"/>
              </a:rPr>
              <a:t>Artifacts</a:t>
            </a:r>
            <a:endParaRPr lang="en-US" sz="1500" dirty="0"/>
          </a:p>
        </p:txBody>
      </p:sp>
      <p:sp>
        <p:nvSpPr>
          <p:cNvPr id="30" name="Text 28"/>
          <p:cNvSpPr/>
          <p:nvPr/>
        </p:nvSpPr>
        <p:spPr>
          <a:xfrm>
            <a:off x="6045200" y="4426942"/>
            <a:ext cx="54940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the fitted model, reloadable</a:t>
            </a:r>
            <a:endParaRPr lang="en-US" sz="13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MODEL REGISTRY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Registry aliases give consumers a stable name</a:t>
            </a:r>
            <a:endParaRPr lang="en-US" sz="3200" dirty="0"/>
          </a:p>
        </p:txBody>
      </p:sp>
      <p:sp>
        <p:nvSpPr>
          <p:cNvPr id="4" name="Text 2"/>
          <p:cNvSpPr/>
          <p:nvPr/>
        </p:nvSpPr>
        <p:spPr>
          <a:xfrm>
            <a:off x="812800" y="1828701"/>
            <a:ext cx="53632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E6F6D"/>
                </a:solidFill>
                <a:latin typeface="JetBrains Mono" pitchFamily="34" charset="0"/>
                <a:ea typeface="JetBrains Mono" pitchFamily="34" charset="-122"/>
                <a:cs typeface="JetBrains Mono" pitchFamily="34" charset="-120"/>
              </a:rPr>
              <a:t>freshmart_reorder_model</a:t>
            </a:r>
            <a:endParaRPr lang="en-US" sz="1300" dirty="0"/>
          </a:p>
        </p:txBody>
      </p:sp>
      <p:sp>
        <p:nvSpPr>
          <p:cNvPr id="5" name="Shape 3"/>
          <p:cNvSpPr/>
          <p:nvPr/>
        </p:nvSpPr>
        <p:spPr>
          <a:xfrm>
            <a:off x="819150" y="2167731"/>
            <a:ext cx="5194300" cy="624780"/>
          </a:xfrm>
          <a:prstGeom prst="roundRect">
            <a:avLst>
              <a:gd name="adj" fmla="val 13213"/>
            </a:avLst>
          </a:prstGeom>
          <a:solidFill>
            <a:srgbClr val="E2EEEC"/>
          </a:solidFill>
          <a:ln w="12700">
            <a:solidFill>
              <a:srgbClr val="0E6F6D"/>
            </a:solidFill>
            <a:prstDash val="solid"/>
          </a:ln>
        </p:spPr>
        <p:txBody>
          <a:bodyPr/>
          <a:lstStyle/>
          <a:p>
            <a:endParaRPr lang="en-IN"/>
          </a:p>
        </p:txBody>
      </p:sp>
      <p:sp>
        <p:nvSpPr>
          <p:cNvPr id="6" name="Text 4"/>
          <p:cNvSpPr/>
          <p:nvPr/>
        </p:nvSpPr>
        <p:spPr>
          <a:xfrm>
            <a:off x="1003300" y="2337891"/>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32E"/>
                </a:solidFill>
                <a:latin typeface="JetBrains Mono" pitchFamily="34" charset="0"/>
                <a:ea typeface="JetBrains Mono" pitchFamily="34" charset="-122"/>
                <a:cs typeface="JetBrains Mono" pitchFamily="34" charset="-120"/>
              </a:rPr>
              <a:t>v1</a:t>
            </a:r>
            <a:endParaRPr lang="en-US" sz="1600" dirty="0"/>
          </a:p>
        </p:txBody>
      </p:sp>
      <p:sp>
        <p:nvSpPr>
          <p:cNvPr id="7" name="Shape 5"/>
          <p:cNvSpPr/>
          <p:nvPr/>
        </p:nvSpPr>
        <p:spPr>
          <a:xfrm>
            <a:off x="1399580" y="2313781"/>
            <a:ext cx="1120180" cy="332680"/>
          </a:xfrm>
          <a:prstGeom prst="roundRect">
            <a:avLst>
              <a:gd name="adj" fmla="val 50000"/>
            </a:avLst>
          </a:prstGeom>
          <a:solidFill>
            <a:srgbClr val="16232E"/>
          </a:solidFill>
          <a:ln/>
        </p:spPr>
        <p:txBody>
          <a:bodyPr/>
          <a:lstStyle/>
          <a:p>
            <a:endParaRPr lang="en-IN"/>
          </a:p>
        </p:txBody>
      </p:sp>
      <p:sp>
        <p:nvSpPr>
          <p:cNvPr id="8" name="Text 6"/>
          <p:cNvSpPr/>
          <p:nvPr/>
        </p:nvSpPr>
        <p:spPr>
          <a:xfrm>
            <a:off x="1513880" y="2364581"/>
            <a:ext cx="9423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@champion</a:t>
            </a:r>
            <a:endParaRPr lang="en-US" sz="1300" dirty="0"/>
          </a:p>
        </p:txBody>
      </p:sp>
      <p:sp>
        <p:nvSpPr>
          <p:cNvPr id="9" name="Text 7"/>
          <p:cNvSpPr/>
          <p:nvPr/>
        </p:nvSpPr>
        <p:spPr>
          <a:xfrm>
            <a:off x="2672159" y="2373412"/>
            <a:ext cx="239494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logreg · data_hash e0ce921bf845</a:t>
            </a:r>
            <a:endParaRPr lang="en-US" sz="1200" dirty="0"/>
          </a:p>
        </p:txBody>
      </p:sp>
      <p:sp>
        <p:nvSpPr>
          <p:cNvPr id="10" name="Shape 8"/>
          <p:cNvSpPr/>
          <p:nvPr/>
        </p:nvSpPr>
        <p:spPr>
          <a:xfrm>
            <a:off x="819150" y="2906812"/>
            <a:ext cx="5194300" cy="624780"/>
          </a:xfrm>
          <a:prstGeom prst="roundRect">
            <a:avLst>
              <a:gd name="adj" fmla="val 13213"/>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1003300" y="3076972"/>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32E"/>
                </a:solidFill>
                <a:latin typeface="JetBrains Mono" pitchFamily="34" charset="0"/>
                <a:ea typeface="JetBrains Mono" pitchFamily="34" charset="-122"/>
                <a:cs typeface="JetBrains Mono" pitchFamily="34" charset="-120"/>
              </a:rPr>
              <a:t>v2</a:t>
            </a:r>
            <a:endParaRPr lang="en-US" sz="1600" dirty="0"/>
          </a:p>
        </p:txBody>
      </p:sp>
      <p:sp>
        <p:nvSpPr>
          <p:cNvPr id="12" name="Shape 10"/>
          <p:cNvSpPr/>
          <p:nvPr/>
        </p:nvSpPr>
        <p:spPr>
          <a:xfrm>
            <a:off x="1399580" y="3052862"/>
            <a:ext cx="1219200" cy="332680"/>
          </a:xfrm>
          <a:prstGeom prst="roundRect">
            <a:avLst>
              <a:gd name="adj" fmla="val 50000"/>
            </a:avLst>
          </a:prstGeom>
          <a:solidFill>
            <a:srgbClr val="16232E"/>
          </a:solidFill>
          <a:ln/>
        </p:spPr>
        <p:txBody>
          <a:bodyPr/>
          <a:lstStyle/>
          <a:p>
            <a:endParaRPr lang="en-IN"/>
          </a:p>
        </p:txBody>
      </p:sp>
      <p:sp>
        <p:nvSpPr>
          <p:cNvPr id="13" name="Text 11"/>
          <p:cNvSpPr/>
          <p:nvPr/>
        </p:nvSpPr>
        <p:spPr>
          <a:xfrm>
            <a:off x="1513880" y="3103662"/>
            <a:ext cx="1041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@candidate</a:t>
            </a:r>
            <a:endParaRPr lang="en-US" sz="1300" dirty="0"/>
          </a:p>
        </p:txBody>
      </p:sp>
      <p:sp>
        <p:nvSpPr>
          <p:cNvPr id="14" name="Text 12"/>
          <p:cNvSpPr/>
          <p:nvPr/>
        </p:nvSpPr>
        <p:spPr>
          <a:xfrm>
            <a:off x="2771180" y="3112492"/>
            <a:ext cx="19872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xgboost · registered in Lab 3</a:t>
            </a:r>
            <a:endParaRPr lang="en-US" sz="1200" dirty="0"/>
          </a:p>
        </p:txBody>
      </p:sp>
      <p:sp>
        <p:nvSpPr>
          <p:cNvPr id="15" name="Shape 13"/>
          <p:cNvSpPr/>
          <p:nvPr/>
        </p:nvSpPr>
        <p:spPr>
          <a:xfrm>
            <a:off x="819150" y="3645892"/>
            <a:ext cx="5194300" cy="624780"/>
          </a:xfrm>
          <a:prstGeom prst="roundRect">
            <a:avLst>
              <a:gd name="adj" fmla="val 13213"/>
            </a:avLst>
          </a:prstGeom>
          <a:solidFill>
            <a:srgbClr val="FDFCF8"/>
          </a:solidFill>
          <a:ln w="12700">
            <a:solidFill>
              <a:srgbClr val="DCD6C8"/>
            </a:solidFill>
            <a:prstDash val="solid"/>
          </a:ln>
        </p:spPr>
        <p:txBody>
          <a:bodyPr/>
          <a:lstStyle/>
          <a:p>
            <a:endParaRPr lang="en-IN"/>
          </a:p>
        </p:txBody>
      </p:sp>
      <p:sp>
        <p:nvSpPr>
          <p:cNvPr id="16" name="Text 14"/>
          <p:cNvSpPr/>
          <p:nvPr/>
        </p:nvSpPr>
        <p:spPr>
          <a:xfrm>
            <a:off x="1003300" y="3816052"/>
            <a:ext cx="2946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32E"/>
                </a:solidFill>
                <a:latin typeface="JetBrains Mono" pitchFamily="34" charset="0"/>
                <a:ea typeface="JetBrains Mono" pitchFamily="34" charset="-122"/>
                <a:cs typeface="JetBrains Mono" pitchFamily="34" charset="-120"/>
              </a:rPr>
              <a:t>v3</a:t>
            </a:r>
            <a:endParaRPr lang="en-US" sz="1600" dirty="0"/>
          </a:p>
        </p:txBody>
      </p:sp>
      <p:sp>
        <p:nvSpPr>
          <p:cNvPr id="17" name="Shape 15"/>
          <p:cNvSpPr/>
          <p:nvPr/>
        </p:nvSpPr>
        <p:spPr>
          <a:xfrm>
            <a:off x="1399580" y="3791942"/>
            <a:ext cx="1318320" cy="332680"/>
          </a:xfrm>
          <a:prstGeom prst="roundRect">
            <a:avLst>
              <a:gd name="adj" fmla="val 50000"/>
            </a:avLst>
          </a:prstGeom>
          <a:solidFill>
            <a:srgbClr val="16232E"/>
          </a:solidFill>
          <a:ln/>
        </p:spPr>
        <p:txBody>
          <a:bodyPr/>
          <a:lstStyle/>
          <a:p>
            <a:endParaRPr lang="en-IN"/>
          </a:p>
        </p:txBody>
      </p:sp>
      <p:sp>
        <p:nvSpPr>
          <p:cNvPr id="18" name="Text 16"/>
          <p:cNvSpPr/>
          <p:nvPr/>
        </p:nvSpPr>
        <p:spPr>
          <a:xfrm>
            <a:off x="1513880" y="3842742"/>
            <a:ext cx="11405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6F4EE"/>
                </a:solidFill>
                <a:latin typeface="JetBrains Mono" pitchFamily="34" charset="0"/>
                <a:ea typeface="JetBrains Mono" pitchFamily="34" charset="-122"/>
                <a:cs typeface="JetBrains Mono" pitchFamily="34" charset="-120"/>
              </a:rPr>
              <a:t>@production</a:t>
            </a:r>
            <a:endParaRPr lang="en-US" sz="1300" dirty="0"/>
          </a:p>
        </p:txBody>
      </p:sp>
      <p:sp>
        <p:nvSpPr>
          <p:cNvPr id="19" name="Text 17"/>
          <p:cNvSpPr/>
          <p:nvPr/>
        </p:nvSpPr>
        <p:spPr>
          <a:xfrm>
            <a:off x="2870299" y="3851573"/>
            <a:ext cx="17763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set when Lab 5 promotes</a:t>
            </a:r>
            <a:endParaRPr lang="en-US" sz="1200" dirty="0"/>
          </a:p>
        </p:txBody>
      </p:sp>
      <p:sp>
        <p:nvSpPr>
          <p:cNvPr id="20" name="Text 18"/>
          <p:cNvSpPr/>
          <p:nvPr/>
        </p:nvSpPr>
        <p:spPr>
          <a:xfrm>
            <a:off x="6375400" y="1828701"/>
            <a:ext cx="515391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An alias is a movable name for one version. Consumers load </a:t>
            </a:r>
            <a:r>
              <a:rPr lang="en-US" sz="1500" dirty="0">
                <a:solidFill>
                  <a:srgbClr val="0E6F6D"/>
                </a:solidFill>
                <a:latin typeface="IBM Plex Sans" pitchFamily="34" charset="0"/>
                <a:ea typeface="IBM Plex Sans" pitchFamily="34" charset="-122"/>
                <a:cs typeface="IBM Plex Sans" pitchFamily="34" charset="-120"/>
              </a:rPr>
              <a:t>models:/…@champion</a:t>
            </a:r>
            <a:r>
              <a:rPr lang="en-US" sz="1500" dirty="0">
                <a:solidFill>
                  <a:srgbClr val="16232E"/>
                </a:solidFill>
                <a:latin typeface="IBM Plex Sans" pitchFamily="34" charset="0"/>
                <a:ea typeface="IBM Plex Sans" pitchFamily="34" charset="-122"/>
                <a:cs typeface="IBM Plex Sans" pitchFamily="34" charset="-120"/>
              </a:rPr>
              <a:t>, never a file path.</a:t>
            </a:r>
            <a:endParaRPr lang="en-US" sz="1500" dirty="0"/>
          </a:p>
        </p:txBody>
      </p:sp>
      <p:sp>
        <p:nvSpPr>
          <p:cNvPr id="21" name="Text 19"/>
          <p:cNvSpPr/>
          <p:nvPr/>
        </p:nvSpPr>
        <p:spPr>
          <a:xfrm>
            <a:off x="6375400" y="2533551"/>
            <a:ext cx="515391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Promotion and rollback become pointer moves, not rebuilds — Lab 5 demonstrates it on this registry.</a:t>
            </a:r>
            <a:endParaRPr lang="en-US" sz="1500" dirty="0"/>
          </a:p>
        </p:txBody>
      </p:sp>
      <p:sp>
        <p:nvSpPr>
          <p:cNvPr id="22" name="Text 20"/>
          <p:cNvSpPr/>
          <p:nvPr/>
        </p:nvSpPr>
        <p:spPr>
          <a:xfrm>
            <a:off x="6375400" y="3238401"/>
            <a:ext cx="5153914"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E5B63"/>
                </a:solidFill>
                <a:latin typeface="IBM Plex Sans" pitchFamily="34" charset="0"/>
                <a:ea typeface="IBM Plex Sans" pitchFamily="34" charset="-122"/>
                <a:cs typeface="IBM Plex Sans" pitchFamily="34" charset="-120"/>
              </a:rPr>
              <a:t>Aliases replace MLflow's older fixed stages (Staging, Production).</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2072680"/>
            <a:ext cx="444754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63B"/>
                </a:solidFill>
                <a:latin typeface="JetBrains Mono" pitchFamily="34" charset="0"/>
                <a:ea typeface="JetBrains Mono" pitchFamily="34" charset="-122"/>
                <a:cs typeface="JetBrains Mono" pitchFamily="34" charset="-120"/>
              </a:rPr>
              <a:t>Lab 2</a:t>
            </a:r>
            <a:endParaRPr lang="en-US" sz="6000" dirty="0"/>
          </a:p>
        </p:txBody>
      </p:sp>
      <p:sp>
        <p:nvSpPr>
          <p:cNvPr id="3" name="Text 1"/>
          <p:cNvSpPr/>
          <p:nvPr/>
        </p:nvSpPr>
        <p:spPr>
          <a:xfrm>
            <a:off x="812800" y="3012480"/>
            <a:ext cx="4447540" cy="90170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F6F4EE"/>
                </a:solidFill>
                <a:latin typeface="IBM Plex Sans" pitchFamily="34" charset="0"/>
                <a:ea typeface="IBM Plex Sans" pitchFamily="34" charset="-122"/>
                <a:cs typeface="IBM Plex Sans" pitchFamily="34" charset="-120"/>
              </a:rPr>
              <a:t>Orchestrated ML pipeline</a:t>
            </a:r>
            <a:endParaRPr lang="en-US" sz="3000" dirty="0"/>
          </a:p>
        </p:txBody>
      </p:sp>
      <p:sp>
        <p:nvSpPr>
          <p:cNvPr id="4" name="Text 2"/>
          <p:cNvSpPr/>
          <p:nvPr/>
        </p:nvSpPr>
        <p:spPr>
          <a:xfrm>
            <a:off x="812800" y="4066580"/>
            <a:ext cx="444754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B8C5CB"/>
                </a:solidFill>
                <a:latin typeface="IBM Plex Sans" pitchFamily="34" charset="0"/>
                <a:ea typeface="IBM Plex Sans" pitchFamily="34" charset="-122"/>
                <a:cs typeface="IBM Plex Sans" pitchFamily="34" charset="-120"/>
              </a:rPr>
              <a:t>In Lab 1's repository, with .venv active:</a:t>
            </a:r>
            <a:endParaRPr lang="en-US" sz="1400" dirty="0"/>
          </a:p>
          <a:p>
            <a:pPr marL="0" indent="0" algn="l">
              <a:lnSpc>
                <a:spcPts val="2030"/>
              </a:lnSpc>
              <a:buNone/>
            </a:pPr>
            <a:r>
              <a:rPr lang="en-US" sz="1400" dirty="0">
                <a:solidFill>
                  <a:srgbClr val="F6F4EE"/>
                </a:solidFill>
                <a:latin typeface="IBM Plex Sans" pitchFamily="34" charset="0"/>
                <a:ea typeface="IBM Plex Sans" pitchFamily="34" charset="-122"/>
                <a:cs typeface="IBM Plex Sans" pitchFamily="34" charset="-120"/>
              </a:rPr>
              <a:t>dvc repro</a:t>
            </a:r>
            <a:r>
              <a:rPr lang="en-US" sz="1400" dirty="0">
                <a:solidFill>
                  <a:srgbClr val="B8C5CB"/>
                </a:solidFill>
                <a:latin typeface="IBM Plex Sans" pitchFamily="34" charset="0"/>
                <a:ea typeface="IBM Plex Sans" pitchFamily="34" charset="-122"/>
                <a:cs typeface="IBM Plex Sans" pitchFamily="34" charset="-120"/>
              </a:rPr>
              <a:t> then </a:t>
            </a:r>
            <a:r>
              <a:rPr lang="en-US" sz="1400" dirty="0">
                <a:solidFill>
                  <a:srgbClr val="F6F4EE"/>
                </a:solidFill>
                <a:latin typeface="IBM Plex Sans" pitchFamily="34" charset="0"/>
                <a:ea typeface="IBM Plex Sans" pitchFamily="34" charset="-122"/>
                <a:cs typeface="IBM Plex Sans" pitchFamily="34" charset="-120"/>
              </a:rPr>
              <a:t>python src/train.py</a:t>
            </a:r>
            <a:endParaRPr lang="en-US" sz="1400" dirty="0"/>
          </a:p>
        </p:txBody>
      </p:sp>
      <p:sp>
        <p:nvSpPr>
          <p:cNvPr id="5" name="Shape 3"/>
          <p:cNvSpPr/>
          <p:nvPr/>
        </p:nvSpPr>
        <p:spPr>
          <a:xfrm>
            <a:off x="5740400" y="1715790"/>
            <a:ext cx="5638800" cy="0"/>
          </a:xfrm>
          <a:prstGeom prst="line">
            <a:avLst/>
          </a:prstGeom>
          <a:noFill/>
          <a:ln w="12700">
            <a:solidFill>
              <a:srgbClr val="3A4B57"/>
            </a:solidFill>
            <a:prstDash val="solid"/>
          </a:ln>
        </p:spPr>
        <p:txBody>
          <a:bodyPr/>
          <a:lstStyle/>
          <a:p>
            <a:endParaRPr lang="en-IN"/>
          </a:p>
        </p:txBody>
      </p:sp>
      <p:sp>
        <p:nvSpPr>
          <p:cNvPr id="6" name="Text 4"/>
          <p:cNvSpPr/>
          <p:nvPr/>
        </p:nvSpPr>
        <p:spPr>
          <a:xfrm>
            <a:off x="5740400" y="1811040"/>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1</a:t>
            </a:r>
            <a:endParaRPr lang="en-US" sz="1600" dirty="0"/>
          </a:p>
        </p:txBody>
      </p:sp>
      <p:sp>
        <p:nvSpPr>
          <p:cNvPr id="7" name="Text 5"/>
          <p:cNvSpPr/>
          <p:nvPr/>
        </p:nvSpPr>
        <p:spPr>
          <a:xfrm>
            <a:off x="5989340" y="1819870"/>
            <a:ext cx="184391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Define the prediction</a:t>
            </a:r>
            <a:endParaRPr lang="en-US" sz="1500" dirty="0"/>
          </a:p>
        </p:txBody>
      </p:sp>
      <p:sp>
        <p:nvSpPr>
          <p:cNvPr id="8" name="Shape 6"/>
          <p:cNvSpPr/>
          <p:nvPr/>
        </p:nvSpPr>
        <p:spPr>
          <a:xfrm>
            <a:off x="5740400" y="2190750"/>
            <a:ext cx="5638800" cy="0"/>
          </a:xfrm>
          <a:prstGeom prst="line">
            <a:avLst/>
          </a:prstGeom>
          <a:noFill/>
          <a:ln w="12700">
            <a:solidFill>
              <a:srgbClr val="3A4B57"/>
            </a:solidFill>
            <a:prstDash val="solid"/>
          </a:ln>
        </p:spPr>
        <p:txBody>
          <a:bodyPr/>
          <a:lstStyle/>
          <a:p>
            <a:endParaRPr lang="en-IN"/>
          </a:p>
        </p:txBody>
      </p:sp>
      <p:sp>
        <p:nvSpPr>
          <p:cNvPr id="9" name="Text 7"/>
          <p:cNvSpPr/>
          <p:nvPr/>
        </p:nvSpPr>
        <p:spPr>
          <a:xfrm>
            <a:off x="5740400" y="2286000"/>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2</a:t>
            </a:r>
            <a:endParaRPr lang="en-US" sz="1600" dirty="0"/>
          </a:p>
        </p:txBody>
      </p:sp>
      <p:sp>
        <p:nvSpPr>
          <p:cNvPr id="10" name="Text 8"/>
          <p:cNvSpPr/>
          <p:nvPr/>
        </p:nvSpPr>
        <p:spPr>
          <a:xfrm>
            <a:off x="5989340" y="2294830"/>
            <a:ext cx="147409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The leakage trap</a:t>
            </a:r>
            <a:endParaRPr lang="en-US" sz="1500" dirty="0"/>
          </a:p>
        </p:txBody>
      </p:sp>
      <p:sp>
        <p:nvSpPr>
          <p:cNvPr id="11" name="Shape 9"/>
          <p:cNvSpPr/>
          <p:nvPr/>
        </p:nvSpPr>
        <p:spPr>
          <a:xfrm>
            <a:off x="5740400" y="2665710"/>
            <a:ext cx="5638800" cy="0"/>
          </a:xfrm>
          <a:prstGeom prst="line">
            <a:avLst/>
          </a:prstGeom>
          <a:noFill/>
          <a:ln w="12700">
            <a:solidFill>
              <a:srgbClr val="3A4B57"/>
            </a:solidFill>
            <a:prstDash val="solid"/>
          </a:ln>
        </p:spPr>
        <p:txBody>
          <a:bodyPr/>
          <a:lstStyle/>
          <a:p>
            <a:endParaRPr lang="en-IN"/>
          </a:p>
        </p:txBody>
      </p:sp>
      <p:sp>
        <p:nvSpPr>
          <p:cNvPr id="12" name="Text 10"/>
          <p:cNvSpPr/>
          <p:nvPr/>
        </p:nvSpPr>
        <p:spPr>
          <a:xfrm>
            <a:off x="5740400" y="2760960"/>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3</a:t>
            </a:r>
            <a:endParaRPr lang="en-US" sz="1600" dirty="0"/>
          </a:p>
        </p:txBody>
      </p:sp>
      <p:sp>
        <p:nvSpPr>
          <p:cNvPr id="13" name="Text 11"/>
          <p:cNvSpPr/>
          <p:nvPr/>
        </p:nvSpPr>
        <p:spPr>
          <a:xfrm>
            <a:off x="5989340" y="2769791"/>
            <a:ext cx="214252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Baseline, then threshold</a:t>
            </a:r>
            <a:endParaRPr lang="en-US" sz="1500" dirty="0"/>
          </a:p>
        </p:txBody>
      </p:sp>
      <p:sp>
        <p:nvSpPr>
          <p:cNvPr id="14" name="Shape 12"/>
          <p:cNvSpPr/>
          <p:nvPr/>
        </p:nvSpPr>
        <p:spPr>
          <a:xfrm>
            <a:off x="5740400" y="3140670"/>
            <a:ext cx="5638800" cy="0"/>
          </a:xfrm>
          <a:prstGeom prst="line">
            <a:avLst/>
          </a:prstGeom>
          <a:noFill/>
          <a:ln w="12700">
            <a:solidFill>
              <a:srgbClr val="3A4B57"/>
            </a:solidFill>
            <a:prstDash val="solid"/>
          </a:ln>
        </p:spPr>
        <p:txBody>
          <a:bodyPr/>
          <a:lstStyle/>
          <a:p>
            <a:endParaRPr lang="en-IN"/>
          </a:p>
        </p:txBody>
      </p:sp>
      <p:sp>
        <p:nvSpPr>
          <p:cNvPr id="15" name="Text 13"/>
          <p:cNvSpPr/>
          <p:nvPr/>
        </p:nvSpPr>
        <p:spPr>
          <a:xfrm>
            <a:off x="5740400" y="3235920"/>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4</a:t>
            </a:r>
            <a:endParaRPr lang="en-US" sz="1600" dirty="0"/>
          </a:p>
        </p:txBody>
      </p:sp>
      <p:sp>
        <p:nvSpPr>
          <p:cNvPr id="16" name="Text 14"/>
          <p:cNvSpPr/>
          <p:nvPr/>
        </p:nvSpPr>
        <p:spPr>
          <a:xfrm>
            <a:off x="5989340" y="3244751"/>
            <a:ext cx="193568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Candidate A: XGBoost</a:t>
            </a:r>
            <a:endParaRPr lang="en-US" sz="1500" dirty="0"/>
          </a:p>
        </p:txBody>
      </p:sp>
      <p:sp>
        <p:nvSpPr>
          <p:cNvPr id="17" name="Shape 15"/>
          <p:cNvSpPr/>
          <p:nvPr/>
        </p:nvSpPr>
        <p:spPr>
          <a:xfrm>
            <a:off x="5740400" y="3615630"/>
            <a:ext cx="5638800" cy="0"/>
          </a:xfrm>
          <a:prstGeom prst="line">
            <a:avLst/>
          </a:prstGeom>
          <a:noFill/>
          <a:ln w="12700">
            <a:solidFill>
              <a:srgbClr val="3A4B57"/>
            </a:solidFill>
            <a:prstDash val="solid"/>
          </a:ln>
        </p:spPr>
        <p:txBody>
          <a:bodyPr/>
          <a:lstStyle/>
          <a:p>
            <a:endParaRPr lang="en-IN"/>
          </a:p>
        </p:txBody>
      </p:sp>
      <p:sp>
        <p:nvSpPr>
          <p:cNvPr id="18" name="Text 16"/>
          <p:cNvSpPr/>
          <p:nvPr/>
        </p:nvSpPr>
        <p:spPr>
          <a:xfrm>
            <a:off x="5740400" y="3710880"/>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5</a:t>
            </a:r>
            <a:endParaRPr lang="en-US" sz="1600" dirty="0"/>
          </a:p>
        </p:txBody>
      </p:sp>
      <p:sp>
        <p:nvSpPr>
          <p:cNvPr id="19" name="Text 17"/>
          <p:cNvSpPr/>
          <p:nvPr/>
        </p:nvSpPr>
        <p:spPr>
          <a:xfrm>
            <a:off x="5989340" y="3719711"/>
            <a:ext cx="237174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Candidate B: DL challenger</a:t>
            </a:r>
            <a:endParaRPr lang="en-US" sz="1500" dirty="0"/>
          </a:p>
        </p:txBody>
      </p:sp>
      <p:sp>
        <p:nvSpPr>
          <p:cNvPr id="20" name="Shape 18"/>
          <p:cNvSpPr/>
          <p:nvPr/>
        </p:nvSpPr>
        <p:spPr>
          <a:xfrm>
            <a:off x="5740400" y="4090591"/>
            <a:ext cx="5638800" cy="0"/>
          </a:xfrm>
          <a:prstGeom prst="line">
            <a:avLst/>
          </a:prstGeom>
          <a:noFill/>
          <a:ln w="12700">
            <a:solidFill>
              <a:srgbClr val="3A4B57"/>
            </a:solidFill>
            <a:prstDash val="solid"/>
          </a:ln>
        </p:spPr>
        <p:txBody>
          <a:bodyPr/>
          <a:lstStyle/>
          <a:p>
            <a:endParaRPr lang="en-IN"/>
          </a:p>
        </p:txBody>
      </p:sp>
      <p:sp>
        <p:nvSpPr>
          <p:cNvPr id="21" name="Text 19"/>
          <p:cNvSpPr/>
          <p:nvPr/>
        </p:nvSpPr>
        <p:spPr>
          <a:xfrm>
            <a:off x="5740400" y="4185841"/>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6</a:t>
            </a:r>
            <a:endParaRPr lang="en-US" sz="1600" dirty="0"/>
          </a:p>
        </p:txBody>
      </p:sp>
      <p:sp>
        <p:nvSpPr>
          <p:cNvPr id="22" name="Text 20"/>
          <p:cNvSpPr/>
          <p:nvPr/>
        </p:nvSpPr>
        <p:spPr>
          <a:xfrm>
            <a:off x="5989340" y="4194671"/>
            <a:ext cx="146397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The release gate</a:t>
            </a:r>
            <a:endParaRPr lang="en-US" sz="1500" dirty="0"/>
          </a:p>
        </p:txBody>
      </p:sp>
      <p:sp>
        <p:nvSpPr>
          <p:cNvPr id="23" name="Shape 21"/>
          <p:cNvSpPr/>
          <p:nvPr/>
        </p:nvSpPr>
        <p:spPr>
          <a:xfrm>
            <a:off x="5740400" y="4565551"/>
            <a:ext cx="5638800" cy="0"/>
          </a:xfrm>
          <a:prstGeom prst="line">
            <a:avLst/>
          </a:prstGeom>
          <a:noFill/>
          <a:ln w="12700">
            <a:solidFill>
              <a:srgbClr val="3A4B57"/>
            </a:solidFill>
            <a:prstDash val="solid"/>
          </a:ln>
        </p:spPr>
        <p:txBody>
          <a:bodyPr/>
          <a:lstStyle/>
          <a:p>
            <a:endParaRPr lang="en-IN"/>
          </a:p>
        </p:txBody>
      </p:sp>
      <p:sp>
        <p:nvSpPr>
          <p:cNvPr id="24" name="Text 22"/>
          <p:cNvSpPr/>
          <p:nvPr/>
        </p:nvSpPr>
        <p:spPr>
          <a:xfrm>
            <a:off x="5740400" y="4660801"/>
            <a:ext cx="17274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3A63B"/>
                </a:solidFill>
                <a:latin typeface="JetBrains Mono" pitchFamily="34" charset="0"/>
                <a:ea typeface="JetBrains Mono" pitchFamily="34" charset="-122"/>
                <a:cs typeface="JetBrains Mono" pitchFamily="34" charset="-120"/>
              </a:rPr>
              <a:t>7</a:t>
            </a:r>
            <a:endParaRPr lang="en-US" sz="1600" dirty="0"/>
          </a:p>
        </p:txBody>
      </p:sp>
      <p:sp>
        <p:nvSpPr>
          <p:cNvPr id="25" name="Text 23"/>
          <p:cNvSpPr/>
          <p:nvPr/>
        </p:nvSpPr>
        <p:spPr>
          <a:xfrm>
            <a:off x="5989340" y="4669631"/>
            <a:ext cx="15824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4EE"/>
                </a:solidFill>
                <a:latin typeface="IBM Plex Sans" pitchFamily="34" charset="0"/>
                <a:ea typeface="IBM Plex Sans" pitchFamily="34" charset="-122"/>
                <a:cs typeface="IBM Plex Sans" pitchFamily="34" charset="-120"/>
              </a:rPr>
              <a:t>Track and register</a:t>
            </a:r>
            <a:endParaRPr lang="en-US" sz="1500" dirty="0"/>
          </a:p>
        </p:txBody>
      </p:sp>
      <p:sp>
        <p:nvSpPr>
          <p:cNvPr id="26" name="Text 2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1 · DEFINE THE PREDICTION</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State the target in one sentence, then split in time</a:t>
            </a:r>
            <a:endParaRPr lang="en-US" sz="3200" dirty="0"/>
          </a:p>
        </p:txBody>
      </p:sp>
      <p:sp>
        <p:nvSpPr>
          <p:cNvPr id="4" name="Shape 2"/>
          <p:cNvSpPr/>
          <p:nvPr/>
        </p:nvSpPr>
        <p:spPr>
          <a:xfrm>
            <a:off x="812800" y="1879501"/>
            <a:ext cx="10566400" cy="1032470"/>
          </a:xfrm>
          <a:prstGeom prst="roundRect">
            <a:avLst>
              <a:gd name="adj" fmla="val 7380"/>
            </a:avLst>
          </a:prstGeom>
          <a:solidFill>
            <a:srgbClr val="E2EEEC"/>
          </a:solidFill>
          <a:ln/>
        </p:spPr>
        <p:txBody>
          <a:bodyPr/>
          <a:lstStyle/>
          <a:p>
            <a:endParaRPr lang="en-IN"/>
          </a:p>
        </p:txBody>
      </p:sp>
      <p:sp>
        <p:nvSpPr>
          <p:cNvPr id="5" name="Shape 3"/>
          <p:cNvSpPr/>
          <p:nvPr/>
        </p:nvSpPr>
        <p:spPr>
          <a:xfrm>
            <a:off x="838200" y="1879501"/>
            <a:ext cx="0" cy="1032470"/>
          </a:xfrm>
          <a:prstGeom prst="line">
            <a:avLst/>
          </a:prstGeom>
          <a:noFill/>
          <a:ln w="50800">
            <a:solidFill>
              <a:srgbClr val="0E6F6D"/>
            </a:solidFill>
            <a:prstDash val="solid"/>
          </a:ln>
        </p:spPr>
        <p:txBody>
          <a:bodyPr/>
          <a:lstStyle/>
          <a:p>
            <a:endParaRPr lang="en-IN"/>
          </a:p>
        </p:txBody>
      </p:sp>
      <p:sp>
        <p:nvSpPr>
          <p:cNvPr id="6" name="Text 4"/>
          <p:cNvSpPr/>
          <p:nvPr/>
        </p:nvSpPr>
        <p:spPr>
          <a:xfrm>
            <a:off x="1117600" y="2082701"/>
            <a:ext cx="10307828"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16232E"/>
                </a:solidFill>
                <a:latin typeface="IBM Plex Sans" pitchFamily="34" charset="0"/>
                <a:ea typeface="IBM Plex Sans" pitchFamily="34" charset="-122"/>
                <a:cs typeface="IBM Plex Sans" pitchFamily="34" charset="-120"/>
              </a:rPr>
              <a:t>For a store × product line at end of day t, predict a demand spike in (t, t+7d], using only features known at t.</a:t>
            </a:r>
            <a:endParaRPr lang="en-US" sz="1700" dirty="0"/>
          </a:p>
        </p:txBody>
      </p:sp>
      <p:sp>
        <p:nvSpPr>
          <p:cNvPr id="7" name="Shape 5"/>
          <p:cNvSpPr/>
          <p:nvPr/>
        </p:nvSpPr>
        <p:spPr>
          <a:xfrm>
            <a:off x="812800" y="3226296"/>
            <a:ext cx="3318867" cy="0"/>
          </a:xfrm>
          <a:prstGeom prst="line">
            <a:avLst/>
          </a:prstGeom>
          <a:noFill/>
          <a:ln w="19050">
            <a:solidFill>
              <a:srgbClr val="0E6F6D"/>
            </a:solidFill>
            <a:prstDash val="solid"/>
          </a:ln>
        </p:spPr>
        <p:txBody>
          <a:bodyPr/>
          <a:lstStyle/>
          <a:p>
            <a:endParaRPr lang="en-IN"/>
          </a:p>
        </p:txBody>
      </p:sp>
      <p:sp>
        <p:nvSpPr>
          <p:cNvPr id="8" name="Text 6"/>
          <p:cNvSpPr/>
          <p:nvPr/>
        </p:nvSpPr>
        <p:spPr>
          <a:xfrm>
            <a:off x="812800" y="3362821"/>
            <a:ext cx="34184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11,308</a:t>
            </a:r>
            <a:endParaRPr lang="en-US" sz="3200" dirty="0"/>
          </a:p>
        </p:txBody>
      </p:sp>
      <p:sp>
        <p:nvSpPr>
          <p:cNvPr id="9" name="Text 7"/>
          <p:cNvSpPr/>
          <p:nvPr/>
        </p:nvSpPr>
        <p:spPr>
          <a:xfrm>
            <a:off x="812800" y="3982541"/>
            <a:ext cx="3418433"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training rows, before 2026-08-01</a:t>
            </a:r>
            <a:endParaRPr lang="en-US" sz="1300" dirty="0"/>
          </a:p>
        </p:txBody>
      </p:sp>
      <p:sp>
        <p:nvSpPr>
          <p:cNvPr id="10" name="Shape 8"/>
          <p:cNvSpPr/>
          <p:nvPr/>
        </p:nvSpPr>
        <p:spPr>
          <a:xfrm>
            <a:off x="4436467" y="3226296"/>
            <a:ext cx="3318966" cy="0"/>
          </a:xfrm>
          <a:prstGeom prst="line">
            <a:avLst/>
          </a:prstGeom>
          <a:noFill/>
          <a:ln w="19050">
            <a:solidFill>
              <a:srgbClr val="0E6F6D"/>
            </a:solidFill>
            <a:prstDash val="solid"/>
          </a:ln>
        </p:spPr>
        <p:txBody>
          <a:bodyPr/>
          <a:lstStyle/>
          <a:p>
            <a:endParaRPr lang="en-IN"/>
          </a:p>
        </p:txBody>
      </p:sp>
      <p:sp>
        <p:nvSpPr>
          <p:cNvPr id="11" name="Text 9"/>
          <p:cNvSpPr/>
          <p:nvPr/>
        </p:nvSpPr>
        <p:spPr>
          <a:xfrm>
            <a:off x="4436467" y="3362821"/>
            <a:ext cx="341853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6,561</a:t>
            </a:r>
            <a:endParaRPr lang="en-US" sz="3200" dirty="0"/>
          </a:p>
        </p:txBody>
      </p:sp>
      <p:sp>
        <p:nvSpPr>
          <p:cNvPr id="12" name="Text 10"/>
          <p:cNvSpPr/>
          <p:nvPr/>
        </p:nvSpPr>
        <p:spPr>
          <a:xfrm>
            <a:off x="4436467" y="3982541"/>
            <a:ext cx="341853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test rows, from 2026-08-01</a:t>
            </a:r>
            <a:endParaRPr lang="en-US" sz="1300" dirty="0"/>
          </a:p>
        </p:txBody>
      </p:sp>
      <p:sp>
        <p:nvSpPr>
          <p:cNvPr id="13" name="Shape 11"/>
          <p:cNvSpPr/>
          <p:nvPr/>
        </p:nvSpPr>
        <p:spPr>
          <a:xfrm>
            <a:off x="8060234" y="3226296"/>
            <a:ext cx="3318966" cy="0"/>
          </a:xfrm>
          <a:prstGeom prst="line">
            <a:avLst/>
          </a:prstGeom>
          <a:noFill/>
          <a:ln w="19050">
            <a:solidFill>
              <a:srgbClr val="0E6F6D"/>
            </a:solidFill>
            <a:prstDash val="solid"/>
          </a:ln>
        </p:spPr>
        <p:txBody>
          <a:bodyPr/>
          <a:lstStyle/>
          <a:p>
            <a:endParaRPr lang="en-IN"/>
          </a:p>
        </p:txBody>
      </p:sp>
      <p:sp>
        <p:nvSpPr>
          <p:cNvPr id="14" name="Text 12"/>
          <p:cNvSpPr/>
          <p:nvPr/>
        </p:nvSpPr>
        <p:spPr>
          <a:xfrm>
            <a:off x="8060234" y="3362821"/>
            <a:ext cx="341853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18% → 24%</a:t>
            </a:r>
            <a:endParaRPr lang="en-US" sz="3200" dirty="0"/>
          </a:p>
        </p:txBody>
      </p:sp>
      <p:sp>
        <p:nvSpPr>
          <p:cNvPr id="15" name="Text 13"/>
          <p:cNvSpPr/>
          <p:nvPr/>
        </p:nvSpPr>
        <p:spPr>
          <a:xfrm>
            <a:off x="8060234" y="3982541"/>
            <a:ext cx="3418535"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base rate, train → test</a:t>
            </a:r>
            <a:endParaRPr lang="en-US" sz="1300" dirty="0"/>
          </a:p>
        </p:txBody>
      </p:sp>
      <p:sp>
        <p:nvSpPr>
          <p:cNvPr id="16" name="Text 14"/>
          <p:cNvSpPr/>
          <p:nvPr/>
        </p:nvSpPr>
        <p:spPr>
          <a:xfrm>
            <a:off x="812800" y="4510187"/>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Never train_test_split on a panel: a random split puts 5 August in train and 4 August in test for the same line.</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2 · THE LEAKAGE TRAP</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Two kinds of leakage, caught two different ways</a:t>
            </a:r>
            <a:endParaRPr lang="en-US" sz="3200" dirty="0"/>
          </a:p>
        </p:txBody>
      </p:sp>
      <p:sp>
        <p:nvSpPr>
          <p:cNvPr id="4" name="Shape 2"/>
          <p:cNvSpPr/>
          <p:nvPr/>
        </p:nvSpPr>
        <p:spPr>
          <a:xfrm>
            <a:off x="819150" y="1835051"/>
            <a:ext cx="5168900" cy="2245122"/>
          </a:xfrm>
          <a:prstGeom prst="roundRect">
            <a:avLst>
              <a:gd name="adj" fmla="val 4243"/>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54100" y="207000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THE LOUD ONE</a:t>
            </a:r>
            <a:endParaRPr lang="en-US" sz="1200" dirty="0"/>
          </a:p>
        </p:txBody>
      </p:sp>
      <p:sp>
        <p:nvSpPr>
          <p:cNvPr id="6" name="Text 4"/>
          <p:cNvSpPr/>
          <p:nvPr/>
        </p:nvSpPr>
        <p:spPr>
          <a:xfrm>
            <a:off x="1054100" y="2397621"/>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JetBrains Mono" pitchFamily="34" charset="0"/>
                <a:ea typeface="JetBrains Mono" pitchFamily="34" charset="-122"/>
                <a:cs typeface="JetBrains Mono" pitchFamily="34" charset="-120"/>
              </a:rPr>
              <a:t>planner_flagged</a:t>
            </a:r>
            <a:endParaRPr lang="en-US" sz="1700" dirty="0"/>
          </a:p>
        </p:txBody>
      </p:sp>
      <p:sp>
        <p:nvSpPr>
          <p:cNvPr id="7" name="Text 5"/>
          <p:cNvSpPr/>
          <p:nvPr/>
        </p:nvSpPr>
        <p:spPr>
          <a:xfrm>
            <a:off x="1054100" y="2770981"/>
            <a:ext cx="11176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6232E"/>
                </a:solidFill>
                <a:latin typeface="JetBrains Mono" pitchFamily="34" charset="0"/>
                <a:ea typeface="JetBrains Mono" pitchFamily="34" charset="-122"/>
                <a:cs typeface="JetBrains Mono" pitchFamily="34" charset="-120"/>
              </a:rPr>
              <a:t>1.000</a:t>
            </a:r>
            <a:endParaRPr lang="en-US" sz="2800" dirty="0"/>
          </a:p>
        </p:txBody>
      </p:sp>
      <p:sp>
        <p:nvSpPr>
          <p:cNvPr id="8" name="Text 6"/>
          <p:cNvSpPr/>
          <p:nvPr/>
        </p:nvSpPr>
        <p:spPr>
          <a:xfrm>
            <a:off x="1054100" y="3268762"/>
            <a:ext cx="1117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AUC with it</a:t>
            </a:r>
            <a:endParaRPr lang="en-US" sz="1200" dirty="0"/>
          </a:p>
        </p:txBody>
      </p:sp>
      <p:sp>
        <p:nvSpPr>
          <p:cNvPr id="9" name="Text 7"/>
          <p:cNvSpPr/>
          <p:nvPr/>
        </p:nvSpPr>
        <p:spPr>
          <a:xfrm>
            <a:off x="2425700" y="2770981"/>
            <a:ext cx="1236266"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6232E"/>
                </a:solidFill>
                <a:latin typeface="JetBrains Mono" pitchFamily="34" charset="0"/>
                <a:ea typeface="JetBrains Mono" pitchFamily="34" charset="-122"/>
                <a:cs typeface="JetBrains Mono" pitchFamily="34" charset="-120"/>
              </a:rPr>
              <a:t>0.991</a:t>
            </a:r>
            <a:endParaRPr lang="en-US" sz="2800" dirty="0"/>
          </a:p>
        </p:txBody>
      </p:sp>
      <p:sp>
        <p:nvSpPr>
          <p:cNvPr id="10" name="Text 8"/>
          <p:cNvSpPr/>
          <p:nvPr/>
        </p:nvSpPr>
        <p:spPr>
          <a:xfrm>
            <a:off x="2425700" y="3268762"/>
            <a:ext cx="12362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correlation with y</a:t>
            </a:r>
            <a:endParaRPr lang="en-US" sz="1200" dirty="0"/>
          </a:p>
        </p:txBody>
      </p:sp>
      <p:sp>
        <p:nvSpPr>
          <p:cNvPr id="11" name="Text 9"/>
          <p:cNvSpPr/>
          <p:nvPr/>
        </p:nvSpPr>
        <p:spPr>
          <a:xfrm>
            <a:off x="1054100" y="3596382"/>
            <a:ext cx="48399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32E"/>
                </a:solidFill>
                <a:latin typeface="IBM Plex Sans" pitchFamily="34" charset="0"/>
                <a:ea typeface="IBM Plex Sans" pitchFamily="34" charset="-122"/>
                <a:cs typeface="IBM Plex Sans" pitchFamily="34" charset="-120"/>
              </a:rPr>
              <a:t>Too good to be true. Any correlation screen catches it.</a:t>
            </a:r>
            <a:endParaRPr lang="en-US" sz="1400" dirty="0"/>
          </a:p>
        </p:txBody>
      </p:sp>
      <p:sp>
        <p:nvSpPr>
          <p:cNvPr id="12" name="Shape 10"/>
          <p:cNvSpPr/>
          <p:nvPr/>
        </p:nvSpPr>
        <p:spPr>
          <a:xfrm>
            <a:off x="6203950" y="1835051"/>
            <a:ext cx="5168900" cy="2245122"/>
          </a:xfrm>
          <a:prstGeom prst="roundRect">
            <a:avLst>
              <a:gd name="adj" fmla="val 4243"/>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6438900" y="207000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THE QUIET ONE</a:t>
            </a:r>
            <a:endParaRPr lang="en-US" sz="1200" dirty="0"/>
          </a:p>
        </p:txBody>
      </p:sp>
      <p:sp>
        <p:nvSpPr>
          <p:cNvPr id="14" name="Text 12"/>
          <p:cNvSpPr/>
          <p:nvPr/>
        </p:nvSpPr>
        <p:spPr>
          <a:xfrm>
            <a:off x="6438900" y="2397621"/>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JetBrains Mono" pitchFamily="34" charset="0"/>
                <a:ea typeface="JetBrains Mono" pitchFamily="34" charset="-122"/>
                <a:cs typeface="JetBrains Mono" pitchFamily="34" charset="-120"/>
              </a:rPr>
              <a:t>units_7d_centred</a:t>
            </a:r>
            <a:endParaRPr lang="en-US" sz="1700" dirty="0"/>
          </a:p>
        </p:txBody>
      </p:sp>
      <p:sp>
        <p:nvSpPr>
          <p:cNvPr id="15" name="Text 13"/>
          <p:cNvSpPr/>
          <p:nvPr/>
        </p:nvSpPr>
        <p:spPr>
          <a:xfrm>
            <a:off x="6438900" y="2770981"/>
            <a:ext cx="111760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6232E"/>
                </a:solidFill>
                <a:latin typeface="JetBrains Mono" pitchFamily="34" charset="0"/>
                <a:ea typeface="JetBrains Mono" pitchFamily="34" charset="-122"/>
                <a:cs typeface="JetBrains Mono" pitchFamily="34" charset="-120"/>
              </a:rPr>
              <a:t>0.747</a:t>
            </a:r>
            <a:endParaRPr lang="en-US" sz="2800" dirty="0"/>
          </a:p>
        </p:txBody>
      </p:sp>
      <p:sp>
        <p:nvSpPr>
          <p:cNvPr id="16" name="Text 14"/>
          <p:cNvSpPr/>
          <p:nvPr/>
        </p:nvSpPr>
        <p:spPr>
          <a:xfrm>
            <a:off x="6438900" y="3268762"/>
            <a:ext cx="1117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AUC with it</a:t>
            </a:r>
            <a:endParaRPr lang="en-US" sz="1200" dirty="0"/>
          </a:p>
        </p:txBody>
      </p:sp>
      <p:sp>
        <p:nvSpPr>
          <p:cNvPr id="17" name="Text 15"/>
          <p:cNvSpPr/>
          <p:nvPr/>
        </p:nvSpPr>
        <p:spPr>
          <a:xfrm>
            <a:off x="7810500" y="2770981"/>
            <a:ext cx="1236266"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6232E"/>
                </a:solidFill>
                <a:latin typeface="JetBrains Mono" pitchFamily="34" charset="0"/>
                <a:ea typeface="JetBrains Mono" pitchFamily="34" charset="-122"/>
                <a:cs typeface="JetBrains Mono" pitchFamily="34" charset="-120"/>
              </a:rPr>
              <a:t>0.358</a:t>
            </a:r>
            <a:endParaRPr lang="en-US" sz="2800" dirty="0"/>
          </a:p>
        </p:txBody>
      </p:sp>
      <p:sp>
        <p:nvSpPr>
          <p:cNvPr id="18" name="Text 16"/>
          <p:cNvSpPr/>
          <p:nvPr/>
        </p:nvSpPr>
        <p:spPr>
          <a:xfrm>
            <a:off x="7810500" y="3268762"/>
            <a:ext cx="12362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correlation with y</a:t>
            </a:r>
            <a:endParaRPr lang="en-US" sz="1200" dirty="0"/>
          </a:p>
        </p:txBody>
      </p:sp>
      <p:sp>
        <p:nvSpPr>
          <p:cNvPr id="19" name="Text 17"/>
          <p:cNvSpPr/>
          <p:nvPr/>
        </p:nvSpPr>
        <p:spPr>
          <a:xfrm>
            <a:off x="6438900" y="3596382"/>
            <a:ext cx="483997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32E"/>
                </a:solidFill>
                <a:latin typeface="IBM Plex Sans" pitchFamily="34" charset="0"/>
                <a:ea typeface="IBM Plex Sans" pitchFamily="34" charset="-122"/>
                <a:cs typeface="IBM Plex Sans" pitchFamily="34" charset="-120"/>
              </a:rPr>
              <a:t>Looks plausible. Only an as-of recompute exposes it.</a:t>
            </a:r>
            <a:endParaRPr lang="en-US" sz="1400" dirty="0"/>
          </a:p>
        </p:txBody>
      </p:sp>
      <p:sp>
        <p:nvSpPr>
          <p:cNvPr id="20" name="Text 18"/>
          <p:cNvSpPr/>
          <p:nvPr/>
        </p:nvSpPr>
        <p:spPr>
          <a:xfrm>
            <a:off x="812800" y="4340523"/>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Clean baseline: </a:t>
            </a:r>
            <a:r>
              <a:rPr lang="en-US" sz="1500" b="1" dirty="0">
                <a:solidFill>
                  <a:srgbClr val="16232E"/>
                </a:solidFill>
                <a:latin typeface="IBM Plex Sans" pitchFamily="34" charset="0"/>
                <a:ea typeface="IBM Plex Sans" pitchFamily="34" charset="-122"/>
                <a:cs typeface="IBM Plex Sans" pitchFamily="34" charset="-120"/>
              </a:rPr>
              <a:t>0.697</a:t>
            </a:r>
            <a:r>
              <a:rPr lang="en-US" sz="1500" dirty="0">
                <a:solidFill>
                  <a:srgbClr val="16232E"/>
                </a:solidFill>
                <a:latin typeface="IBM Plex Sans" pitchFamily="34" charset="0"/>
                <a:ea typeface="IBM Plex Sans" pitchFamily="34" charset="-122"/>
                <a:cs typeface="IBM Plex Sans" pitchFamily="34" charset="-120"/>
              </a:rPr>
              <a:t>. The quiet leak would have scored 0.747 offline and roughly 0.697 in production.</a:t>
            </a:r>
            <a:endParaRPr lang="en-US" sz="15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3 · BASELINE, THEN THRESHOLD</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AUC 0.697 on every row — only the operating point moves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275681"/>
          <a:ext cx="6908800" cy="2315766"/>
        </p:xfrm>
        <a:graphic>
          <a:graphicData uri="http://schemas.openxmlformats.org/drawingml/2006/table">
            <a:tbl>
              <a:tblPr/>
              <a:tblGrid>
                <a:gridCol w="1381760">
                  <a:extLst>
                    <a:ext uri="{9D8B030D-6E8A-4147-A177-3AD203B41FA5}">
                      <a16:colId xmlns:a16="http://schemas.microsoft.com/office/drawing/2014/main" val="20000"/>
                    </a:ext>
                  </a:extLst>
                </a:gridCol>
                <a:gridCol w="1243584">
                  <a:extLst>
                    <a:ext uri="{9D8B030D-6E8A-4147-A177-3AD203B41FA5}">
                      <a16:colId xmlns:a16="http://schemas.microsoft.com/office/drawing/2014/main" val="20001"/>
                    </a:ext>
                  </a:extLst>
                </a:gridCol>
                <a:gridCol w="1243584">
                  <a:extLst>
                    <a:ext uri="{9D8B030D-6E8A-4147-A177-3AD203B41FA5}">
                      <a16:colId xmlns:a16="http://schemas.microsoft.com/office/drawing/2014/main" val="20002"/>
                    </a:ext>
                  </a:extLst>
                </a:gridCol>
                <a:gridCol w="1243584">
                  <a:extLst>
                    <a:ext uri="{9D8B030D-6E8A-4147-A177-3AD203B41FA5}">
                      <a16:colId xmlns:a16="http://schemas.microsoft.com/office/drawing/2014/main" val="20003"/>
                    </a:ext>
                  </a:extLst>
                </a:gridCol>
                <a:gridCol w="1796288">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Threshold</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Flagged</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F1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Cost / 1k lines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0.50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71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0.027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0.051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₹9,406</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0.30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601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0.163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0.237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₹8,472</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0.20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1,661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0.412</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0.401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₹6,897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0.10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3,563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0.773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0.475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₹5,038</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0.05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4,786</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0.901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0.447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₹5,052</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5"/>
                  </a:ext>
                </a:extLst>
              </a:tr>
            </a:tbl>
          </a:graphicData>
        </a:graphic>
      </p:graphicFrame>
      <p:sp>
        <p:nvSpPr>
          <p:cNvPr id="5" name="Shape 2"/>
          <p:cNvSpPr/>
          <p:nvPr/>
        </p:nvSpPr>
        <p:spPr>
          <a:xfrm>
            <a:off x="8077200" y="2285206"/>
            <a:ext cx="3302000" cy="0"/>
          </a:xfrm>
          <a:prstGeom prst="line">
            <a:avLst/>
          </a:prstGeom>
          <a:noFill/>
          <a:ln w="19050">
            <a:solidFill>
              <a:srgbClr val="0E6F6D"/>
            </a:solidFill>
            <a:prstDash val="solid"/>
          </a:ln>
        </p:spPr>
        <p:txBody>
          <a:bodyPr/>
          <a:lstStyle/>
          <a:p>
            <a:endParaRPr lang="en-IN"/>
          </a:p>
        </p:txBody>
      </p:sp>
      <p:sp>
        <p:nvSpPr>
          <p:cNvPr id="6" name="Text 3"/>
          <p:cNvSpPr/>
          <p:nvPr/>
        </p:nvSpPr>
        <p:spPr>
          <a:xfrm>
            <a:off x="8077200" y="2421731"/>
            <a:ext cx="340106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0E6F6D"/>
                </a:solidFill>
                <a:latin typeface="JetBrains Mono" pitchFamily="34" charset="0"/>
                <a:ea typeface="JetBrains Mono" pitchFamily="34" charset="-122"/>
                <a:cs typeface="JetBrains Mono" pitchFamily="34" charset="-120"/>
              </a:rPr>
              <a:t>46%</a:t>
            </a:r>
            <a:endParaRPr lang="en-US" sz="3200" dirty="0"/>
          </a:p>
        </p:txBody>
      </p:sp>
      <p:sp>
        <p:nvSpPr>
          <p:cNvPr id="7" name="Text 4"/>
          <p:cNvSpPr/>
          <p:nvPr/>
        </p:nvSpPr>
        <p:spPr>
          <a:xfrm>
            <a:off x="8077200" y="3041452"/>
            <a:ext cx="340106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lower expected cost at 0.10 than at 0.50</a:t>
            </a:r>
            <a:endParaRPr lang="en-US" sz="1300" dirty="0"/>
          </a:p>
        </p:txBody>
      </p:sp>
      <p:sp>
        <p:nvSpPr>
          <p:cNvPr id="8" name="Shape 5"/>
          <p:cNvSpPr/>
          <p:nvPr/>
        </p:nvSpPr>
        <p:spPr>
          <a:xfrm>
            <a:off x="8077200" y="3451622"/>
            <a:ext cx="3302000" cy="0"/>
          </a:xfrm>
          <a:prstGeom prst="line">
            <a:avLst/>
          </a:prstGeom>
          <a:noFill/>
          <a:ln w="19050">
            <a:solidFill>
              <a:srgbClr val="0E6F6D"/>
            </a:solidFill>
            <a:prstDash val="solid"/>
          </a:ln>
        </p:spPr>
        <p:txBody>
          <a:bodyPr/>
          <a:lstStyle/>
          <a:p>
            <a:endParaRPr lang="en-IN"/>
          </a:p>
        </p:txBody>
      </p:sp>
      <p:sp>
        <p:nvSpPr>
          <p:cNvPr id="9" name="Text 6"/>
          <p:cNvSpPr/>
          <p:nvPr/>
        </p:nvSpPr>
        <p:spPr>
          <a:xfrm>
            <a:off x="8077200" y="3588147"/>
            <a:ext cx="340106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9×</a:t>
            </a:r>
            <a:endParaRPr lang="en-US" sz="3200" dirty="0"/>
          </a:p>
        </p:txBody>
      </p:sp>
      <p:sp>
        <p:nvSpPr>
          <p:cNvPr id="10" name="Text 7"/>
          <p:cNvSpPr/>
          <p:nvPr/>
        </p:nvSpPr>
        <p:spPr>
          <a:xfrm>
            <a:off x="8077200" y="4207867"/>
            <a:ext cx="340106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the F1 at 0.50</a:t>
            </a:r>
            <a:endParaRPr lang="en-US" sz="1300" dirty="0"/>
          </a:p>
        </p:txBody>
      </p:sp>
      <p:sp>
        <p:nvSpPr>
          <p:cNvPr id="11" name="Text 8"/>
          <p:cNvSpPr/>
          <p:nvPr/>
        </p:nvSpPr>
        <p:spPr>
          <a:xfrm>
            <a:off x="8077200" y="4608513"/>
            <a:ext cx="340106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Costs agreed with the planner: ₹40 per missed reorder, ₹8 per false alarm.</a:t>
            </a:r>
            <a:endParaRPr lang="en-US" sz="13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3 · WHO OWNS THE THRESHOLD?</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threshold is a business decision, not a modelling artefact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275681"/>
          <a:ext cx="5588000" cy="2330450"/>
        </p:xfrm>
        <a:graphic>
          <a:graphicData uri="http://schemas.openxmlformats.org/drawingml/2006/table">
            <a:tbl>
              <a:tblPr/>
              <a:tblGrid>
                <a:gridCol w="201168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gridCol w="2235200">
                  <a:extLst>
                    <a:ext uri="{9D8B030D-6E8A-4147-A177-3AD203B41FA5}">
                      <a16:colId xmlns:a16="http://schemas.microsoft.com/office/drawing/2014/main" val="20002"/>
                    </a:ext>
                  </a:extLst>
                </a:gridCol>
              </a:tblGrid>
              <a:tr h="679450">
                <a:tc>
                  <a:txBody>
                    <a:bodyPr/>
                    <a:lstStyle/>
                    <a:p>
                      <a:pPr marL="0" indent="0">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Miss : false alarm</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Ratio</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Cost-optimal threshold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₹15 : ₹8</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1.9 : 1</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0.25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₹25 : ₹8</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3.1 : 1</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0.10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₹40 : ₹8</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5.0 : 1</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0.10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₹80 : ₹8</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10.0 : 1</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0.05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807200" y="2275681"/>
            <a:ext cx="470916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The model is identical in all four rows. Only the price of a stockout changed.</a:t>
            </a:r>
            <a:endParaRPr lang="en-US" sz="1500" dirty="0"/>
          </a:p>
        </p:txBody>
      </p:sp>
      <p:sp>
        <p:nvSpPr>
          <p:cNvPr id="6" name="Text 3"/>
          <p:cNvSpPr/>
          <p:nvPr/>
        </p:nvSpPr>
        <p:spPr>
          <a:xfrm>
            <a:off x="6807200" y="2980531"/>
            <a:ext cx="470916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Put the cost ratio in the model card, and revisit it when margins change.</a:t>
            </a:r>
            <a:endParaRPr lang="en-US" sz="15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MISSIONS 4–5 · COMPARE CANDIDATES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simplest model wins on this data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79501"/>
          <a:ext cx="10566400" cy="1929805"/>
        </p:xfrm>
        <a:graphic>
          <a:graphicData uri="http://schemas.openxmlformats.org/drawingml/2006/table">
            <a:tbl>
              <a:tblPr/>
              <a:tblGrid>
                <a:gridCol w="2747264">
                  <a:extLst>
                    <a:ext uri="{9D8B030D-6E8A-4147-A177-3AD203B41FA5}">
                      <a16:colId xmlns:a16="http://schemas.microsoft.com/office/drawing/2014/main" val="20000"/>
                    </a:ext>
                  </a:extLst>
                </a:gridCol>
                <a:gridCol w="1267968">
                  <a:extLst>
                    <a:ext uri="{9D8B030D-6E8A-4147-A177-3AD203B41FA5}">
                      <a16:colId xmlns:a16="http://schemas.microsoft.com/office/drawing/2014/main" val="20001"/>
                    </a:ext>
                  </a:extLst>
                </a:gridCol>
                <a:gridCol w="1479296">
                  <a:extLst>
                    <a:ext uri="{9D8B030D-6E8A-4147-A177-3AD203B41FA5}">
                      <a16:colId xmlns:a16="http://schemas.microsoft.com/office/drawing/2014/main" val="20002"/>
                    </a:ext>
                  </a:extLst>
                </a:gridCol>
                <a:gridCol w="1479296">
                  <a:extLst>
                    <a:ext uri="{9D8B030D-6E8A-4147-A177-3AD203B41FA5}">
                      <a16:colId xmlns:a16="http://schemas.microsoft.com/office/drawing/2014/main" val="20003"/>
                    </a:ext>
                  </a:extLst>
                </a:gridCol>
                <a:gridCol w="3592576">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AUC</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Train (s)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1-row (ms)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Explainability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Dummy baseline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0.501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0.11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Logistic regression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0.697</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0.63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Signed coefficients per feature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XGBoost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0.674</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0.15</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1.01</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Gain importances + SHAP</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MLP (32, 16)</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0.660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3.04</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0.68</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None without extra tooling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304605"/>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Logistic regression beats XGBoost and the MLP on the August hold-out — and a planner can be shown why a line was flagged.</a:t>
            </a:r>
            <a:endParaRPr lang="en-US" sz="1500" dirty="0"/>
          </a:p>
        </p:txBody>
      </p:sp>
      <p:sp>
        <p:nvSpPr>
          <p:cNvPr id="6" name="Text 3"/>
          <p:cNvSpPr/>
          <p:nvPr/>
        </p:nvSpPr>
        <p:spPr>
          <a:xfrm>
            <a:off x="6248400" y="4304605"/>
            <a:ext cx="5284724"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Not a broken lab. With 11,000 rows and eight features, extra capacity goes into memorising July.</a:t>
            </a:r>
            <a:endParaRPr lang="en-US" sz="15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6 · THE RELEASE GATE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gate blocks the best AUC in the room</a:t>
            </a:r>
            <a:endParaRPr lang="en-US" sz="3200" dirty="0"/>
          </a:p>
        </p:txBody>
      </p:sp>
      <p:sp>
        <p:nvSpPr>
          <p:cNvPr id="4" name="Text 2"/>
          <p:cNvSpPr/>
          <p:nvPr/>
        </p:nvSpPr>
        <p:spPr>
          <a:xfrm>
            <a:off x="812800" y="1803301"/>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Four checks, all required: Quality · AUC ≥ 0.65 · Improvement · &gt; baseline + 0.05 · Latency · &lt; 5 ms per request · Lineage · data_hash present</a:t>
            </a:r>
            <a:endParaRPr lang="en-US" sz="1400" dirty="0"/>
          </a:p>
        </p:txBody>
      </p:sp>
      <p:sp>
        <p:nvSpPr>
          <p:cNvPr id="5" name="Shape 3"/>
          <p:cNvSpPr/>
          <p:nvPr/>
        </p:nvSpPr>
        <p:spPr>
          <a:xfrm>
            <a:off x="819150" y="2535932"/>
            <a:ext cx="3390900" cy="2880122"/>
          </a:xfrm>
          <a:prstGeom prst="roundRect">
            <a:avLst>
              <a:gd name="adj" fmla="val 3307"/>
            </a:avLst>
          </a:prstGeom>
          <a:solidFill>
            <a:srgbClr val="FDFCF8"/>
          </a:solidFill>
          <a:ln w="12700">
            <a:solidFill>
              <a:srgbClr val="DCD6C8"/>
            </a:solidFill>
            <a:prstDash val="solid"/>
          </a:ln>
        </p:spPr>
        <p:txBody>
          <a:bodyPr/>
          <a:lstStyle/>
          <a:p>
            <a:endParaRPr lang="en-IN"/>
          </a:p>
        </p:txBody>
      </p:sp>
      <p:sp>
        <p:nvSpPr>
          <p:cNvPr id="6" name="Text 4"/>
          <p:cNvSpPr/>
          <p:nvPr/>
        </p:nvSpPr>
        <p:spPr>
          <a:xfrm>
            <a:off x="1028700" y="2745482"/>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JetBrains Mono" pitchFamily="34" charset="0"/>
                <a:ea typeface="JetBrains Mono" pitchFamily="34" charset="-122"/>
                <a:cs typeface="JetBrains Mono" pitchFamily="34" charset="-120"/>
              </a:rPr>
              <a:t>logreg</a:t>
            </a:r>
            <a:endParaRPr lang="en-US" sz="1500" dirty="0"/>
          </a:p>
        </p:txBody>
      </p:sp>
      <p:sp>
        <p:nvSpPr>
          <p:cNvPr id="7" name="Text 5"/>
          <p:cNvSpPr/>
          <p:nvPr/>
        </p:nvSpPr>
        <p:spPr>
          <a:xfrm>
            <a:off x="1028700" y="3062982"/>
            <a:ext cx="306095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AUC 0.697</a:t>
            </a:r>
            <a:endParaRPr lang="en-US" sz="1300" dirty="0"/>
          </a:p>
        </p:txBody>
      </p:sp>
      <p:sp>
        <p:nvSpPr>
          <p:cNvPr id="8" name="Shape 6"/>
          <p:cNvSpPr/>
          <p:nvPr/>
        </p:nvSpPr>
        <p:spPr>
          <a:xfrm>
            <a:off x="1028700" y="3386138"/>
            <a:ext cx="2971800" cy="0"/>
          </a:xfrm>
          <a:prstGeom prst="line">
            <a:avLst/>
          </a:prstGeom>
          <a:noFill/>
          <a:ln w="6350">
            <a:solidFill>
              <a:srgbClr val="DCD6C8"/>
            </a:solidFill>
            <a:prstDash val="solid"/>
          </a:ln>
        </p:spPr>
        <p:txBody>
          <a:bodyPr/>
          <a:lstStyle/>
          <a:p>
            <a:endParaRPr lang="en-IN"/>
          </a:p>
        </p:txBody>
      </p:sp>
      <p:sp>
        <p:nvSpPr>
          <p:cNvPr id="9" name="Text 7"/>
          <p:cNvSpPr/>
          <p:nvPr/>
        </p:nvSpPr>
        <p:spPr>
          <a:xfrm>
            <a:off x="1028700" y="3465513"/>
            <a:ext cx="5357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Quality</a:t>
            </a:r>
            <a:endParaRPr lang="en-US" sz="1200" dirty="0"/>
          </a:p>
        </p:txBody>
      </p:sp>
      <p:sp>
        <p:nvSpPr>
          <p:cNvPr id="10" name="Text 8"/>
          <p:cNvSpPr/>
          <p:nvPr/>
        </p:nvSpPr>
        <p:spPr>
          <a:xfrm>
            <a:off x="3634680" y="346551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11" name="Shape 9"/>
          <p:cNvSpPr/>
          <p:nvPr/>
        </p:nvSpPr>
        <p:spPr>
          <a:xfrm>
            <a:off x="1028700" y="3770908"/>
            <a:ext cx="2971800" cy="0"/>
          </a:xfrm>
          <a:prstGeom prst="line">
            <a:avLst/>
          </a:prstGeom>
          <a:noFill/>
          <a:ln w="6350">
            <a:solidFill>
              <a:srgbClr val="DCD6C8"/>
            </a:solidFill>
            <a:prstDash val="solid"/>
          </a:ln>
        </p:spPr>
        <p:txBody>
          <a:bodyPr/>
          <a:lstStyle/>
          <a:p>
            <a:endParaRPr lang="en-IN"/>
          </a:p>
        </p:txBody>
      </p:sp>
      <p:sp>
        <p:nvSpPr>
          <p:cNvPr id="12" name="Text 10"/>
          <p:cNvSpPr/>
          <p:nvPr/>
        </p:nvSpPr>
        <p:spPr>
          <a:xfrm>
            <a:off x="1028700" y="3850283"/>
            <a:ext cx="9867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Improvement</a:t>
            </a:r>
            <a:endParaRPr lang="en-US" sz="1200" dirty="0"/>
          </a:p>
        </p:txBody>
      </p:sp>
      <p:sp>
        <p:nvSpPr>
          <p:cNvPr id="13" name="Text 11"/>
          <p:cNvSpPr/>
          <p:nvPr/>
        </p:nvSpPr>
        <p:spPr>
          <a:xfrm>
            <a:off x="3634680" y="385028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14" name="Shape 12"/>
          <p:cNvSpPr/>
          <p:nvPr/>
        </p:nvSpPr>
        <p:spPr>
          <a:xfrm>
            <a:off x="1028700" y="4155678"/>
            <a:ext cx="2971800" cy="0"/>
          </a:xfrm>
          <a:prstGeom prst="line">
            <a:avLst/>
          </a:prstGeom>
          <a:noFill/>
          <a:ln w="6350">
            <a:solidFill>
              <a:srgbClr val="DCD6C8"/>
            </a:solidFill>
            <a:prstDash val="solid"/>
          </a:ln>
        </p:spPr>
        <p:txBody>
          <a:bodyPr/>
          <a:lstStyle/>
          <a:p>
            <a:endParaRPr lang="en-IN"/>
          </a:p>
        </p:txBody>
      </p:sp>
      <p:sp>
        <p:nvSpPr>
          <p:cNvPr id="15" name="Text 13"/>
          <p:cNvSpPr/>
          <p:nvPr/>
        </p:nvSpPr>
        <p:spPr>
          <a:xfrm>
            <a:off x="1028700" y="4235053"/>
            <a:ext cx="584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Latency</a:t>
            </a:r>
            <a:endParaRPr lang="en-US" sz="1200" dirty="0"/>
          </a:p>
        </p:txBody>
      </p:sp>
      <p:sp>
        <p:nvSpPr>
          <p:cNvPr id="16" name="Text 14"/>
          <p:cNvSpPr/>
          <p:nvPr/>
        </p:nvSpPr>
        <p:spPr>
          <a:xfrm>
            <a:off x="3634680" y="423505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17" name="Shape 15"/>
          <p:cNvSpPr/>
          <p:nvPr/>
        </p:nvSpPr>
        <p:spPr>
          <a:xfrm>
            <a:off x="1028700" y="4540448"/>
            <a:ext cx="2971800" cy="0"/>
          </a:xfrm>
          <a:prstGeom prst="line">
            <a:avLst/>
          </a:prstGeom>
          <a:noFill/>
          <a:ln w="6350">
            <a:solidFill>
              <a:srgbClr val="DCD6C8"/>
            </a:solidFill>
            <a:prstDash val="solid"/>
          </a:ln>
        </p:spPr>
        <p:txBody>
          <a:bodyPr/>
          <a:lstStyle/>
          <a:p>
            <a:endParaRPr lang="en-IN"/>
          </a:p>
        </p:txBody>
      </p:sp>
      <p:sp>
        <p:nvSpPr>
          <p:cNvPr id="18" name="Text 16"/>
          <p:cNvSpPr/>
          <p:nvPr/>
        </p:nvSpPr>
        <p:spPr>
          <a:xfrm>
            <a:off x="1028700" y="4619823"/>
            <a:ext cx="5801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Lineage</a:t>
            </a:r>
            <a:endParaRPr lang="en-US" sz="1200" dirty="0"/>
          </a:p>
        </p:txBody>
      </p:sp>
      <p:sp>
        <p:nvSpPr>
          <p:cNvPr id="19" name="Text 17"/>
          <p:cNvSpPr/>
          <p:nvPr/>
        </p:nvSpPr>
        <p:spPr>
          <a:xfrm>
            <a:off x="3634680" y="461982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20" name="Text 18"/>
          <p:cNvSpPr/>
          <p:nvPr/>
        </p:nvSpPr>
        <p:spPr>
          <a:xfrm>
            <a:off x="1028700" y="4922044"/>
            <a:ext cx="3060954"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E6F6D"/>
                </a:solidFill>
                <a:latin typeface="JetBrains Mono" pitchFamily="34" charset="0"/>
                <a:ea typeface="JetBrains Mono" pitchFamily="34" charset="-122"/>
                <a:cs typeface="JetBrains Mono" pitchFamily="34" charset="-120"/>
              </a:rPr>
              <a:t>REGISTER</a:t>
            </a:r>
            <a:endParaRPr lang="en-US" sz="1600" dirty="0"/>
          </a:p>
        </p:txBody>
      </p:sp>
      <p:sp>
        <p:nvSpPr>
          <p:cNvPr id="21" name="Shape 19"/>
          <p:cNvSpPr/>
          <p:nvPr/>
        </p:nvSpPr>
        <p:spPr>
          <a:xfrm>
            <a:off x="4400550" y="2535932"/>
            <a:ext cx="3390900" cy="2880122"/>
          </a:xfrm>
          <a:prstGeom prst="roundRect">
            <a:avLst>
              <a:gd name="adj" fmla="val 3307"/>
            </a:avLst>
          </a:prstGeom>
          <a:solidFill>
            <a:srgbClr val="FDFCF8"/>
          </a:solidFill>
          <a:ln w="12700">
            <a:solidFill>
              <a:srgbClr val="DCD6C8"/>
            </a:solidFill>
            <a:prstDash val="solid"/>
          </a:ln>
        </p:spPr>
        <p:txBody>
          <a:bodyPr/>
          <a:lstStyle/>
          <a:p>
            <a:endParaRPr lang="en-IN"/>
          </a:p>
        </p:txBody>
      </p:sp>
      <p:sp>
        <p:nvSpPr>
          <p:cNvPr id="22" name="Text 20"/>
          <p:cNvSpPr/>
          <p:nvPr/>
        </p:nvSpPr>
        <p:spPr>
          <a:xfrm>
            <a:off x="4610100" y="2745482"/>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JetBrains Mono" pitchFamily="34" charset="0"/>
                <a:ea typeface="JetBrains Mono" pitchFamily="34" charset="-122"/>
                <a:cs typeface="JetBrains Mono" pitchFamily="34" charset="-120"/>
              </a:rPr>
              <a:t>xgboost</a:t>
            </a:r>
            <a:endParaRPr lang="en-US" sz="1500" dirty="0"/>
          </a:p>
        </p:txBody>
      </p:sp>
      <p:sp>
        <p:nvSpPr>
          <p:cNvPr id="23" name="Text 21"/>
          <p:cNvSpPr/>
          <p:nvPr/>
        </p:nvSpPr>
        <p:spPr>
          <a:xfrm>
            <a:off x="4610100" y="3062982"/>
            <a:ext cx="306095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AUC 0.674</a:t>
            </a:r>
            <a:endParaRPr lang="en-US" sz="1300" dirty="0"/>
          </a:p>
        </p:txBody>
      </p:sp>
      <p:sp>
        <p:nvSpPr>
          <p:cNvPr id="24" name="Shape 22"/>
          <p:cNvSpPr/>
          <p:nvPr/>
        </p:nvSpPr>
        <p:spPr>
          <a:xfrm>
            <a:off x="4610100" y="3386138"/>
            <a:ext cx="2971800" cy="0"/>
          </a:xfrm>
          <a:prstGeom prst="line">
            <a:avLst/>
          </a:prstGeom>
          <a:noFill/>
          <a:ln w="6350">
            <a:solidFill>
              <a:srgbClr val="DCD6C8"/>
            </a:solidFill>
            <a:prstDash val="solid"/>
          </a:ln>
        </p:spPr>
        <p:txBody>
          <a:bodyPr/>
          <a:lstStyle/>
          <a:p>
            <a:endParaRPr lang="en-IN"/>
          </a:p>
        </p:txBody>
      </p:sp>
      <p:sp>
        <p:nvSpPr>
          <p:cNvPr id="25" name="Text 23"/>
          <p:cNvSpPr/>
          <p:nvPr/>
        </p:nvSpPr>
        <p:spPr>
          <a:xfrm>
            <a:off x="4610100" y="3465513"/>
            <a:ext cx="5357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Quality</a:t>
            </a:r>
            <a:endParaRPr lang="en-US" sz="1200" dirty="0"/>
          </a:p>
        </p:txBody>
      </p:sp>
      <p:sp>
        <p:nvSpPr>
          <p:cNvPr id="26" name="Text 24"/>
          <p:cNvSpPr/>
          <p:nvPr/>
        </p:nvSpPr>
        <p:spPr>
          <a:xfrm>
            <a:off x="7216080" y="346551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27" name="Shape 25"/>
          <p:cNvSpPr/>
          <p:nvPr/>
        </p:nvSpPr>
        <p:spPr>
          <a:xfrm>
            <a:off x="4610100" y="3770908"/>
            <a:ext cx="2971800" cy="0"/>
          </a:xfrm>
          <a:prstGeom prst="line">
            <a:avLst/>
          </a:prstGeom>
          <a:noFill/>
          <a:ln w="6350">
            <a:solidFill>
              <a:srgbClr val="DCD6C8"/>
            </a:solidFill>
            <a:prstDash val="solid"/>
          </a:ln>
        </p:spPr>
        <p:txBody>
          <a:bodyPr/>
          <a:lstStyle/>
          <a:p>
            <a:endParaRPr lang="en-IN"/>
          </a:p>
        </p:txBody>
      </p:sp>
      <p:sp>
        <p:nvSpPr>
          <p:cNvPr id="28" name="Text 26"/>
          <p:cNvSpPr/>
          <p:nvPr/>
        </p:nvSpPr>
        <p:spPr>
          <a:xfrm>
            <a:off x="4610100" y="3850283"/>
            <a:ext cx="9867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Improvement</a:t>
            </a:r>
            <a:endParaRPr lang="en-US" sz="1200" dirty="0"/>
          </a:p>
        </p:txBody>
      </p:sp>
      <p:sp>
        <p:nvSpPr>
          <p:cNvPr id="29" name="Text 27"/>
          <p:cNvSpPr/>
          <p:nvPr/>
        </p:nvSpPr>
        <p:spPr>
          <a:xfrm>
            <a:off x="7216080" y="385028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30" name="Shape 28"/>
          <p:cNvSpPr/>
          <p:nvPr/>
        </p:nvSpPr>
        <p:spPr>
          <a:xfrm>
            <a:off x="4610100" y="4155678"/>
            <a:ext cx="2971800" cy="0"/>
          </a:xfrm>
          <a:prstGeom prst="line">
            <a:avLst/>
          </a:prstGeom>
          <a:noFill/>
          <a:ln w="6350">
            <a:solidFill>
              <a:srgbClr val="DCD6C8"/>
            </a:solidFill>
            <a:prstDash val="solid"/>
          </a:ln>
        </p:spPr>
        <p:txBody>
          <a:bodyPr/>
          <a:lstStyle/>
          <a:p>
            <a:endParaRPr lang="en-IN"/>
          </a:p>
        </p:txBody>
      </p:sp>
      <p:sp>
        <p:nvSpPr>
          <p:cNvPr id="31" name="Text 29"/>
          <p:cNvSpPr/>
          <p:nvPr/>
        </p:nvSpPr>
        <p:spPr>
          <a:xfrm>
            <a:off x="4610100" y="4235053"/>
            <a:ext cx="584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Latency</a:t>
            </a:r>
            <a:endParaRPr lang="en-US" sz="1200" dirty="0"/>
          </a:p>
        </p:txBody>
      </p:sp>
      <p:sp>
        <p:nvSpPr>
          <p:cNvPr id="32" name="Text 30"/>
          <p:cNvSpPr/>
          <p:nvPr/>
        </p:nvSpPr>
        <p:spPr>
          <a:xfrm>
            <a:off x="7216080" y="423505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33" name="Shape 31"/>
          <p:cNvSpPr/>
          <p:nvPr/>
        </p:nvSpPr>
        <p:spPr>
          <a:xfrm>
            <a:off x="4610100" y="4540448"/>
            <a:ext cx="2971800" cy="0"/>
          </a:xfrm>
          <a:prstGeom prst="line">
            <a:avLst/>
          </a:prstGeom>
          <a:noFill/>
          <a:ln w="6350">
            <a:solidFill>
              <a:srgbClr val="DCD6C8"/>
            </a:solidFill>
            <a:prstDash val="solid"/>
          </a:ln>
        </p:spPr>
        <p:txBody>
          <a:bodyPr/>
          <a:lstStyle/>
          <a:p>
            <a:endParaRPr lang="en-IN"/>
          </a:p>
        </p:txBody>
      </p:sp>
      <p:sp>
        <p:nvSpPr>
          <p:cNvPr id="34" name="Text 32"/>
          <p:cNvSpPr/>
          <p:nvPr/>
        </p:nvSpPr>
        <p:spPr>
          <a:xfrm>
            <a:off x="4610100" y="4619823"/>
            <a:ext cx="5801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Lineage</a:t>
            </a:r>
            <a:endParaRPr lang="en-US" sz="1200" dirty="0"/>
          </a:p>
        </p:txBody>
      </p:sp>
      <p:sp>
        <p:nvSpPr>
          <p:cNvPr id="35" name="Text 33"/>
          <p:cNvSpPr/>
          <p:nvPr/>
        </p:nvSpPr>
        <p:spPr>
          <a:xfrm>
            <a:off x="7216080" y="461982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36" name="Text 34"/>
          <p:cNvSpPr/>
          <p:nvPr/>
        </p:nvSpPr>
        <p:spPr>
          <a:xfrm>
            <a:off x="4610100" y="4922044"/>
            <a:ext cx="3060954"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E6F6D"/>
                </a:solidFill>
                <a:latin typeface="JetBrains Mono" pitchFamily="34" charset="0"/>
                <a:ea typeface="JetBrains Mono" pitchFamily="34" charset="-122"/>
                <a:cs typeface="JetBrains Mono" pitchFamily="34" charset="-120"/>
              </a:rPr>
              <a:t>REGISTER</a:t>
            </a:r>
            <a:endParaRPr lang="en-US" sz="1600" dirty="0"/>
          </a:p>
        </p:txBody>
      </p:sp>
      <p:sp>
        <p:nvSpPr>
          <p:cNvPr id="37" name="Shape 35"/>
          <p:cNvSpPr/>
          <p:nvPr/>
        </p:nvSpPr>
        <p:spPr>
          <a:xfrm>
            <a:off x="7981950" y="2535932"/>
            <a:ext cx="3390900" cy="2880122"/>
          </a:xfrm>
          <a:prstGeom prst="roundRect">
            <a:avLst>
              <a:gd name="adj" fmla="val 3307"/>
            </a:avLst>
          </a:prstGeom>
          <a:solidFill>
            <a:srgbClr val="FDFCF8"/>
          </a:solidFill>
          <a:ln w="12700">
            <a:solidFill>
              <a:srgbClr val="DCD6C8"/>
            </a:solidFill>
            <a:prstDash val="solid"/>
          </a:ln>
        </p:spPr>
        <p:txBody>
          <a:bodyPr/>
          <a:lstStyle/>
          <a:p>
            <a:endParaRPr lang="en-IN"/>
          </a:p>
        </p:txBody>
      </p:sp>
      <p:sp>
        <p:nvSpPr>
          <p:cNvPr id="38" name="Text 36"/>
          <p:cNvSpPr/>
          <p:nvPr/>
        </p:nvSpPr>
        <p:spPr>
          <a:xfrm>
            <a:off x="8191500" y="2745482"/>
            <a:ext cx="30609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32E"/>
                </a:solidFill>
                <a:latin typeface="JetBrains Mono" pitchFamily="34" charset="0"/>
                <a:ea typeface="JetBrains Mono" pitchFamily="34" charset="-122"/>
                <a:cs typeface="JetBrains Mono" pitchFamily="34" charset="-120"/>
              </a:rPr>
              <a:t>notebook_model_v3</a:t>
            </a:r>
            <a:endParaRPr lang="en-US" sz="1500" dirty="0"/>
          </a:p>
        </p:txBody>
      </p:sp>
      <p:sp>
        <p:nvSpPr>
          <p:cNvPr id="39" name="Text 37"/>
          <p:cNvSpPr/>
          <p:nvPr/>
        </p:nvSpPr>
        <p:spPr>
          <a:xfrm>
            <a:off x="8191500" y="3062982"/>
            <a:ext cx="306095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AUC 0.820</a:t>
            </a:r>
            <a:endParaRPr lang="en-US" sz="1300" dirty="0"/>
          </a:p>
        </p:txBody>
      </p:sp>
      <p:sp>
        <p:nvSpPr>
          <p:cNvPr id="40" name="Shape 38"/>
          <p:cNvSpPr/>
          <p:nvPr/>
        </p:nvSpPr>
        <p:spPr>
          <a:xfrm>
            <a:off x="8191500" y="3386138"/>
            <a:ext cx="2971800" cy="0"/>
          </a:xfrm>
          <a:prstGeom prst="line">
            <a:avLst/>
          </a:prstGeom>
          <a:noFill/>
          <a:ln w="6350">
            <a:solidFill>
              <a:srgbClr val="DCD6C8"/>
            </a:solidFill>
            <a:prstDash val="solid"/>
          </a:ln>
        </p:spPr>
        <p:txBody>
          <a:bodyPr/>
          <a:lstStyle/>
          <a:p>
            <a:endParaRPr lang="en-IN"/>
          </a:p>
        </p:txBody>
      </p:sp>
      <p:sp>
        <p:nvSpPr>
          <p:cNvPr id="41" name="Text 39"/>
          <p:cNvSpPr/>
          <p:nvPr/>
        </p:nvSpPr>
        <p:spPr>
          <a:xfrm>
            <a:off x="8191500" y="3465513"/>
            <a:ext cx="5357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Quality</a:t>
            </a:r>
            <a:endParaRPr lang="en-US" sz="1200" dirty="0"/>
          </a:p>
        </p:txBody>
      </p:sp>
      <p:sp>
        <p:nvSpPr>
          <p:cNvPr id="42" name="Text 40"/>
          <p:cNvSpPr/>
          <p:nvPr/>
        </p:nvSpPr>
        <p:spPr>
          <a:xfrm>
            <a:off x="10797480" y="346551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43" name="Shape 41"/>
          <p:cNvSpPr/>
          <p:nvPr/>
        </p:nvSpPr>
        <p:spPr>
          <a:xfrm>
            <a:off x="8191500" y="3770908"/>
            <a:ext cx="2971800" cy="0"/>
          </a:xfrm>
          <a:prstGeom prst="line">
            <a:avLst/>
          </a:prstGeom>
          <a:noFill/>
          <a:ln w="6350">
            <a:solidFill>
              <a:srgbClr val="DCD6C8"/>
            </a:solidFill>
            <a:prstDash val="solid"/>
          </a:ln>
        </p:spPr>
        <p:txBody>
          <a:bodyPr/>
          <a:lstStyle/>
          <a:p>
            <a:endParaRPr lang="en-IN"/>
          </a:p>
        </p:txBody>
      </p:sp>
      <p:sp>
        <p:nvSpPr>
          <p:cNvPr id="44" name="Text 42"/>
          <p:cNvSpPr/>
          <p:nvPr/>
        </p:nvSpPr>
        <p:spPr>
          <a:xfrm>
            <a:off x="8191500" y="3850283"/>
            <a:ext cx="9867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Improvement</a:t>
            </a:r>
            <a:endParaRPr lang="en-US" sz="1200" dirty="0"/>
          </a:p>
        </p:txBody>
      </p:sp>
      <p:sp>
        <p:nvSpPr>
          <p:cNvPr id="45" name="Text 43"/>
          <p:cNvSpPr/>
          <p:nvPr/>
        </p:nvSpPr>
        <p:spPr>
          <a:xfrm>
            <a:off x="10797480" y="385028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46" name="Shape 44"/>
          <p:cNvSpPr/>
          <p:nvPr/>
        </p:nvSpPr>
        <p:spPr>
          <a:xfrm>
            <a:off x="8191500" y="4155678"/>
            <a:ext cx="2971800" cy="0"/>
          </a:xfrm>
          <a:prstGeom prst="line">
            <a:avLst/>
          </a:prstGeom>
          <a:noFill/>
          <a:ln w="6350">
            <a:solidFill>
              <a:srgbClr val="DCD6C8"/>
            </a:solidFill>
            <a:prstDash val="solid"/>
          </a:ln>
        </p:spPr>
        <p:txBody>
          <a:bodyPr/>
          <a:lstStyle/>
          <a:p>
            <a:endParaRPr lang="en-IN"/>
          </a:p>
        </p:txBody>
      </p:sp>
      <p:sp>
        <p:nvSpPr>
          <p:cNvPr id="47" name="Text 45"/>
          <p:cNvSpPr/>
          <p:nvPr/>
        </p:nvSpPr>
        <p:spPr>
          <a:xfrm>
            <a:off x="8191500" y="4235053"/>
            <a:ext cx="584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Latency</a:t>
            </a:r>
            <a:endParaRPr lang="en-US" sz="1200" dirty="0"/>
          </a:p>
        </p:txBody>
      </p:sp>
      <p:sp>
        <p:nvSpPr>
          <p:cNvPr id="48" name="Text 46"/>
          <p:cNvSpPr/>
          <p:nvPr/>
        </p:nvSpPr>
        <p:spPr>
          <a:xfrm>
            <a:off x="10797480" y="423505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6232E"/>
                </a:solidFill>
                <a:latin typeface="JetBrains Mono" pitchFamily="34" charset="0"/>
                <a:ea typeface="JetBrains Mono" pitchFamily="34" charset="-122"/>
                <a:cs typeface="JetBrains Mono" pitchFamily="34" charset="-120"/>
              </a:rPr>
              <a:t>PASS</a:t>
            </a:r>
            <a:endParaRPr lang="en-US" sz="1200" dirty="0"/>
          </a:p>
        </p:txBody>
      </p:sp>
      <p:sp>
        <p:nvSpPr>
          <p:cNvPr id="49" name="Shape 47"/>
          <p:cNvSpPr/>
          <p:nvPr/>
        </p:nvSpPr>
        <p:spPr>
          <a:xfrm>
            <a:off x="8191500" y="4540448"/>
            <a:ext cx="2971800" cy="0"/>
          </a:xfrm>
          <a:prstGeom prst="line">
            <a:avLst/>
          </a:prstGeom>
          <a:noFill/>
          <a:ln w="6350">
            <a:solidFill>
              <a:srgbClr val="DCD6C8"/>
            </a:solidFill>
            <a:prstDash val="solid"/>
          </a:ln>
        </p:spPr>
        <p:txBody>
          <a:bodyPr/>
          <a:lstStyle/>
          <a:p>
            <a:endParaRPr lang="en-IN"/>
          </a:p>
        </p:txBody>
      </p:sp>
      <p:sp>
        <p:nvSpPr>
          <p:cNvPr id="50" name="Text 48"/>
          <p:cNvSpPr/>
          <p:nvPr/>
        </p:nvSpPr>
        <p:spPr>
          <a:xfrm>
            <a:off x="8191500" y="4619823"/>
            <a:ext cx="5801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Lineage</a:t>
            </a:r>
            <a:endParaRPr lang="en-US" sz="1200" dirty="0"/>
          </a:p>
        </p:txBody>
      </p:sp>
      <p:sp>
        <p:nvSpPr>
          <p:cNvPr id="51" name="Text 49"/>
          <p:cNvSpPr/>
          <p:nvPr/>
        </p:nvSpPr>
        <p:spPr>
          <a:xfrm>
            <a:off x="10797480" y="4619823"/>
            <a:ext cx="4166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3412"/>
                </a:solidFill>
                <a:latin typeface="JetBrains Mono" pitchFamily="34" charset="0"/>
                <a:ea typeface="JetBrains Mono" pitchFamily="34" charset="-122"/>
                <a:cs typeface="JetBrains Mono" pitchFamily="34" charset="-120"/>
              </a:rPr>
              <a:t>FAIL</a:t>
            </a:r>
            <a:endParaRPr lang="en-US" sz="1200" dirty="0"/>
          </a:p>
        </p:txBody>
      </p:sp>
      <p:sp>
        <p:nvSpPr>
          <p:cNvPr id="52" name="Text 50"/>
          <p:cNvSpPr/>
          <p:nvPr/>
        </p:nvSpPr>
        <p:spPr>
          <a:xfrm>
            <a:off x="8191500" y="4922044"/>
            <a:ext cx="3060954"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9A3412"/>
                </a:solidFill>
                <a:latin typeface="JetBrains Mono" pitchFamily="34" charset="0"/>
                <a:ea typeface="JetBrains Mono" pitchFamily="34" charset="-122"/>
                <a:cs typeface="JetBrains Mono" pitchFamily="34" charset="-120"/>
              </a:rPr>
              <a:t>BLOCKED</a:t>
            </a:r>
            <a:endParaRPr lang="en-US" sz="1600" dirty="0"/>
          </a:p>
        </p:txBody>
      </p:sp>
      <p:sp>
        <p:nvSpPr>
          <p:cNvPr id="53" name="Text 5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54" name="Text 5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7 · TRACK AND REGISTER</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Registered: freshmart_reorder_model v1 @champion</a:t>
            </a:r>
            <a:endParaRPr lang="en-US" sz="3200" dirty="0"/>
          </a:p>
        </p:txBody>
      </p:sp>
      <p:sp>
        <p:nvSpPr>
          <p:cNvPr id="4" name="Shape 2"/>
          <p:cNvSpPr/>
          <p:nvPr/>
        </p:nvSpPr>
        <p:spPr>
          <a:xfrm>
            <a:off x="812800" y="1828701"/>
            <a:ext cx="5207000" cy="2824063"/>
          </a:xfrm>
          <a:prstGeom prst="roundRect">
            <a:avLst>
              <a:gd name="adj" fmla="val 3598"/>
            </a:avLst>
          </a:prstGeom>
          <a:solidFill>
            <a:srgbClr val="16232E"/>
          </a:solidFill>
          <a:ln/>
        </p:spPr>
        <p:txBody>
          <a:bodyPr/>
          <a:lstStyle/>
          <a:p>
            <a:endParaRPr lang="en-IN"/>
          </a:p>
        </p:txBody>
      </p:sp>
      <p:sp>
        <p:nvSpPr>
          <p:cNvPr id="5" name="Text 3"/>
          <p:cNvSpPr/>
          <p:nvPr/>
        </p:nvSpPr>
        <p:spPr>
          <a:xfrm>
            <a:off x="1066800" y="2082701"/>
            <a:ext cx="48399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A63B"/>
                </a:solidFill>
                <a:latin typeface="JetBrains Mono" pitchFamily="34" charset="0"/>
                <a:ea typeface="JetBrains Mono" pitchFamily="34" charset="-122"/>
                <a:cs typeface="JetBrains Mono" pitchFamily="34" charset="-120"/>
              </a:rPr>
              <a:t>VERSION TAGS</a:t>
            </a:r>
            <a:endParaRPr lang="en-US" sz="1200" dirty="0"/>
          </a:p>
        </p:txBody>
      </p:sp>
      <p:sp>
        <p:nvSpPr>
          <p:cNvPr id="6" name="Shape 4"/>
          <p:cNvSpPr/>
          <p:nvPr/>
        </p:nvSpPr>
        <p:spPr>
          <a:xfrm>
            <a:off x="1066800" y="2388096"/>
            <a:ext cx="4699000" cy="0"/>
          </a:xfrm>
          <a:prstGeom prst="line">
            <a:avLst/>
          </a:prstGeom>
          <a:noFill/>
          <a:ln w="6350">
            <a:solidFill>
              <a:srgbClr val="3A4B57"/>
            </a:solidFill>
            <a:prstDash val="solid"/>
          </a:ln>
        </p:spPr>
        <p:txBody>
          <a:bodyPr/>
          <a:lstStyle/>
          <a:p>
            <a:endParaRPr lang="en-IN"/>
          </a:p>
        </p:txBody>
      </p:sp>
      <p:sp>
        <p:nvSpPr>
          <p:cNvPr id="7" name="Text 5"/>
          <p:cNvSpPr/>
          <p:nvPr/>
        </p:nvSpPr>
        <p:spPr>
          <a:xfrm>
            <a:off x="1066800" y="2492871"/>
            <a:ext cx="101094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data_hash</a:t>
            </a:r>
            <a:endParaRPr lang="en-US" sz="1400" dirty="0"/>
          </a:p>
        </p:txBody>
      </p:sp>
      <p:sp>
        <p:nvSpPr>
          <p:cNvPr id="8" name="Text 6"/>
          <p:cNvSpPr/>
          <p:nvPr/>
        </p:nvSpPr>
        <p:spPr>
          <a:xfrm>
            <a:off x="4485580" y="2492871"/>
            <a:ext cx="133102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JetBrains Mono" pitchFamily="34" charset="0"/>
                <a:ea typeface="JetBrains Mono" pitchFamily="34" charset="-122"/>
                <a:cs typeface="JetBrains Mono" pitchFamily="34" charset="-120"/>
              </a:rPr>
              <a:t>e0ce921bf845</a:t>
            </a:r>
            <a:endParaRPr lang="en-US" sz="1400" dirty="0"/>
          </a:p>
        </p:txBody>
      </p:sp>
      <p:sp>
        <p:nvSpPr>
          <p:cNvPr id="9" name="Shape 7"/>
          <p:cNvSpPr/>
          <p:nvPr/>
        </p:nvSpPr>
        <p:spPr>
          <a:xfrm>
            <a:off x="1066800" y="2833787"/>
            <a:ext cx="4699000" cy="0"/>
          </a:xfrm>
          <a:prstGeom prst="line">
            <a:avLst/>
          </a:prstGeom>
          <a:noFill/>
          <a:ln w="6350">
            <a:solidFill>
              <a:srgbClr val="3A4B57"/>
            </a:solidFill>
            <a:prstDash val="solid"/>
          </a:ln>
        </p:spPr>
        <p:txBody>
          <a:bodyPr/>
          <a:lstStyle/>
          <a:p>
            <a:endParaRPr lang="en-IN"/>
          </a:p>
        </p:txBody>
      </p:sp>
      <p:sp>
        <p:nvSpPr>
          <p:cNvPr id="10" name="Text 8"/>
          <p:cNvSpPr/>
          <p:nvPr/>
        </p:nvSpPr>
        <p:spPr>
          <a:xfrm>
            <a:off x="1066800" y="2938562"/>
            <a:ext cx="11176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model_type</a:t>
            </a:r>
            <a:endParaRPr lang="en-US" sz="1400" dirty="0"/>
          </a:p>
        </p:txBody>
      </p:sp>
      <p:sp>
        <p:nvSpPr>
          <p:cNvPr id="11" name="Text 9"/>
          <p:cNvSpPr/>
          <p:nvPr/>
        </p:nvSpPr>
        <p:spPr>
          <a:xfrm>
            <a:off x="5125641" y="2938562"/>
            <a:ext cx="69095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JetBrains Mono" pitchFamily="34" charset="0"/>
                <a:ea typeface="JetBrains Mono" pitchFamily="34" charset="-122"/>
                <a:cs typeface="JetBrains Mono" pitchFamily="34" charset="-120"/>
              </a:rPr>
              <a:t>logreg</a:t>
            </a:r>
            <a:endParaRPr lang="en-US" sz="1400" dirty="0"/>
          </a:p>
        </p:txBody>
      </p:sp>
      <p:sp>
        <p:nvSpPr>
          <p:cNvPr id="12" name="Shape 10"/>
          <p:cNvSpPr/>
          <p:nvPr/>
        </p:nvSpPr>
        <p:spPr>
          <a:xfrm>
            <a:off x="1066800" y="3279477"/>
            <a:ext cx="4699000" cy="0"/>
          </a:xfrm>
          <a:prstGeom prst="line">
            <a:avLst/>
          </a:prstGeom>
          <a:noFill/>
          <a:ln w="6350">
            <a:solidFill>
              <a:srgbClr val="3A4B57"/>
            </a:solidFill>
            <a:prstDash val="solid"/>
          </a:ln>
        </p:spPr>
        <p:txBody>
          <a:bodyPr/>
          <a:lstStyle/>
          <a:p>
            <a:endParaRPr lang="en-IN"/>
          </a:p>
        </p:txBody>
      </p:sp>
      <p:sp>
        <p:nvSpPr>
          <p:cNvPr id="13" name="Text 11"/>
          <p:cNvSpPr/>
          <p:nvPr/>
        </p:nvSpPr>
        <p:spPr>
          <a:xfrm>
            <a:off x="1066800" y="3384252"/>
            <a:ext cx="37088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auc</a:t>
            </a:r>
            <a:endParaRPr lang="en-US" sz="1400" dirty="0"/>
          </a:p>
        </p:txBody>
      </p:sp>
      <p:sp>
        <p:nvSpPr>
          <p:cNvPr id="14" name="Text 12"/>
          <p:cNvSpPr/>
          <p:nvPr/>
        </p:nvSpPr>
        <p:spPr>
          <a:xfrm>
            <a:off x="5125641" y="3384252"/>
            <a:ext cx="69095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JetBrains Mono" pitchFamily="34" charset="0"/>
                <a:ea typeface="JetBrains Mono" pitchFamily="34" charset="-122"/>
                <a:cs typeface="JetBrains Mono" pitchFamily="34" charset="-120"/>
              </a:rPr>
              <a:t>0.6972</a:t>
            </a:r>
            <a:endParaRPr lang="en-US" sz="1400" dirty="0"/>
          </a:p>
        </p:txBody>
      </p:sp>
      <p:sp>
        <p:nvSpPr>
          <p:cNvPr id="15" name="Shape 13"/>
          <p:cNvSpPr/>
          <p:nvPr/>
        </p:nvSpPr>
        <p:spPr>
          <a:xfrm>
            <a:off x="1066800" y="3725168"/>
            <a:ext cx="4699000" cy="0"/>
          </a:xfrm>
          <a:prstGeom prst="line">
            <a:avLst/>
          </a:prstGeom>
          <a:noFill/>
          <a:ln w="6350">
            <a:solidFill>
              <a:srgbClr val="3A4B57"/>
            </a:solidFill>
            <a:prstDash val="solid"/>
          </a:ln>
        </p:spPr>
        <p:txBody>
          <a:bodyPr/>
          <a:lstStyle/>
          <a:p>
            <a:endParaRPr lang="en-IN"/>
          </a:p>
        </p:txBody>
      </p:sp>
      <p:sp>
        <p:nvSpPr>
          <p:cNvPr id="16" name="Text 14"/>
          <p:cNvSpPr/>
          <p:nvPr/>
        </p:nvSpPr>
        <p:spPr>
          <a:xfrm>
            <a:off x="1066800" y="3829943"/>
            <a:ext cx="101094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split_day</a:t>
            </a:r>
            <a:endParaRPr lang="en-US" sz="1400" dirty="0"/>
          </a:p>
        </p:txBody>
      </p:sp>
      <p:sp>
        <p:nvSpPr>
          <p:cNvPr id="17" name="Text 15"/>
          <p:cNvSpPr/>
          <p:nvPr/>
        </p:nvSpPr>
        <p:spPr>
          <a:xfrm>
            <a:off x="4699000" y="3829943"/>
            <a:ext cx="11176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4EE"/>
                </a:solidFill>
                <a:latin typeface="JetBrains Mono" pitchFamily="34" charset="0"/>
                <a:ea typeface="JetBrains Mono" pitchFamily="34" charset="-122"/>
                <a:cs typeface="JetBrains Mono" pitchFamily="34" charset="-120"/>
              </a:rPr>
              <a:t>2026-08-01</a:t>
            </a:r>
            <a:endParaRPr lang="en-US" sz="1400" dirty="0"/>
          </a:p>
        </p:txBody>
      </p:sp>
      <p:sp>
        <p:nvSpPr>
          <p:cNvPr id="18" name="Text 16"/>
          <p:cNvSpPr/>
          <p:nvPr/>
        </p:nvSpPr>
        <p:spPr>
          <a:xfrm>
            <a:off x="1066800" y="4167684"/>
            <a:ext cx="483997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8C5CB"/>
                </a:solidFill>
                <a:latin typeface="JetBrains Mono" pitchFamily="34" charset="0"/>
                <a:ea typeface="JetBrains Mono" pitchFamily="34" charset="-122"/>
                <a:cs typeface="JetBrains Mono" pitchFamily="34" charset="-120"/>
              </a:rPr>
              <a:t>latency 0.61 ms per request</a:t>
            </a:r>
            <a:endParaRPr lang="en-US" sz="1300" dirty="0"/>
          </a:p>
        </p:txBody>
      </p:sp>
      <p:sp>
        <p:nvSpPr>
          <p:cNvPr id="19" name="Text 17"/>
          <p:cNvSpPr/>
          <p:nvPr/>
        </p:nvSpPr>
        <p:spPr>
          <a:xfrm>
            <a:off x="6375400" y="1828701"/>
            <a:ext cx="515391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Not model_final_v3_REALLY.pkl — a version, its lineage, and a stable name Lab 3 can load.</a:t>
            </a:r>
            <a:endParaRPr lang="en-US" sz="1500" dirty="0"/>
          </a:p>
        </p:txBody>
      </p:sp>
      <p:sp>
        <p:nvSpPr>
          <p:cNvPr id="20" name="Text 18"/>
          <p:cNvSpPr/>
          <p:nvPr/>
        </p:nvSpPr>
        <p:spPr>
          <a:xfrm>
            <a:off x="6375400" y="2558951"/>
            <a:ext cx="5153914"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E5B63"/>
                </a:solidFill>
                <a:latin typeface="IBM Plex Sans" pitchFamily="34" charset="0"/>
                <a:ea typeface="IBM Plex Sans" pitchFamily="34" charset="-122"/>
                <a:cs typeface="IBM Plex Sans" pitchFamily="34" charset="-120"/>
              </a:rPr>
              <a:t>Inspect it:</a:t>
            </a:r>
            <a:endParaRPr lang="en-US" sz="1300" dirty="0"/>
          </a:p>
        </p:txBody>
      </p:sp>
      <p:sp>
        <p:nvSpPr>
          <p:cNvPr id="21" name="Text 19"/>
          <p:cNvSpPr/>
          <p:nvPr/>
        </p:nvSpPr>
        <p:spPr>
          <a:xfrm>
            <a:off x="6375400" y="2976066"/>
            <a:ext cx="5153914"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0E6F6D"/>
                </a:solidFill>
                <a:latin typeface="JetBrains Mono" pitchFamily="34" charset="0"/>
                <a:ea typeface="JetBrains Mono" pitchFamily="34" charset="-122"/>
                <a:cs typeface="JetBrains Mono" pitchFamily="34" charset="-120"/>
              </a:rPr>
              <a:t>mlflow ui --backend-store-uri sqlite:///artifacts/mlflow.db</a:t>
            </a:r>
            <a:endParaRPr lang="en-US" sz="1200" dirty="0"/>
          </a:p>
        </p:txBody>
      </p:sp>
      <p:sp>
        <p:nvSpPr>
          <p:cNvPr id="22" name="Text 2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DEBRIEF · QUESTIONS STUDENTS WILL ASK</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questions to close the session</a:t>
            </a:r>
            <a:endParaRPr lang="en-US" sz="3200" dirty="0"/>
          </a:p>
        </p:txBody>
      </p:sp>
      <p:sp>
        <p:nvSpPr>
          <p:cNvPr id="4" name="Shape 2"/>
          <p:cNvSpPr/>
          <p:nvPr/>
        </p:nvSpPr>
        <p:spPr>
          <a:xfrm>
            <a:off x="819150" y="1835051"/>
            <a:ext cx="5181600" cy="1236762"/>
          </a:xfrm>
          <a:prstGeom prst="roundRect">
            <a:avLst>
              <a:gd name="adj" fmla="val 7702"/>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28700" y="2044601"/>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is F1 near zero if AUC is fine?</a:t>
            </a:r>
            <a:endParaRPr lang="en-US" sz="1600" dirty="0"/>
          </a:p>
        </p:txBody>
      </p:sp>
      <p:sp>
        <p:nvSpPr>
          <p:cNvPr id="6" name="Text 4"/>
          <p:cNvSpPr/>
          <p:nvPr/>
        </p:nvSpPr>
        <p:spPr>
          <a:xfrm>
            <a:off x="1028700" y="2364581"/>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AUC scores ranking; F1 scores one threshold. At a 24% base rate little clears 0.5.</a:t>
            </a:r>
            <a:endParaRPr lang="en-US" sz="1400" dirty="0"/>
          </a:p>
        </p:txBody>
      </p:sp>
      <p:sp>
        <p:nvSpPr>
          <p:cNvPr id="7" name="Shape 5"/>
          <p:cNvSpPr/>
          <p:nvPr/>
        </p:nvSpPr>
        <p:spPr>
          <a:xfrm>
            <a:off x="6191250" y="1835051"/>
            <a:ext cx="5181600" cy="1236762"/>
          </a:xfrm>
          <a:prstGeom prst="roundRect">
            <a:avLst>
              <a:gd name="adj" fmla="val 7702"/>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6400800" y="2044601"/>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does the logistic regression win?</a:t>
            </a:r>
            <a:endParaRPr lang="en-US" sz="1600" dirty="0"/>
          </a:p>
        </p:txBody>
      </p:sp>
      <p:sp>
        <p:nvSpPr>
          <p:cNvPr id="9" name="Text 7"/>
          <p:cNvSpPr/>
          <p:nvPr/>
        </p:nvSpPr>
        <p:spPr>
          <a:xfrm>
            <a:off x="6400800" y="2364581"/>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Small data, eight features: extra capacity memorises July instead of generalising.</a:t>
            </a:r>
            <a:endParaRPr lang="en-US" sz="1400" dirty="0"/>
          </a:p>
        </p:txBody>
      </p:sp>
      <p:sp>
        <p:nvSpPr>
          <p:cNvPr id="10" name="Shape 8"/>
          <p:cNvSpPr/>
          <p:nvPr/>
        </p:nvSpPr>
        <p:spPr>
          <a:xfrm>
            <a:off x="819150" y="3262313"/>
            <a:ext cx="5181600" cy="1236762"/>
          </a:xfrm>
          <a:prstGeom prst="roundRect">
            <a:avLst>
              <a:gd name="adj" fmla="val 7702"/>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1028700" y="3471863"/>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block an AUC 0.82 model?</a:t>
            </a:r>
            <a:endParaRPr lang="en-US" sz="1600" dirty="0"/>
          </a:p>
        </p:txBody>
      </p:sp>
      <p:sp>
        <p:nvSpPr>
          <p:cNvPr id="12" name="Text 10"/>
          <p:cNvSpPr/>
          <p:nvPr/>
        </p:nvSpPr>
        <p:spPr>
          <a:xfrm>
            <a:off x="1028700" y="3791843"/>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No data_hash: nobody can say what data produced it, so nobody can reproduce or audit it.</a:t>
            </a:r>
            <a:endParaRPr lang="en-US" sz="1400" dirty="0"/>
          </a:p>
        </p:txBody>
      </p:sp>
      <p:sp>
        <p:nvSpPr>
          <p:cNvPr id="13" name="Shape 11"/>
          <p:cNvSpPr/>
          <p:nvPr/>
        </p:nvSpPr>
        <p:spPr>
          <a:xfrm>
            <a:off x="6191250" y="3262313"/>
            <a:ext cx="5181600" cy="1236762"/>
          </a:xfrm>
          <a:prstGeom prst="roundRect">
            <a:avLst>
              <a:gd name="adj" fmla="val 7702"/>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6400800" y="3471863"/>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pull training data through Feast?</a:t>
            </a:r>
            <a:endParaRPr lang="en-US" sz="1600" dirty="0"/>
          </a:p>
        </p:txBody>
      </p:sp>
      <p:sp>
        <p:nvSpPr>
          <p:cNvPr id="15" name="Text 13"/>
          <p:cNvSpPr/>
          <p:nvPr/>
        </p:nvSpPr>
        <p:spPr>
          <a:xfrm>
            <a:off x="6400800" y="3791843"/>
            <a:ext cx="4905375"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One feature definition for training and serving — skew has nowhere to enter.</a:t>
            </a:r>
            <a:endParaRPr lang="en-US" sz="14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201870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BUILD → SERVE</a:t>
            </a:r>
            <a:endParaRPr lang="en-US" sz="1200" dirty="0"/>
          </a:p>
        </p:txBody>
      </p:sp>
      <p:sp>
        <p:nvSpPr>
          <p:cNvPr id="3" name="Text 1"/>
          <p:cNvSpPr/>
          <p:nvPr/>
        </p:nvSpPr>
        <p:spPr>
          <a:xfrm>
            <a:off x="812800" y="2536825"/>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6F4EE"/>
                </a:solidFill>
                <a:latin typeface="IBM Plex Sans" pitchFamily="34" charset="0"/>
                <a:ea typeface="IBM Plex Sans" pitchFamily="34" charset="-122"/>
                <a:cs typeface="IBM Plex Sans" pitchFamily="34" charset="-120"/>
              </a:rPr>
              <a:t>A registered model helps nobody until people and applications can reach it.</a:t>
            </a:r>
            <a:endParaRPr lang="en-US" sz="4000" dirty="0"/>
          </a:p>
        </p:txBody>
      </p:sp>
      <p:sp>
        <p:nvSpPr>
          <p:cNvPr id="4" name="Text 2"/>
          <p:cNvSpPr/>
          <p:nvPr/>
        </p:nvSpPr>
        <p:spPr>
          <a:xfrm>
            <a:off x="812800" y="4010025"/>
            <a:ext cx="915670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Tomorrow, Lab 3: can a planner get a score for one store–product line in milliseconds — and what happens when they ask about a line the online store has never seen?</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1 · M3 + Lab 2</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3257</Words>
  <Application>Microsoft Office PowerPoint</Application>
  <PresentationFormat>Widescreen</PresentationFormat>
  <Paragraphs>441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FDP Day 1 · 15:00 — M3 + Lab 2: Feature Stores, Reproducibility &amp; the Orchestrated ML Pipeline</dc:title>
  <dc:subject>PptxGenJS Presentation</dc:subject>
  <dc:creator>PptxGenJS</dc:creator>
  <cp:lastModifiedBy>Pravin Yashwant Pawar .</cp:lastModifiedBy>
  <cp:revision>3</cp:revision>
  <dcterms:created xsi:type="dcterms:W3CDTF">2026-09-23T06:37:42Z</dcterms:created>
  <dcterms:modified xsi:type="dcterms:W3CDTF">2026-09-28T13:00:43Z</dcterms:modified>
</cp:coreProperties>
</file>
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66" r:id="rId2"/>
    <p:sldId id="285" r:id="rId3"/>
    <p:sldId id="286" r:id="rId4"/>
    <p:sldId id="287" r:id="rId5"/>
    <p:sldId id="288" r:id="rId6"/>
    <p:sldId id="289" r:id="rId7"/>
    <p:sldId id="29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l-ops.org/content/end-to-end-ml-workflo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Three Levels of ML Software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05600" y="5029200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Extracted from </a:t>
            </a:r>
          </a:p>
          <a:p>
            <a:r>
              <a:rPr lang="en-US" sz="1600" dirty="0">
                <a:hlinkClick r:id="rId2"/>
              </a:rPr>
              <a:t>An Overview of the End-to-End Machine Learning Workflow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levels of ML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ML/AI is rapidly adopted by new applications and industries!</a:t>
            </a:r>
          </a:p>
          <a:p>
            <a:endParaRPr lang="en-US" dirty="0"/>
          </a:p>
          <a:p>
            <a:r>
              <a:rPr lang="en-US" dirty="0"/>
              <a:t>Goal of a machine learning project is to build a statistical model by using collected data and applying machine learning algorithms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Yet building successful ML-based software projects is still difficult</a:t>
            </a:r>
          </a:p>
          <a:p>
            <a:endParaRPr lang="en-US" dirty="0"/>
          </a:p>
          <a:p>
            <a:r>
              <a:rPr lang="en-US" dirty="0"/>
              <a:t>Every ML-based software needs to manage three main assets: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and Code</a:t>
            </a:r>
          </a:p>
          <a:p>
            <a:endParaRPr lang="en-US" dirty="0"/>
          </a:p>
          <a:p>
            <a:r>
              <a:rPr lang="en-US" dirty="0"/>
              <a:t>Essential technical methodologies - involved in the development of the Machine Learning-based software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Data Engineering: </a:t>
            </a:r>
            <a:r>
              <a:rPr lang="en-US" dirty="0"/>
              <a:t>data acquisition &amp; data preparation,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ML Model Engineering: </a:t>
            </a:r>
            <a:r>
              <a:rPr lang="en-US" dirty="0"/>
              <a:t>ML model training &amp; serving, and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Code Engineering : </a:t>
            </a:r>
            <a:r>
              <a:rPr lang="en-US" dirty="0"/>
              <a:t>integrating ML model into the final product.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3" y="887458"/>
            <a:ext cx="7774633" cy="582812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047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initial step in any data science workflow is to </a:t>
            </a:r>
            <a:r>
              <a:rPr lang="en-US" dirty="0">
                <a:solidFill>
                  <a:srgbClr val="FF0000"/>
                </a:solidFill>
              </a:rPr>
              <a:t>acquire and prepare the data to be analy</a:t>
            </a:r>
            <a:r>
              <a:rPr lang="en-US" dirty="0"/>
              <a:t>zed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Typically, data is being integrated from </a:t>
            </a:r>
            <a:r>
              <a:rPr lang="en-US" dirty="0">
                <a:solidFill>
                  <a:srgbClr val="FF0000"/>
                </a:solidFill>
              </a:rPr>
              <a:t>various resources </a:t>
            </a:r>
            <a:r>
              <a:rPr lang="en-US" dirty="0"/>
              <a:t>and has </a:t>
            </a:r>
            <a:r>
              <a:rPr lang="en-US" dirty="0">
                <a:solidFill>
                  <a:srgbClr val="FF0000"/>
                </a:solidFill>
              </a:rPr>
              <a:t>different formats</a:t>
            </a:r>
          </a:p>
          <a:p>
            <a:endParaRPr lang="en-US" dirty="0"/>
          </a:p>
          <a:p>
            <a:r>
              <a:rPr lang="en-US" dirty="0"/>
              <a:t>Data Preparation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according to Gartner </a:t>
            </a:r>
            <a:r>
              <a:rPr lang="en-US" dirty="0">
                <a:solidFill>
                  <a:srgbClr val="FF0000"/>
                </a:solidFill>
              </a:rPr>
              <a:t>“an iterative and agile process for exploring, combining, cleaning and transforming raw data into curated datasets for data integration, data science, data discovery and analytics/business intelligence (BI) use cases”.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reported to be the most expensive with respect to resources and time</a:t>
            </a:r>
          </a:p>
          <a:p>
            <a:endParaRPr lang="en-US" dirty="0"/>
          </a:p>
          <a:p>
            <a:r>
              <a:rPr lang="en-US" dirty="0"/>
              <a:t>Data preparation is a critical activity in the data science workflow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important to avoid the propagation of data errors to the next phase, data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would result in the derivation of wrong insights from the data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Engineering(2)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Ingestion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Collecting data by using various frameworks and formats, such as Spark, HDFS, CSV, </a:t>
            </a:r>
            <a:r>
              <a:rPr lang="en-US" dirty="0" err="1"/>
              <a:t>etc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also include synthetic data generation or data enrichment.</a:t>
            </a:r>
          </a:p>
          <a:p>
            <a:endParaRPr lang="en-US" dirty="0"/>
          </a:p>
          <a:p>
            <a:r>
              <a:rPr lang="en-US" dirty="0"/>
              <a:t>Data Exploration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data profiling to obtain information about the content and structure of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output of this step is a set of metadata, such as max, min, </a:t>
            </a:r>
            <a:r>
              <a:rPr lang="en-US" dirty="0" err="1"/>
              <a:t>avg</a:t>
            </a:r>
            <a:r>
              <a:rPr lang="en-US" dirty="0"/>
              <a:t> of values</a:t>
            </a:r>
          </a:p>
          <a:p>
            <a:endParaRPr lang="en-US" dirty="0"/>
          </a:p>
          <a:p>
            <a:r>
              <a:rPr lang="en-US" dirty="0"/>
              <a:t>Data Validation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Operations are user-defined error detection functions, which scan the dataset in order to spot some errors</a:t>
            </a:r>
          </a:p>
          <a:p>
            <a:endParaRPr lang="en-US" dirty="0"/>
          </a:p>
          <a:p>
            <a:r>
              <a:rPr lang="en-US" dirty="0"/>
              <a:t>Data Wrangling (Cleaning)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re-formatting particular attributes and correcting errors in data, such as missing values imputation</a:t>
            </a:r>
          </a:p>
          <a:p>
            <a:endParaRPr lang="en-US" dirty="0"/>
          </a:p>
          <a:p>
            <a:r>
              <a:rPr lang="en-US" dirty="0"/>
              <a:t>Data Labeling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operation of the Data Engineering pipeline, where each data point is assigned to a specific category</a:t>
            </a:r>
          </a:p>
          <a:p>
            <a:endParaRPr lang="en-US" dirty="0"/>
          </a:p>
          <a:p>
            <a:r>
              <a:rPr lang="en-US" dirty="0"/>
              <a:t>Data Splitting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Splitting the data into training, validation, and test datasets to be used during the core machine learning stages to produce the ML model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Sequence of operations on the data leading to training and testing datasets for ML algorithms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Phase of writing and executing machine learning algorithms to obtain an ML model</a:t>
            </a:r>
          </a:p>
          <a:p>
            <a:endParaRPr lang="en-US" dirty="0"/>
          </a:p>
          <a:p>
            <a:r>
              <a:rPr lang="en-US" dirty="0"/>
              <a:t>The Model Engineering pipeline includes a number of operations that lead to a final model:</a:t>
            </a:r>
          </a:p>
          <a:p>
            <a:r>
              <a:rPr lang="en-US" dirty="0"/>
              <a:t>Model 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applying the machine learning algorithm on training data to train an ML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feature engineering and the </a:t>
            </a:r>
            <a:r>
              <a:rPr lang="en-US" dirty="0" err="1"/>
              <a:t>hyperparameter</a:t>
            </a:r>
            <a:r>
              <a:rPr lang="en-US" dirty="0"/>
              <a:t> tuning for the model training activity</a:t>
            </a:r>
          </a:p>
          <a:p>
            <a:endParaRPr lang="en-US" dirty="0"/>
          </a:p>
          <a:p>
            <a:r>
              <a:rPr lang="en-US" dirty="0"/>
              <a:t>Model Evaluation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Validating the trained model to ensure it meets original codified objectives before serving the ML model in production to the end-user</a:t>
            </a:r>
          </a:p>
          <a:p>
            <a:endParaRPr lang="en-US" dirty="0"/>
          </a:p>
          <a:p>
            <a:r>
              <a:rPr lang="en-US" dirty="0"/>
              <a:t>Model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Performing the final “Model Acceptance Test” by using the hold </a:t>
            </a:r>
            <a:r>
              <a:rPr lang="en-US" dirty="0" err="1"/>
              <a:t>backtest</a:t>
            </a:r>
            <a:r>
              <a:rPr lang="en-US" dirty="0"/>
              <a:t> dataset</a:t>
            </a:r>
          </a:p>
          <a:p>
            <a:endParaRPr lang="en-US" dirty="0"/>
          </a:p>
          <a:p>
            <a:r>
              <a:rPr lang="en-US" dirty="0"/>
              <a:t>Model Packaging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exporting the final ML model into a specific format (e.g. PMML, PFA, or ONNX)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which describes the model, in order to be consumed by the business application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core of the ML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Need to deploy model as part of a business application such as a mobile or desktop application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ML models require various data points (feature vector) to produce predictions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final stage of the ML workflow is the integration of the previously engineered ML model into existing software</a:t>
            </a:r>
          </a:p>
          <a:p>
            <a:endParaRPr lang="en-US" dirty="0"/>
          </a:p>
          <a:p>
            <a:r>
              <a:rPr lang="en-US" dirty="0"/>
              <a:t>Includes the following operations:</a:t>
            </a:r>
          </a:p>
          <a:p>
            <a:r>
              <a:rPr lang="en-US" dirty="0"/>
              <a:t>Model Serving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addressing the ML model artifact in a production environment</a:t>
            </a:r>
          </a:p>
          <a:p>
            <a:endParaRPr lang="en-US" dirty="0"/>
          </a:p>
          <a:p>
            <a:r>
              <a:rPr lang="en-US" dirty="0"/>
              <a:t>Model Performance Monitoring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observing the ML model performance based on live and previously unseen data, such as prediction or recommendation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interested in ML-specific signals, such as prediction deviation from previous model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signals might be used as triggers for model re-training</a:t>
            </a:r>
          </a:p>
          <a:p>
            <a:endParaRPr lang="en-US" dirty="0"/>
          </a:p>
          <a:p>
            <a:r>
              <a:rPr lang="en-US" dirty="0"/>
              <a:t>Model Performance Logging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inference request results in the log-record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9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3281</TotalTime>
  <Words>708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Three Levels of ML Software</vt:lpstr>
      <vt:lpstr>Three levels of ML Software</vt:lpstr>
      <vt:lpstr>Machine Learning Engineering</vt:lpstr>
      <vt:lpstr>Data Engineering</vt:lpstr>
      <vt:lpstr>Data Engineering(2)</vt:lpstr>
      <vt:lpstr>Model Engineering</vt:lpstr>
      <vt:lpstr>Model Deployment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Yashwant Pawar .</cp:lastModifiedBy>
  <cp:revision>241</cp:revision>
  <dcterms:created xsi:type="dcterms:W3CDTF">2018-10-16T06:13:57Z</dcterms:created>
  <dcterms:modified xsi:type="dcterms:W3CDTF">2026-09-27T03:49:46Z</dcterms:modified>
</cp:coreProperties>
</file>
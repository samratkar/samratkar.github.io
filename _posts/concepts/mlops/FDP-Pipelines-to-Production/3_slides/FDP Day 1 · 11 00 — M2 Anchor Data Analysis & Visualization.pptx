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hands-on anchor, 75 minutes. Participants work in a freshmart_m2 folder inside ~/freshmart, same environment. Suggested pace: 5 minutes framing (slides 2–5), then five missions of about 12 minutes each, each briefed with its slide and closed with its coded challenge, and 5 minutes on the hand-off to Lab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M2 is the Discover beat. Its output is not a chart but a data requirement: the grain and quality rules Lab 1 turns into a contract at 13:15. Data analysis and visualization are also taught as a craft in their own right, for the analytics courses in the portfolio.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FreshMart situation from the M2 handout. Your role is Data Analyst or Analytics Engineer. Note the explicit refusal of 'another dashboard': the deliverable is evidence and a recommendation, and every chart today must answer a stated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primer from the M2 handout. Each mission below is one or two of these steps, motivated by a FreshMart decision. The order matters: an analyst who starts with a chart may miss a data problem that invalidates it. Mission labels show where each step is practised.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locally by gen.py from seed 42, so every participant gets identical numbers — useful for debugging live. Stores open on different dates with different traffic, so store maturity and ranking are real phenomena in this data. Lab 1's generate_data.py uses the same draw order and reproduces this extract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1, the first 15 minutes. Have participants write their five facts before running the script. The unglamorous half of analysis is what separates an analyst from a chart-maker.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Generic pandas, not a verbatim excerpt from analyze_data.py. The point for teaching: make the opening routine a habit so it runs before curiosity pulls students toward a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capture from sol1_triage.py. Production reality: profiling is not declaring data invalid. The 150 duplicates might be a double scan at the till or an ETL replay — distinguishing pattern from artefact is the skill, not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and decide before opening the report: which findings deserve investigation and which are safe to act on? Decide the triage rule first, then read the profile. The tool cannot know that a 7-day lead time is normal for staples and alarming for dairy — that needs domain context. On a laptop, a large dataset may need minimal=True to keep the report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capture from sol2_triage.py. Viva question from the kit: the profile flagged 0.8% missing quantity — impute the median and move on? No: mark it suspicious and investigate the feed. Silent imputation hides a pipeline problem; completeness is a contract obligation for Engineering, not a notebook patch.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and decide: rank by revenue, units, transactions or growth? Each can name a different top store. Total revenue conflates traffic, basket size, assortment and how long a store has been open; revenue per active day normalises for maturity. The top store is stable here, but the mid-table reshuffles — metric choice matters for the close calls. Amounts shown in Indian digit grouping; the handout prints them unformatted.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finding carries straight into Lab 1: the Store × Product × Day grain exists because a single aggregate hides exactly the differences a replenishment model must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4 poses three questions — a trend, a ranking, a relationship — and charts.py answers them with a line (trend.png), a bar (top_stores.png) and an interactive scatter (price_qty.html). The last two rows extend the rule for teaching. Chart choice is analytical reasoning, not a cosmetic last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handout's rule: matplotlib and seaborn for controlled static analysis, Plotly when the consumer needs to explore. Altair is the grammar-of-graphics option. Plotly returns in Lab 3b's Streamlit dashboard, so fluency here pays off on Day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challenge recreates the seaborn ranking in Altair (sol4_altair.py writes top_stores_altair.html). Code here is condensed to show the contrast; see the handout for the full solutions. For teaching, Altair makes the encoding explicit, which is exactly the skill of matching encoding to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Cohort analysis anchors each entity to its starting point, so 'months since opening' is comparable across stores that opened on different dates — more than a calendar pivot. The coded challenge adds store_type as a second cohort dimension. Stop and decide: which cohort metric? For replenishment, volume or stockout rate is closer to operational truth than revenue. Caution: the table describes, it does not explain — no causal claims. Figures are the handout's, shown in lakh (L).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finding for the VP: what is happening, where, and what must exist reliably to predict reorder propensity. A strong answer names specific stores (S015 and S012 hidden by raw revenue; the Neighbourhood decline), separates pattern from data-quality noise, and states the grain the prediction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three are the M2 assessment-kit viva questions; the fourth checks Mission 4. Ask, take one answer,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Answered: what is in FreshMart's data, which stores really drive it, and which signals a reorder model needs, each proven in code. Lunch, then Lab 1 at 13:15. Keep the freshmart_m2 folder; Lab 1 can point its clean stage at the same extract.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11:00–12:15 · HANDS-ON ANCHOR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20"/>
            <a:ext cx="10883392" cy="151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M2 · Data Analysis</a:t>
            </a:r>
            <a:endParaRPr lang="en-US" sz="5600" dirty="0"/>
          </a:p>
          <a:p>
            <a:pPr algn="l" indent="0" marL="0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&amp; Visualization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2773561"/>
            <a:ext cx="9810750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FreshMart: what is really happening in our stores?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2800" y="5200749"/>
            <a:ext cx="10566400" cy="0"/>
          </a:xfrm>
          <a:prstGeom prst="line">
            <a:avLst/>
          </a:prstGeom>
          <a:noFill/>
          <a:ln w="12700">
            <a:solidFill>
              <a:srgbClr val="3A4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5410299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Pandas EDA · automated profiling · distribution, correlation and cohort analysis · choosing the right chart and library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57963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BITS Pilani WILP · CSIS · [Presenter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Discover: look before anyone builds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87451"/>
            <a:ext cx="1420515" cy="843161"/>
          </a:xfrm>
          <a:prstGeom prst="roundRect">
            <a:avLst>
              <a:gd name="adj" fmla="val 9791"/>
            </a:avLst>
          </a:prstGeom>
          <a:solidFill>
            <a:srgbClr val="0E6F6D"/>
          </a:solidFill>
          <a:ln w="12700">
            <a:solidFill>
              <a:srgbClr val="0E6F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9000" y="2146201"/>
            <a:ext cx="128081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89000" y="2458541"/>
            <a:ext cx="1280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E6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41265" y="1987451"/>
            <a:ext cx="1420614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11115" y="2146201"/>
            <a:ext cx="12809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Prepare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11115" y="2458541"/>
            <a:ext cx="1280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63479" y="1987451"/>
            <a:ext cx="1420515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3329" y="2146201"/>
            <a:ext cx="128081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3329" y="2458541"/>
            <a:ext cx="1280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85594" y="1987451"/>
            <a:ext cx="1420614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55444" y="2146201"/>
            <a:ext cx="12809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55444" y="2458541"/>
            <a:ext cx="1280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7808" y="1987451"/>
            <a:ext cx="1420614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77658" y="2146201"/>
            <a:ext cx="12809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77658" y="2458541"/>
            <a:ext cx="1280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30022" y="1987451"/>
            <a:ext cx="1420614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99872" y="2146201"/>
            <a:ext cx="12809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Re-execute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99872" y="2458541"/>
            <a:ext cx="1280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952236" y="1987451"/>
            <a:ext cx="1420614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22086" y="2146201"/>
            <a:ext cx="12809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22086" y="2458541"/>
            <a:ext cx="1280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3243362"/>
            <a:ext cx="5284724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 1 of 6. Everything built for the next two days rests on what this session finds in FreshMart's raw data.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48400" y="3243362"/>
            <a:ext cx="5284724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data has not been cleaned — that is the point. Finding the problems is the first half of analysis.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2660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MONDAY MORNING · THE HEAD OF SUPPLY 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244725"/>
            <a:ext cx="10883392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“Sales are up, but some stores report more stockouts. I do not want another dashboard.”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4302125"/>
            <a:ext cx="9156700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“I want to know what is actually happening, which stores and products drive it, and what evidence supports the conclusion.”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STRUCTURED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steps before the first chart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87451"/>
            <a:ext cx="1494334" cy="1297781"/>
          </a:xfrm>
          <a:prstGeom prst="roundRect">
            <a:avLst>
              <a:gd name="adj" fmla="val 636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7100" y="2146201"/>
            <a:ext cx="13292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27100" y="2423021"/>
            <a:ext cx="13292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Shape &amp; grain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27100" y="2715121"/>
            <a:ext cx="1329234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does one row mean?</a:t>
            </a:r>
            <a:endParaRPr lang="en-US" sz="12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83334" y="2572841"/>
            <a:ext cx="177800" cy="127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30984" y="1987451"/>
            <a:ext cx="1494433" cy="1297781"/>
          </a:xfrm>
          <a:prstGeom prst="roundRect">
            <a:avLst>
              <a:gd name="adj" fmla="val 636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38934" y="2146201"/>
            <a:ext cx="13293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M1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738934" y="2423021"/>
            <a:ext cx="1329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Coverage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738934" y="2715121"/>
            <a:ext cx="1329333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span, which entities?</a:t>
            </a:r>
            <a:endParaRPr lang="en-US" sz="12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95266" y="2572841"/>
            <a:ext cx="177800" cy="127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442916" y="1987451"/>
            <a:ext cx="1494334" cy="1297781"/>
          </a:xfrm>
          <a:prstGeom prst="roundRect">
            <a:avLst>
              <a:gd name="adj" fmla="val 636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50866" y="2146201"/>
            <a:ext cx="13292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M1–2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50866" y="2423021"/>
            <a:ext cx="13292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50866" y="2715121"/>
            <a:ext cx="1329234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Missing, duplicate, impossible?</a:t>
            </a:r>
            <a:endParaRPr lang="en-US" sz="12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07100" y="2572841"/>
            <a:ext cx="177800" cy="1270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54750" y="1987451"/>
            <a:ext cx="1494433" cy="1297781"/>
          </a:xfrm>
          <a:prstGeom prst="roundRect">
            <a:avLst>
              <a:gd name="adj" fmla="val 636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362700" y="2146201"/>
            <a:ext cx="13293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M2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362700" y="2423021"/>
            <a:ext cx="1329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Distribution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362700" y="2715121"/>
            <a:ext cx="1329333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Centre, spread, skew, outliers</a:t>
            </a:r>
            <a:endParaRPr lang="en-US" sz="1200" dirty="0"/>
          </a:p>
        </p:txBody>
      </p:sp>
      <p:pic>
        <p:nvPicPr>
          <p:cNvPr id="23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819033" y="2572841"/>
            <a:ext cx="177800" cy="1270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066683" y="1987451"/>
            <a:ext cx="1494334" cy="1297781"/>
          </a:xfrm>
          <a:prstGeom prst="roundRect">
            <a:avLst>
              <a:gd name="adj" fmla="val 636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174633" y="2146201"/>
            <a:ext cx="13292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M3–4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174633" y="2423021"/>
            <a:ext cx="13292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Relationship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174633" y="2715121"/>
            <a:ext cx="1329234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 variables move together?</a:t>
            </a:r>
            <a:endParaRPr lang="en-US" sz="1200" dirty="0"/>
          </a:p>
        </p:txBody>
      </p:sp>
      <p:pic>
        <p:nvPicPr>
          <p:cNvPr id="28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30866" y="2572841"/>
            <a:ext cx="177800" cy="12700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9878516" y="1987451"/>
            <a:ext cx="1494334" cy="1297781"/>
          </a:xfrm>
          <a:prstGeom prst="roundRect">
            <a:avLst>
              <a:gd name="adj" fmla="val 636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9986466" y="2146201"/>
            <a:ext cx="13292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M5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9986466" y="2423021"/>
            <a:ext cx="13292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Segmentation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9986466" y="2715121"/>
            <a:ext cx="1329234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 sub-groups differ?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812800" y="3697982"/>
            <a:ext cx="108833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then visualize — and only to answer a stated question.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POS extract, deliberately dirty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28701"/>
          <a:ext cx="6604000" cy="2660650"/>
        </p:xfrm>
        <a:graphic>
          <a:graphicData uri="http://schemas.openxmlformats.org/drawingml/2006/table">
            <a:tbl>
              <a:tblPr/>
              <a:tblGrid>
                <a:gridCol w="2971800"/>
                <a:gridCol w="3632200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Column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holds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transaction_id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one sale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transaction_date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 Jul – 15 Aug 2026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store_id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 stores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product_id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 products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quantity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units sold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unit_price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₹20–₹500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revenue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quantity × price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23200" y="1838226"/>
            <a:ext cx="1663700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23200" y="1974751"/>
            <a:ext cx="17145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31,598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823200" y="2594471"/>
            <a:ext cx="17145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rows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715500" y="1838226"/>
            <a:ext cx="1663700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15500" y="1974751"/>
            <a:ext cx="17145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9715500" y="2594471"/>
            <a:ext cx="17145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columns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823200" y="3055441"/>
            <a:ext cx="1663700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23200" y="3191966"/>
            <a:ext cx="17145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252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823200" y="3811687"/>
            <a:ext cx="17145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 quantities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715500" y="3055441"/>
            <a:ext cx="1663700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15500" y="3191966"/>
            <a:ext cx="171450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150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9715500" y="3811687"/>
            <a:ext cx="171450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duplicate IDs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23200" y="4263132"/>
            <a:ext cx="366268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Plus a store master: city and store_type — 8 Express, 7 Metro, 5 Neighbourhood.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1 · WHAT ARRIVED?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Establish shape, grain and quality before any trend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28701"/>
            <a:ext cx="6350000" cy="2195612"/>
          </a:xfrm>
          <a:prstGeom prst="roundRect">
            <a:avLst>
              <a:gd name="adj" fmla="val 4627"/>
            </a:avLst>
          </a:prstGeom>
          <a:solidFill>
            <a:srgbClr val="16232E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057301"/>
            <a:ext cx="6069584" cy="1263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python analyze_data.py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shape: (31598, 7)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 : 2026-07-03 to 2026-08-15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stores: 20 | products: 100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quantity missing: 252 duplicate transaction_ids: 150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73950" y="1835051"/>
            <a:ext cx="3898900" cy="2182912"/>
          </a:xfrm>
          <a:prstGeom prst="roundRect">
            <a:avLst>
              <a:gd name="adj" fmla="val 4363"/>
            </a:avLst>
          </a:prstGeom>
          <a:solidFill>
            <a:srgbClr val="E2EEEC"/>
          </a:solidFill>
          <a:ln w="12700">
            <a:solidFill>
              <a:srgbClr val="0E6F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3500" y="2044601"/>
            <a:ext cx="35841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STOP &amp; DECIDE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3500" y="2410321"/>
            <a:ext cx="358419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Name the first five facts you need before trusting a sales trend.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83500" y="3115171"/>
            <a:ext cx="3584194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 “what does one row mean” or “what is missing”? Reconsider — those two catch most retail-data mistakes.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PANDAS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Seven lines answer the first five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28701"/>
            <a:ext cx="6985000" cy="2190750"/>
          </a:xfrm>
          <a:prstGeom prst="roundRect">
            <a:avLst>
              <a:gd name="adj" fmla="val 4638"/>
            </a:avLst>
          </a:prstGeom>
          <a:solidFill>
            <a:srgbClr val="16232E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057301"/>
            <a:ext cx="6723634" cy="175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df.shape, df.dtypes            # size and types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df["transaction_date"].agg(["min", "max"])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df[["store_id", "product_id"]].nunique()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df.isna().sum()                # missingness per column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df["transaction_id"].duplicated().sum()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df.describe()                 # centre, spread, range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df.groupby("store_id")["revenue"].agg(["sum", "count"])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02600" y="1828701"/>
            <a:ext cx="3374898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Shape, coverage and quality come before describe(). A mean over duplicated rows is a wrong mean.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02600" y="2809776"/>
            <a:ext cx="337489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Teach these as a fixed opening routine students run on every new dataset.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1 · CODED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 every finding: contract, or analysis-local?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79501"/>
          <a:ext cx="10566400" cy="1437084"/>
        </p:xfrm>
        <a:graphic>
          <a:graphicData uri="http://schemas.openxmlformats.org/drawingml/2006/table">
            <a:tbl>
              <a:tblPr/>
              <a:tblGrid>
                <a:gridCol w="2747264"/>
                <a:gridCol w="1056640"/>
                <a:gridCol w="1901952"/>
                <a:gridCol w="4860544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Finding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Count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Route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Duplicate transaction_ids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Engineering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Uniqueness is a contract guarantee, enforced upstream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quantity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Engineering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Completeness of a core measure belongs in the contract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Negative revenue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Local / none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None here; would be a range check if present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811885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“The data is a bit messy” gets no action. A routed table with counts does — and it is the first draft of Lab 1's contract.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2 · AUTOMATED PROFILING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profile is a second opinion, not a verdict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28701"/>
            <a:ext cx="5461000" cy="1480741"/>
          </a:xfrm>
          <a:prstGeom prst="roundRect">
            <a:avLst>
              <a:gd name="adj" fmla="val 6861"/>
            </a:avLst>
          </a:prstGeom>
          <a:solidFill>
            <a:srgbClr val="16232E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057301"/>
            <a:ext cx="5153914" cy="1048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ydata_profiling import ProfileReport</a:t>
            </a:r>
            <a:endParaRPr lang="en-US" sz="1300" dirty="0"/>
          </a:p>
          <a:p>
            <a:pPr algn="l" indent="0" marL="0">
              <a:lnSpc>
                <a:spcPts val="2015"/>
              </a:lnSpc>
              <a:buNone/>
            </a:pPr>
            <a:endParaRPr lang="en-US" sz="1300" dirty="0"/>
          </a:p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ProfileReport(df, title="FreshMart POS") \</a:t>
            </a:r>
            <a:endParaRPr lang="en-US" sz="1300" dirty="0"/>
          </a:p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.to_file("freshmart_m2/profile.html")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78600" y="1828701"/>
            <a:ext cx="4944618" cy="150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ydata-profiling computes distributions, correlations, missingness and cardinality for every column at once. It accelerates the first pass — it never licenses auto-cleaning.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9150" y="3569791"/>
            <a:ext cx="3407767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7900" y="3728541"/>
            <a:ext cx="31829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7900" y="4023122"/>
            <a:ext cx="318297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high-cardinality ID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92017" y="3569791"/>
            <a:ext cx="3407866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0767" y="3728541"/>
            <a:ext cx="318307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question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50767" y="4023122"/>
            <a:ext cx="318307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bimodal price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64984" y="3569791"/>
            <a:ext cx="3407866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3734" y="3728541"/>
            <a:ext cx="318307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bug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3734" y="4023122"/>
            <a:ext cx="318307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 missingness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2 · CODED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 the HTML profile into a triage table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79501"/>
          <a:ext cx="10566400" cy="1437084"/>
        </p:xfrm>
        <a:graphic>
          <a:graphicData uri="http://schemas.openxmlformats.org/drawingml/2006/table">
            <a:tbl>
              <a:tblPr/>
              <a:tblGrid>
                <a:gridCol w="2958592"/>
                <a:gridCol w="1690624"/>
                <a:gridCol w="1479296"/>
                <a:gridCol w="4437888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Finding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Measured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Expected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Verdict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transaction_id near-unique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0.9953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&gt; 0.99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 — the duplicates are the injected 150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quantity missing rate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0.0080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≈ 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SUSPICIOUS — investigate the feed, do not impute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unit_price range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20.01 – 500.0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 – 500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 — within business range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811885"/>
            <a:ext cx="1088339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raw report is not a decision. Measured value, expected value and a verdict with a reason — that is what a reviewer can act on.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3 · THE NUMBER THAT CHANGES THE MEETING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stores drive the growth? It depends on the metric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275681"/>
          <a:ext cx="7035800" cy="1437084"/>
        </p:xfrm>
        <a:graphic>
          <a:graphicData uri="http://schemas.openxmlformats.org/drawingml/2006/table">
            <a:tbl>
              <a:tblPr/>
              <a:tblGrid>
                <a:gridCol w="985012"/>
                <a:gridCol w="1125728"/>
                <a:gridCol w="1829308"/>
                <a:gridCol w="1266444"/>
                <a:gridCol w="1829308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Store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Revenue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 days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Revenue / day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S002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9,127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₹24,16,489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₹1,05,065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S013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9,275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₹24,14,149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₹1,00,590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S014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8,711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₹22,82,646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₹95,110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04200" y="2285206"/>
            <a:ext cx="3175000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04200" y="2421731"/>
            <a:ext cx="32702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of 20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04200" y="3041452"/>
            <a:ext cx="327025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stores change rank between revenue and revenue per day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04200" y="3664942"/>
            <a:ext cx="32702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S015 and S012 enter the top 5 only on revenue per day.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1870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LESSON OF MISSION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536825"/>
            <a:ext cx="10883392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“Which store is best?” has no answer until you fix the metric.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4010025"/>
            <a:ext cx="9156700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late-opening, high-velocity store is invisible on raw revenue and leads on revenue per day. That is why the reorder model needs per-store, per-day features — not one revenue number.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4 · CHOOSING THE RIGHT CHART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Choose the encoding before the library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28701"/>
          <a:ext cx="10566400" cy="2315766"/>
        </p:xfrm>
        <a:graphic>
          <a:graphicData uri="http://schemas.openxmlformats.org/drawingml/2006/table">
            <a:tbl>
              <a:tblPr/>
              <a:tblGrid>
                <a:gridCol w="3169920"/>
                <a:gridCol w="3381248"/>
                <a:gridCol w="4015232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question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encoding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FreshMart example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trend over time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Daily revenue, July to August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ranking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Sorted bar, horizontal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stores by revenue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relationship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Scatter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Unit price vs quantity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distribution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Histogram or box plot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Basket size per transaction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Parts of a whole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Stacked bar — only if parts sum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Revenue share by store_type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588966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you cannot say why a chart fits the question, you are decorating.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CHARTING-LIBRARY FLUENCY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the library that serves the consumer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85851"/>
            <a:ext cx="2514600" cy="1903413"/>
          </a:xfrm>
          <a:prstGeom prst="roundRect">
            <a:avLst>
              <a:gd name="adj" fmla="val 4337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3300" y="2070001"/>
            <a:ext cx="221068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3300" y="2389981"/>
            <a:ext cx="221068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Imperative, full control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3300" y="2689027"/>
            <a:ext cx="221068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Publication figures, precise static layouts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8850" y="1885851"/>
            <a:ext cx="2514600" cy="1903413"/>
          </a:xfrm>
          <a:prstGeom prst="roundRect">
            <a:avLst>
              <a:gd name="adj" fmla="val 4337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3000" y="2070001"/>
            <a:ext cx="221068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seaborn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83000" y="2389981"/>
            <a:ext cx="221068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Statistical defaults on DataFrames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83000" y="2911872"/>
            <a:ext cx="221068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static analysis: distributions, groups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8550" y="1885851"/>
            <a:ext cx="2514600" cy="1903413"/>
          </a:xfrm>
          <a:prstGeom prst="roundRect">
            <a:avLst>
              <a:gd name="adj" fmla="val 4337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2700" y="2070001"/>
            <a:ext cx="221068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Plotly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62700" y="2389981"/>
            <a:ext cx="221068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Interactive: hover, zoom, filter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62700" y="2911872"/>
            <a:ext cx="2210689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the consumer explores — dashboards, Streamlit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58250" y="1885851"/>
            <a:ext cx="2514600" cy="1903413"/>
          </a:xfrm>
          <a:prstGeom prst="roundRect">
            <a:avLst>
              <a:gd name="adj" fmla="val 4337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2400" y="2070001"/>
            <a:ext cx="221068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Altair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42400" y="2389981"/>
            <a:ext cx="2210689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Declarative grammar of graphics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42400" y="2911872"/>
            <a:ext cx="221068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Teaching encoding; compact, consistent charts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4100413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Static for a report you control; interactive when the reader needs to explore.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4 · CODED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Imperative vs declarative: the same ranking twice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8701"/>
            <a:ext cx="533704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seaborn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174081"/>
            <a:ext cx="5181600" cy="457200"/>
          </a:xfrm>
          <a:prstGeom prst="roundRect">
            <a:avLst>
              <a:gd name="adj" fmla="val 22222"/>
            </a:avLst>
          </a:prstGeom>
          <a:solidFill>
            <a:srgbClr val="16232E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2402681"/>
            <a:ext cx="4866132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72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 = (df.groupby("store_id")["revenue"]</a:t>
            </a:r>
            <a:endParaRPr lang="en-US" sz="720" dirty="0"/>
          </a:p>
          <a:p>
            <a:pPr algn="l" indent="0" marL="0">
              <a:lnSpc>
                <a:spcPts val="1116"/>
              </a:lnSpc>
              <a:buNone/>
            </a:pPr>
            <a:r>
              <a:rPr lang="en-US" sz="72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 .sum().nlargest(10).reset_index())</a:t>
            </a:r>
            <a:endParaRPr lang="en-US" sz="720" dirty="0"/>
          </a:p>
          <a:p>
            <a:pPr algn="l" indent="0" marL="0">
              <a:lnSpc>
                <a:spcPts val="1116"/>
              </a:lnSpc>
              <a:buNone/>
            </a:pPr>
            <a:endParaRPr lang="en-US" sz="720" dirty="0"/>
          </a:p>
          <a:p>
            <a:pPr algn="l" indent="0" marL="0">
              <a:lnSpc>
                <a:spcPts val="1116"/>
              </a:lnSpc>
              <a:buNone/>
            </a:pPr>
            <a:r>
              <a:rPr lang="en-US" sz="72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sns.barplot(data=top, x="revenue",</a:t>
            </a:r>
            <a:endParaRPr lang="en-US" sz="720" dirty="0"/>
          </a:p>
          <a:p>
            <a:pPr algn="l" indent="0" marL="0">
              <a:lnSpc>
                <a:spcPts val="1116"/>
              </a:lnSpc>
              <a:buNone/>
            </a:pPr>
            <a:r>
              <a:rPr lang="en-US" sz="72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y="store_id")        # call a function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6197600" y="1828701"/>
            <a:ext cx="533704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Altair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97600" y="2174081"/>
            <a:ext cx="5181600" cy="457200"/>
          </a:xfrm>
          <a:prstGeom prst="roundRect">
            <a:avLst>
              <a:gd name="adj" fmla="val 22222"/>
            </a:avLst>
          </a:prstGeom>
          <a:solidFill>
            <a:srgbClr val="16232E"/>
          </a:solidFill>
          <a:ln/>
        </p:spPr>
      </p:sp>
      <p:sp>
        <p:nvSpPr>
          <p:cNvPr id="9" name="Text 7"/>
          <p:cNvSpPr/>
          <p:nvPr/>
        </p:nvSpPr>
        <p:spPr>
          <a:xfrm>
            <a:off x="6426200" y="2402681"/>
            <a:ext cx="4866132" cy="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72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alt.Chart(top).mark_bar().encode(</a:t>
            </a:r>
            <a:endParaRPr lang="en-US" sz="720" dirty="0"/>
          </a:p>
          <a:p>
            <a:pPr algn="l" indent="0" marL="0">
              <a:lnSpc>
                <a:spcPts val="1116"/>
              </a:lnSpc>
              <a:buNone/>
            </a:pPr>
            <a:r>
              <a:rPr lang="en-US" sz="72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x="revenue:Q",</a:t>
            </a:r>
            <a:endParaRPr lang="en-US" sz="720" dirty="0"/>
          </a:p>
          <a:p>
            <a:pPr algn="l" indent="0" marL="0">
              <a:lnSpc>
                <a:spcPts val="1116"/>
              </a:lnSpc>
              <a:buNone/>
            </a:pPr>
            <a:r>
              <a:rPr lang="en-US" sz="72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y=alt.Y("store_id:N", sort="-x"),</a:t>
            </a:r>
            <a:endParaRPr lang="en-US" sz="720" dirty="0"/>
          </a:p>
          <a:p>
            <a:pPr algn="l" indent="0" marL="0">
              <a:lnSpc>
                <a:spcPts val="1116"/>
              </a:lnSpc>
              <a:buNone/>
            </a:pPr>
            <a:r>
              <a:rPr lang="en-US" sz="72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                                # declare a mapping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812800" y="2885281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Altair you declare the encoding — x is revenue, y is store sorted by x — and the library derives the rendering.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5 · COHORT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Cohorts anchor each store to its own start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28701"/>
          <a:ext cx="6654800" cy="1543844"/>
        </p:xfrm>
        <a:graphic>
          <a:graphicData uri="http://schemas.openxmlformats.org/drawingml/2006/table">
            <a:tbl>
              <a:tblPr/>
              <a:tblGrid>
                <a:gridCol w="2129536"/>
                <a:gridCol w="1464056"/>
                <a:gridCol w="1464056"/>
                <a:gridCol w="1597152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store_type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July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August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Revenue share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Express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₹50.0 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₹56.2 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32.5%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Metro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₹61.3 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₹84.9 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44.7%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Neighbourhood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₹41.8 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₹32.6 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22.8%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823200" y="1828701"/>
            <a:ext cx="3662680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Metro</a:t>
            </a: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grows and carries 44.7% of revenue. </a:t>
            </a: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Neighbourhood</a:t>
            </a: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declines, ₹41.8 L to ₹32.6 L.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23200" y="2809776"/>
            <a:ext cx="366268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blended trend hides that divergence — and it is a replenishment signal.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ANALYTICS →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M2 ends with a data requirement, not a chart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35051"/>
            <a:ext cx="10566400" cy="0"/>
          </a:xfrm>
          <a:prstGeom prst="line">
            <a:avLst/>
          </a:prstGeom>
          <a:noFill/>
          <a:ln w="12700">
            <a:solidFill>
              <a:srgbClr val="DCD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968401"/>
            <a:ext cx="235458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02000" y="1968401"/>
            <a:ext cx="831951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 × Product × Day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800" y="2368451"/>
            <a:ext cx="10566400" cy="0"/>
          </a:xfrm>
          <a:prstGeom prst="line">
            <a:avLst/>
          </a:prstGeom>
          <a:noFill/>
          <a:ln w="12700">
            <a:solidFill>
              <a:srgbClr val="DCD6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501801"/>
            <a:ext cx="235458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Candidate signals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02000" y="2501801"/>
            <a:ext cx="831951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Recent sales, trend, inventory, lead time, promotion, stockout history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" y="2901851"/>
            <a:ext cx="10566400" cy="0"/>
          </a:xfrm>
          <a:prstGeom prst="line">
            <a:avLst/>
          </a:prstGeom>
          <a:noFill/>
          <a:ln w="12700">
            <a:solidFill>
              <a:srgbClr val="DCD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3035201"/>
            <a:ext cx="235458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 rules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02000" y="3035201"/>
            <a:ext cx="831951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missing quantity · no duplicate IDs · prices ₹20–₹500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800" y="3555901"/>
            <a:ext cx="10566400" cy="631825"/>
          </a:xfrm>
          <a:prstGeom prst="roundRect">
            <a:avLst>
              <a:gd name="adj" fmla="val 16080"/>
            </a:avLst>
          </a:prstGeom>
          <a:solidFill>
            <a:srgbClr val="E2EEEC"/>
          </a:solidFill>
          <a:ln/>
        </p:spPr>
      </p:sp>
      <p:sp>
        <p:nvSpPr>
          <p:cNvPr id="14" name="Text 12"/>
          <p:cNvSpPr/>
          <p:nvPr/>
        </p:nvSpPr>
        <p:spPr>
          <a:xfrm>
            <a:off x="1041400" y="3733701"/>
            <a:ext cx="1041247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rule list is literally the contract Lab 1 makes executable at 13:15 — and Mission 1's triage table is its first draft.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DEBRIEF · QUESTIONS STUDENTS WILL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questions to close M2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35051"/>
            <a:ext cx="5181600" cy="1414661"/>
          </a:xfrm>
          <a:prstGeom prst="roundRect">
            <a:avLst>
              <a:gd name="adj" fmla="val 6733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2044601"/>
            <a:ext cx="490537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stores have identical revenue. Equally important?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8700" y="2578001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necessarily. Normalise by active days: 14 of 20 stores change rank on revenue per day.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1250" y="1835051"/>
            <a:ext cx="5181600" cy="1414661"/>
          </a:xfrm>
          <a:prstGeom prst="roundRect">
            <a:avLst>
              <a:gd name="adj" fmla="val 6733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044601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0.8% missing quantity. Impute the median?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349401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No. Mark it suspicious and investigate the feed; completeness belongs in the contract.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9150" y="3440212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8700" y="3649762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is a cohort more than a pivot table?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8700" y="3954562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anchors each store to its own start, making time since opening comparable.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1250" y="3440212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649762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choose the chart before the library?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954562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encoding answers the question; the library only serves the audience.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1870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DISCOVER → PREPARE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536825"/>
            <a:ext cx="10883392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hand-off assumes this data can be produced reliably. It cannot — yet.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4010025"/>
            <a:ext cx="9156700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lunch, Lab 1 turns today's findings into an orchestrated, validated, versioned pipeline and a feature store — from this same extract.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1 · M2 Anchor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FDP Day 1 · 11:00 — M2 Anchor: Data Analysis &amp; Visualization</dc:title>
  <dc:subject>PptxGenJS Presentation</dc:subject>
  <dc:creator>PptxGenJS</dc:creator>
  <cp:lastModifiedBy>PptxGenJS</cp:lastModifiedBy>
  <cp:revision>1</cp:revision>
  <dcterms:created xsi:type="dcterms:W3CDTF">2026-09-23T06:37:20Z</dcterms:created>
  <dcterms:modified xsi:type="dcterms:W3CDTF">2026-09-23T06:37:20Z</dcterms:modified>
</cp:coreProperties>
</file>
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76" r:id="rId7"/>
    <p:sldId id="260" r:id="rId8"/>
    <p:sldId id="261" r:id="rId9"/>
    <p:sldId id="263" r:id="rId10"/>
    <p:sldId id="264" r:id="rId11"/>
    <p:sldId id="265" r:id="rId12"/>
    <p:sldId id="266" r:id="rId13"/>
    <p:sldId id="277" r:id="rId14"/>
    <p:sldId id="267" r:id="rId15"/>
    <p:sldId id="268" r:id="rId16"/>
    <p:sldId id="279" r:id="rId17"/>
    <p:sldId id="285" r:id="rId18"/>
    <p:sldId id="281" r:id="rId19"/>
    <p:sldId id="282" r:id="rId20"/>
    <p:sldId id="278" r:id="rId21"/>
    <p:sldId id="269" r:id="rId22"/>
    <p:sldId id="271" r:id="rId23"/>
    <p:sldId id="283" r:id="rId24"/>
    <p:sldId id="284" r:id="rId25"/>
    <p:sldId id="272" r:id="rId26"/>
    <p:sldId id="273" r:id="rId27"/>
    <p:sldId id="289" r:id="rId28"/>
    <p:sldId id="287" r:id="rId29"/>
    <p:sldId id="288" r:id="rId30"/>
    <p:sldId id="291" r:id="rId31"/>
    <p:sldId id="274" r:id="rId32"/>
    <p:sldId id="290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02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hands-on anchor, 75 minutes. Participants work in a freshmart_m2 folder inside ~/freshmart, same environment. Suggested pace: 5 minutes framing (slides 2–5), then five missions of about 12 minutes each, each briefed with its slide and closed with its coded challenge, and 5 minutes on the hand-off to Lab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M2 is the Discover beat. Its output is not a chart but a data requirement: the grain and quality rules Lab 1 turns into a contract at 13:15. Data analysis and visualization are also taught as a craft in their own right, for the analytics courses in the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FreshMart situation from the M2 handout. Your role is Data Analyst or Analytics Engineer. Note the explicit refusal of 'another dashboard': the deliverable is evidence and a recommendation, and every chart today must answer a stated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primer from the M2 handout. Each mission below is one or two of these steps, motivated by a FreshMart decision. The order matters: an analyst who starts with a chart may miss a data problem that invalidates it. Mission labels show where each step is practised.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1614-6FB0-EDF9-A374-0111432B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52CB4-BA50-99C8-1128-8C585A365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F6CE6-6547-F46B-8206-BFCD09623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primer from the M2 handout. Each mission below is one or two of these steps, motivated by a FreshMart decision. The order matters: an analyst who starts with a chart may miss a data problem that invalidates it. Mission labels show where each step is practised.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CCA23-5EA5-C58A-9088-942483295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97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locally by gen.py from seed 42, so every participant gets identical numbers — useful for debugging live. Stores open on different dates with different traffic, so store maturity and ranking are real phenomena in this data. Lab 1's generate_data.py uses the same draw order and reproduces this extract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1, the first 15 minutes. Have participants write their five facts before running the script. The unglamorous half of analysis is what separates an analyst from a chart-maker.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 from sol1_triage.py. Production reality: profiling is not declaring data invalid. The 150 duplicates might be a double scan at the till or an ETL replay — distinguishing pattern from artefact is the skill, not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and decide before opening the report: which findings deserve investigation and which are safe to act on? Decide the triage rule first, then read the profile. The tool cannot know that a 7-day lead time is normal for staples and alarming for dairy — that needs domain context. On a laptop, a large dataset may need minimal=True to keep the report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 from sol2_triage.py. Viva question from the kit: the profile flagged 0.8% missing quantity — impute the median and move on? No: mark it suspicious and investigate the feed. Silent imputation hides a pipeline problem; completeness is a contract obligation for Engineering, not a notebook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and decide: rank by revenue, units, transactions or growth? Each can name a different top store. Total revenue conflates traffic, basket size, assortment and how long a store has been open; revenue per active day normalises for maturity. The top store is stable here, but the mid-table reshuffles — metric choice matters for the close calls. Amounts shown in Indian digit grouping; the handout prints them unformatted.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EFA4-A195-9862-E2D1-06F86872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BBB84-3CE0-4E64-BE36-DA4634863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89696-E331-6694-789A-FD158C119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and decide: rank by revenue, units, transactions or growth? Each can name a different top store. Total revenue conflates traffic, basket size, assortment and how long a store has been open; revenue per active day normalises for maturity. The top store is stable here, but the mid-table reshuffles — metric choice matters for the close calls. Amounts shown in Indian digit grouping; the handout prints them unformatted.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D46C3-BCBC-FA36-F6C4-3D0A51582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74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finding carries straight into Lab 1: the Store × Product × Day grain exists because a single aggregate hides exactly the differences a replenishment model must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4 poses three questions — a trend, a ranking, a relationship — and charts.py answers them with a line (trend.png), a bar (top_stores.png) and an interactive scatter (price_qty.html). The last two rows extend the rule for teaching. Chart choice is analytical reasoning, not a cosmetic last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88B6-BFB8-79A7-2D8D-E21DAE13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1F314-A600-B69D-37A8-B736DA43A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82571-4A15-A24F-C01A-7E26393E6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4 poses three questions — a trend, a ranking, a relationship — and charts.py answers them with a line (trend.png), a bar (top_stores.png) and an interactive scatter (price_qty.html). The last two rows extend the rule for teaching. Chart choice is analytical reasoning, not a cosmetic last step.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51E0D-BACB-9B26-14C3-F2841CE63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49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FFA1-985C-45F9-03B8-70C0EE7FE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6427E-CA08-E047-8A03-3DF42FDCD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2451A-2A26-9AAA-B311-E68D99938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4 poses three questions — a trend, a ranking, a relationship — and charts.py answers them with a line (trend.png), a bar (top_stores.png) and an interactive scatter (price_qty.html). The last two rows extend the rule for teaching. Chart choice is analytical reasoning, not a cosmetic last step.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7B6DF-9D5B-7438-214F-7EFE28936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32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EB0DB-6501-7C1A-1424-DB828EE7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265B6-43FD-9B28-AF36-A047AD44E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F013B-CF3C-AB4F-6A8F-E13631C3B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4 poses three questions — a trend, a ranking, a relationship — and charts.py answers them with a line (trend.png), a bar (top_stores.png) and an interactive scatter (price_qty.html). The last two rows extend the rule for teaching. Chart choice is analytical reasoning, not a cosmetic last step.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C011E-3C7E-2AE9-BC5B-268A502553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23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3480F-574C-7AC5-2867-D3E0E2FE4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76FF0-C103-B373-ADBB-124899971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D3322-0022-4A16-A93C-8EDC9914E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4 poses three questions — a trend, a ranking, a relationship — and charts.py answers them with a line (trend.png), a bar (top_stores.png) and an interactive scatter (price_qty.html). The last two rows extend the rule for teaching. Chart choice is analytical reasoning, not a cosmetic last step.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F8D97-FC2F-948D-1BD1-7499D7E9B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885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3B7F-77A2-1A9A-471C-21C52BE0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DBCC2-98D8-E237-4825-6037A55A3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8ED49-30B1-8B93-77FD-E4C8531DE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4 poses three questions — a trend, a ranking, a relationship — and charts.py answers them with a line (trend.png), a bar (top_stores.png) and an interactive scatter (price_qty.html). The last two rows extend the rule for teaching. Chart choice is analytical reasoning, not a cosmetic last step.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BF496-8D12-7B9E-5EFA-12139441B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74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handout's rule: matplotlib and seaborn for controlled static analysis, Plotly when the consumer needs to explore. Altair is the grammar-of-graphics option. Plotly returns in Lab 3b's Streamlit dashboard, so fluency here pays off on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analysis anchors each entity to its starting point, so 'months since opening' is comparable across stores that opened on different dates — more than a calendar pivot. The coded challenge adds store_type as a second cohort dimension. Stop and decide: which cohort metric? For replenishment, volume or stockout rate is closer to operational truth than revenue. Caution: the table describes, it does not explain — no causal claims. Figures are the handout's, shown in lakh (L).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BFBA-5D87-8A70-0A9F-F06673365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A7B8F-5D6E-BC44-0331-951855835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7BC2C-1757-FCCA-73E5-C2A1D4E62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analysis anchors each entity to its starting point, so 'months since opening' is comparable across stores that opened on different dates — more than a calendar pivot. The coded challenge adds store_type as a second cohort dimension. Stop and decide: which cohort metric? For replenishment, volume or stockout rate is closer to operational truth than revenue. Caution: the table describes, it does not explain — no causal claims. Figures are the handout's, shown in lakh (L).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4FA7B-3A2A-9B90-D250-41E7F04A1A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43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1806-7D33-E6DC-7698-C25AD9CE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C5B0C-6FA1-F229-8805-748637B79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48DA6-E454-8A81-0C70-E3F5D011B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analysis anchors each entity to its starting point, so 'months since opening' is comparable across stores that opened on different dates — more than a calendar pivot. The coded challenge adds store_type as a second cohort dimension. Stop and decide: which cohort metric? For replenishment, volume or stockout rate is closer to operational truth than revenue. Caution: the table describes, it does not explain — no causal claims. Figures are the handout's, shown in lakh (L).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DBCD7-1CBC-A3B3-4C0D-B468DD3A5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9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finding for the VP: what is happening, where, and what must exist reliably to predict reorder propensity. A strong answer names specific stores (S015 and S012 hidden by raw revenue; the Neighbourhood decline), separates pattern from data-quality noise, and states the grain the prediction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the M2 assessment-kit viva questions; the fourth checks Mission 4. Ask, take one answer,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0226-5ADB-94DB-6CE3-45585AB4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1C104-5711-6F74-3640-B85810548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5D49D-5636-0744-D5F7-F0EBB4DDC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the M2 assessment-kit viva questions; the fourth checks Mission 4. Ask, take one answer, reveal.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58880-A7E4-3432-27D2-111A51512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892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A8836-9558-ED82-1801-3C7BAC8B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B27FC-ADDB-6E5C-C2FB-09CD0004C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C44AB-944B-C5A9-BE82-7FAF51B75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the M2 assessment-kit viva questions; the fourth checks Mission 4. Ask, take one answer, reveal.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5549F-BFFD-4606-667A-194685C8F6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711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710A8-C2A4-5A0F-2D96-D1700A0D6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912FF-B0AC-45F3-928B-691F6DE8B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5720B-3354-D65A-F1BE-2C94473B5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the M2 assessment-kit viva questions; the fourth checks Mission 4. Ask, take one answer, reveal.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1A3F5-E3BA-4882-F461-DB6CE4C6E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68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Answered: what is in FreshMart's data, which stores really drive it, and which signals a reorder model needs, each proven in code. Lunch, then Lab 1 at 13:15. Keep the freshmart_m2 folder; Lab 1 can point its clean stage at the same extract.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025835-05FF-F016-CF4C-D7DF4E6A776F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7F83C6-E88F-2825-B936-80E46B732B48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4CD65B-037A-EBD5-DE6E-8BD0635F20DC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0294B-4E53-5C05-90D0-F229A41C85A9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390EE0F5-1B7D-CC77-CEA9-0F56CC13D1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0C785C-BF4B-67CE-2935-C4656EC0B955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4A0DF-E6D2-92EF-9885-1196D33C679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3200" y="5667376"/>
            <a:ext cx="2540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72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6DB16B-2A19-DA1E-AD9D-71EC32A0BB9E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095F0-EEB7-D482-D00A-042A21FEBCCA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771ABA-961F-1FE7-34AD-B51AB0C9B2A6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02431-323A-51A7-834C-5A05ECF32642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8F78BEB1-6FD2-6A6D-F319-9FB437DDD5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A4E4B3-20B6-C8CE-52E9-389B231519B0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325D0-A683-4E25-1D0F-21E5655AE1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3200" y="5667376"/>
            <a:ext cx="2540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79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77A9B-805D-FEF2-4B81-1C92E4A7870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14419743-D178-9A0E-70B3-92DEFF0B1D4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7D80A8-5293-C983-AFC2-1B7B3107203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BE1361-C3E6-6326-32BF-0BFBBA65A3A1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28CA5E-B06C-2866-7145-007ECB57A19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F4DDFEF0-F3E6-24C0-E465-961B3DFDB4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F8613155-F8E0-B21C-0C42-1100E926D4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55EF63-E8EB-5C48-71BB-BC95411E206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C15438-884A-5352-5CA8-981BC3B5C4A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FA8E12-FFD1-CF79-ABBD-127A6BD231F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4675CD0A-4A1D-0341-E7CF-A746B681E7F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162039-0D40-504C-5C08-2EF57C2B83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9922A7-1AE6-2178-C206-B030181E4B9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944A9C-B1A8-B3DC-9CBE-143A22A3179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15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4DAFA79D-DD24-D37D-9A42-C713DAEFB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99C98A9E-78C0-480B-6030-DA78AA2FE1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CE4AA62-6E4D-22C2-8F9A-9936F80E374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38641F-2E56-7163-A254-681ADD75C32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972570-D17A-14D4-7DEA-8616A09AB63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3FF10EF9-4C8F-9EC1-71AF-2259B13FBD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D46110-0929-27EE-E1B5-6D7AF63A4AF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3DD3DB-A68F-D8A9-B33D-40C261B080E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FA3F38-30A4-576A-3158-6AF0CC159B4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3941CB-B3A4-B0F9-9667-BA1C8043FF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194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885DECB4-10C5-0F05-0F44-ADB23CF51AE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1B1C3A-EFEB-CE0B-1B9A-9C8C6A62E83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82BA2D-57DB-D49F-0A74-7D935280B73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8AFD50-8FE3-1D07-B3CD-95672333969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3C7FE60C-265D-0ED8-A3CE-27E1A92E35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09B36A-EEE7-AC8C-2873-8242933C9F4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EA5AE4-8A73-CE51-F877-BEF6590F215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3D219F-13E1-36E8-9623-EBE1AB69C7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FDB3A589-B5CE-BC87-7A48-ADB937CA5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ED7574-46D5-C02C-934A-03DF290E13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2941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60CCB161-FA11-24FE-FF79-932A1B3B76D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0F6A4B0-D676-DD2E-730E-58B1578A5A1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D7204A-24FF-6DB2-BBA1-02A93C5E87C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0A2B87-A3F4-F81E-45E0-F8F61A08A8D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95541638-0647-3E77-10AB-A832BBCEEF5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268837-F5C2-8EC0-0DFB-17249862BEF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754D7-65A5-D8C4-EE1C-322E80BE7C1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AADE52-6590-D45D-ED22-AA9596D0889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B601CBFE-7F03-91CE-999B-538C0E4741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8834AD-6DC5-CF21-3E38-B0E8EBF97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008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4F35A59D-EF7B-3E82-BE8C-1F7CCA36430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277DA2-04A7-27EC-B541-01860424CC5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5F42FF-18E6-B7C0-E699-849C8CF83D3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CFDE7B-0183-8A9B-43F2-66E5EF92296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4BD90D06-23DC-1CD6-1CA2-BF7344E01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C06C5EA-0933-4871-3FCA-906056D7738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4F6520-A6BA-7041-3C46-1C9509239B8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CEFD2F-B4C1-426D-91C4-3C996601C80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B94CE099-803D-891C-BB3E-ABB771AB4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4F2DB3-6E16-3A98-4C22-85EEDF2205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1"/>
            <a:ext cx="6815667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1"/>
            <a:ext cx="4011084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334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2B47D58-8CDD-2882-49D5-6ADE1557B77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76160D-DD40-E17A-FE59-FCDCC06BFEF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7B10C1-5611-A599-E5E4-C4AD15671B9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1CE4A6-F121-EB6E-797B-B652FB1DE10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2802FB9-D2BD-93BF-B605-444DD867CB9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43EF01-B03A-E1EF-7A4B-10DE0B9B5A6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BC97DA-505A-4F04-8E20-A0BC294C8D1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8D56BB-A224-9482-8322-CAB7F345F3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5FAFDBDE-8CA9-A30B-9AAE-0965E310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3BA367-DFF4-3029-6BC0-FB742C0042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066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0250748D-A8FF-B2EA-5621-D9F103E451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41CA01-19C5-9A66-0E8C-944DADB1B8B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21671D-6D80-E193-C355-D501F4F8644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38D8AA-BA47-F9DD-E447-A4666321443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29B71F0C-E203-1F26-AE22-3251193A880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5D053E-DD5D-4C7F-FE70-238F01869E2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D839C8-B079-D146-65A4-4126801D19B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EA67C1B-CC16-1F2D-4EE9-160716B4367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7ED09B42-6EED-331E-6A37-F21BC74173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31A4CA-8ECE-E02C-E3EB-7189510289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863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101FDDC6-18D8-EB01-A403-E4CBCB3ED8EF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7538509" y="2560109"/>
            <a:ext cx="5181600" cy="61383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7C36F8-6A37-4AD7-B09C-CD8B1BBCF312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108107-8781-3E6C-4283-1988505C51AB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DFAF05-A062-2BB3-EAF7-00DC187E2168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5C3430AD-B996-AD5E-0950-F7329D42A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10583" y="381001"/>
            <a:ext cx="922868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B676DF-7646-AE88-3487-73D22620F2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2748491" y="3808884"/>
            <a:ext cx="58674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900" b="1">
                <a:solidFill>
                  <a:srgbClr val="101141"/>
                </a:solidFill>
              </a:rPr>
              <a:t>BITS </a:t>
            </a:r>
            <a:r>
              <a:rPr lang="en-US" altLang="en-US" sz="9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7364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381" y="274638"/>
            <a:ext cx="8160907" cy="850106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48D21BB-8318-9AA8-09E4-4204478CF3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27351" y="6237289"/>
            <a:ext cx="5856816" cy="365125"/>
          </a:xfrm>
        </p:spPr>
        <p:txBody>
          <a:bodyPr/>
          <a:lstStyle>
            <a:lvl1pPr>
              <a:defRPr sz="1200" b="1"/>
            </a:lvl1pPr>
          </a:lstStyle>
          <a:p>
            <a:pPr>
              <a:defRPr/>
            </a:pPr>
            <a:r>
              <a:rPr lang="en-US"/>
              <a:t>SS ZGXX –System Programming</a:t>
            </a:r>
            <a:endParaRPr lang="en-IN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509A5-24F0-59A0-2FD1-4372A72224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77085" y="6237289"/>
            <a:ext cx="814916" cy="293687"/>
          </a:xfrm>
        </p:spPr>
        <p:txBody>
          <a:bodyPr/>
          <a:lstStyle>
            <a:lvl1pPr>
              <a:defRPr sz="1600" b="1"/>
            </a:lvl1pPr>
          </a:lstStyle>
          <a:p>
            <a:fld id="{0C803B54-42E4-4219-BC98-DD8400957FD3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845148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0F497E-0937-50C3-CA79-C34D8C4A69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16FF7F-F0C9-4128-A099-DF9FCB481216}" type="datetime1">
              <a:rPr lang="en-US"/>
              <a:pPr>
                <a:defRPr/>
              </a:pPr>
              <a:t>9/28/2026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13F410-25A9-860D-CF2E-4EC862602B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1(Lucy J. Gudino)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0D6AFF-6100-27A9-120C-9F6F7BB83B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84917-5860-4F77-8F63-093F412F97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1830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AC97D2-5E05-12C7-410C-0E9399FEB6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E9D56-5B2D-40BC-A7F0-4EE9A726B989}" type="datetime1">
              <a:rPr lang="en-US"/>
              <a:pPr>
                <a:defRPr/>
              </a:pPr>
              <a:t>9/28/2026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7AD45C-09F6-7503-34E4-724D0115C5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1(Lucy J. Gudino)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14DE23-C98A-0D94-CFC3-AFA112680D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16586-D9DB-45AC-AE4B-6C37E128EA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055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01B5D29-36E0-F64F-458F-57F16A728C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2EADB-CC56-40AF-9802-2F74D64F9A41}" type="datetime1">
              <a:rPr lang="en-US"/>
              <a:pPr>
                <a:defRPr/>
              </a:pPr>
              <a:t>9/28/2026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682FF30-D326-AE03-EFAC-254650E205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1(Lucy J. Gudino)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476933E-610D-5A0D-604F-71F4B6EE29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871A8-DF60-45EA-A8C5-99CCFA9693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175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11973-5B84-6B49-65CA-89ACC1C82F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BDD93-030E-06E0-9E67-71F91BA834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3C83F-5905-644E-03AF-764A6993B4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5D0A3-E3BC-45F7-A288-FF1268D39D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99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39917D-EBC1-40B2-CE28-01075D25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D8FE7CC-61A5-6C4E-233E-665AEB2248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AC9E2-6DEF-291A-C425-A2ECEEC7E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D3816BB-20DB-45A9-8695-D8BAED833F6A}" type="datetimeFigureOut">
              <a:rPr lang="en-US"/>
              <a:pPr>
                <a:defRPr/>
              </a:pPr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703B2-7FD4-BAFB-2374-59AF96184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97109-5DEE-6395-5FD8-104E584A3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6D814140-BF8B-4A69-BC87-8D924DF8B8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30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bleau.com/academic/teaching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ypal/data-contract-template/blob/main/docs/README.m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14897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11:00–12:15 · HANDS-ON ANCHOR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055218"/>
            <a:ext cx="10411012" cy="95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M2 · Data Analysis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675658"/>
            <a:ext cx="981075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FreshMart: what is really happening in our stores?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2800" y="5200749"/>
            <a:ext cx="10566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2800" y="541029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Pandas EDA · automated profiling · distribution, correlation and cohort analysis · choosing the right chart and library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BITS Pilani WILP · CSIS · </a:t>
            </a:r>
            <a:r>
              <a:rPr lang="en-US" sz="1400" dirty="0" err="1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Prof.Febin</a:t>
            </a:r>
            <a:r>
              <a:rPr lang="en-US" sz="14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 </a:t>
            </a:r>
            <a:r>
              <a:rPr lang="en-US" sz="1400" dirty="0" err="1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Vahab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659" y="26164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WE ARE IN 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5659" y="641424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Discover: look before anyone builds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451"/>
            <a:ext cx="1420515" cy="843161"/>
          </a:xfrm>
          <a:prstGeom prst="roundRect">
            <a:avLst>
              <a:gd name="adj" fmla="val 9791"/>
            </a:avLst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89000" y="2146201"/>
            <a:ext cx="12808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9000" y="2458541"/>
            <a:ext cx="1280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41265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11115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11115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63479" y="1987451"/>
            <a:ext cx="1420515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33329" y="2146201"/>
            <a:ext cx="12808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3329" y="2458541"/>
            <a:ext cx="1280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85594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55444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55444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7808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77658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77658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30022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499872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Re-execute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99872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52236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022086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22086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3243362"/>
            <a:ext cx="10490200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built for the next two days rests on what this session finds in FreshMart's raw data.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3762" y="659636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2660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MONDAY MORNING -AT FRESHMART-THE HEAD OF SUPPLY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244725"/>
            <a:ext cx="10883392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“Sales are up, but some stores report more </a:t>
            </a:r>
            <a:r>
              <a:rPr lang="en-US" sz="3600" b="1" dirty="0" err="1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stockouts.I</a:t>
            </a:r>
            <a:r>
              <a:rPr lang="en-US" sz="3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not want another dashboard.”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01700" y="3454960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 want to know what is actually happening, which stores and products drive it, and what evidence supports the conclusion.”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8377" y="6627089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170A39-FDC8-FE5C-7C18-9B7AB011C8A2}"/>
              </a:ext>
            </a:extLst>
          </p:cNvPr>
          <p:cNvSpPr txBox="1"/>
          <p:nvPr/>
        </p:nvSpPr>
        <p:spPr>
          <a:xfrm>
            <a:off x="3675529" y="49097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Your role : Data Analyst / Analytics Engineer</a:t>
            </a: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Your mission : Investigate → explain → quantify → hand off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294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QUESTION BEHIND M2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6095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IN" sz="3200" b="1" dirty="0"/>
              <a:t>Before we predict reorder propensity…</a:t>
            </a:r>
            <a:endParaRPr lang="en-US" sz="3200" b="1" dirty="0"/>
          </a:p>
        </p:txBody>
      </p:sp>
      <p:sp>
        <p:nvSpPr>
          <p:cNvPr id="33" name="Text 26"/>
          <p:cNvSpPr/>
          <p:nvPr/>
        </p:nvSpPr>
        <p:spPr>
          <a:xfrm>
            <a:off x="923365" y="1721595"/>
            <a:ext cx="10883392" cy="235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need to answer:</a:t>
            </a:r>
          </a:p>
          <a:p>
            <a:pPr marL="342900" indent="-342900" algn="l">
              <a:lnSpc>
                <a:spcPts val="2320"/>
              </a:lnSpc>
              <a:buAutoNum type="arabicPeriod"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actually arrived?</a:t>
            </a:r>
          </a:p>
          <a:p>
            <a:pPr marL="342900" indent="-342900" algn="l">
              <a:lnSpc>
                <a:spcPts val="2320"/>
              </a:lnSpc>
              <a:buAutoNum type="arabicPeriod"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we trust it?</a:t>
            </a:r>
          </a:p>
          <a:p>
            <a:pPr marL="342900" indent="-342900" algn="l">
              <a:lnSpc>
                <a:spcPts val="2320"/>
              </a:lnSpc>
              <a:buAutoNum type="arabicPeriod"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patterns are really present?</a:t>
            </a:r>
          </a:p>
          <a:p>
            <a:pPr marL="342900" indent="-342900" algn="l">
              <a:lnSpc>
                <a:spcPts val="2320"/>
              </a:lnSpc>
              <a:buAutoNum type="arabicPeriod"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stores/products drive those patterns?</a:t>
            </a:r>
          </a:p>
          <a:p>
            <a:pPr marL="342900" indent="-342900" algn="l">
              <a:lnSpc>
                <a:spcPts val="2320"/>
              </a:lnSpc>
              <a:buAutoNum type="arabicPeriod"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must exist reliably for the next stage?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148656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4233D8-9BE7-C87C-EB82-776BA8879337}"/>
              </a:ext>
            </a:extLst>
          </p:cNvPr>
          <p:cNvSpPr txBox="1"/>
          <p:nvPr/>
        </p:nvSpPr>
        <p:spPr>
          <a:xfrm>
            <a:off x="923365" y="4364941"/>
            <a:ext cx="104558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What is really happening in </a:t>
            </a:r>
            <a:r>
              <a:rPr lang="en-IN" sz="2800" b="1" dirty="0" err="1"/>
              <a:t>FreshMart's</a:t>
            </a:r>
            <a:r>
              <a:rPr lang="en-IN" sz="2800" b="1" dirty="0"/>
              <a:t> data — and what must exist reliably before anyone can predict reorder propensity?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F0EA9-9C27-BF59-1FC0-602EB3C96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410911-0D77-B93A-118B-1F5D8D2B83EE}"/>
              </a:ext>
            </a:extLst>
          </p:cNvPr>
          <p:cNvSpPr/>
          <p:nvPr/>
        </p:nvSpPr>
        <p:spPr>
          <a:xfrm>
            <a:off x="565404" y="27638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THE ANALYTICAL MENTAL MODEL </a:t>
            </a:r>
            <a:r>
              <a:rPr lang="en-IN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-</a:t>
            </a: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STRUCTURED </a:t>
            </a: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BAB5F9-4148-C60A-3F25-13ED0343B28E}"/>
              </a:ext>
            </a:extLst>
          </p:cNvPr>
          <p:cNvSpPr/>
          <p:nvPr/>
        </p:nvSpPr>
        <p:spPr>
          <a:xfrm>
            <a:off x="565404" y="591305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steps EDA discipline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94F9DC-C871-A5F2-264D-53C22B8F0F04}"/>
              </a:ext>
            </a:extLst>
          </p:cNvPr>
          <p:cNvSpPr/>
          <p:nvPr/>
        </p:nvSpPr>
        <p:spPr>
          <a:xfrm>
            <a:off x="819150" y="1987451"/>
            <a:ext cx="1494334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98595A-0F4C-287D-B61E-ACD22863A43E}"/>
              </a:ext>
            </a:extLst>
          </p:cNvPr>
          <p:cNvSpPr/>
          <p:nvPr/>
        </p:nvSpPr>
        <p:spPr>
          <a:xfrm>
            <a:off x="927100" y="2146201"/>
            <a:ext cx="1329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M1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681F7D-F092-A8CD-4F63-8FD3050BC4BE}"/>
              </a:ext>
            </a:extLst>
          </p:cNvPr>
          <p:cNvSpPr/>
          <p:nvPr/>
        </p:nvSpPr>
        <p:spPr>
          <a:xfrm>
            <a:off x="927100" y="2423021"/>
            <a:ext cx="1329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&amp; grain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D6FF0B-B732-1D28-4AB3-14E72C4A1DB9}"/>
              </a:ext>
            </a:extLst>
          </p:cNvPr>
          <p:cNvSpPr/>
          <p:nvPr/>
        </p:nvSpPr>
        <p:spPr>
          <a:xfrm>
            <a:off x="927100" y="2715121"/>
            <a:ext cx="132923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one row mean?</a:t>
            </a:r>
            <a:endParaRPr lang="en-US" sz="1200" dirty="0"/>
          </a:p>
        </p:txBody>
      </p:sp>
      <p:pic>
        <p:nvPicPr>
          <p:cNvPr id="8" name="Image 0" descr="arrow-right">
            <a:extLst>
              <a:ext uri="{FF2B5EF4-FFF2-40B4-BE49-F238E27FC236}">
                <a16:creationId xmlns:a16="http://schemas.microsoft.com/office/drawing/2014/main" id="{68106359-D72D-AF0D-1412-342D558EB1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3334" y="2572841"/>
            <a:ext cx="177800" cy="127000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232C1FFD-F7E1-1847-1237-ECA570F845EF}"/>
              </a:ext>
            </a:extLst>
          </p:cNvPr>
          <p:cNvSpPr/>
          <p:nvPr/>
        </p:nvSpPr>
        <p:spPr>
          <a:xfrm>
            <a:off x="2630984" y="1987451"/>
            <a:ext cx="1494433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981927-53B4-123F-315F-80CBD3DA10D2}"/>
              </a:ext>
            </a:extLst>
          </p:cNvPr>
          <p:cNvSpPr/>
          <p:nvPr/>
        </p:nvSpPr>
        <p:spPr>
          <a:xfrm>
            <a:off x="2738934" y="2146201"/>
            <a:ext cx="1329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M1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25E983A-0202-9198-A0C1-B72003F4EB33}"/>
              </a:ext>
            </a:extLst>
          </p:cNvPr>
          <p:cNvSpPr/>
          <p:nvPr/>
        </p:nvSpPr>
        <p:spPr>
          <a:xfrm>
            <a:off x="2738934" y="2423021"/>
            <a:ext cx="132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24EFDD0-93B1-8EBB-1C0A-19381517D1A0}"/>
              </a:ext>
            </a:extLst>
          </p:cNvPr>
          <p:cNvSpPr/>
          <p:nvPr/>
        </p:nvSpPr>
        <p:spPr>
          <a:xfrm>
            <a:off x="2738934" y="2715121"/>
            <a:ext cx="132933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span, which entities?</a:t>
            </a:r>
            <a:endParaRPr lang="en-US" sz="1200" dirty="0"/>
          </a:p>
        </p:txBody>
      </p:sp>
      <p:pic>
        <p:nvPicPr>
          <p:cNvPr id="13" name="Image 1" descr="arrow-right">
            <a:extLst>
              <a:ext uri="{FF2B5EF4-FFF2-40B4-BE49-F238E27FC236}">
                <a16:creationId xmlns:a16="http://schemas.microsoft.com/office/drawing/2014/main" id="{31EF74AB-6DA6-8D4E-E0E3-9F2C5B18DC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5266" y="2572841"/>
            <a:ext cx="177800" cy="127000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930B9D01-384D-75D9-8042-089CFF2F10DA}"/>
              </a:ext>
            </a:extLst>
          </p:cNvPr>
          <p:cNvSpPr/>
          <p:nvPr/>
        </p:nvSpPr>
        <p:spPr>
          <a:xfrm>
            <a:off x="4442916" y="1987451"/>
            <a:ext cx="1494334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4909550-5A86-1B8C-179E-53C3C8D608AD}"/>
              </a:ext>
            </a:extLst>
          </p:cNvPr>
          <p:cNvSpPr/>
          <p:nvPr/>
        </p:nvSpPr>
        <p:spPr>
          <a:xfrm>
            <a:off x="4550866" y="2146201"/>
            <a:ext cx="1329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M1–2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F2A32E5-65AC-AEC5-5F18-F4C1520164BA}"/>
              </a:ext>
            </a:extLst>
          </p:cNvPr>
          <p:cNvSpPr/>
          <p:nvPr/>
        </p:nvSpPr>
        <p:spPr>
          <a:xfrm>
            <a:off x="4550866" y="2423021"/>
            <a:ext cx="1329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</a:t>
            </a:r>
            <a:endParaRPr lang="en-US" sz="15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D160315-633C-F39E-6A11-794C00C61879}"/>
              </a:ext>
            </a:extLst>
          </p:cNvPr>
          <p:cNvSpPr/>
          <p:nvPr/>
        </p:nvSpPr>
        <p:spPr>
          <a:xfrm>
            <a:off x="4550866" y="2715121"/>
            <a:ext cx="132923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Missing, duplicate, impossible?</a:t>
            </a:r>
            <a:endParaRPr lang="en-US" sz="1200" dirty="0"/>
          </a:p>
        </p:txBody>
      </p:sp>
      <p:pic>
        <p:nvPicPr>
          <p:cNvPr id="18" name="Image 2" descr="arrow-right">
            <a:extLst>
              <a:ext uri="{FF2B5EF4-FFF2-40B4-BE49-F238E27FC236}">
                <a16:creationId xmlns:a16="http://schemas.microsoft.com/office/drawing/2014/main" id="{530530B0-1B83-85BF-C380-B105ABC14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7100" y="2572841"/>
            <a:ext cx="177800" cy="127000"/>
          </a:xfrm>
          <a:prstGeom prst="rect">
            <a:avLst/>
          </a:prstGeom>
        </p:spPr>
      </p:pic>
      <p:sp>
        <p:nvSpPr>
          <p:cNvPr id="19" name="Shape 14">
            <a:extLst>
              <a:ext uri="{FF2B5EF4-FFF2-40B4-BE49-F238E27FC236}">
                <a16:creationId xmlns:a16="http://schemas.microsoft.com/office/drawing/2014/main" id="{52C22728-E650-C650-CD6C-55F6A2B39787}"/>
              </a:ext>
            </a:extLst>
          </p:cNvPr>
          <p:cNvSpPr/>
          <p:nvPr/>
        </p:nvSpPr>
        <p:spPr>
          <a:xfrm>
            <a:off x="6254750" y="1987451"/>
            <a:ext cx="1494433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FABDC0B0-C40F-0515-CA75-28B01846D458}"/>
              </a:ext>
            </a:extLst>
          </p:cNvPr>
          <p:cNvSpPr/>
          <p:nvPr/>
        </p:nvSpPr>
        <p:spPr>
          <a:xfrm>
            <a:off x="6362700" y="2146201"/>
            <a:ext cx="1329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M2</a:t>
            </a:r>
            <a:endParaRPr lang="en-US" sz="12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2C888AE-9DAC-F825-F9D5-8BB46B4A4470}"/>
              </a:ext>
            </a:extLst>
          </p:cNvPr>
          <p:cNvSpPr/>
          <p:nvPr/>
        </p:nvSpPr>
        <p:spPr>
          <a:xfrm>
            <a:off x="6362700" y="2423021"/>
            <a:ext cx="132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86A6039-D11D-4B32-63EF-F231E277A786}"/>
              </a:ext>
            </a:extLst>
          </p:cNvPr>
          <p:cNvSpPr/>
          <p:nvPr/>
        </p:nvSpPr>
        <p:spPr>
          <a:xfrm>
            <a:off x="6362700" y="2715121"/>
            <a:ext cx="132933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Centre, spread, skew, outliers</a:t>
            </a:r>
            <a:endParaRPr lang="en-US" sz="1200" dirty="0"/>
          </a:p>
        </p:txBody>
      </p:sp>
      <p:pic>
        <p:nvPicPr>
          <p:cNvPr id="23" name="Image 3" descr="arrow-right">
            <a:extLst>
              <a:ext uri="{FF2B5EF4-FFF2-40B4-BE49-F238E27FC236}">
                <a16:creationId xmlns:a16="http://schemas.microsoft.com/office/drawing/2014/main" id="{93F03F84-95AD-43F2-60AB-3976C2553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9033" y="2572841"/>
            <a:ext cx="177800" cy="127000"/>
          </a:xfrm>
          <a:prstGeom prst="rect">
            <a:avLst/>
          </a:prstGeom>
        </p:spPr>
      </p:pic>
      <p:sp>
        <p:nvSpPr>
          <p:cNvPr id="24" name="Shape 18">
            <a:extLst>
              <a:ext uri="{FF2B5EF4-FFF2-40B4-BE49-F238E27FC236}">
                <a16:creationId xmlns:a16="http://schemas.microsoft.com/office/drawing/2014/main" id="{69997D04-24B9-37F1-AE4C-380C0A9D0DDD}"/>
              </a:ext>
            </a:extLst>
          </p:cNvPr>
          <p:cNvSpPr/>
          <p:nvPr/>
        </p:nvSpPr>
        <p:spPr>
          <a:xfrm>
            <a:off x="8066683" y="1987451"/>
            <a:ext cx="1494334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7C4B6D3E-A091-8DC9-DD7C-6E8B925F4F86}"/>
              </a:ext>
            </a:extLst>
          </p:cNvPr>
          <p:cNvSpPr/>
          <p:nvPr/>
        </p:nvSpPr>
        <p:spPr>
          <a:xfrm>
            <a:off x="8174633" y="2146201"/>
            <a:ext cx="1329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M3–4</a:t>
            </a:r>
            <a:endParaRPr lang="en-US" sz="12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FB2B5E0-8A95-A0F2-95C7-CCFC12678EAD}"/>
              </a:ext>
            </a:extLst>
          </p:cNvPr>
          <p:cNvSpPr/>
          <p:nvPr/>
        </p:nvSpPr>
        <p:spPr>
          <a:xfrm>
            <a:off x="8174633" y="2423021"/>
            <a:ext cx="1329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290BE936-2168-4416-028D-4E881266AFAE}"/>
              </a:ext>
            </a:extLst>
          </p:cNvPr>
          <p:cNvSpPr/>
          <p:nvPr/>
        </p:nvSpPr>
        <p:spPr>
          <a:xfrm>
            <a:off x="8174633" y="2715121"/>
            <a:ext cx="132923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variables move together?</a:t>
            </a:r>
            <a:endParaRPr lang="en-US" sz="1200" dirty="0"/>
          </a:p>
        </p:txBody>
      </p:sp>
      <p:pic>
        <p:nvPicPr>
          <p:cNvPr id="28" name="Image 4" descr="arrow-right">
            <a:extLst>
              <a:ext uri="{FF2B5EF4-FFF2-40B4-BE49-F238E27FC236}">
                <a16:creationId xmlns:a16="http://schemas.microsoft.com/office/drawing/2014/main" id="{FE618BC0-A9EB-3C80-6C7E-122D8AEED0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30866" y="2572841"/>
            <a:ext cx="177800" cy="127000"/>
          </a:xfrm>
          <a:prstGeom prst="rect">
            <a:avLst/>
          </a:prstGeom>
        </p:spPr>
      </p:pic>
      <p:sp>
        <p:nvSpPr>
          <p:cNvPr id="29" name="Shape 22">
            <a:extLst>
              <a:ext uri="{FF2B5EF4-FFF2-40B4-BE49-F238E27FC236}">
                <a16:creationId xmlns:a16="http://schemas.microsoft.com/office/drawing/2014/main" id="{8F1123AE-0023-49F2-F7CE-A2E894DF6141}"/>
              </a:ext>
            </a:extLst>
          </p:cNvPr>
          <p:cNvSpPr/>
          <p:nvPr/>
        </p:nvSpPr>
        <p:spPr>
          <a:xfrm>
            <a:off x="9878516" y="1987451"/>
            <a:ext cx="1494334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1C97C32A-F848-61BC-A55F-8F0F58E545BE}"/>
              </a:ext>
            </a:extLst>
          </p:cNvPr>
          <p:cNvSpPr/>
          <p:nvPr/>
        </p:nvSpPr>
        <p:spPr>
          <a:xfrm>
            <a:off x="9986466" y="2146201"/>
            <a:ext cx="1329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M5</a:t>
            </a:r>
            <a:endParaRPr lang="en-US" sz="12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8B9B5A23-94C3-F5ED-7228-C79C88DF66FA}"/>
              </a:ext>
            </a:extLst>
          </p:cNvPr>
          <p:cNvSpPr/>
          <p:nvPr/>
        </p:nvSpPr>
        <p:spPr>
          <a:xfrm>
            <a:off x="9986466" y="2423021"/>
            <a:ext cx="1329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570359D6-F33F-EEAA-DBD5-AF7F885F4384}"/>
              </a:ext>
            </a:extLst>
          </p:cNvPr>
          <p:cNvSpPr/>
          <p:nvPr/>
        </p:nvSpPr>
        <p:spPr>
          <a:xfrm>
            <a:off x="9986466" y="2715121"/>
            <a:ext cx="132923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sub-groups differ?</a:t>
            </a:r>
            <a:endParaRPr lang="en-US" sz="12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454F4125-4888-446C-E17B-6272A4E9A206}"/>
              </a:ext>
            </a:extLst>
          </p:cNvPr>
          <p:cNvSpPr/>
          <p:nvPr/>
        </p:nvSpPr>
        <p:spPr>
          <a:xfrm>
            <a:off x="812800" y="3697982"/>
            <a:ext cx="108833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then visualize — and only to answer a stated question.</a:t>
            </a:r>
            <a:endParaRPr lang="en-US" sz="160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03CE88CD-B5A5-6225-3E1E-E619387CE333}"/>
              </a:ext>
            </a:extLst>
          </p:cNvPr>
          <p:cNvSpPr/>
          <p:nvPr/>
        </p:nvSpPr>
        <p:spPr>
          <a:xfrm>
            <a:off x="59333" y="6532899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CFE87A97-3406-6240-C094-CE765BA390F9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9582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33139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646311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POS extract, deliberately dirty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28701"/>
          <a:ext cx="6604000" cy="2660648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holds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transaction_id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sale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transaction_date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Jul – 15 Aug 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store_id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 stores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product_id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 products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units sold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unit_price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₹20–₹500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quantity × price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23200" y="1838226"/>
            <a:ext cx="16637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823200" y="1974751"/>
            <a:ext cx="171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31,598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823200" y="2594471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715500" y="1838226"/>
            <a:ext cx="16637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715500" y="1974751"/>
            <a:ext cx="171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715500" y="2594471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23200" y="3055441"/>
            <a:ext cx="16637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823200" y="3191966"/>
            <a:ext cx="171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823200" y="3811687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quantities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715500" y="3055441"/>
            <a:ext cx="16637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715500" y="3191966"/>
            <a:ext cx="171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9715500" y="3811687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 IDs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23200" y="4263132"/>
            <a:ext cx="366268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 a store master: city and store_type — 8 Express, 7 Metro, 5 Neighbourhood.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90500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287" y="264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1 · WHAT ARRIVED?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2287" y="57914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Establish shape, grain and quality before any trend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6350000" cy="2195612"/>
          </a:xfrm>
          <a:prstGeom prst="roundRect">
            <a:avLst>
              <a:gd name="adj" fmla="val 4627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1400" y="2057301"/>
            <a:ext cx="6069584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analyze_data.py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shape: (31598, 7)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: 2026-07-03 to 2026-08-15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stores: 20 | products: 100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quantity missing: 252 duplicate transaction_ids: 150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00" y="663964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914" y="32347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1 · CODED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8914" y="638396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every finding: contract, or analysis-local?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1437084"/>
        </p:xfrm>
        <a:graphic>
          <a:graphicData uri="http://schemas.openxmlformats.org/drawingml/2006/table">
            <a:tbl>
              <a:tblPr/>
              <a:tblGrid>
                <a:gridCol w="2747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Route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Duplicate transaction_ids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Engineering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Uniqueness is a contract guarantee, enforced upstream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quantity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Engineering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Completeness of a core measure belongs in the contract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Negative revenue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Local / none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None here; would be a range check if present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811885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“The data is a bit messy” gets no action. A routed table with counts does — and it is the first draft of Lab 1's contract.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0156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419" y="37160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2 · AUTOMATED PROFILING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3419" y="686522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profile is a second opinion, not a verdict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5461000" cy="1480741"/>
          </a:xfrm>
          <a:prstGeom prst="roundRect">
            <a:avLst>
              <a:gd name="adj" fmla="val 6861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1400" y="2057301"/>
            <a:ext cx="5153914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ydata_profiling import ProfileReport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ProfileReport(df, title="FreshMart POS") \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.to_file("freshmart_m2/profile.html")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78600" y="1828701"/>
            <a:ext cx="4944618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ydata-profiling computes distributions, correlations, missingness and cardinality for every column at once. It accelerates the first pass — it never licenses auto-cleaning.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9150" y="3569791"/>
            <a:ext cx="3407767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77900" y="3728541"/>
            <a:ext cx="31829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7900" y="4023122"/>
            <a:ext cx="31829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high-cardinality 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2017" y="3569791"/>
            <a:ext cx="3407866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50767" y="3728541"/>
            <a:ext cx="318307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0767" y="4023122"/>
            <a:ext cx="31830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bimodal price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64984" y="3569791"/>
            <a:ext cx="3407866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23734" y="3728541"/>
            <a:ext cx="318307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bug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3734" y="4023122"/>
            <a:ext cx="31830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missingness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384" y="658623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539" y="34486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2 · CODED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8539" y="659785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the HTML profile into a triage table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1437084"/>
        </p:xfrm>
        <a:graphic>
          <a:graphicData uri="http://schemas.openxmlformats.org/drawingml/2006/table">
            <a:tbl>
              <a:tblPr/>
              <a:tblGrid>
                <a:gridCol w="29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Expected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Verdict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transaction_id near-unique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0.9953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&gt; 0.99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 — the duplicates are the injected 150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quantity missing rate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0.0080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SUSPICIOUS — investigate the feed, do not impute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unit_price range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20.01 – 500.0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 – 500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 — within business range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811885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raw report is not a decision. Measured value, expected value and a verdict with a reason — that is what a reviewer can act 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30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142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3 · THE NUMBER THAT CHANGES THE MEETING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45720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stores drive the growth? 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4129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57324F-1F79-F5A2-E587-A1D0855B51C0}"/>
              </a:ext>
            </a:extLst>
          </p:cNvPr>
          <p:cNvSpPr txBox="1"/>
          <p:nvPr/>
        </p:nvSpPr>
        <p:spPr>
          <a:xfrm>
            <a:off x="744070" y="188844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Best by what?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Revenue?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Units?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Transactions?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Growth?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Revenue per active day?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B42D0-1403-CF32-48F3-671119A72BC6}"/>
              </a:ext>
            </a:extLst>
          </p:cNvPr>
          <p:cNvSpPr txBox="1"/>
          <p:nvPr/>
        </p:nvSpPr>
        <p:spPr>
          <a:xfrm>
            <a:off x="1846729" y="440350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depends on the metric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C063A-3B59-C562-5C6D-6D5BD6B6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CA3A18-9769-6641-D1CB-6AE40D319619}"/>
              </a:ext>
            </a:extLst>
          </p:cNvPr>
          <p:cNvSpPr/>
          <p:nvPr/>
        </p:nvSpPr>
        <p:spPr>
          <a:xfrm>
            <a:off x="216033" y="26164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3 · THE NUMBER THAT CHANGES THE MEETING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19E128-8466-97AD-FFEE-9A74E8EFA88F}"/>
              </a:ext>
            </a:extLst>
          </p:cNvPr>
          <p:cNvSpPr/>
          <p:nvPr/>
        </p:nvSpPr>
        <p:spPr>
          <a:xfrm>
            <a:off x="216033" y="57656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stores drive the growth? It depends on the metric</a:t>
            </a:r>
            <a:endParaRPr lang="en-US" sz="32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DC9DA8DC-1706-7CC8-B62E-2E9C9C2BCEF2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2275681"/>
          <a:ext cx="7035800" cy="1437084"/>
        </p:xfrm>
        <a:graphic>
          <a:graphicData uri="http://schemas.openxmlformats.org/drawingml/2006/table">
            <a:tbl>
              <a:tblPr/>
              <a:tblGrid>
                <a:gridCol w="985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9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 days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/ day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S002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9,127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₹24,16,489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₹1,05,065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S013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9,275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₹24,14,149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₹1,00,590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S014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8,711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₹22,82,646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₹95,110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91F6BB28-6DF2-5511-C098-B682E9724E83}"/>
              </a:ext>
            </a:extLst>
          </p:cNvPr>
          <p:cNvSpPr/>
          <p:nvPr/>
        </p:nvSpPr>
        <p:spPr>
          <a:xfrm>
            <a:off x="8204200" y="2285206"/>
            <a:ext cx="31750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69559FE-5C35-7A65-E3DF-74D3D4B880DD}"/>
              </a:ext>
            </a:extLst>
          </p:cNvPr>
          <p:cNvSpPr/>
          <p:nvPr/>
        </p:nvSpPr>
        <p:spPr>
          <a:xfrm>
            <a:off x="8204200" y="2421731"/>
            <a:ext cx="32702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of 20</a:t>
            </a:r>
            <a:endParaRPr lang="en-US" sz="3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722C67C-5E94-3DE7-1F3E-EF36AD05AE28}"/>
              </a:ext>
            </a:extLst>
          </p:cNvPr>
          <p:cNvSpPr/>
          <p:nvPr/>
        </p:nvSpPr>
        <p:spPr>
          <a:xfrm>
            <a:off x="8204200" y="3041452"/>
            <a:ext cx="327025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stores change rank between revenue and revenue per day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777B8A6-F337-5B44-42AB-21E49B8B9257}"/>
              </a:ext>
            </a:extLst>
          </p:cNvPr>
          <p:cNvSpPr/>
          <p:nvPr/>
        </p:nvSpPr>
        <p:spPr>
          <a:xfrm>
            <a:off x="8204200" y="3664942"/>
            <a:ext cx="3270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S015 and S012 enter the top 5 only on revenue per day.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4D5E51C-7B38-81A7-FA8D-59B05BAF99F1}"/>
              </a:ext>
            </a:extLst>
          </p:cNvPr>
          <p:cNvSpPr/>
          <p:nvPr/>
        </p:nvSpPr>
        <p:spPr>
          <a:xfrm>
            <a:off x="129406" y="659636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38D36B-217D-5A92-3A9B-964EC0E1D1BB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1498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1870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LESSON OF MISSION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36825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“Which store is best?” has no answer until you fix the metric.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1002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late-opening, high-velocity store is invisible on raw revenue and leads on revenue per day. That is why the reorder model needs per-store, per-day features — not one revenue number.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138" y="36147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</a:t>
            </a:r>
            <a:r>
              <a:rPr lang="en-IN" sz="1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NOW WE HAVE EVIDENCE. SO HOW DO WE VISUALIZE IT?  </a:t>
            </a:r>
            <a:r>
              <a:rPr lang="en-US" sz="1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CHOOSING THE RIGHT CHART</a:t>
            </a:r>
          </a:p>
        </p:txBody>
      </p:sp>
      <p:sp>
        <p:nvSpPr>
          <p:cNvPr id="3" name="Text 1"/>
          <p:cNvSpPr/>
          <p:nvPr/>
        </p:nvSpPr>
        <p:spPr>
          <a:xfrm>
            <a:off x="412138" y="676399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analytical chain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0905" y="6575493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DF35B-3E23-045F-97B7-A0FBDD7FF80B}"/>
              </a:ext>
            </a:extLst>
          </p:cNvPr>
          <p:cNvSpPr txBox="1"/>
          <p:nvPr/>
        </p:nvSpPr>
        <p:spPr>
          <a:xfrm>
            <a:off x="3408664" y="15823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BUSINESS QUESTION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ANALYTICAL TASK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RELATIONSHIP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DATA VARIABLES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VISUAL VARIABLES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CHART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LIBRARY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3B62B-9D22-632D-D4AF-78EB3669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50D6D8-AA36-1620-4D77-315E9ACB3342}"/>
              </a:ext>
            </a:extLst>
          </p:cNvPr>
          <p:cNvSpPr/>
          <p:nvPr/>
        </p:nvSpPr>
        <p:spPr>
          <a:xfrm>
            <a:off x="254535" y="26164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</a:t>
            </a:r>
            <a:r>
              <a:rPr lang="en-US" sz="1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CHOOSING THE RIGHT CHART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82594A-2818-DAC8-059F-A7729EE471E2}"/>
              </a:ext>
            </a:extLst>
          </p:cNvPr>
          <p:cNvSpPr/>
          <p:nvPr/>
        </p:nvSpPr>
        <p:spPr>
          <a:xfrm>
            <a:off x="254535" y="57656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3200" b="1" kern="0" spc="150" dirty="0">
                <a:latin typeface="JetBrains Mono" pitchFamily="34" charset="0"/>
                <a:ea typeface="JetBrains Mono" pitchFamily="34" charset="-122"/>
              </a:rPr>
              <a:t>Data variables ≠ Visual variables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3C8DC32-742B-29D8-ABC6-EFDC6AAF17D2}"/>
              </a:ext>
            </a:extLst>
          </p:cNvPr>
          <p:cNvSpPr/>
          <p:nvPr/>
        </p:nvSpPr>
        <p:spPr>
          <a:xfrm>
            <a:off x="158282" y="659636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2E1F724-A317-9505-DB10-C1AED635F2A1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C643B-E7A8-E000-6168-E90ACECBA75E}"/>
              </a:ext>
            </a:extLst>
          </p:cNvPr>
          <p:cNvSpPr txBox="1"/>
          <p:nvPr/>
        </p:nvSpPr>
        <p:spPr>
          <a:xfrm>
            <a:off x="812800" y="1680853"/>
            <a:ext cx="31675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 VARIABLES</a:t>
            </a:r>
          </a:p>
          <a:p>
            <a:r>
              <a:rPr lang="en-IN" b="1" dirty="0"/>
              <a:t>What exists in the dataset</a:t>
            </a:r>
            <a:r>
              <a:rPr lang="en-IN" dirty="0"/>
              <a:t>.</a:t>
            </a:r>
          </a:p>
          <a:p>
            <a:pPr lvl="0"/>
            <a:r>
              <a:rPr lang="en-IN" dirty="0" err="1"/>
              <a:t>store_id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transaction_date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product_id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quantity </a:t>
            </a:r>
          </a:p>
          <a:p>
            <a:pPr lvl="0"/>
            <a:r>
              <a:rPr lang="en-IN" dirty="0" err="1"/>
              <a:t>unit_price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revenue </a:t>
            </a:r>
          </a:p>
          <a:p>
            <a:pPr lvl="0"/>
            <a:r>
              <a:rPr lang="en-IN" dirty="0" err="1"/>
              <a:t>store_type</a:t>
            </a:r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FC8F6-E087-79B9-2BD1-C953D38EC14F}"/>
              </a:ext>
            </a:extLst>
          </p:cNvPr>
          <p:cNvSpPr txBox="1"/>
          <p:nvPr/>
        </p:nvSpPr>
        <p:spPr>
          <a:xfrm>
            <a:off x="5600192" y="165708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VISUAL VARIABLES</a:t>
            </a:r>
          </a:p>
          <a:p>
            <a:r>
              <a:rPr lang="en-IN" sz="1800" b="1" dirty="0"/>
              <a:t>How information is represented visually.</a:t>
            </a:r>
          </a:p>
          <a:p>
            <a:pPr lvl="0"/>
            <a:r>
              <a:rPr lang="en-IN" sz="1800" dirty="0"/>
              <a:t>Position </a:t>
            </a:r>
          </a:p>
          <a:p>
            <a:pPr lvl="0"/>
            <a:r>
              <a:rPr lang="en-IN" sz="1800" dirty="0"/>
              <a:t>Length </a:t>
            </a:r>
          </a:p>
          <a:p>
            <a:pPr lvl="0"/>
            <a:r>
              <a:rPr lang="en-IN" sz="1800" dirty="0"/>
              <a:t>Angle </a:t>
            </a:r>
          </a:p>
          <a:p>
            <a:pPr lvl="0"/>
            <a:r>
              <a:rPr lang="en-IN" sz="1800" dirty="0"/>
              <a:t>Area </a:t>
            </a:r>
          </a:p>
          <a:p>
            <a:pPr lvl="0"/>
            <a:r>
              <a:rPr lang="en-IN" sz="1800" dirty="0"/>
              <a:t>Colour </a:t>
            </a:r>
          </a:p>
          <a:p>
            <a:pPr lvl="0"/>
            <a:r>
              <a:rPr lang="en-IN" sz="1800" dirty="0"/>
              <a:t>Shape </a:t>
            </a:r>
          </a:p>
          <a:p>
            <a:pPr lvl="0"/>
            <a:r>
              <a:rPr lang="en-IN" sz="1800" dirty="0"/>
              <a:t>Size </a:t>
            </a:r>
          </a:p>
          <a:p>
            <a:pPr lvl="0"/>
            <a:r>
              <a:rPr lang="en-IN" sz="1800" dirty="0"/>
              <a:t>Connection</a:t>
            </a:r>
          </a:p>
        </p:txBody>
      </p:sp>
    </p:spTree>
    <p:extLst>
      <p:ext uri="{BB962C8B-B14F-4D97-AF65-F5344CB8AC3E}">
        <p14:creationId xmlns:p14="http://schemas.microsoft.com/office/powerpoint/2010/main" val="422841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6DEE2-C540-3E7C-735F-FC17D80A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4B682A-D985-DCEC-4C2A-870CC785DB8B}"/>
              </a:ext>
            </a:extLst>
          </p:cNvPr>
          <p:cNvSpPr/>
          <p:nvPr/>
        </p:nvSpPr>
        <p:spPr>
          <a:xfrm>
            <a:off x="360412" y="3404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</a:t>
            </a:r>
            <a:r>
              <a:rPr lang="en-US" sz="1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CHOOSING THE RIGHT CHART-THE QUESTION SHOULD CONTROL THE ENCODING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D4F4E1-5EBE-83D0-5769-BD2821D2B71F}"/>
              </a:ext>
            </a:extLst>
          </p:cNvPr>
          <p:cNvSpPr/>
          <p:nvPr/>
        </p:nvSpPr>
        <p:spPr>
          <a:xfrm>
            <a:off x="360412" y="65534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3200" b="1" kern="0" spc="150" dirty="0">
                <a:latin typeface="JetBrains Mono" pitchFamily="34" charset="0"/>
                <a:ea typeface="JetBrains Mono" pitchFamily="34" charset="-122"/>
              </a:rPr>
              <a:t>Same data. Different question. Different visualization</a:t>
            </a:r>
            <a:r>
              <a:rPr lang="en-US" sz="3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.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D245737-76F2-38B7-6D7C-FFC1E7CFD3AB}"/>
              </a:ext>
            </a:extLst>
          </p:cNvPr>
          <p:cNvSpPr/>
          <p:nvPr/>
        </p:nvSpPr>
        <p:spPr>
          <a:xfrm>
            <a:off x="139031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D1EB605-259A-6165-6B30-7815895223F9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E9CD61C-2407-7E18-B627-917D3491B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485728"/>
              </p:ext>
            </p:extLst>
          </p:nvPr>
        </p:nvGraphicFramePr>
        <p:xfrm>
          <a:off x="289432" y="1443920"/>
          <a:ext cx="11025352" cy="4469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7092">
                  <a:extLst>
                    <a:ext uri="{9D8B030D-6E8A-4147-A177-3AD203B41FA5}">
                      <a16:colId xmlns:a16="http://schemas.microsoft.com/office/drawing/2014/main" val="3451810316"/>
                    </a:ext>
                  </a:extLst>
                </a:gridCol>
                <a:gridCol w="1940949">
                  <a:extLst>
                    <a:ext uri="{9D8B030D-6E8A-4147-A177-3AD203B41FA5}">
                      <a16:colId xmlns:a16="http://schemas.microsoft.com/office/drawing/2014/main" val="1550970573"/>
                    </a:ext>
                  </a:extLst>
                </a:gridCol>
                <a:gridCol w="2506099">
                  <a:extLst>
                    <a:ext uri="{9D8B030D-6E8A-4147-A177-3AD203B41FA5}">
                      <a16:colId xmlns:a16="http://schemas.microsoft.com/office/drawing/2014/main" val="2423134242"/>
                    </a:ext>
                  </a:extLst>
                </a:gridCol>
                <a:gridCol w="2426194">
                  <a:extLst>
                    <a:ext uri="{9D8B030D-6E8A-4147-A177-3AD203B41FA5}">
                      <a16:colId xmlns:a16="http://schemas.microsoft.com/office/drawing/2014/main" val="168135632"/>
                    </a:ext>
                  </a:extLst>
                </a:gridCol>
                <a:gridCol w="1195018">
                  <a:extLst>
                    <a:ext uri="{9D8B030D-6E8A-4147-A177-3AD203B41FA5}">
                      <a16:colId xmlns:a16="http://schemas.microsoft.com/office/drawing/2014/main" val="1193646994"/>
                    </a:ext>
                  </a:extLst>
                </a:gridCol>
              </a:tblGrid>
              <a:tr h="3263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Question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Analytical 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Data 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Visual encoding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979407"/>
                  </a:ext>
                </a:extLst>
              </a:tr>
              <a:tr h="32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did revenue change over time?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Date →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Position →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447172"/>
                  </a:ext>
                </a:extLst>
              </a:tr>
              <a:tr h="32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Which store generated the most revenue?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Category →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Position +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543437"/>
                  </a:ext>
                </a:extLst>
              </a:tr>
              <a:tr h="32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Which are the top 10 stores by revenue?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Category →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Position +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Sorted Bar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856901"/>
                  </a:ext>
                </a:extLst>
              </a:tr>
              <a:tr h="32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are transaction values distributed?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Measure →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Position +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Histogram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64848"/>
                  </a:ext>
                </a:extLst>
              </a:tr>
              <a:tr h="32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price related to quantity?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Measure →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Position →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Scatter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313588"/>
                  </a:ext>
                </a:extLst>
              </a:tr>
              <a:tr h="32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proportion of revenue comes from each region?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Category → Parts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Length / Colour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Stacked Bar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345452"/>
                  </a:ext>
                </a:extLst>
              </a:tr>
              <a:tr h="3263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 are revenues concentrated geographically?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Geography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Location →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Spatial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788897"/>
                  </a:ext>
                </a:extLst>
              </a:tr>
              <a:tr h="326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is revenue composed across categories for each store?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Entity ×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Position + Colour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Heatmap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486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183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E6217-DB69-28B2-9F47-5EFE355A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B8C18C-BBAD-0309-EC4E-19C51F6D54D5}"/>
              </a:ext>
            </a:extLst>
          </p:cNvPr>
          <p:cNvSpPr/>
          <p:nvPr/>
        </p:nvSpPr>
        <p:spPr>
          <a:xfrm>
            <a:off x="244909" y="41144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</a:t>
            </a:r>
            <a:r>
              <a:rPr lang="en-US" sz="1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CHOOSING THE RIGHT CHART-THE QUESTION SHOULD CONTROL THE ENCODING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FB9BED-AC88-D4D7-F92C-C4E6FC58ABCE}"/>
              </a:ext>
            </a:extLst>
          </p:cNvPr>
          <p:cNvSpPr/>
          <p:nvPr/>
        </p:nvSpPr>
        <p:spPr>
          <a:xfrm>
            <a:off x="244909" y="72636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3200" b="1" kern="0" spc="150" dirty="0">
                <a:latin typeface="JetBrains Mono" pitchFamily="34" charset="0"/>
                <a:ea typeface="JetBrains Mono" pitchFamily="34" charset="-122"/>
              </a:rPr>
              <a:t>Not all visual encodings are equally precise</a:t>
            </a:r>
            <a:r>
              <a:rPr lang="en-US" sz="3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.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CE65316-E51E-432E-2C2E-459509E0DEA5}"/>
              </a:ext>
            </a:extLst>
          </p:cNvPr>
          <p:cNvSpPr/>
          <p:nvPr/>
        </p:nvSpPr>
        <p:spPr>
          <a:xfrm>
            <a:off x="158377" y="6552044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7A3D96E-0E58-D4A8-8141-3EAD81E8D71E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E2E57-2DCF-A08C-E408-4803EE38B0F6}"/>
              </a:ext>
            </a:extLst>
          </p:cNvPr>
          <p:cNvSpPr txBox="1"/>
          <p:nvPr/>
        </p:nvSpPr>
        <p:spPr>
          <a:xfrm>
            <a:off x="1407459" y="1927028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Strong for quantitative comparison: Position, Length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Useful for grouping: Colour,  Shape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Useful, but less precise : Size, Area, Angle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Use connections for : Sequence / flow / progression</a:t>
            </a:r>
          </a:p>
        </p:txBody>
      </p:sp>
    </p:spTree>
    <p:extLst>
      <p:ext uri="{BB962C8B-B14F-4D97-AF65-F5344CB8AC3E}">
        <p14:creationId xmlns:p14="http://schemas.microsoft.com/office/powerpoint/2010/main" val="2015352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20B60-9B6D-783B-5684-83B48545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D782BC-FE84-7F35-C13C-67DE8997DA60}"/>
              </a:ext>
            </a:extLst>
          </p:cNvPr>
          <p:cNvSpPr/>
          <p:nvPr/>
        </p:nvSpPr>
        <p:spPr>
          <a:xfrm>
            <a:off x="230094" y="264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</a:t>
            </a:r>
            <a:r>
              <a:rPr lang="en-US" sz="1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CHOOSING THE RIGHT CHART-THE QUESTION SHOULD CONTROL THE ENCODING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CDED00-9176-EEF6-95B2-7ED50B146276}"/>
              </a:ext>
            </a:extLst>
          </p:cNvPr>
          <p:cNvSpPr/>
          <p:nvPr/>
        </p:nvSpPr>
        <p:spPr>
          <a:xfrm>
            <a:off x="230094" y="57914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3200" b="1" kern="0" spc="150" dirty="0" err="1">
                <a:latin typeface="JetBrains Mono" pitchFamily="34" charset="0"/>
                <a:ea typeface="JetBrains Mono" pitchFamily="34" charset="-122"/>
              </a:rPr>
              <a:t>Freshmart</a:t>
            </a:r>
            <a:r>
              <a:rPr lang="en-US" sz="3200" b="1" kern="0" spc="150" dirty="0">
                <a:latin typeface="JetBrains Mono" pitchFamily="34" charset="0"/>
                <a:ea typeface="JetBrains Mono" pitchFamily="34" charset="-122"/>
              </a:rPr>
              <a:t>: build the chart from the question</a:t>
            </a:r>
            <a:endParaRPr lang="en-US" sz="3200" b="1" kern="0" spc="150" dirty="0">
              <a:solidFill>
                <a:srgbClr val="0E6F6D"/>
              </a:solidFill>
              <a:latin typeface="JetBrains Mono" pitchFamily="34" charset="0"/>
              <a:ea typeface="JetBrains Mono" pitchFamily="34" charset="-122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4426038-8288-8A85-B7A5-79B1E1ED6035}"/>
              </a:ext>
            </a:extLst>
          </p:cNvPr>
          <p:cNvSpPr/>
          <p:nvPr/>
        </p:nvSpPr>
        <p:spPr>
          <a:xfrm>
            <a:off x="149412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F3B39BA-9926-2653-2746-4FB91A928664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6DA8A-323E-E536-9015-B01842A4F9CD}"/>
              </a:ext>
            </a:extLst>
          </p:cNvPr>
          <p:cNvSpPr txBox="1"/>
          <p:nvPr/>
        </p:nvSpPr>
        <p:spPr>
          <a:xfrm>
            <a:off x="708212" y="1756699"/>
            <a:ext cx="43837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Question</a:t>
            </a:r>
          </a:p>
          <a:p>
            <a:r>
              <a:rPr lang="en-IN" b="1" dirty="0"/>
              <a:t>Which stores have the highest revenue?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Data variables</a:t>
            </a:r>
          </a:p>
          <a:p>
            <a:r>
              <a:rPr lang="en-IN" dirty="0" err="1"/>
              <a:t>store_name</a:t>
            </a:r>
            <a:endParaRPr lang="en-IN" dirty="0"/>
          </a:p>
          <a:p>
            <a:r>
              <a:rPr lang="en-IN" dirty="0"/>
              <a:t>revenue</a:t>
            </a:r>
          </a:p>
          <a:p>
            <a:endParaRPr lang="en-IN" b="1" dirty="0"/>
          </a:p>
          <a:p>
            <a:r>
              <a:rPr lang="en-IN" b="1" dirty="0"/>
              <a:t>Visual mapping</a:t>
            </a:r>
          </a:p>
          <a:p>
            <a:r>
              <a:rPr lang="en-IN" dirty="0" err="1"/>
              <a:t>store_name</a:t>
            </a:r>
            <a:r>
              <a:rPr lang="en-IN" dirty="0"/>
              <a:t> ─────────→ Y position</a:t>
            </a:r>
          </a:p>
          <a:p>
            <a:r>
              <a:rPr lang="en-IN" dirty="0"/>
              <a:t>revenue  ─────────→ X position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FED05-6E81-9BBC-2F80-18B8D7C2D459}"/>
              </a:ext>
            </a:extLst>
          </p:cNvPr>
          <p:cNvSpPr txBox="1"/>
          <p:nvPr/>
        </p:nvSpPr>
        <p:spPr>
          <a:xfrm>
            <a:off x="5737412" y="189519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Result</a:t>
            </a:r>
          </a:p>
          <a:p>
            <a:pPr>
              <a:buNone/>
            </a:pPr>
            <a:r>
              <a:rPr lang="en-IN" b="1" dirty="0"/>
              <a:t>Sorted horizontal bar chart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Why horizontal?</a:t>
            </a:r>
          </a:p>
          <a:p>
            <a:pPr>
              <a:buNone/>
            </a:pPr>
            <a:r>
              <a:rPr lang="en-IN" dirty="0"/>
              <a:t>Because: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Store names are categorical labels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Many categories require readable labels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Length supports easy comparison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Key idea</a:t>
            </a:r>
          </a:p>
          <a:p>
            <a:pPr>
              <a:buNone/>
            </a:pPr>
            <a:r>
              <a:rPr lang="en-IN" b="1" dirty="0"/>
              <a:t>Every visual variable should have a reason.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0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51B2E-AED9-9052-D394-B5AC9C2A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B25307-2F54-DE5E-2670-A5E377BAB1C5}"/>
              </a:ext>
            </a:extLst>
          </p:cNvPr>
          <p:cNvSpPr/>
          <p:nvPr/>
        </p:nvSpPr>
        <p:spPr>
          <a:xfrm>
            <a:off x="239059" y="36165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</a:t>
            </a:r>
            <a:r>
              <a:rPr lang="en-IN" sz="1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NOW WE HAVE EVIDENCE. SO HOW DO WE VISUALIZE IT?  </a:t>
            </a:r>
            <a:r>
              <a:rPr lang="en-US" sz="1200" b="1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</a:rPr>
              <a:t>CHOOSING THE RIGHT CHART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915CB4-9737-A9DB-D163-89CC09C5DA7D}"/>
              </a:ext>
            </a:extLst>
          </p:cNvPr>
          <p:cNvSpPr/>
          <p:nvPr/>
        </p:nvSpPr>
        <p:spPr>
          <a:xfrm>
            <a:off x="239059" y="676572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the encoding before the library</a:t>
            </a:r>
            <a:endParaRPr lang="en-US" sz="32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33C6D0F5-7A1A-43D5-CA63-241ECF0A38B2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1828701"/>
          <a:ext cx="10566400" cy="2315766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question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encoding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FreshMart example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trend over time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Daily revenue, July to August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ranking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Sorted bar, horizontal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stores by revenue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relationship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Scatter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 price vs quantity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distribution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Histogram or box plot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Basket size per transaction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Parts of a whole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Stacked bar — only if parts sum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share by store_type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E860F9DB-CE5C-2C97-1BDB-D277C60BB67C}"/>
              </a:ext>
            </a:extLst>
          </p:cNvPr>
          <p:cNvSpPr/>
          <p:nvPr/>
        </p:nvSpPr>
        <p:spPr>
          <a:xfrm>
            <a:off x="812800" y="4588966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cannot say why a chart fits the question, you are decorating.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AC62ED2-A807-FA46-5C38-551F60ECF291}"/>
              </a:ext>
            </a:extLst>
          </p:cNvPr>
          <p:cNvSpPr/>
          <p:nvPr/>
        </p:nvSpPr>
        <p:spPr>
          <a:xfrm>
            <a:off x="239059" y="6627089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F705619-05DE-1ED3-9163-97B1A127EF0A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8144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697" y="30442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CHARTING-LIBRARY FLUENCY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9697" y="619346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library that serves the consumer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2514600" cy="1903413"/>
          </a:xfrm>
          <a:prstGeom prst="roundRect">
            <a:avLst>
              <a:gd name="adj" fmla="val 433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33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3300" y="2389981"/>
            <a:ext cx="221068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Imperative, full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689027"/>
            <a:ext cx="22106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Publication figures, precise static layouts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8850" y="1885851"/>
            <a:ext cx="2514600" cy="1903413"/>
          </a:xfrm>
          <a:prstGeom prst="roundRect">
            <a:avLst>
              <a:gd name="adj" fmla="val 433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830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seaborn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83000" y="2389981"/>
            <a:ext cx="221068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Statistical defaults on DataFrames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83000" y="2911872"/>
            <a:ext cx="22106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static analysis: distributions, groups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8550" y="1885851"/>
            <a:ext cx="2514600" cy="1903413"/>
          </a:xfrm>
          <a:prstGeom prst="roundRect">
            <a:avLst>
              <a:gd name="adj" fmla="val 433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27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Plotly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2700" y="2389981"/>
            <a:ext cx="221068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Interactive: hover, zoom, filter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2700" y="2911872"/>
            <a:ext cx="2210689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the consumer explores — dashboards, Streamlit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8250" y="1885851"/>
            <a:ext cx="2514600" cy="1903413"/>
          </a:xfrm>
          <a:prstGeom prst="roundRect">
            <a:avLst>
              <a:gd name="adj" fmla="val 433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0424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Altair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42400" y="2389981"/>
            <a:ext cx="221068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Declarative grammar of graphics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42400" y="2911872"/>
            <a:ext cx="22106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Teaching encoding; compact, consistent charts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100413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for a report you control; interactive when the reader needs to explore.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1482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1130" y="25963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5 · SEGMENTATION AND COHORT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1130" y="574558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average can hide multiple stories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21130" y="6598362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62524-3C37-512B-B3C1-96A7EA4D95FB}"/>
              </a:ext>
            </a:extLst>
          </p:cNvPr>
          <p:cNvSpPr txBox="1"/>
          <p:nvPr/>
        </p:nvSpPr>
        <p:spPr>
          <a:xfrm>
            <a:off x="950258" y="188786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Store types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Express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Metro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Neighbourhood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Why segment?</a:t>
            </a:r>
          </a:p>
          <a:p>
            <a:pPr>
              <a:buNone/>
            </a:pPr>
            <a:r>
              <a:rPr lang="en-IN" dirty="0"/>
              <a:t>Because:</a:t>
            </a:r>
          </a:p>
          <a:p>
            <a:pPr>
              <a:buNone/>
            </a:pPr>
            <a:r>
              <a:rPr lang="en-IN" b="1" dirty="0"/>
              <a:t>The overall trend may not represent every group.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454F3-5E98-B5E4-7B01-ADDF39EE562E}"/>
              </a:ext>
            </a:extLst>
          </p:cNvPr>
          <p:cNvSpPr txBox="1"/>
          <p:nvPr/>
        </p:nvSpPr>
        <p:spPr>
          <a:xfrm>
            <a:off x="936812" y="1411052"/>
            <a:ext cx="610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Does the overall trend look different across store types?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C1770-5D51-661E-4E90-26232F16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A55047-B49C-2D97-2CE6-40E0BE074F18}"/>
              </a:ext>
            </a:extLst>
          </p:cNvPr>
          <p:cNvSpPr/>
          <p:nvPr/>
        </p:nvSpPr>
        <p:spPr>
          <a:xfrm>
            <a:off x="158376" y="26860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5 · COHORT ANALYSIS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F58A08-A2C6-28F6-D959-A10E45874990}"/>
              </a:ext>
            </a:extLst>
          </p:cNvPr>
          <p:cNvSpPr/>
          <p:nvPr/>
        </p:nvSpPr>
        <p:spPr>
          <a:xfrm>
            <a:off x="158376" y="583522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type changes the story</a:t>
            </a:r>
            <a:endParaRPr lang="en-US" sz="32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EB75CCDA-338A-2879-DEE8-6B08859D9F24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1828701"/>
          <a:ext cx="6654800" cy="1543844"/>
        </p:xfrm>
        <a:graphic>
          <a:graphicData uri="http://schemas.openxmlformats.org/drawingml/2006/table">
            <a:tbl>
              <a:tblPr/>
              <a:tblGrid>
                <a:gridCol w="2129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store_type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July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August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share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Express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₹50.0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₹56.2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32.5%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₹61.3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₹84.9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44.7%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Neighbourhood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₹41.8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₹32.6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22.8%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68BF5E67-A202-F8F6-26D6-C32422EC5E1C}"/>
              </a:ext>
            </a:extLst>
          </p:cNvPr>
          <p:cNvSpPr/>
          <p:nvPr/>
        </p:nvSpPr>
        <p:spPr>
          <a:xfrm>
            <a:off x="7823200" y="1828701"/>
            <a:ext cx="366268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Metro</a:t>
            </a: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grows and carries 44.7% of revenue. </a:t>
            </a: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Neighbourhood</a:t>
            </a: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declines, ₹41.8 L to ₹32.6 L.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9F8666E-6AF3-39A3-DECB-5D203599CCE5}"/>
              </a:ext>
            </a:extLst>
          </p:cNvPr>
          <p:cNvSpPr/>
          <p:nvPr/>
        </p:nvSpPr>
        <p:spPr>
          <a:xfrm>
            <a:off x="7823200" y="2809776"/>
            <a:ext cx="366268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blended trend hides that divergence — and it is a replenishment signal.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1F4824A-A5F1-6238-54B3-FCA2DD16F20A}"/>
              </a:ext>
            </a:extLst>
          </p:cNvPr>
          <p:cNvSpPr/>
          <p:nvPr/>
        </p:nvSpPr>
        <p:spPr>
          <a:xfrm>
            <a:off x="158376" y="6589398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7AC1E56-4ABE-AD3F-1F3A-41FF270E580D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81790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0B3F0-527E-FDBD-05B1-490BE830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2BABA2-F174-15CD-9719-2174528F772D}"/>
              </a:ext>
            </a:extLst>
          </p:cNvPr>
          <p:cNvSpPr/>
          <p:nvPr/>
        </p:nvSpPr>
        <p:spPr>
          <a:xfrm>
            <a:off x="283882" y="264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5 · COHORT ANALYSIS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8C88C7-31A7-BFFE-EFF3-3D281FE00618}"/>
              </a:ext>
            </a:extLst>
          </p:cNvPr>
          <p:cNvSpPr/>
          <p:nvPr/>
        </p:nvSpPr>
        <p:spPr>
          <a:xfrm>
            <a:off x="283882" y="57914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Cohorts anchor each store to its own start</a:t>
            </a:r>
            <a:endParaRPr lang="en-US" sz="3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49FC484-83CD-6E2B-9469-1D2E9E832039}"/>
              </a:ext>
            </a:extLst>
          </p:cNvPr>
          <p:cNvSpPr/>
          <p:nvPr/>
        </p:nvSpPr>
        <p:spPr>
          <a:xfrm>
            <a:off x="140447" y="65937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93BEF83-2AD9-6BF0-F1AC-770DB02A69DE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5C395-D4E7-6C1B-D11A-6A09964A8BA5}"/>
              </a:ext>
            </a:extLst>
          </p:cNvPr>
          <p:cNvSpPr txBox="1"/>
          <p:nvPr/>
        </p:nvSpPr>
        <p:spPr>
          <a:xfrm>
            <a:off x="812800" y="258759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Instead of:</a:t>
            </a:r>
          </a:p>
          <a:p>
            <a:pPr>
              <a:buNone/>
            </a:pPr>
            <a:r>
              <a:rPr lang="en-IN" dirty="0"/>
              <a:t>"What happened in August?"</a:t>
            </a:r>
          </a:p>
          <a:p>
            <a:pPr>
              <a:buNone/>
            </a:pPr>
            <a:r>
              <a:rPr lang="en-IN" dirty="0"/>
              <a:t>Ask:</a:t>
            </a:r>
          </a:p>
          <a:p>
            <a:pPr>
              <a:buNone/>
            </a:pPr>
            <a:r>
              <a:rPr lang="en-IN" dirty="0"/>
              <a:t>"What happened after the store opened?"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6460E-7C59-D15C-50D9-C510891A42B4}"/>
              </a:ext>
            </a:extLst>
          </p:cNvPr>
          <p:cNvSpPr txBox="1"/>
          <p:nvPr/>
        </p:nvSpPr>
        <p:spPr>
          <a:xfrm>
            <a:off x="717177" y="19839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cohort anchors an entity to a meaningful starting point.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E69CC6-237B-AD8D-6024-A1C1354FBE54}"/>
              </a:ext>
            </a:extLst>
          </p:cNvPr>
          <p:cNvSpPr txBox="1"/>
          <p:nvPr/>
        </p:nvSpPr>
        <p:spPr>
          <a:xfrm>
            <a:off x="3765177" y="3987066"/>
            <a:ext cx="36217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useful?</a:t>
            </a:r>
          </a:p>
          <a:p>
            <a:pPr>
              <a:buNone/>
            </a:pPr>
            <a:r>
              <a:rPr lang="en-IN" dirty="0"/>
              <a:t>Store maturity can affect: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traffic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replenishment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stockouts</a:t>
            </a:r>
          </a:p>
        </p:txBody>
      </p:sp>
    </p:spTree>
    <p:extLst>
      <p:ext uri="{BB962C8B-B14F-4D97-AF65-F5344CB8AC3E}">
        <p14:creationId xmlns:p14="http://schemas.microsoft.com/office/powerpoint/2010/main" val="2175217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918" y="31265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ANALYTICS →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918" y="627576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M2 ends with a data requirement, not a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35051"/>
            <a:ext cx="105664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1968401"/>
            <a:ext cx="235458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02000" y="1968401"/>
            <a:ext cx="83195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× Product × 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368451"/>
            <a:ext cx="105664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2800" y="2501801"/>
            <a:ext cx="235458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Candidate signals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02000" y="2501801"/>
            <a:ext cx="83195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Recent sales, trend, inventory, lead time, promotion, stockout history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2901851"/>
            <a:ext cx="105664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2800" y="3035201"/>
            <a:ext cx="235458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2000" y="3035201"/>
            <a:ext cx="83195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missing quantity · no duplicate IDs · prices ₹20–₹500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555901"/>
            <a:ext cx="10566400" cy="631825"/>
          </a:xfrm>
          <a:prstGeom prst="roundRect">
            <a:avLst>
              <a:gd name="adj" fmla="val 16080"/>
            </a:avLst>
          </a:prstGeom>
          <a:solidFill>
            <a:srgbClr val="E2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41400" y="3733701"/>
            <a:ext cx="104124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rule list is literally the contract Lab 1 makes executable  and Mission 1's triage table is its first draft.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742" y="6645019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1A76E3-4E94-48B6-682D-238C58B46316}"/>
              </a:ext>
            </a:extLst>
          </p:cNvPr>
          <p:cNvSpPr txBox="1"/>
          <p:nvPr/>
        </p:nvSpPr>
        <p:spPr>
          <a:xfrm>
            <a:off x="4993342" y="4213126"/>
            <a:ext cx="6096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DATA CONTRACT — POS TRANSACTIONS</a:t>
            </a:r>
          </a:p>
          <a:p>
            <a:r>
              <a:rPr lang="en-IN" sz="1600" dirty="0"/>
              <a:t>1. </a:t>
            </a:r>
            <a:r>
              <a:rPr lang="en-IN" sz="1600" dirty="0" err="1"/>
              <a:t>transaction_id</a:t>
            </a:r>
            <a:r>
              <a:rPr lang="en-IN" sz="1600" dirty="0"/>
              <a:t> must not be null.</a:t>
            </a:r>
          </a:p>
          <a:p>
            <a:r>
              <a:rPr lang="en-IN" sz="1600" dirty="0"/>
              <a:t>2. </a:t>
            </a:r>
            <a:r>
              <a:rPr lang="en-IN" sz="1600" dirty="0" err="1"/>
              <a:t>transaction_id</a:t>
            </a:r>
            <a:r>
              <a:rPr lang="en-IN" sz="1600" dirty="0"/>
              <a:t> must be unique.</a:t>
            </a:r>
          </a:p>
          <a:p>
            <a:r>
              <a:rPr lang="en-IN" sz="1600" dirty="0"/>
              <a:t>3. </a:t>
            </a:r>
            <a:r>
              <a:rPr lang="en-IN" sz="1600" dirty="0" err="1"/>
              <a:t>store_id</a:t>
            </a:r>
            <a:r>
              <a:rPr lang="en-IN" sz="1600" dirty="0"/>
              <a:t> must not be null.</a:t>
            </a:r>
          </a:p>
          <a:p>
            <a:r>
              <a:rPr lang="en-IN" sz="1600" dirty="0"/>
              <a:t>4. quantity must be greater than or equal to 0.</a:t>
            </a:r>
          </a:p>
          <a:p>
            <a:r>
              <a:rPr lang="en-IN" sz="1600" dirty="0"/>
              <a:t>5. </a:t>
            </a:r>
            <a:r>
              <a:rPr lang="en-IN" sz="1600" dirty="0" err="1"/>
              <a:t>transaction_date</a:t>
            </a:r>
            <a:r>
              <a:rPr lang="en-IN" sz="1600" dirty="0"/>
              <a:t> must be a valid date.</a:t>
            </a:r>
          </a:p>
          <a:p>
            <a:r>
              <a:rPr lang="en-IN" sz="1600" dirty="0"/>
              <a:t>6. revenue must be greater than or equal to 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953" y="30894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DEBRIEF · QUESTIONS STUDENTS WILL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65953" y="623864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questions to close M2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81600" cy="1414661"/>
          </a:xfrm>
          <a:prstGeom prst="roundRect">
            <a:avLst>
              <a:gd name="adj" fmla="val 6733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700" y="2044601"/>
            <a:ext cx="490537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stores have identical revenue. Equally important?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1250" y="1835051"/>
            <a:ext cx="5181600" cy="1414661"/>
          </a:xfrm>
          <a:prstGeom prst="roundRect">
            <a:avLst>
              <a:gd name="adj" fmla="val 6733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0" y="204460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0.8% missing quantity. Impute the median?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150" y="3440212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28700" y="3649762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a cohort more than a pivot table?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1250" y="3440212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0" y="3649762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choose the chart before the library?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341" y="6636054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F2D3D-AF33-DF4F-BB77-C19866BC0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293FD4-3C52-C7C5-582A-8D839B379F36}"/>
              </a:ext>
            </a:extLst>
          </p:cNvPr>
          <p:cNvSpPr/>
          <p:nvPr/>
        </p:nvSpPr>
        <p:spPr>
          <a:xfrm>
            <a:off x="265953" y="30894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DEBRIEF · QUESTIONS STUDENTS WILL ASK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4827D9-85A5-FCA8-4BE8-75B805F063BF}"/>
              </a:ext>
            </a:extLst>
          </p:cNvPr>
          <p:cNvSpPr/>
          <p:nvPr/>
        </p:nvSpPr>
        <p:spPr>
          <a:xfrm>
            <a:off x="265953" y="623864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questions to close M2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9F9C2D-6337-87EC-740F-9FDEB58212AF}"/>
              </a:ext>
            </a:extLst>
          </p:cNvPr>
          <p:cNvSpPr/>
          <p:nvPr/>
        </p:nvSpPr>
        <p:spPr>
          <a:xfrm>
            <a:off x="819150" y="1835051"/>
            <a:ext cx="5181600" cy="1414661"/>
          </a:xfrm>
          <a:prstGeom prst="roundRect">
            <a:avLst>
              <a:gd name="adj" fmla="val 6733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F8B3194-CBDB-9416-D612-9F3BDB6D747C}"/>
              </a:ext>
            </a:extLst>
          </p:cNvPr>
          <p:cNvSpPr/>
          <p:nvPr/>
        </p:nvSpPr>
        <p:spPr>
          <a:xfrm>
            <a:off x="1028700" y="2044601"/>
            <a:ext cx="490537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stores have identical revenue. Equally important?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6189D3-8130-4701-1D20-48851CB132AB}"/>
              </a:ext>
            </a:extLst>
          </p:cNvPr>
          <p:cNvSpPr/>
          <p:nvPr/>
        </p:nvSpPr>
        <p:spPr>
          <a:xfrm>
            <a:off x="1028700" y="2578001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necessarily. Normalise by active days: 14 of 20 stores change rank on revenue per day.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FADBDED-BE70-56FB-1030-CA22F8F5820A}"/>
              </a:ext>
            </a:extLst>
          </p:cNvPr>
          <p:cNvSpPr/>
          <p:nvPr/>
        </p:nvSpPr>
        <p:spPr>
          <a:xfrm>
            <a:off x="6191250" y="1835051"/>
            <a:ext cx="5181600" cy="1414661"/>
          </a:xfrm>
          <a:prstGeom prst="roundRect">
            <a:avLst>
              <a:gd name="adj" fmla="val 6733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225B44-2640-D7EA-12F1-18132C012D1C}"/>
              </a:ext>
            </a:extLst>
          </p:cNvPr>
          <p:cNvSpPr/>
          <p:nvPr/>
        </p:nvSpPr>
        <p:spPr>
          <a:xfrm>
            <a:off x="6400800" y="204460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0.8% missing quantity. Impute the median?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2C0EDF7-739F-96F4-6BC5-FCBD1904E4B9}"/>
              </a:ext>
            </a:extLst>
          </p:cNvPr>
          <p:cNvSpPr/>
          <p:nvPr/>
        </p:nvSpPr>
        <p:spPr>
          <a:xfrm>
            <a:off x="6400800" y="2349401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No. Mark it suspicious and investigate the feed; completeness belongs in the contract.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5F26A55-1B5A-07E3-36F9-3A71409D9187}"/>
              </a:ext>
            </a:extLst>
          </p:cNvPr>
          <p:cNvSpPr/>
          <p:nvPr/>
        </p:nvSpPr>
        <p:spPr>
          <a:xfrm>
            <a:off x="819150" y="3440212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A668DB4-A5EC-1D18-4E70-09F5DA13BA14}"/>
              </a:ext>
            </a:extLst>
          </p:cNvPr>
          <p:cNvSpPr/>
          <p:nvPr/>
        </p:nvSpPr>
        <p:spPr>
          <a:xfrm>
            <a:off x="1028700" y="3649762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a cohort more than a pivot table?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B0612E7-CBBC-58AC-F78F-97B8D0B5AC53}"/>
              </a:ext>
            </a:extLst>
          </p:cNvPr>
          <p:cNvSpPr/>
          <p:nvPr/>
        </p:nvSpPr>
        <p:spPr>
          <a:xfrm>
            <a:off x="1028700" y="3954562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anchors each store to its own start, making time since opening comparable.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4069305-FD8E-4975-27A2-D4245BE0D23A}"/>
              </a:ext>
            </a:extLst>
          </p:cNvPr>
          <p:cNvSpPr/>
          <p:nvPr/>
        </p:nvSpPr>
        <p:spPr>
          <a:xfrm>
            <a:off x="6191250" y="3440212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7F3A40-9122-AD94-9AE9-254DD9129D2F}"/>
              </a:ext>
            </a:extLst>
          </p:cNvPr>
          <p:cNvSpPr/>
          <p:nvPr/>
        </p:nvSpPr>
        <p:spPr>
          <a:xfrm>
            <a:off x="6400800" y="3649762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choose the chart before the library?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F688A7A-A94D-F169-A13D-7B85E7D6F71C}"/>
              </a:ext>
            </a:extLst>
          </p:cNvPr>
          <p:cNvSpPr/>
          <p:nvPr/>
        </p:nvSpPr>
        <p:spPr>
          <a:xfrm>
            <a:off x="6400800" y="3954562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encoding answers the question; the library only serves the audience.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3FAE1E2-E14E-1FF9-C20B-84E1436795F7}"/>
              </a:ext>
            </a:extLst>
          </p:cNvPr>
          <p:cNvSpPr/>
          <p:nvPr/>
        </p:nvSpPr>
        <p:spPr>
          <a:xfrm>
            <a:off x="167341" y="6636054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2707CA2-CDEC-CB1C-6E79-1876332AE544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19461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52469-D3A5-9163-54E6-E77D7757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68F59D-7EAF-C533-87E1-6A1EED9C03DE}"/>
              </a:ext>
            </a:extLst>
          </p:cNvPr>
          <p:cNvSpPr/>
          <p:nvPr/>
        </p:nvSpPr>
        <p:spPr>
          <a:xfrm>
            <a:off x="265953" y="30894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TABLEAU: FROM ANALYSIS TO EXPLORATI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6FE53D-4FA2-8F5B-8B20-48929DCEBC7B}"/>
              </a:ext>
            </a:extLst>
          </p:cNvPr>
          <p:cNvSpPr/>
          <p:nvPr/>
        </p:nvSpPr>
        <p:spPr>
          <a:xfrm>
            <a:off x="265953" y="623864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Tableau: when the consumer needs to explore</a:t>
            </a:r>
            <a:endParaRPr lang="en-US" sz="3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3AFFBC-7D04-F8B3-6F32-A7D48F8D17EE}"/>
              </a:ext>
            </a:extLst>
          </p:cNvPr>
          <p:cNvSpPr/>
          <p:nvPr/>
        </p:nvSpPr>
        <p:spPr>
          <a:xfrm>
            <a:off x="167341" y="6636054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4EEF131-EAF1-0F0A-3702-6DDFF9306342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12AB9A-FBAA-5A5A-CC00-68A547F5A5C9}"/>
              </a:ext>
            </a:extLst>
          </p:cNvPr>
          <p:cNvSpPr txBox="1"/>
          <p:nvPr/>
        </p:nvSpPr>
        <p:spPr>
          <a:xfrm>
            <a:off x="861847" y="1399782"/>
            <a:ext cx="862899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 </a:t>
            </a:r>
            <a:r>
              <a:rPr lang="en-IN" b="1" dirty="0" err="1"/>
              <a:t>FreshMart</a:t>
            </a:r>
            <a:r>
              <a:rPr lang="en-IN" b="1" dirty="0"/>
              <a:t>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Trend</a:t>
            </a:r>
            <a:br>
              <a:rPr lang="en-IN" sz="2400" dirty="0"/>
            </a:br>
            <a:r>
              <a:rPr lang="en-IN" sz="2400" dirty="0"/>
              <a:t>	Daily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Ranking</a:t>
            </a:r>
            <a:br>
              <a:rPr lang="en-IN" sz="2400" dirty="0"/>
            </a:br>
            <a:r>
              <a:rPr lang="en-IN" sz="2400" dirty="0"/>
              <a:t>	Top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Segmentation</a:t>
            </a:r>
            <a:br>
              <a:rPr lang="en-IN" sz="2400" dirty="0"/>
            </a:br>
            <a:r>
              <a:rPr lang="en-IN" sz="2400" dirty="0"/>
              <a:t>	Revenue by store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Interaction</a:t>
            </a:r>
            <a:br>
              <a:rPr lang="en-IN" sz="2400" dirty="0"/>
            </a:br>
            <a:r>
              <a:rPr lang="en-IN" sz="2400" dirty="0"/>
              <a:t>	Filter by store / store type / date</a:t>
            </a:r>
          </a:p>
          <a:p>
            <a:r>
              <a:rPr lang="en-IN" sz="2400" b="1" dirty="0"/>
              <a:t>Key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Tableau does not replace analytical reasoning.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It packages that reasoning for exploration.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0FC7F-677E-C279-E3FB-3C28E887D80E}"/>
              </a:ext>
            </a:extLst>
          </p:cNvPr>
          <p:cNvSpPr txBox="1"/>
          <p:nvPr/>
        </p:nvSpPr>
        <p:spPr>
          <a:xfrm>
            <a:off x="6831106" y="16217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https://www.tableau.com/academic/teaching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375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A4E32-9400-21F1-42D0-E4393342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242383-BBA3-9ABE-04BB-373785CCEB09}"/>
              </a:ext>
            </a:extLst>
          </p:cNvPr>
          <p:cNvSpPr/>
          <p:nvPr/>
        </p:nvSpPr>
        <p:spPr>
          <a:xfrm>
            <a:off x="265953" y="30894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TABLEAU: FROM ANALYSIS TO EXPLORATI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BB7C5B-B0EA-84EA-ED6E-4EE0B2FB9B13}"/>
              </a:ext>
            </a:extLst>
          </p:cNvPr>
          <p:cNvSpPr/>
          <p:nvPr/>
        </p:nvSpPr>
        <p:spPr>
          <a:xfrm>
            <a:off x="265953" y="623864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TABLEAU MINI-DEMO</a:t>
            </a:r>
            <a:endParaRPr lang="en-US" sz="3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08DFC3-F803-3EC7-CC8E-458A2E35C2A3}"/>
              </a:ext>
            </a:extLst>
          </p:cNvPr>
          <p:cNvSpPr/>
          <p:nvPr/>
        </p:nvSpPr>
        <p:spPr>
          <a:xfrm>
            <a:off x="167341" y="6636054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94FA410-146A-3FA9-19EF-1F652DDD8505}"/>
              </a:ext>
            </a:extLst>
          </p:cNvPr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56EE52-0380-7465-336F-75A5A0EF526E}"/>
              </a:ext>
            </a:extLst>
          </p:cNvPr>
          <p:cNvSpPr txBox="1"/>
          <p:nvPr/>
        </p:nvSpPr>
        <p:spPr>
          <a:xfrm>
            <a:off x="167341" y="1286077"/>
            <a:ext cx="1159435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Business question</a:t>
            </a:r>
          </a:p>
          <a:p>
            <a:r>
              <a:rPr lang="en-IN" sz="2400" b="1" dirty="0"/>
              <a:t>"If sales are increasing, which stores and store types are actually driving the change?"</a:t>
            </a:r>
            <a:endParaRPr lang="en-IN" sz="2400" dirty="0"/>
          </a:p>
          <a:p>
            <a:r>
              <a:rPr lang="en-IN" sz="2400" b="1" dirty="0"/>
              <a:t>Your task</a:t>
            </a:r>
          </a:p>
          <a:p>
            <a:r>
              <a:rPr lang="en-IN" sz="2400" dirty="0"/>
              <a:t>Build a dashboard containing: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Daily Revenue Trend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Top 10 Stores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Revenue by Store Type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Interactive filters </a:t>
            </a:r>
          </a:p>
          <a:p>
            <a:r>
              <a:rPr lang="en-IN" sz="2400" b="1" dirty="0"/>
              <a:t>STOP &amp; DECIDE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What should be encoded as colour?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What should be encoded as position?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What should remain a filter?</a:t>
            </a:r>
          </a:p>
          <a:p>
            <a:pPr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10624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ECA3AC-8479-9E19-47F4-370CAC409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13" y="0"/>
            <a:ext cx="8700939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022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1870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DISCOVER → PREPARE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36825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analysis assumes that this data can be produced reliably, consistently, and repeatedly. But at this point, we have not established that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1002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1 turns these findings into an orchestrated, validated, versioned pipeline and a feature store — from this same extract.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76306" y="6619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3E5286-9B76-D7F6-B07C-E9D08C117857}"/>
              </a:ext>
            </a:extLst>
          </p:cNvPr>
          <p:cNvSpPr txBox="1"/>
          <p:nvPr/>
        </p:nvSpPr>
        <p:spPr>
          <a:xfrm>
            <a:off x="926456" y="1815068"/>
            <a:ext cx="7912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2"/>
              </a:rPr>
              <a:t>https://github.com/paypal/data-contract-template/blob/main/docs/README.md</a:t>
            </a:r>
            <a:r>
              <a:rPr lang="en-IN" dirty="0"/>
              <a:t>?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A54882-F88D-257B-01F1-F0B412909CD1}"/>
              </a:ext>
            </a:extLst>
          </p:cNvPr>
          <p:cNvSpPr txBox="1"/>
          <p:nvPr/>
        </p:nvSpPr>
        <p:spPr>
          <a:xfrm>
            <a:off x="1388534" y="27040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isn't just a theoretical concept. PayPal published a data-contract template based on how they use data contracts. The project has subsequently evolved into the Open Data Contract Standard</a:t>
            </a:r>
          </a:p>
        </p:txBody>
      </p:sp>
    </p:spTree>
    <p:extLst>
      <p:ext uri="{BB962C8B-B14F-4D97-AF65-F5344CB8AC3E}">
        <p14:creationId xmlns:p14="http://schemas.microsoft.com/office/powerpoint/2010/main" val="66472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4016</TotalTime>
  <Words>4196</Words>
  <Application>Microsoft Office PowerPoint</Application>
  <PresentationFormat>Widescreen</PresentationFormat>
  <Paragraphs>547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IBM Plex Sans</vt:lpstr>
      <vt:lpstr>JetBrains Mono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FDP Day 1 · 11:00 — M2 Anchor: Data Analysis &amp; Visualization</dc:title>
  <dc:subject>PptxGenJS Presentation</dc:subject>
  <dc:creator>PptxGenJS</dc:creator>
  <cp:lastModifiedBy>FEBIN A VAHAB .</cp:lastModifiedBy>
  <cp:revision>28</cp:revision>
  <dcterms:created xsi:type="dcterms:W3CDTF">2026-09-23T06:33:35Z</dcterms:created>
  <dcterms:modified xsi:type="dcterms:W3CDTF">2026-09-28T15:39:22Z</dcterms:modified>
</cp:coreProperties>
</file>
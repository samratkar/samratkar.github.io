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9" r:id="rId4"/>
    <p:sldId id="258" r:id="rId5"/>
    <p:sldId id="261" r:id="rId6"/>
    <p:sldId id="262"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8" r:id="rId20"/>
    <p:sldId id="279"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158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Introduce yourself and the co-facilitators. This first 90 minutes has two jobs: give the map for all three days, then lay the M1 foundations that Lab 1 puts into practice at 13:15. Suggested split: about 25 minutes of context (slides 2–9), about 60 minutes of M1 (slides 10–22), 5 minutes for what's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principle: most curricula teach MLOps and generative AI as unrelated topics. Here they are one lifecycle. By Day 3 participants should be able to say which classical idea each generative component replaces. Ask the room: how many of you currently teach MLOps and GenAI in separate courses?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for all three days, and the first M1 topic. DataOps is highlighted because it is today's focus. Stress inheritance: an agent that calls a model is only as trustworthy as the model, which is only as trustworthy as the data pipeline beneath it. You can't do AgentOps well on top of broken DataOps.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day runs 09:30 to 17:00. Theory always immediately precedes the lab that applies it. Point out that Days 1 and 2 build System A, the predictive service, and Day 3 builds System B, the generative service — and that Lab 8 joins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lab handout opens with this arc and a 'you are here' marker. Discover, Prepare and Build happen today. The lineage thread is worth naming now: the data_hash computed in Lab 1 follows the model all the way to deployment, so any production prediction can be traced back to the exact extract.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product is built across the whole workshop. The data is generated locally from a fixed seed (42), so every participant gets identical numbers — useful when you debug live. The defects are injected on purpose: M2 finds them by hand, Lab 1 turns them into contract rules.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M1. Everything from here onward is put into practice in Lab 1 this afternoon, and parts of it in M3 and Lab 2. Keep asking: which of these would your students skip if they only ever worked in a notebook?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framing. Ask: in your current course, how many lab hours go to the teal box versus the rest? This workshop inverts that ratio. The rest of M1 is about the surrounding boxes, starting with the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learning outcome LO1: justify orchestration, versioning, idempotency and selective re-execution as engineering requirements. Each row maps to a tool later in M1: orchestration to Prefect, versioning and selective re-execution to DVC, the failure gate to data contracts. By Day 3, ask them to find the same four properties in the RAG pipeline.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DataOps borrows from DevOps and lean manufacturing: automation, testing, monitoring and fast feedback applied to data pipelines. Each principle has a concrete Lab 1 counterpart — DVC for data as code, Great Expectations for boundary tests, Prefect for automation, the five pillars for observation, dvc repro for safe re-runs.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teaching ladder, not an industry standard. Useful as a diagnostic: ask participants where their own lab exercises sit today. Most university labs sit at level 0. The goal of Lab 1 is level 2; Lab 4's drift-triggered re-execution reaches level 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opening situation of Lab 1. Success means the bytes transferred — not that transaction_id is unique, that quantity is present and positive, or that unit price is inside its band. Closing the gap between those two claims is what DataOps is for. Next: the contract that closes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rules are exactly what M2 finds by hand this morning; Lab 1 turns them into an executable suite. The last two come from Lab 1's coded challenge, which grows the contract past M2's findings. Discussion point: why validate the schema first? Because a missing column should be reported as a contract failure, not crash the observability code.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observability breaks 'is the data healthy?' into five questions. The FreshMart question under each is the actual check in Lab 1's observability challenge. The distinction with contracts matters: a batch can pass every rule and still be half its usual size. The five pillars return in M5 on Day 2 for model monitoring.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Lab 1 dvc.yaml. Note the shape: the POS log is ingested and cleaned once because it is immutable; the ops feed changes daily and is pulled separately; only engineer depends on both. Validate is a gate beside the main path. Selective re-execution and versioning from the pipeline-vs-script slide both come from this one file. DVC requires a Git repository, which is why Lab 1 starts with git init.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the actual Lab 1 flow, trimmed. Division of labour: DVC knows what depends on what and what changed; Prefect executes, retries, logs and shows the run in its UI. The validate task raises when the contract fails, so the flow halts before engineer. Tool choice rationale is from the Lab 1 design notes: Prefect is chosen for teaching because it runs lightly on a laptop, not because it is the industry default.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Offline for training, online for serving, both from one definition. The point-in-time join matters: for each label date it returns feature values as they were on that date, not later — Lab 2 shows a naive merge leaking the future. A common setup failure: dropping entity_key_serialization_version: 3 from feature_store.yaml makes materialize fail on current Feast.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Training–serving skew is silent: no exception, just worse predictions. The structural fix is one feature definition served both offline and online. Also mention the unknown-entity case: Feast returns None for an unseen key, so Lab 3's API must return 404 rather than feed None to the model. Cause in Lab 1, effect in Lab 3.</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break before M2. Use it to catch setup failures: anyone whose check script shows a FIX line should see a facilitator now, not at 13:15 when Lab 1 depends on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three or four answers. Expect most to say level 0 or 1. Use the answers to motivate Lab 1: by 14:45 everyone in the room will have built a level-2 pipeline they can reuse as a teaching exemplar.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BITS PILANI WILP · CSIS · FACULTY DEVELOPMENT PROGRAMME</a:t>
            </a:r>
            <a:endParaRPr lang="en-US" sz="1200" dirty="0"/>
          </a:p>
        </p:txBody>
      </p:sp>
      <p:sp>
        <p:nvSpPr>
          <p:cNvPr id="3" name="Text 1"/>
          <p:cNvSpPr/>
          <p:nvPr/>
        </p:nvSpPr>
        <p:spPr>
          <a:xfrm>
            <a:off x="812800" y="115312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6F4EE"/>
                </a:solidFill>
                <a:latin typeface="IBM Plex Sans" pitchFamily="34" charset="0"/>
                <a:ea typeface="IBM Plex Sans" pitchFamily="34" charset="-122"/>
                <a:cs typeface="IBM Plex Sans" pitchFamily="34" charset="-120"/>
              </a:rPr>
              <a:t>From Pipelines</a:t>
            </a:r>
            <a:endParaRPr lang="en-US" sz="6000" dirty="0"/>
          </a:p>
          <a:p>
            <a:pPr marL="0" indent="0" algn="l">
              <a:lnSpc>
                <a:spcPts val="6300"/>
              </a:lnSpc>
              <a:buNone/>
            </a:pPr>
            <a:r>
              <a:rPr lang="en-US" sz="6000" b="1" dirty="0">
                <a:solidFill>
                  <a:srgbClr val="F6F4EE"/>
                </a:solidFill>
                <a:latin typeface="IBM Plex Sans" pitchFamily="34" charset="0"/>
                <a:ea typeface="IBM Plex Sans" pitchFamily="34" charset="-122"/>
                <a:cs typeface="IBM Plex Sans" pitchFamily="34" charset="-120"/>
              </a:rPr>
              <a:t>to Production</a:t>
            </a:r>
            <a:endParaRPr lang="en-US" sz="6000" dirty="0"/>
          </a:p>
        </p:txBody>
      </p:sp>
      <p:sp>
        <p:nvSpPr>
          <p:cNvPr id="4" name="Text 2"/>
          <p:cNvSpPr/>
          <p:nvPr/>
        </p:nvSpPr>
        <p:spPr>
          <a:xfrm>
            <a:off x="812800" y="288032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8C5CB"/>
                </a:solidFill>
                <a:latin typeface="IBM Plex Sans" pitchFamily="34" charset="0"/>
                <a:ea typeface="IBM Plex Sans" pitchFamily="34" charset="-122"/>
                <a:cs typeface="IBM Plex Sans" pitchFamily="34" charset="-120"/>
              </a:rPr>
              <a:t>ML Engineering · DataOps · MLOps · LLMOps · AgentOps</a:t>
            </a:r>
            <a:endParaRPr lang="en-US" sz="1800" dirty="0"/>
          </a:p>
        </p:txBody>
      </p:sp>
      <p:sp>
        <p:nvSpPr>
          <p:cNvPr id="5" name="Shape 3"/>
          <p:cNvSpPr/>
          <p:nvPr/>
        </p:nvSpPr>
        <p:spPr>
          <a:xfrm>
            <a:off x="812800" y="5129609"/>
            <a:ext cx="10566400" cy="0"/>
          </a:xfrm>
          <a:prstGeom prst="line">
            <a:avLst/>
          </a:prstGeom>
          <a:noFill/>
          <a:ln w="12700">
            <a:solidFill>
              <a:srgbClr val="3A4B57"/>
            </a:solidFill>
            <a:prstDash val="solid"/>
          </a:ln>
        </p:spPr>
        <p:txBody>
          <a:bodyPr/>
          <a:lstStyle/>
          <a:p>
            <a:endParaRPr lang="en-IN"/>
          </a:p>
        </p:txBody>
      </p:sp>
      <p:sp>
        <p:nvSpPr>
          <p:cNvPr id="6" name="Text 4"/>
          <p:cNvSpPr/>
          <p:nvPr/>
        </p:nvSpPr>
        <p:spPr>
          <a:xfrm>
            <a:off x="812800" y="5339159"/>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6F4EE"/>
                </a:solidFill>
                <a:latin typeface="IBM Plex Sans" pitchFamily="34" charset="0"/>
                <a:ea typeface="IBM Plex Sans" pitchFamily="34" charset="-122"/>
                <a:cs typeface="IBM Plex Sans" pitchFamily="34" charset="-120"/>
              </a:rPr>
              <a:t>Day 1 · Session 1 — Welcome &amp; M1: ML Systems, DataOps &amp; Orchestration Foundations</a:t>
            </a:r>
            <a:endParaRPr lang="en-US" sz="2000" dirty="0"/>
          </a:p>
        </p:txBody>
      </p:sp>
      <p:sp>
        <p:nvSpPr>
          <p:cNvPr id="7" name="Text 5"/>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JetBrains Mono" pitchFamily="34" charset="0"/>
                <a:ea typeface="JetBrains Mono" pitchFamily="34" charset="-122"/>
                <a:cs typeface="JetBrains Mono" pitchFamily="34" charset="-120"/>
              </a:rPr>
              <a:t>29 September 2026 · 09:30–11:00 · WILP Campus, Bengaluru · Pravin Y Pawar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189309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WHY THIS PROGRAMME</a:t>
            </a:r>
            <a:endParaRPr lang="en-US" sz="1200" dirty="0"/>
          </a:p>
        </p:txBody>
      </p:sp>
      <p:sp>
        <p:nvSpPr>
          <p:cNvPr id="3" name="Text 1"/>
          <p:cNvSpPr/>
          <p:nvPr/>
        </p:nvSpPr>
        <p:spPr>
          <a:xfrm>
            <a:off x="812800" y="2411214"/>
            <a:ext cx="10883392" cy="1076920"/>
          </a:xfrm>
          <a:prstGeom prst="rect">
            <a:avLst/>
          </a:prstGeom>
          <a:noFill/>
          <a:ln/>
        </p:spPr>
        <p:txBody>
          <a:bodyPr wrap="square" lIns="0" tIns="0" rIns="0" bIns="0" rtlCol="0" anchor="t">
            <a:normAutofit/>
          </a:bodyPr>
          <a:lstStyle/>
          <a:p>
            <a:pPr marL="0" indent="0" algn="l">
              <a:lnSpc>
                <a:spcPts val="4140"/>
              </a:lnSpc>
              <a:buNone/>
            </a:pPr>
            <a:r>
              <a:rPr lang="en-US" sz="3600" b="1" dirty="0">
                <a:solidFill>
                  <a:srgbClr val="16232E"/>
                </a:solidFill>
                <a:latin typeface="IBM Plex Sans" pitchFamily="34" charset="0"/>
                <a:ea typeface="IBM Plex Sans" pitchFamily="34" charset="-122"/>
                <a:cs typeface="IBM Plex Sans" pitchFamily="34" charset="-120"/>
              </a:rPr>
              <a:t>One engineering discipline, not four separate subjects.</a:t>
            </a:r>
            <a:endParaRPr lang="en-US" sz="3600" dirty="0"/>
          </a:p>
        </p:txBody>
      </p:sp>
      <p:sp>
        <p:nvSpPr>
          <p:cNvPr id="4" name="Text 2"/>
          <p:cNvSpPr/>
          <p:nvPr/>
        </p:nvSpPr>
        <p:spPr>
          <a:xfrm>
            <a:off x="812800" y="3767534"/>
            <a:ext cx="9156700" cy="1019572"/>
          </a:xfrm>
          <a:prstGeom prst="rect">
            <a:avLst/>
          </a:prstGeom>
          <a:noFill/>
          <a:ln/>
        </p:spPr>
        <p:txBody>
          <a:bodyPr wrap="square" lIns="0" tIns="0" rIns="0" bIns="0" rtlCol="0" anchor="t">
            <a:normAutofit/>
          </a:bodyPr>
          <a:lstStyle/>
          <a:p>
            <a:pPr marL="0" indent="0" algn="l">
              <a:lnSpc>
                <a:spcPts val="2610"/>
              </a:lnSpc>
              <a:buNone/>
            </a:pPr>
            <a:r>
              <a:rPr lang="en-US" sz="1800" dirty="0">
                <a:solidFill>
                  <a:srgbClr val="4E5B63"/>
                </a:solidFill>
                <a:latin typeface="IBM Plex Sans" pitchFamily="34" charset="0"/>
                <a:ea typeface="IBM Plex Sans" pitchFamily="34" charset="-122"/>
                <a:cs typeface="IBM Plex Sans" pitchFamily="34" charset="-120"/>
              </a:rPr>
              <a:t>Modern ML systems run from classical predictive services through RAG, LLMOps and agents. We teach that whole arc on one spine — and build it, end to end, in 18 contact hours and eight labs.</a:t>
            </a:r>
            <a:endParaRPr lang="en-US" sz="18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THE ORGANISING SPINE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The four-Ops stack</a:t>
            </a:r>
            <a:endParaRPr lang="en-US" sz="3200" dirty="0"/>
          </a:p>
        </p:txBody>
      </p:sp>
      <p:sp>
        <p:nvSpPr>
          <p:cNvPr id="4" name="Shape 2"/>
          <p:cNvSpPr/>
          <p:nvPr/>
        </p:nvSpPr>
        <p:spPr>
          <a:xfrm>
            <a:off x="819150" y="1936651"/>
            <a:ext cx="2209800" cy="2135783"/>
          </a:xfrm>
          <a:prstGeom prst="roundRect">
            <a:avLst>
              <a:gd name="adj" fmla="val 4460"/>
            </a:avLst>
          </a:prstGeom>
          <a:solidFill>
            <a:srgbClr val="E2EEEC"/>
          </a:solidFill>
          <a:ln w="12700">
            <a:solidFill>
              <a:srgbClr val="0E6F6D"/>
            </a:solidFill>
            <a:prstDash val="solid"/>
          </a:ln>
        </p:spPr>
        <p:txBody>
          <a:bodyPr/>
          <a:lstStyle/>
          <a:p>
            <a:endParaRPr lang="en-IN"/>
          </a:p>
        </p:txBody>
      </p:sp>
      <p:sp>
        <p:nvSpPr>
          <p:cNvPr id="5" name="Text 3"/>
          <p:cNvSpPr/>
          <p:nvPr/>
        </p:nvSpPr>
        <p:spPr>
          <a:xfrm>
            <a:off x="1028700" y="2146201"/>
            <a:ext cx="18444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Day 1</a:t>
            </a:r>
            <a:endParaRPr lang="en-US" sz="1200" dirty="0"/>
          </a:p>
        </p:txBody>
      </p:sp>
      <p:sp>
        <p:nvSpPr>
          <p:cNvPr id="6" name="Text 4"/>
          <p:cNvSpPr/>
          <p:nvPr/>
        </p:nvSpPr>
        <p:spPr>
          <a:xfrm>
            <a:off x="1028700" y="2461121"/>
            <a:ext cx="184442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32E"/>
                </a:solidFill>
                <a:latin typeface="JetBrains Mono" pitchFamily="34" charset="0"/>
                <a:ea typeface="JetBrains Mono" pitchFamily="34" charset="-122"/>
                <a:cs typeface="JetBrains Mono" pitchFamily="34" charset="-120"/>
              </a:rPr>
              <a:t>DataOps</a:t>
            </a:r>
            <a:endParaRPr lang="en-US" sz="2000" dirty="0"/>
          </a:p>
        </p:txBody>
      </p:sp>
      <p:sp>
        <p:nvSpPr>
          <p:cNvPr id="7" name="Text 5"/>
          <p:cNvSpPr/>
          <p:nvPr/>
        </p:nvSpPr>
        <p:spPr>
          <a:xfrm>
            <a:off x="1028700" y="2867521"/>
            <a:ext cx="1844421"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Trustworthy data on schedule: contracts, versioning, orchestration</a:t>
            </a:r>
            <a:endParaRPr lang="en-US" sz="1400" dirty="0"/>
          </a:p>
        </p:txBody>
      </p:sp>
      <p:pic>
        <p:nvPicPr>
          <p:cNvPr id="8" name="Image 0" descr="arrow-right"/>
          <p:cNvPicPr>
            <a:picLocks noChangeAspect="1"/>
          </p:cNvPicPr>
          <p:nvPr/>
        </p:nvPicPr>
        <p:blipFill>
          <a:blip r:embed="rId3"/>
          <a:srcRect/>
          <a:stretch/>
        </p:blipFill>
        <p:spPr>
          <a:xfrm>
            <a:off x="3162300" y="2915642"/>
            <a:ext cx="304800" cy="177800"/>
          </a:xfrm>
          <a:prstGeom prst="rect">
            <a:avLst/>
          </a:prstGeom>
        </p:spPr>
      </p:pic>
      <p:sp>
        <p:nvSpPr>
          <p:cNvPr id="9" name="Shape 6"/>
          <p:cNvSpPr/>
          <p:nvPr/>
        </p:nvSpPr>
        <p:spPr>
          <a:xfrm>
            <a:off x="3600450" y="2061071"/>
            <a:ext cx="2209800" cy="1886942"/>
          </a:xfrm>
          <a:prstGeom prst="roundRect">
            <a:avLst>
              <a:gd name="adj" fmla="val 5048"/>
            </a:avLst>
          </a:prstGeom>
          <a:solidFill>
            <a:srgbClr val="FDFCF8"/>
          </a:solidFill>
          <a:ln w="12700">
            <a:solidFill>
              <a:srgbClr val="DCD6C8"/>
            </a:solidFill>
            <a:prstDash val="solid"/>
          </a:ln>
        </p:spPr>
        <p:txBody>
          <a:bodyPr/>
          <a:lstStyle/>
          <a:p>
            <a:endParaRPr lang="en-IN"/>
          </a:p>
        </p:txBody>
      </p:sp>
      <p:sp>
        <p:nvSpPr>
          <p:cNvPr id="10" name="Text 7"/>
          <p:cNvSpPr/>
          <p:nvPr/>
        </p:nvSpPr>
        <p:spPr>
          <a:xfrm>
            <a:off x="3810000" y="2270621"/>
            <a:ext cx="18444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Days 1–2</a:t>
            </a:r>
            <a:endParaRPr lang="en-US" sz="1200" dirty="0"/>
          </a:p>
        </p:txBody>
      </p:sp>
      <p:sp>
        <p:nvSpPr>
          <p:cNvPr id="11" name="Text 8"/>
          <p:cNvSpPr/>
          <p:nvPr/>
        </p:nvSpPr>
        <p:spPr>
          <a:xfrm>
            <a:off x="3810000" y="2585541"/>
            <a:ext cx="184442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32E"/>
                </a:solidFill>
                <a:latin typeface="JetBrains Mono" pitchFamily="34" charset="0"/>
                <a:ea typeface="JetBrains Mono" pitchFamily="34" charset="-122"/>
                <a:cs typeface="JetBrains Mono" pitchFamily="34" charset="-120"/>
              </a:rPr>
              <a:t>MLOps</a:t>
            </a:r>
            <a:endParaRPr lang="en-US" sz="2000" dirty="0"/>
          </a:p>
        </p:txBody>
      </p:sp>
      <p:sp>
        <p:nvSpPr>
          <p:cNvPr id="12" name="Text 9"/>
          <p:cNvSpPr/>
          <p:nvPr/>
        </p:nvSpPr>
        <p:spPr>
          <a:xfrm>
            <a:off x="3810000" y="2991941"/>
            <a:ext cx="1844421"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Models you can reproduce, serve, monitor and retrain</a:t>
            </a:r>
            <a:endParaRPr lang="en-US" sz="1400" dirty="0"/>
          </a:p>
        </p:txBody>
      </p:sp>
      <p:pic>
        <p:nvPicPr>
          <p:cNvPr id="13" name="Image 1" descr="arrow-right"/>
          <p:cNvPicPr>
            <a:picLocks noChangeAspect="1"/>
          </p:cNvPicPr>
          <p:nvPr/>
        </p:nvPicPr>
        <p:blipFill>
          <a:blip r:embed="rId3"/>
          <a:srcRect/>
          <a:stretch/>
        </p:blipFill>
        <p:spPr>
          <a:xfrm>
            <a:off x="5943600" y="2915642"/>
            <a:ext cx="304800" cy="177800"/>
          </a:xfrm>
          <a:prstGeom prst="rect">
            <a:avLst/>
          </a:prstGeom>
        </p:spPr>
      </p:pic>
      <p:sp>
        <p:nvSpPr>
          <p:cNvPr id="14" name="Shape 10"/>
          <p:cNvSpPr/>
          <p:nvPr/>
        </p:nvSpPr>
        <p:spPr>
          <a:xfrm>
            <a:off x="6381750" y="2061071"/>
            <a:ext cx="2209800" cy="1886942"/>
          </a:xfrm>
          <a:prstGeom prst="roundRect">
            <a:avLst>
              <a:gd name="adj" fmla="val 5048"/>
            </a:avLst>
          </a:prstGeom>
          <a:solidFill>
            <a:srgbClr val="FDFCF8"/>
          </a:solidFill>
          <a:ln w="12700">
            <a:solidFill>
              <a:srgbClr val="DCD6C8"/>
            </a:solidFill>
            <a:prstDash val="solid"/>
          </a:ln>
        </p:spPr>
        <p:txBody>
          <a:bodyPr/>
          <a:lstStyle/>
          <a:p>
            <a:endParaRPr lang="en-IN"/>
          </a:p>
        </p:txBody>
      </p:sp>
      <p:sp>
        <p:nvSpPr>
          <p:cNvPr id="15" name="Text 11"/>
          <p:cNvSpPr/>
          <p:nvPr/>
        </p:nvSpPr>
        <p:spPr>
          <a:xfrm>
            <a:off x="6591300" y="2270621"/>
            <a:ext cx="18444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Day 3</a:t>
            </a:r>
            <a:endParaRPr lang="en-US" sz="1200" dirty="0"/>
          </a:p>
        </p:txBody>
      </p:sp>
      <p:sp>
        <p:nvSpPr>
          <p:cNvPr id="16" name="Text 12"/>
          <p:cNvSpPr/>
          <p:nvPr/>
        </p:nvSpPr>
        <p:spPr>
          <a:xfrm>
            <a:off x="6591300" y="2585541"/>
            <a:ext cx="184442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32E"/>
                </a:solidFill>
                <a:latin typeface="JetBrains Mono" pitchFamily="34" charset="0"/>
                <a:ea typeface="JetBrains Mono" pitchFamily="34" charset="-122"/>
                <a:cs typeface="JetBrains Mono" pitchFamily="34" charset="-120"/>
              </a:rPr>
              <a:t>LLMOps</a:t>
            </a:r>
            <a:endParaRPr lang="en-US" sz="2000" dirty="0"/>
          </a:p>
        </p:txBody>
      </p:sp>
      <p:sp>
        <p:nvSpPr>
          <p:cNvPr id="17" name="Text 13"/>
          <p:cNvSpPr/>
          <p:nvPr/>
        </p:nvSpPr>
        <p:spPr>
          <a:xfrm>
            <a:off x="6591300" y="2991941"/>
            <a:ext cx="1844421"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Prompts, retrieval, tracing and evaluation of generated answers</a:t>
            </a:r>
            <a:endParaRPr lang="en-US" sz="1400" dirty="0"/>
          </a:p>
        </p:txBody>
      </p:sp>
      <p:pic>
        <p:nvPicPr>
          <p:cNvPr id="18" name="Image 2" descr="arrow-right"/>
          <p:cNvPicPr>
            <a:picLocks noChangeAspect="1"/>
          </p:cNvPicPr>
          <p:nvPr/>
        </p:nvPicPr>
        <p:blipFill>
          <a:blip r:embed="rId3"/>
          <a:srcRect/>
          <a:stretch/>
        </p:blipFill>
        <p:spPr>
          <a:xfrm>
            <a:off x="8724900" y="2915642"/>
            <a:ext cx="304800" cy="177800"/>
          </a:xfrm>
          <a:prstGeom prst="rect">
            <a:avLst/>
          </a:prstGeom>
        </p:spPr>
      </p:pic>
      <p:sp>
        <p:nvSpPr>
          <p:cNvPr id="19" name="Shape 14"/>
          <p:cNvSpPr/>
          <p:nvPr/>
        </p:nvSpPr>
        <p:spPr>
          <a:xfrm>
            <a:off x="9163050" y="2061071"/>
            <a:ext cx="2209800" cy="1886942"/>
          </a:xfrm>
          <a:prstGeom prst="roundRect">
            <a:avLst>
              <a:gd name="adj" fmla="val 5048"/>
            </a:avLst>
          </a:prstGeom>
          <a:solidFill>
            <a:srgbClr val="FDFCF8"/>
          </a:solidFill>
          <a:ln w="12700">
            <a:solidFill>
              <a:srgbClr val="DCD6C8"/>
            </a:solidFill>
            <a:prstDash val="solid"/>
          </a:ln>
        </p:spPr>
        <p:txBody>
          <a:bodyPr/>
          <a:lstStyle/>
          <a:p>
            <a:endParaRPr lang="en-IN"/>
          </a:p>
        </p:txBody>
      </p:sp>
      <p:sp>
        <p:nvSpPr>
          <p:cNvPr id="20" name="Text 15"/>
          <p:cNvSpPr/>
          <p:nvPr/>
        </p:nvSpPr>
        <p:spPr>
          <a:xfrm>
            <a:off x="9372600" y="2270621"/>
            <a:ext cx="18444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Day 3</a:t>
            </a:r>
            <a:endParaRPr lang="en-US" sz="1200" dirty="0"/>
          </a:p>
        </p:txBody>
      </p:sp>
      <p:sp>
        <p:nvSpPr>
          <p:cNvPr id="21" name="Text 16"/>
          <p:cNvSpPr/>
          <p:nvPr/>
        </p:nvSpPr>
        <p:spPr>
          <a:xfrm>
            <a:off x="9372600" y="2585541"/>
            <a:ext cx="184442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32E"/>
                </a:solidFill>
                <a:latin typeface="JetBrains Mono" pitchFamily="34" charset="0"/>
                <a:ea typeface="JetBrains Mono" pitchFamily="34" charset="-122"/>
                <a:cs typeface="JetBrains Mono" pitchFamily="34" charset="-120"/>
              </a:rPr>
              <a:t>AgentOps</a:t>
            </a:r>
            <a:endParaRPr lang="en-US" sz="2000" dirty="0"/>
          </a:p>
        </p:txBody>
      </p:sp>
      <p:sp>
        <p:nvSpPr>
          <p:cNvPr id="22" name="Text 17"/>
          <p:cNvSpPr/>
          <p:nvPr/>
        </p:nvSpPr>
        <p:spPr>
          <a:xfrm>
            <a:off x="9372600" y="2991941"/>
            <a:ext cx="1844421"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Tools, plans, traces and the cost of autonomous loops</a:t>
            </a:r>
            <a:endParaRPr lang="en-US" sz="1400" dirty="0"/>
          </a:p>
        </p:txBody>
      </p:sp>
      <p:sp>
        <p:nvSpPr>
          <p:cNvPr id="23" name="Text 18"/>
          <p:cNvSpPr/>
          <p:nvPr/>
        </p:nvSpPr>
        <p:spPr>
          <a:xfrm>
            <a:off x="812800" y="4434384"/>
            <a:ext cx="1088339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32E"/>
                </a:solidFill>
                <a:latin typeface="IBM Plex Sans" pitchFamily="34" charset="0"/>
                <a:ea typeface="IBM Plex Sans" pitchFamily="34" charset="-122"/>
                <a:cs typeface="IBM Plex Sans" pitchFamily="34" charset="-120"/>
              </a:rPr>
              <a:t>Each layer inherits the discipline of the one beneath it — which is why the labs </a:t>
            </a:r>
            <a:r>
              <a:rPr lang="en-US" sz="1600" b="1" dirty="0">
                <a:solidFill>
                  <a:srgbClr val="16232E"/>
                </a:solidFill>
                <a:latin typeface="IBM Plex Sans" pitchFamily="34" charset="0"/>
                <a:ea typeface="IBM Plex Sans" pitchFamily="34" charset="-122"/>
                <a:cs typeface="IBM Plex Sans" pitchFamily="34" charset="-120"/>
              </a:rPr>
              <a:t>compound</a:t>
            </a:r>
            <a:r>
              <a:rPr lang="en-US" sz="1600" dirty="0">
                <a:solidFill>
                  <a:srgbClr val="16232E"/>
                </a:solidFill>
                <a:latin typeface="IBM Plex Sans" pitchFamily="34" charset="0"/>
                <a:ea typeface="IBM Plex Sans" pitchFamily="34" charset="-122"/>
                <a:cs typeface="IBM Plex Sans" pitchFamily="34" charset="-120"/>
              </a:rPr>
              <a:t> rather than merely accumulate.</a:t>
            </a:r>
            <a:endParaRPr lang="en-US" sz="1600" dirty="0"/>
          </a:p>
        </p:txBody>
      </p:sp>
      <p:sp>
        <p:nvSpPr>
          <p:cNvPr id="24"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25" name="Text 2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PROGRAMME AT A GLANCE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Three days, one product line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28701"/>
          <a:ext cx="10566400" cy="2290367"/>
        </p:xfrm>
        <a:graphic>
          <a:graphicData uri="http://schemas.openxmlformats.org/drawingml/2006/table">
            <a:tbl>
              <a:tblPr/>
              <a:tblGrid>
                <a:gridCol w="1901952">
                  <a:extLst>
                    <a:ext uri="{9D8B030D-6E8A-4147-A177-3AD203B41FA5}">
                      <a16:colId xmlns:a16="http://schemas.microsoft.com/office/drawing/2014/main" val="20000"/>
                    </a:ext>
                  </a:extLst>
                </a:gridCol>
                <a:gridCol w="3381248">
                  <a:extLst>
                    <a:ext uri="{9D8B030D-6E8A-4147-A177-3AD203B41FA5}">
                      <a16:colId xmlns:a16="http://schemas.microsoft.com/office/drawing/2014/main" val="20001"/>
                    </a:ext>
                  </a:extLst>
                </a:gridCol>
                <a:gridCol w="5283200">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Day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Theme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Sessions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634802">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Day 1 · 29 Sep</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Data foundations &amp; the predictive pipeline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M1 · M2 analysis anchor · Lab 1 DataOps · M3 + Lab 2 ML pipeline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634802">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Day 2 · 30 Sep</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Serving, observability &amp; re-execution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M4 + Lab 3a/3b serving &amp; dashboards · M5 + Lab 4 drift · Lab 5 CI/CD + clinic</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634802">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Day 3 · 1 Oct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The generative system: RAG, LLMOps, AgentOps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Industry talk · M6 + Lab 6 RAG · M7 + Lab 7 LLMOps · M8 + Lab 8 agents · synthesis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THE LIFECYCLE ARC</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Seven beats, one repository</a:t>
            </a:r>
            <a:endParaRPr lang="en-US" sz="3200" dirty="0"/>
          </a:p>
        </p:txBody>
      </p:sp>
      <p:sp>
        <p:nvSpPr>
          <p:cNvPr id="4" name="Shape 2"/>
          <p:cNvSpPr/>
          <p:nvPr/>
        </p:nvSpPr>
        <p:spPr>
          <a:xfrm>
            <a:off x="819150" y="1936651"/>
            <a:ext cx="1409700" cy="924520"/>
          </a:xfrm>
          <a:prstGeom prst="roundRect">
            <a:avLst>
              <a:gd name="adj" fmla="val 8929"/>
            </a:avLst>
          </a:prstGeom>
          <a:solidFill>
            <a:srgbClr val="0E6F6D"/>
          </a:solidFill>
          <a:ln w="12700">
            <a:solidFill>
              <a:srgbClr val="0E6F6D"/>
            </a:solidFill>
            <a:prstDash val="solid"/>
          </a:ln>
        </p:spPr>
        <p:txBody>
          <a:bodyPr/>
          <a:lstStyle/>
          <a:p>
            <a:endParaRPr lang="en-IN"/>
          </a:p>
        </p:txBody>
      </p:sp>
      <p:sp>
        <p:nvSpPr>
          <p:cNvPr id="5" name="Text 3"/>
          <p:cNvSpPr/>
          <p:nvPr/>
        </p:nvSpPr>
        <p:spPr>
          <a:xfrm>
            <a:off x="901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Discover</a:t>
            </a:r>
            <a:endParaRPr lang="en-US" sz="1500" dirty="0"/>
          </a:p>
        </p:txBody>
      </p:sp>
      <p:sp>
        <p:nvSpPr>
          <p:cNvPr id="6" name="Text 4"/>
          <p:cNvSpPr/>
          <p:nvPr/>
        </p:nvSpPr>
        <p:spPr>
          <a:xfrm>
            <a:off x="901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FE6E3"/>
                </a:solidFill>
                <a:latin typeface="JetBrains Mono" pitchFamily="34" charset="0"/>
                <a:ea typeface="JetBrains Mono" pitchFamily="34" charset="-122"/>
                <a:cs typeface="JetBrains Mono" pitchFamily="34" charset="-120"/>
              </a:rPr>
              <a:t>M2</a:t>
            </a:r>
            <a:endParaRPr lang="en-US" sz="1200" dirty="0"/>
          </a:p>
        </p:txBody>
      </p:sp>
      <p:sp>
        <p:nvSpPr>
          <p:cNvPr id="7" name="Shape 5"/>
          <p:cNvSpPr/>
          <p:nvPr/>
        </p:nvSpPr>
        <p:spPr>
          <a:xfrm>
            <a:off x="2343150" y="1936651"/>
            <a:ext cx="1409700" cy="924520"/>
          </a:xfrm>
          <a:prstGeom prst="roundRect">
            <a:avLst>
              <a:gd name="adj" fmla="val 8929"/>
            </a:avLst>
          </a:prstGeom>
          <a:solidFill>
            <a:srgbClr val="0E6F6D"/>
          </a:solidFill>
          <a:ln w="12700">
            <a:solidFill>
              <a:srgbClr val="0E6F6D"/>
            </a:solidFill>
            <a:prstDash val="solid"/>
          </a:ln>
        </p:spPr>
        <p:txBody>
          <a:bodyPr/>
          <a:lstStyle/>
          <a:p>
            <a:endParaRPr lang="en-IN"/>
          </a:p>
        </p:txBody>
      </p:sp>
      <p:sp>
        <p:nvSpPr>
          <p:cNvPr id="8" name="Text 6"/>
          <p:cNvSpPr/>
          <p:nvPr/>
        </p:nvSpPr>
        <p:spPr>
          <a:xfrm>
            <a:off x="2425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Prepare</a:t>
            </a:r>
            <a:endParaRPr lang="en-US" sz="1500" dirty="0"/>
          </a:p>
        </p:txBody>
      </p:sp>
      <p:sp>
        <p:nvSpPr>
          <p:cNvPr id="9" name="Text 7"/>
          <p:cNvSpPr/>
          <p:nvPr/>
        </p:nvSpPr>
        <p:spPr>
          <a:xfrm>
            <a:off x="2425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FE6E3"/>
                </a:solidFill>
                <a:latin typeface="JetBrains Mono" pitchFamily="34" charset="0"/>
                <a:ea typeface="JetBrains Mono" pitchFamily="34" charset="-122"/>
                <a:cs typeface="JetBrains Mono" pitchFamily="34" charset="-120"/>
              </a:rPr>
              <a:t>Lab 1</a:t>
            </a:r>
            <a:endParaRPr lang="en-US" sz="1200" dirty="0"/>
          </a:p>
        </p:txBody>
      </p:sp>
      <p:sp>
        <p:nvSpPr>
          <p:cNvPr id="10" name="Shape 8"/>
          <p:cNvSpPr/>
          <p:nvPr/>
        </p:nvSpPr>
        <p:spPr>
          <a:xfrm>
            <a:off x="3867150" y="1936651"/>
            <a:ext cx="1409700" cy="924520"/>
          </a:xfrm>
          <a:prstGeom prst="roundRect">
            <a:avLst>
              <a:gd name="adj" fmla="val 8929"/>
            </a:avLst>
          </a:prstGeom>
          <a:solidFill>
            <a:srgbClr val="0E6F6D"/>
          </a:solidFill>
          <a:ln w="12700">
            <a:solidFill>
              <a:srgbClr val="0E6F6D"/>
            </a:solidFill>
            <a:prstDash val="solid"/>
          </a:ln>
        </p:spPr>
        <p:txBody>
          <a:bodyPr/>
          <a:lstStyle/>
          <a:p>
            <a:endParaRPr lang="en-IN"/>
          </a:p>
        </p:txBody>
      </p:sp>
      <p:sp>
        <p:nvSpPr>
          <p:cNvPr id="11" name="Text 9"/>
          <p:cNvSpPr/>
          <p:nvPr/>
        </p:nvSpPr>
        <p:spPr>
          <a:xfrm>
            <a:off x="3949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Build</a:t>
            </a:r>
            <a:endParaRPr lang="en-US" sz="1500" dirty="0"/>
          </a:p>
        </p:txBody>
      </p:sp>
      <p:sp>
        <p:nvSpPr>
          <p:cNvPr id="12" name="Text 10"/>
          <p:cNvSpPr/>
          <p:nvPr/>
        </p:nvSpPr>
        <p:spPr>
          <a:xfrm>
            <a:off x="3949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FE6E3"/>
                </a:solidFill>
                <a:latin typeface="JetBrains Mono" pitchFamily="34" charset="0"/>
                <a:ea typeface="JetBrains Mono" pitchFamily="34" charset="-122"/>
                <a:cs typeface="JetBrains Mono" pitchFamily="34" charset="-120"/>
              </a:rPr>
              <a:t>Lab 2</a:t>
            </a:r>
            <a:endParaRPr lang="en-US" sz="1200" dirty="0"/>
          </a:p>
        </p:txBody>
      </p:sp>
      <p:sp>
        <p:nvSpPr>
          <p:cNvPr id="13" name="Shape 11"/>
          <p:cNvSpPr/>
          <p:nvPr/>
        </p:nvSpPr>
        <p:spPr>
          <a:xfrm>
            <a:off x="5391150" y="1936651"/>
            <a:ext cx="1409700" cy="924520"/>
          </a:xfrm>
          <a:prstGeom prst="roundRect">
            <a:avLst>
              <a:gd name="adj" fmla="val 8929"/>
            </a:avLst>
          </a:prstGeom>
          <a:solidFill>
            <a:srgbClr val="FDFCF8"/>
          </a:solidFill>
          <a:ln w="12700">
            <a:solidFill>
              <a:srgbClr val="DCD6C8"/>
            </a:solidFill>
            <a:prstDash val="solid"/>
          </a:ln>
        </p:spPr>
        <p:txBody>
          <a:bodyPr/>
          <a:lstStyle/>
          <a:p>
            <a:endParaRPr lang="en-IN"/>
          </a:p>
        </p:txBody>
      </p:sp>
      <p:sp>
        <p:nvSpPr>
          <p:cNvPr id="14" name="Text 12"/>
          <p:cNvSpPr/>
          <p:nvPr/>
        </p:nvSpPr>
        <p:spPr>
          <a:xfrm>
            <a:off x="5473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Serve</a:t>
            </a:r>
            <a:endParaRPr lang="en-US" sz="1500" dirty="0"/>
          </a:p>
        </p:txBody>
      </p:sp>
      <p:sp>
        <p:nvSpPr>
          <p:cNvPr id="15" name="Text 13"/>
          <p:cNvSpPr/>
          <p:nvPr/>
        </p:nvSpPr>
        <p:spPr>
          <a:xfrm>
            <a:off x="5473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3</a:t>
            </a:r>
            <a:endParaRPr lang="en-US" sz="1200" dirty="0"/>
          </a:p>
        </p:txBody>
      </p:sp>
      <p:sp>
        <p:nvSpPr>
          <p:cNvPr id="16" name="Shape 14"/>
          <p:cNvSpPr/>
          <p:nvPr/>
        </p:nvSpPr>
        <p:spPr>
          <a:xfrm>
            <a:off x="6915150" y="1936651"/>
            <a:ext cx="1409700" cy="924520"/>
          </a:xfrm>
          <a:prstGeom prst="roundRect">
            <a:avLst>
              <a:gd name="adj" fmla="val 8929"/>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6997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Monitor</a:t>
            </a:r>
            <a:endParaRPr lang="en-US" sz="1500" dirty="0"/>
          </a:p>
        </p:txBody>
      </p:sp>
      <p:sp>
        <p:nvSpPr>
          <p:cNvPr id="18" name="Text 16"/>
          <p:cNvSpPr/>
          <p:nvPr/>
        </p:nvSpPr>
        <p:spPr>
          <a:xfrm>
            <a:off x="6997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4</a:t>
            </a:r>
            <a:endParaRPr lang="en-US" sz="1200" dirty="0"/>
          </a:p>
        </p:txBody>
      </p:sp>
      <p:sp>
        <p:nvSpPr>
          <p:cNvPr id="19" name="Shape 17"/>
          <p:cNvSpPr/>
          <p:nvPr/>
        </p:nvSpPr>
        <p:spPr>
          <a:xfrm>
            <a:off x="8439150" y="1936651"/>
            <a:ext cx="1409700" cy="924520"/>
          </a:xfrm>
          <a:prstGeom prst="roundRect">
            <a:avLst>
              <a:gd name="adj" fmla="val 8929"/>
            </a:avLst>
          </a:prstGeom>
          <a:solidFill>
            <a:srgbClr val="FDFCF8"/>
          </a:solidFill>
          <a:ln w="12700">
            <a:solidFill>
              <a:srgbClr val="DCD6C8"/>
            </a:solidFill>
            <a:prstDash val="solid"/>
          </a:ln>
        </p:spPr>
        <p:txBody>
          <a:bodyPr/>
          <a:lstStyle/>
          <a:p>
            <a:endParaRPr lang="en-IN"/>
          </a:p>
        </p:txBody>
      </p:sp>
      <p:sp>
        <p:nvSpPr>
          <p:cNvPr id="20" name="Text 18"/>
          <p:cNvSpPr/>
          <p:nvPr/>
        </p:nvSpPr>
        <p:spPr>
          <a:xfrm>
            <a:off x="8521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Re-execute</a:t>
            </a:r>
            <a:endParaRPr lang="en-US" sz="1500" dirty="0"/>
          </a:p>
        </p:txBody>
      </p:sp>
      <p:sp>
        <p:nvSpPr>
          <p:cNvPr id="21" name="Text 19"/>
          <p:cNvSpPr/>
          <p:nvPr/>
        </p:nvSpPr>
        <p:spPr>
          <a:xfrm>
            <a:off x="8521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4</a:t>
            </a:r>
            <a:endParaRPr lang="en-US" sz="1200" dirty="0"/>
          </a:p>
        </p:txBody>
      </p:sp>
      <p:sp>
        <p:nvSpPr>
          <p:cNvPr id="22" name="Shape 20"/>
          <p:cNvSpPr/>
          <p:nvPr/>
        </p:nvSpPr>
        <p:spPr>
          <a:xfrm>
            <a:off x="9963150" y="1936651"/>
            <a:ext cx="1409700" cy="924520"/>
          </a:xfrm>
          <a:prstGeom prst="roundRect">
            <a:avLst>
              <a:gd name="adj" fmla="val 8929"/>
            </a:avLst>
          </a:prstGeom>
          <a:solidFill>
            <a:srgbClr val="FDFCF8"/>
          </a:solidFill>
          <a:ln w="12700">
            <a:solidFill>
              <a:srgbClr val="DCD6C8"/>
            </a:solidFill>
            <a:prstDash val="solid"/>
          </a:ln>
        </p:spPr>
        <p:txBody>
          <a:bodyPr/>
          <a:lstStyle/>
          <a:p>
            <a:endParaRPr lang="en-IN"/>
          </a:p>
        </p:txBody>
      </p:sp>
      <p:sp>
        <p:nvSpPr>
          <p:cNvPr id="23" name="Text 21"/>
          <p:cNvSpPr/>
          <p:nvPr/>
        </p:nvSpPr>
        <p:spPr>
          <a:xfrm>
            <a:off x="10045700" y="2120801"/>
            <a:ext cx="1244600" cy="292100"/>
          </a:xfrm>
          <a:prstGeom prst="rect">
            <a:avLst/>
          </a:prstGeom>
          <a:noFill/>
          <a:ln/>
        </p:spPr>
        <p:txBody>
          <a:bodyPr wrap="square" lIns="0" tIns="0" rIns="0" bIns="0" rtlCol="0" anchor="t">
            <a:normAutofit/>
          </a:bodyPr>
          <a:lstStyle/>
          <a:p>
            <a:pPr marL="0" indent="0" algn="ctr">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Release</a:t>
            </a:r>
            <a:endParaRPr lang="en-US" sz="1500" dirty="0"/>
          </a:p>
        </p:txBody>
      </p:sp>
      <p:sp>
        <p:nvSpPr>
          <p:cNvPr id="24" name="Text 22"/>
          <p:cNvSpPr/>
          <p:nvPr/>
        </p:nvSpPr>
        <p:spPr>
          <a:xfrm>
            <a:off x="10045700" y="2463701"/>
            <a:ext cx="1244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5</a:t>
            </a:r>
            <a:endParaRPr lang="en-US" sz="1200" dirty="0"/>
          </a:p>
        </p:txBody>
      </p:sp>
      <p:sp>
        <p:nvSpPr>
          <p:cNvPr id="25" name="Text 23"/>
          <p:cNvSpPr/>
          <p:nvPr/>
        </p:nvSpPr>
        <p:spPr>
          <a:xfrm>
            <a:off x="812800" y="3223121"/>
            <a:ext cx="5284724" cy="854075"/>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0E6F6D"/>
                </a:solidFill>
                <a:latin typeface="IBM Plex Sans" pitchFamily="34" charset="0"/>
                <a:ea typeface="IBM Plex Sans" pitchFamily="34" charset="-122"/>
                <a:cs typeface="IBM Plex Sans" pitchFamily="34" charset="-120"/>
              </a:rPr>
              <a:t>Today</a:t>
            </a:r>
            <a:r>
              <a:rPr lang="en-US" sz="1500" dirty="0">
                <a:solidFill>
                  <a:srgbClr val="4E5B63"/>
                </a:solidFill>
                <a:latin typeface="IBM Plex Sans" pitchFamily="34" charset="0"/>
                <a:ea typeface="IBM Plex Sans" pitchFamily="34" charset="-122"/>
                <a:cs typeface="IBM Plex Sans" pitchFamily="34" charset="-120"/>
              </a:rPr>
              <a:t> covers the first three beats. Each lab starts exactly where the previous one stopped — same folder, same data, same registry.</a:t>
            </a:r>
            <a:endParaRPr lang="en-US" sz="1500" dirty="0"/>
          </a:p>
        </p:txBody>
      </p:sp>
      <p:sp>
        <p:nvSpPr>
          <p:cNvPr id="26" name="Text 24"/>
          <p:cNvSpPr/>
          <p:nvPr/>
        </p:nvSpPr>
        <p:spPr>
          <a:xfrm>
            <a:off x="6248400" y="3223121"/>
            <a:ext cx="528472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E5B63"/>
                </a:solidFill>
                <a:latin typeface="IBM Plex Sans" pitchFamily="34" charset="0"/>
                <a:ea typeface="IBM Plex Sans" pitchFamily="34" charset="-122"/>
                <a:cs typeface="IBM Plex Sans" pitchFamily="34" charset="-120"/>
              </a:rPr>
              <a:t>One thread ties it together: the hash of the extract M2 profiles is tagged on the model Lab 2 registers and Lab 5 deploys.</a:t>
            </a:r>
            <a:endParaRPr lang="en-US" sz="1500" dirty="0"/>
          </a:p>
        </p:txBody>
      </p:sp>
      <p:sp>
        <p:nvSpPr>
          <p:cNvPr id="27" name="Text 2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28" name="Text 2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THE RUNNING CASE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Meet FreshMart</a:t>
            </a:r>
            <a:endParaRPr lang="en-US" sz="3200" dirty="0"/>
          </a:p>
        </p:txBody>
      </p:sp>
      <p:sp>
        <p:nvSpPr>
          <p:cNvPr id="4" name="Text 2"/>
          <p:cNvSpPr/>
          <p:nvPr/>
        </p:nvSpPr>
        <p:spPr>
          <a:xfrm>
            <a:off x="812800" y="1828701"/>
            <a:ext cx="6305042"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16232E"/>
                </a:solidFill>
                <a:latin typeface="IBM Plex Sans" pitchFamily="34" charset="0"/>
                <a:ea typeface="IBM Plex Sans" pitchFamily="34" charset="-122"/>
                <a:cs typeface="IBM Plex Sans" pitchFamily="34" charset="-120"/>
              </a:rPr>
              <a:t>A grocery chain wants </a:t>
            </a:r>
            <a:r>
              <a:rPr lang="en-US" sz="1700" b="1" dirty="0">
                <a:solidFill>
                  <a:srgbClr val="16232E"/>
                </a:solidFill>
                <a:latin typeface="IBM Plex Sans" pitchFamily="34" charset="0"/>
                <a:ea typeface="IBM Plex Sans" pitchFamily="34" charset="-122"/>
                <a:cs typeface="IBM Plex Sans" pitchFamily="34" charset="-120"/>
              </a:rPr>
              <a:t>reorder-propensity scores</a:t>
            </a:r>
            <a:r>
              <a:rPr lang="en-US" sz="1700" dirty="0">
                <a:solidFill>
                  <a:srgbClr val="16232E"/>
                </a:solidFill>
                <a:latin typeface="IBM Plex Sans" pitchFamily="34" charset="0"/>
                <a:ea typeface="IBM Plex Sans" pitchFamily="34" charset="-122"/>
                <a:cs typeface="IBM Plex Sans" pitchFamily="34" charset="-120"/>
              </a:rPr>
              <a:t>: which store–product lines need adding to today's replenishment run.</a:t>
            </a:r>
            <a:endParaRPr lang="en-US" sz="1700" dirty="0"/>
          </a:p>
        </p:txBody>
      </p:sp>
      <p:sp>
        <p:nvSpPr>
          <p:cNvPr id="5" name="Text 3"/>
          <p:cNvSpPr/>
          <p:nvPr/>
        </p:nvSpPr>
        <p:spPr>
          <a:xfrm>
            <a:off x="812800" y="2632571"/>
            <a:ext cx="630504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E5B63"/>
                </a:solidFill>
                <a:latin typeface="IBM Plex Sans" pitchFamily="34" charset="0"/>
                <a:ea typeface="IBM Plex Sans" pitchFamily="34" charset="-122"/>
                <a:cs typeface="IBM Plex Sans" pitchFamily="34" charset="-120"/>
              </a:rPr>
              <a:t>A planner in Pune opens a screen at 07:30, picks store S001, and will not be typing eight feature values to find out.</a:t>
            </a:r>
            <a:endParaRPr lang="en-US" sz="1500" dirty="0"/>
          </a:p>
        </p:txBody>
      </p:sp>
      <p:sp>
        <p:nvSpPr>
          <p:cNvPr id="6" name="Text 4"/>
          <p:cNvSpPr/>
          <p:nvPr/>
        </p:nvSpPr>
        <p:spPr>
          <a:xfrm>
            <a:off x="812800" y="3362821"/>
            <a:ext cx="630504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E5B63"/>
                </a:solidFill>
                <a:latin typeface="IBM Plex Sans" pitchFamily="34" charset="0"/>
                <a:ea typeface="IBM Plex Sans" pitchFamily="34" charset="-122"/>
                <a:cs typeface="IBM Plex Sans" pitchFamily="34" charset="-120"/>
              </a:rPr>
              <a:t>The raw extract is deliberately dirty: 250 missing quantities and 150 duplicated transaction IDs.</a:t>
            </a:r>
            <a:endParaRPr lang="en-US" sz="1500" dirty="0"/>
          </a:p>
        </p:txBody>
      </p:sp>
      <p:sp>
        <p:nvSpPr>
          <p:cNvPr id="7" name="Shape 5"/>
          <p:cNvSpPr/>
          <p:nvPr/>
        </p:nvSpPr>
        <p:spPr>
          <a:xfrm>
            <a:off x="7442200" y="1838226"/>
            <a:ext cx="1841500" cy="0"/>
          </a:xfrm>
          <a:prstGeom prst="line">
            <a:avLst/>
          </a:prstGeom>
          <a:noFill/>
          <a:ln w="19050">
            <a:solidFill>
              <a:srgbClr val="0E6F6D"/>
            </a:solidFill>
            <a:prstDash val="solid"/>
          </a:ln>
        </p:spPr>
        <p:txBody>
          <a:bodyPr/>
          <a:lstStyle/>
          <a:p>
            <a:endParaRPr lang="en-IN"/>
          </a:p>
        </p:txBody>
      </p:sp>
      <p:sp>
        <p:nvSpPr>
          <p:cNvPr id="8" name="Text 6"/>
          <p:cNvSpPr/>
          <p:nvPr/>
        </p:nvSpPr>
        <p:spPr>
          <a:xfrm>
            <a:off x="7442200" y="1974751"/>
            <a:ext cx="1896745"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6232E"/>
                </a:solidFill>
                <a:latin typeface="JetBrains Mono" pitchFamily="34" charset="0"/>
                <a:ea typeface="JetBrains Mono" pitchFamily="34" charset="-122"/>
                <a:cs typeface="JetBrains Mono" pitchFamily="34" charset="-120"/>
              </a:rPr>
              <a:t>20</a:t>
            </a:r>
            <a:endParaRPr lang="en-US" sz="3600" dirty="0"/>
          </a:p>
        </p:txBody>
      </p:sp>
      <p:sp>
        <p:nvSpPr>
          <p:cNvPr id="9" name="Text 7"/>
          <p:cNvSpPr/>
          <p:nvPr/>
        </p:nvSpPr>
        <p:spPr>
          <a:xfrm>
            <a:off x="7442200" y="2665611"/>
            <a:ext cx="189674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stores</a:t>
            </a:r>
            <a:endParaRPr lang="en-US" sz="1400" dirty="0"/>
          </a:p>
        </p:txBody>
      </p:sp>
      <p:sp>
        <p:nvSpPr>
          <p:cNvPr id="10" name="Shape 8"/>
          <p:cNvSpPr/>
          <p:nvPr/>
        </p:nvSpPr>
        <p:spPr>
          <a:xfrm>
            <a:off x="9537700" y="1838226"/>
            <a:ext cx="1841500" cy="0"/>
          </a:xfrm>
          <a:prstGeom prst="line">
            <a:avLst/>
          </a:prstGeom>
          <a:noFill/>
          <a:ln w="19050">
            <a:solidFill>
              <a:srgbClr val="0E6F6D"/>
            </a:solidFill>
            <a:prstDash val="solid"/>
          </a:ln>
        </p:spPr>
        <p:txBody>
          <a:bodyPr/>
          <a:lstStyle/>
          <a:p>
            <a:endParaRPr lang="en-IN"/>
          </a:p>
        </p:txBody>
      </p:sp>
      <p:sp>
        <p:nvSpPr>
          <p:cNvPr id="11" name="Text 9"/>
          <p:cNvSpPr/>
          <p:nvPr/>
        </p:nvSpPr>
        <p:spPr>
          <a:xfrm>
            <a:off x="9537700" y="1974751"/>
            <a:ext cx="1896745"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6232E"/>
                </a:solidFill>
                <a:latin typeface="JetBrains Mono" pitchFamily="34" charset="0"/>
                <a:ea typeface="JetBrains Mono" pitchFamily="34" charset="-122"/>
                <a:cs typeface="JetBrains Mono" pitchFamily="34" charset="-120"/>
              </a:rPr>
              <a:t>100</a:t>
            </a:r>
            <a:endParaRPr lang="en-US" sz="3600" dirty="0"/>
          </a:p>
        </p:txBody>
      </p:sp>
      <p:sp>
        <p:nvSpPr>
          <p:cNvPr id="12" name="Text 10"/>
          <p:cNvSpPr/>
          <p:nvPr/>
        </p:nvSpPr>
        <p:spPr>
          <a:xfrm>
            <a:off x="9537700" y="2665611"/>
            <a:ext cx="189674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products</a:t>
            </a:r>
            <a:endParaRPr lang="en-US" sz="1400" dirty="0"/>
          </a:p>
        </p:txBody>
      </p:sp>
      <p:sp>
        <p:nvSpPr>
          <p:cNvPr id="13" name="Shape 11"/>
          <p:cNvSpPr/>
          <p:nvPr/>
        </p:nvSpPr>
        <p:spPr>
          <a:xfrm>
            <a:off x="7442200" y="3847405"/>
            <a:ext cx="1841500" cy="0"/>
          </a:xfrm>
          <a:prstGeom prst="line">
            <a:avLst/>
          </a:prstGeom>
          <a:noFill/>
          <a:ln w="19050">
            <a:solidFill>
              <a:srgbClr val="0E6F6D"/>
            </a:solidFill>
            <a:prstDash val="solid"/>
          </a:ln>
        </p:spPr>
        <p:txBody>
          <a:bodyPr/>
          <a:lstStyle/>
          <a:p>
            <a:endParaRPr lang="en-IN"/>
          </a:p>
        </p:txBody>
      </p:sp>
      <p:sp>
        <p:nvSpPr>
          <p:cNvPr id="14" name="Text 12"/>
          <p:cNvSpPr/>
          <p:nvPr/>
        </p:nvSpPr>
        <p:spPr>
          <a:xfrm>
            <a:off x="7442200" y="3983930"/>
            <a:ext cx="1896745"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6232E"/>
                </a:solidFill>
                <a:latin typeface="JetBrains Mono" pitchFamily="34" charset="0"/>
                <a:ea typeface="JetBrains Mono" pitchFamily="34" charset="-122"/>
                <a:cs typeface="JetBrains Mono" pitchFamily="34" charset="-120"/>
              </a:rPr>
              <a:t>31,598</a:t>
            </a:r>
            <a:endParaRPr lang="en-US" sz="3600" dirty="0"/>
          </a:p>
        </p:txBody>
      </p:sp>
      <p:sp>
        <p:nvSpPr>
          <p:cNvPr id="15" name="Text 13"/>
          <p:cNvSpPr/>
          <p:nvPr/>
        </p:nvSpPr>
        <p:spPr>
          <a:xfrm>
            <a:off x="7442200" y="4674791"/>
            <a:ext cx="189674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POS transactions</a:t>
            </a:r>
            <a:endParaRPr lang="en-US" sz="1400" dirty="0"/>
          </a:p>
        </p:txBody>
      </p:sp>
      <p:sp>
        <p:nvSpPr>
          <p:cNvPr id="16" name="Shape 14"/>
          <p:cNvSpPr/>
          <p:nvPr/>
        </p:nvSpPr>
        <p:spPr>
          <a:xfrm>
            <a:off x="9537700" y="3847405"/>
            <a:ext cx="1841500" cy="0"/>
          </a:xfrm>
          <a:prstGeom prst="line">
            <a:avLst/>
          </a:prstGeom>
          <a:noFill/>
          <a:ln w="19050">
            <a:solidFill>
              <a:srgbClr val="0E6F6D"/>
            </a:solidFill>
            <a:prstDash val="solid"/>
          </a:ln>
        </p:spPr>
        <p:txBody>
          <a:bodyPr/>
          <a:lstStyle/>
          <a:p>
            <a:endParaRPr lang="en-IN"/>
          </a:p>
        </p:txBody>
      </p:sp>
      <p:sp>
        <p:nvSpPr>
          <p:cNvPr id="17" name="Text 15"/>
          <p:cNvSpPr/>
          <p:nvPr/>
        </p:nvSpPr>
        <p:spPr>
          <a:xfrm>
            <a:off x="9537700" y="3983930"/>
            <a:ext cx="1896745"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6232E"/>
                </a:solidFill>
                <a:latin typeface="JetBrains Mono" pitchFamily="34" charset="0"/>
                <a:ea typeface="JetBrains Mono" pitchFamily="34" charset="-122"/>
                <a:cs typeface="JetBrains Mono" pitchFamily="34" charset="-120"/>
              </a:rPr>
              <a:t>1</a:t>
            </a:r>
            <a:endParaRPr lang="en-US" sz="3600" dirty="0"/>
          </a:p>
        </p:txBody>
      </p:sp>
      <p:sp>
        <p:nvSpPr>
          <p:cNvPr id="18" name="Text 16"/>
          <p:cNvSpPr/>
          <p:nvPr/>
        </p:nvSpPr>
        <p:spPr>
          <a:xfrm>
            <a:off x="9537700" y="4674791"/>
            <a:ext cx="189674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grain: Store × Product × Day</a:t>
            </a:r>
            <a:endParaRPr lang="en-US" sz="14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75389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E3A63B"/>
                </a:solidFill>
                <a:latin typeface="JetBrains Mono" pitchFamily="34" charset="0"/>
                <a:ea typeface="JetBrains Mono" pitchFamily="34" charset="-122"/>
                <a:cs typeface="JetBrains Mono" pitchFamily="34" charset="-120"/>
              </a:rPr>
              <a:t>M1</a:t>
            </a:r>
            <a:endParaRPr lang="en-US" sz="8000" dirty="0"/>
          </a:p>
        </p:txBody>
      </p:sp>
      <p:sp>
        <p:nvSpPr>
          <p:cNvPr id="3" name="Text 1"/>
          <p:cNvSpPr/>
          <p:nvPr/>
        </p:nvSpPr>
        <p:spPr>
          <a:xfrm>
            <a:off x="812800" y="3023890"/>
            <a:ext cx="10883392" cy="1076920"/>
          </a:xfrm>
          <a:prstGeom prst="rect">
            <a:avLst/>
          </a:prstGeom>
          <a:noFill/>
          <a:ln/>
        </p:spPr>
        <p:txBody>
          <a:bodyPr wrap="square" lIns="0" tIns="0" rIns="0" bIns="0" rtlCol="0" anchor="t">
            <a:normAutofit/>
          </a:bodyPr>
          <a:lstStyle/>
          <a:p>
            <a:pPr marL="0" indent="0" algn="l">
              <a:lnSpc>
                <a:spcPts val="4140"/>
              </a:lnSpc>
              <a:buNone/>
            </a:pPr>
            <a:r>
              <a:rPr lang="en-US" sz="3600" b="1" dirty="0">
                <a:solidFill>
                  <a:srgbClr val="F6F4EE"/>
                </a:solidFill>
                <a:latin typeface="IBM Plex Sans" pitchFamily="34" charset="0"/>
                <a:ea typeface="IBM Plex Sans" pitchFamily="34" charset="-122"/>
                <a:cs typeface="IBM Plex Sans" pitchFamily="34" charset="-120"/>
              </a:rPr>
              <a:t>ML Systems, DataOps &amp;</a:t>
            </a:r>
            <a:endParaRPr lang="en-US" sz="3600" dirty="0"/>
          </a:p>
          <a:p>
            <a:pPr marL="0" indent="0" algn="l">
              <a:lnSpc>
                <a:spcPts val="4140"/>
              </a:lnSpc>
              <a:buNone/>
            </a:pPr>
            <a:r>
              <a:rPr lang="en-US" sz="3600" b="1" dirty="0">
                <a:solidFill>
                  <a:srgbClr val="F6F4EE"/>
                </a:solidFill>
                <a:latin typeface="IBM Plex Sans" pitchFamily="34" charset="0"/>
                <a:ea typeface="IBM Plex Sans" pitchFamily="34" charset="-122"/>
                <a:cs typeface="IBM Plex Sans" pitchFamily="34" charset="-120"/>
              </a:rPr>
              <a:t>Orchestration Foundations</a:t>
            </a:r>
            <a:endParaRPr lang="en-US" sz="3600" dirty="0"/>
          </a:p>
        </p:txBody>
      </p:sp>
      <p:sp>
        <p:nvSpPr>
          <p:cNvPr id="4" name="Text 2"/>
          <p:cNvSpPr/>
          <p:nvPr/>
        </p:nvSpPr>
        <p:spPr>
          <a:xfrm>
            <a:off x="812800" y="4329410"/>
            <a:ext cx="9810750"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B8C5CB"/>
                </a:solidFill>
                <a:latin typeface="IBM Plex Sans" pitchFamily="34" charset="0"/>
                <a:ea typeface="IBM Plex Sans" pitchFamily="34" charset="-122"/>
                <a:cs typeface="IBM Plex Sans" pitchFamily="34" charset="-120"/>
              </a:rPr>
              <a:t>DataOps principles and maturity · data contracts · five pillars of observability · pipeline vs script · DVC stage DAGs · Prefect · Feast offline vs online · training–serving skew · the two-systems roadmap</a:t>
            </a:r>
            <a:endParaRPr lang="en-US" sz="15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ML SYSTEMS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The model is the smallest box</a:t>
            </a:r>
            <a:endParaRPr lang="en-US" sz="3200" dirty="0"/>
          </a:p>
        </p:txBody>
      </p:sp>
      <p:sp>
        <p:nvSpPr>
          <p:cNvPr id="4" name="Shape 2"/>
          <p:cNvSpPr/>
          <p:nvPr/>
        </p:nvSpPr>
        <p:spPr>
          <a:xfrm>
            <a:off x="819150" y="1835051"/>
            <a:ext cx="3424734" cy="635000"/>
          </a:xfrm>
          <a:prstGeom prst="roundRect">
            <a:avLst>
              <a:gd name="adj" fmla="val 13000"/>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892995" y="2019201"/>
            <a:ext cx="132774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32E"/>
                </a:solidFill>
                <a:latin typeface="IBM Plex Sans" pitchFamily="34" charset="0"/>
                <a:ea typeface="IBM Plex Sans" pitchFamily="34" charset="-122"/>
                <a:cs typeface="IBM Plex Sans" pitchFamily="34" charset="-120"/>
              </a:rPr>
              <a:t>Data collection</a:t>
            </a:r>
            <a:endParaRPr lang="en-US" sz="1500" dirty="0"/>
          </a:p>
        </p:txBody>
      </p:sp>
      <p:sp>
        <p:nvSpPr>
          <p:cNvPr id="6" name="Shape 4"/>
          <p:cNvSpPr/>
          <p:nvPr/>
        </p:nvSpPr>
        <p:spPr>
          <a:xfrm>
            <a:off x="4383584" y="1835051"/>
            <a:ext cx="3424734" cy="635000"/>
          </a:xfrm>
          <a:prstGeom prst="roundRect">
            <a:avLst>
              <a:gd name="adj" fmla="val 13000"/>
            </a:avLst>
          </a:prstGeom>
          <a:solidFill>
            <a:srgbClr val="FDFCF8"/>
          </a:solidFill>
          <a:ln w="12700">
            <a:solidFill>
              <a:srgbClr val="DCD6C8"/>
            </a:solidFill>
            <a:prstDash val="solid"/>
          </a:ln>
        </p:spPr>
        <p:txBody>
          <a:bodyPr/>
          <a:lstStyle/>
          <a:p>
            <a:endParaRPr lang="en-IN"/>
          </a:p>
        </p:txBody>
      </p:sp>
      <p:sp>
        <p:nvSpPr>
          <p:cNvPr id="7" name="Text 5"/>
          <p:cNvSpPr/>
          <p:nvPr/>
        </p:nvSpPr>
        <p:spPr>
          <a:xfrm>
            <a:off x="5456932" y="2019201"/>
            <a:ext cx="132873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32E"/>
                </a:solidFill>
                <a:latin typeface="IBM Plex Sans" pitchFamily="34" charset="0"/>
                <a:ea typeface="IBM Plex Sans" pitchFamily="34" charset="-122"/>
                <a:cs typeface="IBM Plex Sans" pitchFamily="34" charset="-120"/>
              </a:rPr>
              <a:t>Data validation</a:t>
            </a:r>
            <a:endParaRPr lang="en-US" sz="1500" dirty="0"/>
          </a:p>
        </p:txBody>
      </p:sp>
      <p:sp>
        <p:nvSpPr>
          <p:cNvPr id="8" name="Shape 6"/>
          <p:cNvSpPr/>
          <p:nvPr/>
        </p:nvSpPr>
        <p:spPr>
          <a:xfrm>
            <a:off x="7948017" y="1835051"/>
            <a:ext cx="3424734" cy="635000"/>
          </a:xfrm>
          <a:prstGeom prst="roundRect">
            <a:avLst>
              <a:gd name="adj" fmla="val 13000"/>
            </a:avLst>
          </a:prstGeom>
          <a:solidFill>
            <a:srgbClr val="FDFCF8"/>
          </a:solidFill>
          <a:ln w="12700">
            <a:solidFill>
              <a:srgbClr val="DCD6C8"/>
            </a:solidFill>
            <a:prstDash val="solid"/>
          </a:ln>
        </p:spPr>
        <p:txBody>
          <a:bodyPr/>
          <a:lstStyle/>
          <a:p>
            <a:endParaRPr lang="en-IN"/>
          </a:p>
        </p:txBody>
      </p:sp>
      <p:sp>
        <p:nvSpPr>
          <p:cNvPr id="9" name="Text 7"/>
          <p:cNvSpPr/>
          <p:nvPr/>
        </p:nvSpPr>
        <p:spPr>
          <a:xfrm>
            <a:off x="8807152" y="2019201"/>
            <a:ext cx="175755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32E"/>
                </a:solidFill>
                <a:latin typeface="IBM Plex Sans" pitchFamily="34" charset="0"/>
                <a:ea typeface="IBM Plex Sans" pitchFamily="34" charset="-122"/>
                <a:cs typeface="IBM Plex Sans" pitchFamily="34" charset="-120"/>
              </a:rPr>
              <a:t>Feature engineering</a:t>
            </a:r>
            <a:endParaRPr lang="en-US" sz="1500" dirty="0"/>
          </a:p>
        </p:txBody>
      </p:sp>
      <p:sp>
        <p:nvSpPr>
          <p:cNvPr id="10" name="Shape 8"/>
          <p:cNvSpPr/>
          <p:nvPr/>
        </p:nvSpPr>
        <p:spPr>
          <a:xfrm>
            <a:off x="819150" y="2609751"/>
            <a:ext cx="3424734" cy="635000"/>
          </a:xfrm>
          <a:prstGeom prst="roundRect">
            <a:avLst>
              <a:gd name="adj" fmla="val 13000"/>
            </a:avLst>
          </a:prstGeom>
          <a:solidFill>
            <a:srgbClr val="FDFCF8"/>
          </a:solidFill>
          <a:ln w="12700">
            <a:solidFill>
              <a:srgbClr val="DCD6C8"/>
            </a:solidFill>
            <a:prstDash val="solid"/>
          </a:ln>
        </p:spPr>
        <p:txBody>
          <a:bodyPr/>
          <a:lstStyle/>
          <a:p>
            <a:endParaRPr lang="en-IN"/>
          </a:p>
        </p:txBody>
      </p:sp>
      <p:sp>
        <p:nvSpPr>
          <p:cNvPr id="11" name="Text 9"/>
          <p:cNvSpPr/>
          <p:nvPr/>
        </p:nvSpPr>
        <p:spPr>
          <a:xfrm>
            <a:off x="1945977" y="2793901"/>
            <a:ext cx="122187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32E"/>
                </a:solidFill>
                <a:latin typeface="IBM Plex Sans" pitchFamily="34" charset="0"/>
                <a:ea typeface="IBM Plex Sans" pitchFamily="34" charset="-122"/>
                <a:cs typeface="IBM Plex Sans" pitchFamily="34" charset="-120"/>
              </a:rPr>
              <a:t>Orchestration</a:t>
            </a:r>
            <a:endParaRPr lang="en-US" sz="1500" dirty="0"/>
          </a:p>
        </p:txBody>
      </p:sp>
      <p:sp>
        <p:nvSpPr>
          <p:cNvPr id="12" name="Shape 10"/>
          <p:cNvSpPr/>
          <p:nvPr/>
        </p:nvSpPr>
        <p:spPr>
          <a:xfrm>
            <a:off x="4377234" y="2603401"/>
            <a:ext cx="3437434" cy="647700"/>
          </a:xfrm>
          <a:prstGeom prst="roundRect">
            <a:avLst>
              <a:gd name="adj" fmla="val 13725"/>
            </a:avLst>
          </a:prstGeom>
          <a:solidFill>
            <a:srgbClr val="0E6F6D"/>
          </a:solidFill>
          <a:ln/>
        </p:spPr>
        <p:txBody>
          <a:bodyPr/>
          <a:lstStyle/>
          <a:p>
            <a:endParaRPr lang="en-IN"/>
          </a:p>
        </p:txBody>
      </p:sp>
      <p:sp>
        <p:nvSpPr>
          <p:cNvPr id="13" name="Text 11"/>
          <p:cNvSpPr/>
          <p:nvPr/>
        </p:nvSpPr>
        <p:spPr>
          <a:xfrm>
            <a:off x="5669161" y="2784971"/>
            <a:ext cx="9042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4EE"/>
                </a:solidFill>
                <a:latin typeface="JetBrains Mono" pitchFamily="34" charset="0"/>
                <a:ea typeface="JetBrains Mono" pitchFamily="34" charset="-122"/>
                <a:cs typeface="JetBrains Mono" pitchFamily="34" charset="-120"/>
              </a:rPr>
              <a:t>ML code</a:t>
            </a:r>
            <a:endParaRPr lang="en-US" sz="1600" dirty="0"/>
          </a:p>
        </p:txBody>
      </p:sp>
      <p:sp>
        <p:nvSpPr>
          <p:cNvPr id="14" name="Shape 12"/>
          <p:cNvSpPr/>
          <p:nvPr/>
        </p:nvSpPr>
        <p:spPr>
          <a:xfrm>
            <a:off x="7948017" y="2609751"/>
            <a:ext cx="3424734" cy="635000"/>
          </a:xfrm>
          <a:prstGeom prst="roundRect">
            <a:avLst>
              <a:gd name="adj" fmla="val 13000"/>
            </a:avLst>
          </a:prstGeom>
          <a:solidFill>
            <a:srgbClr val="FDFCF8"/>
          </a:solidFill>
          <a:ln w="12700">
            <a:solidFill>
              <a:srgbClr val="DCD6C8"/>
            </a:solidFill>
            <a:prstDash val="solid"/>
          </a:ln>
        </p:spPr>
        <p:txBody>
          <a:bodyPr/>
          <a:lstStyle/>
          <a:p>
            <a:endParaRPr lang="en-IN"/>
          </a:p>
        </p:txBody>
      </p:sp>
      <p:sp>
        <p:nvSpPr>
          <p:cNvPr id="15" name="Text 13"/>
          <p:cNvSpPr/>
          <p:nvPr/>
        </p:nvSpPr>
        <p:spPr>
          <a:xfrm>
            <a:off x="8734623" y="2793901"/>
            <a:ext cx="190706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32E"/>
                </a:solidFill>
                <a:latin typeface="IBM Plex Sans" pitchFamily="34" charset="0"/>
                <a:ea typeface="IBM Plex Sans" pitchFamily="34" charset="-122"/>
                <a:cs typeface="IBM Plex Sans" pitchFamily="34" charset="-120"/>
              </a:rPr>
              <a:t>Serving infrastructure</a:t>
            </a:r>
            <a:endParaRPr lang="en-US" sz="1500" dirty="0"/>
          </a:p>
        </p:txBody>
      </p:sp>
      <p:sp>
        <p:nvSpPr>
          <p:cNvPr id="16" name="Shape 14"/>
          <p:cNvSpPr/>
          <p:nvPr/>
        </p:nvSpPr>
        <p:spPr>
          <a:xfrm>
            <a:off x="819150" y="3384451"/>
            <a:ext cx="3424734" cy="635000"/>
          </a:xfrm>
          <a:prstGeom prst="roundRect">
            <a:avLst>
              <a:gd name="adj" fmla="val 13000"/>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1663204" y="3568601"/>
            <a:ext cx="178872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32E"/>
                </a:solidFill>
                <a:latin typeface="IBM Plex Sans" pitchFamily="34" charset="0"/>
                <a:ea typeface="IBM Plex Sans" pitchFamily="34" charset="-122"/>
                <a:cs typeface="IBM Plex Sans" pitchFamily="34" charset="-120"/>
              </a:rPr>
              <a:t>Versioning &amp; lineage</a:t>
            </a:r>
            <a:endParaRPr lang="en-US" sz="1500" dirty="0"/>
          </a:p>
        </p:txBody>
      </p:sp>
      <p:sp>
        <p:nvSpPr>
          <p:cNvPr id="18" name="Shape 16"/>
          <p:cNvSpPr/>
          <p:nvPr/>
        </p:nvSpPr>
        <p:spPr>
          <a:xfrm>
            <a:off x="4383584" y="3384451"/>
            <a:ext cx="3424734" cy="635000"/>
          </a:xfrm>
          <a:prstGeom prst="roundRect">
            <a:avLst>
              <a:gd name="adj" fmla="val 13000"/>
            </a:avLst>
          </a:prstGeom>
          <a:solidFill>
            <a:srgbClr val="FDFCF8"/>
          </a:solidFill>
          <a:ln w="12700">
            <a:solidFill>
              <a:srgbClr val="DCD6C8"/>
            </a:solidFill>
            <a:prstDash val="solid"/>
          </a:ln>
        </p:spPr>
        <p:txBody>
          <a:bodyPr/>
          <a:lstStyle/>
          <a:p>
            <a:endParaRPr lang="en-IN"/>
          </a:p>
        </p:txBody>
      </p:sp>
      <p:sp>
        <p:nvSpPr>
          <p:cNvPr id="19" name="Text 17"/>
          <p:cNvSpPr/>
          <p:nvPr/>
        </p:nvSpPr>
        <p:spPr>
          <a:xfrm>
            <a:off x="5637709" y="3568601"/>
            <a:ext cx="96718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32E"/>
                </a:solidFill>
                <a:latin typeface="IBM Plex Sans" pitchFamily="34" charset="0"/>
                <a:ea typeface="IBM Plex Sans" pitchFamily="34" charset="-122"/>
                <a:cs typeface="IBM Plex Sans" pitchFamily="34" charset="-120"/>
              </a:rPr>
              <a:t>Monitoring</a:t>
            </a:r>
            <a:endParaRPr lang="en-US" sz="1500" dirty="0"/>
          </a:p>
        </p:txBody>
      </p:sp>
      <p:sp>
        <p:nvSpPr>
          <p:cNvPr id="20" name="Shape 18"/>
          <p:cNvSpPr/>
          <p:nvPr/>
        </p:nvSpPr>
        <p:spPr>
          <a:xfrm>
            <a:off x="7948017" y="3384451"/>
            <a:ext cx="3424734" cy="635000"/>
          </a:xfrm>
          <a:prstGeom prst="roundRect">
            <a:avLst>
              <a:gd name="adj" fmla="val 13000"/>
            </a:avLst>
          </a:prstGeom>
          <a:solidFill>
            <a:srgbClr val="FDFCF8"/>
          </a:solidFill>
          <a:ln w="12700">
            <a:solidFill>
              <a:srgbClr val="DCD6C8"/>
            </a:solidFill>
            <a:prstDash val="solid"/>
          </a:ln>
        </p:spPr>
        <p:txBody>
          <a:bodyPr/>
          <a:lstStyle/>
          <a:p>
            <a:endParaRPr lang="en-IN"/>
          </a:p>
        </p:txBody>
      </p:sp>
      <p:sp>
        <p:nvSpPr>
          <p:cNvPr id="21" name="Text 19"/>
          <p:cNvSpPr/>
          <p:nvPr/>
        </p:nvSpPr>
        <p:spPr>
          <a:xfrm>
            <a:off x="9085560" y="3568601"/>
            <a:ext cx="120034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32E"/>
                </a:solidFill>
                <a:latin typeface="IBM Plex Sans" pitchFamily="34" charset="0"/>
                <a:ea typeface="IBM Plex Sans" pitchFamily="34" charset="-122"/>
                <a:cs typeface="IBM Plex Sans" pitchFamily="34" charset="-120"/>
              </a:rPr>
              <a:t>Configuration</a:t>
            </a:r>
            <a:endParaRPr lang="en-US" sz="1500" dirty="0"/>
          </a:p>
        </p:txBody>
      </p:sp>
      <p:sp>
        <p:nvSpPr>
          <p:cNvPr id="22" name="Text 20"/>
          <p:cNvSpPr/>
          <p:nvPr/>
        </p:nvSpPr>
        <p:spPr>
          <a:xfrm>
            <a:off x="812800" y="4279801"/>
            <a:ext cx="1088339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E5B63"/>
                </a:solidFill>
                <a:latin typeface="IBM Plex Sans" pitchFamily="34" charset="0"/>
                <a:ea typeface="IBM Plex Sans" pitchFamily="34" charset="-122"/>
                <a:cs typeface="IBM Plex Sans" pitchFamily="34" charset="-120"/>
              </a:rPr>
              <a:t>After Sculley et al., “Hidden Technical Debt in Machine Learning Systems,” NeurIPS 2015. Most engineering effort — and most failures — live in the boxes around the model.</a:t>
            </a:r>
            <a:endParaRPr lang="en-US" sz="15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PIPELINE VS SCRIPT</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Four properties separate a pipeline from a script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28701"/>
          <a:ext cx="10566400" cy="2315766"/>
        </p:xfrm>
        <a:graphic>
          <a:graphicData uri="http://schemas.openxmlformats.org/drawingml/2006/table">
            <a:tbl>
              <a:tblPr/>
              <a:tblGrid>
                <a:gridCol w="2113280">
                  <a:extLst>
                    <a:ext uri="{9D8B030D-6E8A-4147-A177-3AD203B41FA5}">
                      <a16:colId xmlns:a16="http://schemas.microsoft.com/office/drawing/2014/main" val="20000"/>
                    </a:ext>
                  </a:extLst>
                </a:gridCol>
                <a:gridCol w="4226560">
                  <a:extLst>
                    <a:ext uri="{9D8B030D-6E8A-4147-A177-3AD203B41FA5}">
                      <a16:colId xmlns:a16="http://schemas.microsoft.com/office/drawing/2014/main" val="20001"/>
                    </a:ext>
                  </a:extLst>
                </a:gridCol>
                <a:gridCol w="4226560">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Property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Script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Pipeline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Orchestration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Runs top to bottom when someone remembers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A DAG of tasks with dependencies and retries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Versioning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Overwrites yesterday's output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Every input and output hashed in dvc.lock</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Idempotency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A re-run duplicates or corrupts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Same inputs, same outputs — safe to re-run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Re-execution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All or nothing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Only stages whose inputs changed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Failure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Crashes midway — or succeeds silently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A failed gate stops everything downstream</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DATAOPS PRINCIPLES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DataOps applies software discipline to data</a:t>
            </a:r>
            <a:endParaRPr lang="en-US" sz="3200" dirty="0"/>
          </a:p>
        </p:txBody>
      </p:sp>
      <p:sp>
        <p:nvSpPr>
          <p:cNvPr id="4" name="Shape 2"/>
          <p:cNvSpPr/>
          <p:nvPr/>
        </p:nvSpPr>
        <p:spPr>
          <a:xfrm>
            <a:off x="819150" y="1835051"/>
            <a:ext cx="3390900" cy="1252041"/>
          </a:xfrm>
          <a:prstGeom prst="roundRect">
            <a:avLst>
              <a:gd name="adj" fmla="val 7608"/>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28700" y="2044601"/>
            <a:ext cx="306095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Data as code</a:t>
            </a:r>
            <a:endParaRPr lang="en-US" sz="1700" dirty="0"/>
          </a:p>
        </p:txBody>
      </p:sp>
      <p:sp>
        <p:nvSpPr>
          <p:cNvPr id="6" name="Text 4"/>
          <p:cNvSpPr/>
          <p:nvPr/>
        </p:nvSpPr>
        <p:spPr>
          <a:xfrm>
            <a:off x="1028700" y="2379861"/>
            <a:ext cx="306095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Versioned, reviewed and reproducible like software</a:t>
            </a:r>
            <a:endParaRPr lang="en-US" sz="1400" dirty="0"/>
          </a:p>
        </p:txBody>
      </p:sp>
      <p:sp>
        <p:nvSpPr>
          <p:cNvPr id="7" name="Shape 5"/>
          <p:cNvSpPr/>
          <p:nvPr/>
        </p:nvSpPr>
        <p:spPr>
          <a:xfrm>
            <a:off x="4400550" y="1835051"/>
            <a:ext cx="3390900" cy="1252041"/>
          </a:xfrm>
          <a:prstGeom prst="roundRect">
            <a:avLst>
              <a:gd name="adj" fmla="val 7608"/>
            </a:avLst>
          </a:prstGeom>
          <a:solidFill>
            <a:srgbClr val="FDFCF8"/>
          </a:solidFill>
          <a:ln w="12700">
            <a:solidFill>
              <a:srgbClr val="DCD6C8"/>
            </a:solidFill>
            <a:prstDash val="solid"/>
          </a:ln>
        </p:spPr>
        <p:txBody>
          <a:bodyPr/>
          <a:lstStyle/>
          <a:p>
            <a:endParaRPr lang="en-IN"/>
          </a:p>
        </p:txBody>
      </p:sp>
      <p:sp>
        <p:nvSpPr>
          <p:cNvPr id="8" name="Text 6"/>
          <p:cNvSpPr/>
          <p:nvPr/>
        </p:nvSpPr>
        <p:spPr>
          <a:xfrm>
            <a:off x="4610100" y="2044601"/>
            <a:ext cx="306095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Test at the boundary</a:t>
            </a:r>
            <a:endParaRPr lang="en-US" sz="1700" dirty="0"/>
          </a:p>
        </p:txBody>
      </p:sp>
      <p:sp>
        <p:nvSpPr>
          <p:cNvPr id="9" name="Text 7"/>
          <p:cNvSpPr/>
          <p:nvPr/>
        </p:nvSpPr>
        <p:spPr>
          <a:xfrm>
            <a:off x="4610100" y="2379861"/>
            <a:ext cx="306095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Contracts fail fast, before bad data spreads</a:t>
            </a:r>
            <a:endParaRPr lang="en-US" sz="1400" dirty="0"/>
          </a:p>
        </p:txBody>
      </p:sp>
      <p:sp>
        <p:nvSpPr>
          <p:cNvPr id="10" name="Shape 8"/>
          <p:cNvSpPr/>
          <p:nvPr/>
        </p:nvSpPr>
        <p:spPr>
          <a:xfrm>
            <a:off x="7981950" y="1835051"/>
            <a:ext cx="3390900" cy="1252041"/>
          </a:xfrm>
          <a:prstGeom prst="roundRect">
            <a:avLst>
              <a:gd name="adj" fmla="val 7608"/>
            </a:avLst>
          </a:prstGeom>
          <a:solidFill>
            <a:srgbClr val="FDFCF8"/>
          </a:solidFill>
          <a:ln w="12700">
            <a:solidFill>
              <a:srgbClr val="DCD6C8"/>
            </a:solidFill>
            <a:prstDash val="solid"/>
          </a:ln>
        </p:spPr>
        <p:txBody>
          <a:bodyPr/>
          <a:lstStyle/>
          <a:p>
            <a:endParaRPr lang="en-IN"/>
          </a:p>
        </p:txBody>
      </p:sp>
      <p:sp>
        <p:nvSpPr>
          <p:cNvPr id="11" name="Text 9"/>
          <p:cNvSpPr/>
          <p:nvPr/>
        </p:nvSpPr>
        <p:spPr>
          <a:xfrm>
            <a:off x="8191500" y="2044601"/>
            <a:ext cx="306095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Automate the path</a:t>
            </a:r>
            <a:endParaRPr lang="en-US" sz="1700" dirty="0"/>
          </a:p>
        </p:txBody>
      </p:sp>
      <p:sp>
        <p:nvSpPr>
          <p:cNvPr id="12" name="Text 10"/>
          <p:cNvSpPr/>
          <p:nvPr/>
        </p:nvSpPr>
        <p:spPr>
          <a:xfrm>
            <a:off x="8191500" y="2379861"/>
            <a:ext cx="306095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Orchestrated runs, not manual steps</a:t>
            </a:r>
            <a:endParaRPr lang="en-US" sz="1400" dirty="0"/>
          </a:p>
        </p:txBody>
      </p:sp>
      <p:sp>
        <p:nvSpPr>
          <p:cNvPr id="13" name="Shape 11"/>
          <p:cNvSpPr/>
          <p:nvPr/>
        </p:nvSpPr>
        <p:spPr>
          <a:xfrm>
            <a:off x="819150" y="3277592"/>
            <a:ext cx="3390900" cy="1252041"/>
          </a:xfrm>
          <a:prstGeom prst="roundRect">
            <a:avLst>
              <a:gd name="adj" fmla="val 7608"/>
            </a:avLst>
          </a:prstGeom>
          <a:solidFill>
            <a:srgbClr val="FDFCF8"/>
          </a:solidFill>
          <a:ln w="12700">
            <a:solidFill>
              <a:srgbClr val="DCD6C8"/>
            </a:solidFill>
            <a:prstDash val="solid"/>
          </a:ln>
        </p:spPr>
        <p:txBody>
          <a:bodyPr/>
          <a:lstStyle/>
          <a:p>
            <a:endParaRPr lang="en-IN"/>
          </a:p>
        </p:txBody>
      </p:sp>
      <p:sp>
        <p:nvSpPr>
          <p:cNvPr id="14" name="Text 12"/>
          <p:cNvSpPr/>
          <p:nvPr/>
        </p:nvSpPr>
        <p:spPr>
          <a:xfrm>
            <a:off x="1028700" y="3487142"/>
            <a:ext cx="306095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Observe continuously</a:t>
            </a:r>
            <a:endParaRPr lang="en-US" sz="1700" dirty="0"/>
          </a:p>
        </p:txBody>
      </p:sp>
      <p:sp>
        <p:nvSpPr>
          <p:cNvPr id="15" name="Text 13"/>
          <p:cNvSpPr/>
          <p:nvPr/>
        </p:nvSpPr>
        <p:spPr>
          <a:xfrm>
            <a:off x="1028700" y="3822402"/>
            <a:ext cx="306095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Know before your consumers do</a:t>
            </a:r>
            <a:endParaRPr lang="en-US" sz="1400" dirty="0"/>
          </a:p>
        </p:txBody>
      </p:sp>
      <p:sp>
        <p:nvSpPr>
          <p:cNvPr id="16" name="Shape 14"/>
          <p:cNvSpPr/>
          <p:nvPr/>
        </p:nvSpPr>
        <p:spPr>
          <a:xfrm>
            <a:off x="4400550" y="3277592"/>
            <a:ext cx="3390900" cy="1252041"/>
          </a:xfrm>
          <a:prstGeom prst="roundRect">
            <a:avLst>
              <a:gd name="adj" fmla="val 7608"/>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4610100" y="3487142"/>
            <a:ext cx="306095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Re-run safely</a:t>
            </a:r>
            <a:endParaRPr lang="en-US" sz="1700" dirty="0"/>
          </a:p>
        </p:txBody>
      </p:sp>
      <p:sp>
        <p:nvSpPr>
          <p:cNvPr id="18" name="Text 16"/>
          <p:cNvSpPr/>
          <p:nvPr/>
        </p:nvSpPr>
        <p:spPr>
          <a:xfrm>
            <a:off x="4610100" y="3822402"/>
            <a:ext cx="306095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Idempotent, incremental stages</a:t>
            </a:r>
            <a:endParaRPr lang="en-US" sz="1400" dirty="0"/>
          </a:p>
        </p:txBody>
      </p:sp>
      <p:sp>
        <p:nvSpPr>
          <p:cNvPr id="19" name="Shape 17"/>
          <p:cNvSpPr/>
          <p:nvPr/>
        </p:nvSpPr>
        <p:spPr>
          <a:xfrm>
            <a:off x="7981950" y="3277592"/>
            <a:ext cx="3390900" cy="1252041"/>
          </a:xfrm>
          <a:prstGeom prst="roundRect">
            <a:avLst>
              <a:gd name="adj" fmla="val 7608"/>
            </a:avLst>
          </a:prstGeom>
          <a:solidFill>
            <a:srgbClr val="FDFCF8"/>
          </a:solidFill>
          <a:ln w="12700">
            <a:solidFill>
              <a:srgbClr val="DCD6C8"/>
            </a:solidFill>
            <a:prstDash val="solid"/>
          </a:ln>
        </p:spPr>
        <p:txBody>
          <a:bodyPr/>
          <a:lstStyle/>
          <a:p>
            <a:endParaRPr lang="en-IN"/>
          </a:p>
        </p:txBody>
      </p:sp>
      <p:sp>
        <p:nvSpPr>
          <p:cNvPr id="20" name="Text 18"/>
          <p:cNvSpPr/>
          <p:nvPr/>
        </p:nvSpPr>
        <p:spPr>
          <a:xfrm>
            <a:off x="8191500" y="3487142"/>
            <a:ext cx="306095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Own the data product</a:t>
            </a:r>
            <a:endParaRPr lang="en-US" sz="1700" dirty="0"/>
          </a:p>
        </p:txBody>
      </p:sp>
      <p:sp>
        <p:nvSpPr>
          <p:cNvPr id="21" name="Text 19"/>
          <p:cNvSpPr/>
          <p:nvPr/>
        </p:nvSpPr>
        <p:spPr>
          <a:xfrm>
            <a:off x="8191500" y="3822402"/>
            <a:ext cx="306095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A named owner and an agreed service level</a:t>
            </a:r>
            <a:endParaRPr lang="en-US" sz="14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DATAOPS MATURITY</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Four levels of DataOps maturity</a:t>
            </a:r>
            <a:endParaRPr lang="en-US" sz="3200" dirty="0"/>
          </a:p>
        </p:txBody>
      </p:sp>
      <p:sp>
        <p:nvSpPr>
          <p:cNvPr id="4" name="Shape 2"/>
          <p:cNvSpPr/>
          <p:nvPr/>
        </p:nvSpPr>
        <p:spPr>
          <a:xfrm>
            <a:off x="819150" y="4451350"/>
            <a:ext cx="2514600" cy="1384300"/>
          </a:xfrm>
          <a:prstGeom prst="roundRect">
            <a:avLst>
              <a:gd name="adj" fmla="val 6881"/>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03300" y="4635500"/>
            <a:ext cx="2210689" cy="229493"/>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E5B63"/>
                </a:solidFill>
                <a:latin typeface="JetBrains Mono" pitchFamily="34" charset="0"/>
                <a:ea typeface="JetBrains Mono" pitchFamily="34" charset="-122"/>
                <a:cs typeface="JetBrains Mono" pitchFamily="34" charset="-120"/>
              </a:rPr>
              <a:t>Level 0</a:t>
            </a:r>
            <a:endParaRPr lang="en-US" sz="1159" dirty="0"/>
          </a:p>
        </p:txBody>
      </p:sp>
      <p:sp>
        <p:nvSpPr>
          <p:cNvPr id="6" name="Text 4"/>
          <p:cNvSpPr/>
          <p:nvPr/>
        </p:nvSpPr>
        <p:spPr>
          <a:xfrm>
            <a:off x="1003300" y="4915793"/>
            <a:ext cx="2210689" cy="258564"/>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16232E"/>
                </a:solidFill>
                <a:latin typeface="IBM Plex Sans" pitchFamily="34" charset="0"/>
                <a:ea typeface="IBM Plex Sans" pitchFamily="34" charset="-122"/>
                <a:cs typeface="IBM Plex Sans" pitchFamily="34" charset="-120"/>
              </a:rPr>
              <a:t>Ad hoc</a:t>
            </a:r>
            <a:endParaRPr lang="en-US" sz="1560" dirty="0"/>
          </a:p>
        </p:txBody>
      </p:sp>
      <p:sp>
        <p:nvSpPr>
          <p:cNvPr id="7" name="Text 5"/>
          <p:cNvSpPr/>
          <p:nvPr/>
        </p:nvSpPr>
        <p:spPr>
          <a:xfrm>
            <a:off x="1003300" y="5225157"/>
            <a:ext cx="2210689" cy="451743"/>
          </a:xfrm>
          <a:prstGeom prst="rect">
            <a:avLst/>
          </a:prstGeom>
          <a:noFill/>
          <a:ln/>
        </p:spPr>
        <p:txBody>
          <a:bodyPr wrap="square" lIns="0" tIns="0" rIns="0" bIns="0" rtlCol="0" anchor="t">
            <a:normAutofit/>
          </a:bodyPr>
          <a:lstStyle/>
          <a:p>
            <a:pPr marL="0" indent="0" algn="l">
              <a:lnSpc>
                <a:spcPts val="1684"/>
              </a:lnSpc>
              <a:buNone/>
            </a:pPr>
            <a:r>
              <a:rPr lang="en-US" sz="1247" dirty="0">
                <a:solidFill>
                  <a:srgbClr val="4E5B63"/>
                </a:solidFill>
                <a:latin typeface="IBM Plex Sans" pitchFamily="34" charset="0"/>
                <a:ea typeface="IBM Plex Sans" pitchFamily="34" charset="-122"/>
                <a:cs typeface="IBM Plex Sans" pitchFamily="34" charset="-120"/>
              </a:rPr>
              <a:t>Notebooks, manual exports, one person knows the steps</a:t>
            </a:r>
            <a:endParaRPr lang="en-US" sz="1247" dirty="0"/>
          </a:p>
        </p:txBody>
      </p:sp>
      <p:sp>
        <p:nvSpPr>
          <p:cNvPr id="8" name="Shape 6"/>
          <p:cNvSpPr/>
          <p:nvPr/>
        </p:nvSpPr>
        <p:spPr>
          <a:xfrm>
            <a:off x="3498850" y="3943350"/>
            <a:ext cx="2514600" cy="1892300"/>
          </a:xfrm>
          <a:prstGeom prst="roundRect">
            <a:avLst>
              <a:gd name="adj" fmla="val 5034"/>
            </a:avLst>
          </a:prstGeom>
          <a:solidFill>
            <a:srgbClr val="FDFCF8"/>
          </a:solidFill>
          <a:ln w="12700">
            <a:solidFill>
              <a:srgbClr val="DCD6C8"/>
            </a:solidFill>
            <a:prstDash val="solid"/>
          </a:ln>
        </p:spPr>
        <p:txBody>
          <a:bodyPr/>
          <a:lstStyle/>
          <a:p>
            <a:endParaRPr lang="en-IN"/>
          </a:p>
        </p:txBody>
      </p:sp>
      <p:sp>
        <p:nvSpPr>
          <p:cNvPr id="9" name="Text 7"/>
          <p:cNvSpPr/>
          <p:nvPr/>
        </p:nvSpPr>
        <p:spPr>
          <a:xfrm>
            <a:off x="3683000" y="412750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Level 1</a:t>
            </a:r>
            <a:endParaRPr lang="en-US" sz="1200" dirty="0"/>
          </a:p>
        </p:txBody>
      </p:sp>
      <p:sp>
        <p:nvSpPr>
          <p:cNvPr id="10" name="Text 8"/>
          <p:cNvSpPr/>
          <p:nvPr/>
        </p:nvSpPr>
        <p:spPr>
          <a:xfrm>
            <a:off x="3683000" y="4417020"/>
            <a:ext cx="221068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Scheduled</a:t>
            </a:r>
            <a:endParaRPr lang="en-US" sz="1600" dirty="0"/>
          </a:p>
        </p:txBody>
      </p:sp>
      <p:sp>
        <p:nvSpPr>
          <p:cNvPr id="11" name="Text 9"/>
          <p:cNvSpPr/>
          <p:nvPr/>
        </p:nvSpPr>
        <p:spPr>
          <a:xfrm>
            <a:off x="3683000" y="4737001"/>
            <a:ext cx="221068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Cron'd scripts; runs on time, nobody checks the output</a:t>
            </a:r>
            <a:endParaRPr lang="en-US" sz="1300" dirty="0"/>
          </a:p>
        </p:txBody>
      </p:sp>
      <p:sp>
        <p:nvSpPr>
          <p:cNvPr id="12" name="Shape 10"/>
          <p:cNvSpPr/>
          <p:nvPr/>
        </p:nvSpPr>
        <p:spPr>
          <a:xfrm>
            <a:off x="6178550" y="3435350"/>
            <a:ext cx="2514600" cy="2400300"/>
          </a:xfrm>
          <a:prstGeom prst="roundRect">
            <a:avLst>
              <a:gd name="adj" fmla="val 3968"/>
            </a:avLst>
          </a:prstGeom>
          <a:solidFill>
            <a:srgbClr val="E2EEEC"/>
          </a:solidFill>
          <a:ln w="12700">
            <a:solidFill>
              <a:srgbClr val="0E6F6D"/>
            </a:solidFill>
            <a:prstDash val="solid"/>
          </a:ln>
        </p:spPr>
        <p:txBody>
          <a:bodyPr/>
          <a:lstStyle/>
          <a:p>
            <a:endParaRPr lang="en-IN"/>
          </a:p>
        </p:txBody>
      </p:sp>
      <p:sp>
        <p:nvSpPr>
          <p:cNvPr id="13" name="Text 11"/>
          <p:cNvSpPr/>
          <p:nvPr/>
        </p:nvSpPr>
        <p:spPr>
          <a:xfrm>
            <a:off x="6362700" y="361950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Level 2</a:t>
            </a:r>
            <a:endParaRPr lang="en-US" sz="1200" dirty="0"/>
          </a:p>
        </p:txBody>
      </p:sp>
      <p:sp>
        <p:nvSpPr>
          <p:cNvPr id="14" name="Text 12"/>
          <p:cNvSpPr/>
          <p:nvPr/>
        </p:nvSpPr>
        <p:spPr>
          <a:xfrm>
            <a:off x="6362700" y="3909020"/>
            <a:ext cx="221068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Validated &amp; versioned</a:t>
            </a:r>
            <a:endParaRPr lang="en-US" sz="1600" dirty="0"/>
          </a:p>
        </p:txBody>
      </p:sp>
      <p:sp>
        <p:nvSpPr>
          <p:cNvPr id="15" name="Text 13"/>
          <p:cNvSpPr/>
          <p:nvPr/>
        </p:nvSpPr>
        <p:spPr>
          <a:xfrm>
            <a:off x="6362700" y="4229001"/>
            <a:ext cx="221068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Contracts, versioned stages, an orchestrated DAG</a:t>
            </a:r>
            <a:endParaRPr lang="en-US" sz="1300" dirty="0"/>
          </a:p>
        </p:txBody>
      </p:sp>
      <p:sp>
        <p:nvSpPr>
          <p:cNvPr id="16" name="Text 14"/>
          <p:cNvSpPr/>
          <p:nvPr/>
        </p:nvSpPr>
        <p:spPr>
          <a:xfrm>
            <a:off x="6362700" y="4750891"/>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Lab 1 lands here</a:t>
            </a:r>
            <a:endParaRPr lang="en-US" sz="1200" dirty="0"/>
          </a:p>
        </p:txBody>
      </p:sp>
      <p:sp>
        <p:nvSpPr>
          <p:cNvPr id="17" name="Shape 15"/>
          <p:cNvSpPr/>
          <p:nvPr/>
        </p:nvSpPr>
        <p:spPr>
          <a:xfrm>
            <a:off x="8858250" y="2927350"/>
            <a:ext cx="2514600" cy="2908300"/>
          </a:xfrm>
          <a:prstGeom prst="roundRect">
            <a:avLst>
              <a:gd name="adj" fmla="val 3788"/>
            </a:avLst>
          </a:prstGeom>
          <a:solidFill>
            <a:srgbClr val="FDFCF8"/>
          </a:solidFill>
          <a:ln w="12700">
            <a:solidFill>
              <a:srgbClr val="DCD6C8"/>
            </a:solidFill>
            <a:prstDash val="solid"/>
          </a:ln>
        </p:spPr>
        <p:txBody>
          <a:bodyPr/>
          <a:lstStyle/>
          <a:p>
            <a:endParaRPr lang="en-IN"/>
          </a:p>
        </p:txBody>
      </p:sp>
      <p:sp>
        <p:nvSpPr>
          <p:cNvPr id="18" name="Text 16"/>
          <p:cNvSpPr/>
          <p:nvPr/>
        </p:nvSpPr>
        <p:spPr>
          <a:xfrm>
            <a:off x="9042400" y="311150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Level 3</a:t>
            </a:r>
            <a:endParaRPr lang="en-US" sz="1200" dirty="0"/>
          </a:p>
        </p:txBody>
      </p:sp>
      <p:sp>
        <p:nvSpPr>
          <p:cNvPr id="19" name="Text 17"/>
          <p:cNvSpPr/>
          <p:nvPr/>
        </p:nvSpPr>
        <p:spPr>
          <a:xfrm>
            <a:off x="9042400" y="3401020"/>
            <a:ext cx="2210689"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Observable &amp; self-correcting</a:t>
            </a:r>
            <a:endParaRPr lang="en-US" sz="1600" dirty="0"/>
          </a:p>
        </p:txBody>
      </p:sp>
      <p:sp>
        <p:nvSpPr>
          <p:cNvPr id="20" name="Text 18"/>
          <p:cNvSpPr/>
          <p:nvPr/>
        </p:nvSpPr>
        <p:spPr>
          <a:xfrm>
            <a:off x="9042400" y="3964781"/>
            <a:ext cx="2210689"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Pillars monitored; drift triggers the right re-run</a:t>
            </a:r>
            <a:endParaRPr lang="en-US" sz="1300" dirty="0"/>
          </a:p>
        </p:txBody>
      </p:sp>
      <p:sp>
        <p:nvSpPr>
          <p:cNvPr id="21" name="Text 19"/>
          <p:cNvSpPr/>
          <p:nvPr/>
        </p:nvSpPr>
        <p:spPr>
          <a:xfrm>
            <a:off x="9042400" y="4486672"/>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Lab 4 reaches here</a:t>
            </a:r>
            <a:endParaRPr lang="en-US" sz="12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84665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06:10 · THE OVERNIGHT BATCH LANDS</a:t>
            </a:r>
            <a:endParaRPr lang="en-US" sz="1200" dirty="0"/>
          </a:p>
        </p:txBody>
      </p:sp>
      <p:sp>
        <p:nvSpPr>
          <p:cNvPr id="3" name="Text 1"/>
          <p:cNvSpPr/>
          <p:nvPr/>
        </p:nvSpPr>
        <p:spPr>
          <a:xfrm>
            <a:off x="812800" y="241558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dirty="0">
                <a:solidFill>
                  <a:srgbClr val="F6F4EE"/>
                </a:solidFill>
                <a:latin typeface="IBM Plex Sans" pitchFamily="34" charset="0"/>
                <a:ea typeface="IBM Plex Sans" pitchFamily="34" charset="-122"/>
                <a:cs typeface="IBM Plex Sans" pitchFamily="34" charset="-120"/>
              </a:rPr>
              <a:t>“The file arrived” and “the data is trustworthy” are different claims.</a:t>
            </a:r>
            <a:endParaRPr lang="en-US" sz="4000" dirty="0"/>
          </a:p>
        </p:txBody>
      </p:sp>
      <p:sp>
        <p:nvSpPr>
          <p:cNvPr id="4" name="Text 2"/>
          <p:cNvSpPr/>
          <p:nvPr/>
        </p:nvSpPr>
        <p:spPr>
          <a:xfrm>
            <a:off x="812800" y="3939580"/>
            <a:ext cx="1663005"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E3A63B"/>
                </a:solidFill>
                <a:latin typeface="JetBrains Mono" pitchFamily="34" charset="0"/>
                <a:ea typeface="JetBrains Mono" pitchFamily="34" charset="-122"/>
                <a:cs typeface="JetBrains Mono" pitchFamily="34" charset="-120"/>
              </a:rPr>
              <a:t>150</a:t>
            </a:r>
            <a:endParaRPr lang="en-US" sz="3200" dirty="0"/>
          </a:p>
        </p:txBody>
      </p:sp>
      <p:sp>
        <p:nvSpPr>
          <p:cNvPr id="5" name="Text 3"/>
          <p:cNvSpPr/>
          <p:nvPr/>
        </p:nvSpPr>
        <p:spPr>
          <a:xfrm>
            <a:off x="812800" y="4559300"/>
            <a:ext cx="166300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IBM Plex Sans" pitchFamily="34" charset="0"/>
                <a:ea typeface="IBM Plex Sans" pitchFamily="34" charset="-122"/>
                <a:cs typeface="IBM Plex Sans" pitchFamily="34" charset="-120"/>
              </a:rPr>
              <a:t>re-sent transactions</a:t>
            </a:r>
            <a:endParaRPr lang="en-US" sz="1400" dirty="0"/>
          </a:p>
        </p:txBody>
      </p:sp>
      <p:sp>
        <p:nvSpPr>
          <p:cNvPr id="6" name="Text 4"/>
          <p:cNvSpPr/>
          <p:nvPr/>
        </p:nvSpPr>
        <p:spPr>
          <a:xfrm>
            <a:off x="2831405" y="3939580"/>
            <a:ext cx="1766242"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E3A63B"/>
                </a:solidFill>
                <a:latin typeface="JetBrains Mono" pitchFamily="34" charset="0"/>
                <a:ea typeface="JetBrains Mono" pitchFamily="34" charset="-122"/>
                <a:cs typeface="JetBrains Mono" pitchFamily="34" charset="-120"/>
              </a:rPr>
              <a:t>250</a:t>
            </a:r>
            <a:endParaRPr lang="en-US" sz="3200" dirty="0"/>
          </a:p>
        </p:txBody>
      </p:sp>
      <p:sp>
        <p:nvSpPr>
          <p:cNvPr id="7" name="Text 5"/>
          <p:cNvSpPr/>
          <p:nvPr/>
        </p:nvSpPr>
        <p:spPr>
          <a:xfrm>
            <a:off x="2831405" y="4559300"/>
            <a:ext cx="176624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IBM Plex Sans" pitchFamily="34" charset="0"/>
                <a:ea typeface="IBM Plex Sans" pitchFamily="34" charset="-122"/>
                <a:cs typeface="IBM Plex Sans" pitchFamily="34" charset="-120"/>
              </a:rPr>
              <a:t>rows with no quantity</a:t>
            </a:r>
            <a:endParaRPr lang="en-US" sz="1400" dirty="0"/>
          </a:p>
        </p:txBody>
      </p:sp>
      <p:sp>
        <p:nvSpPr>
          <p:cNvPr id="8" name="Text 6"/>
          <p:cNvSpPr/>
          <p:nvPr/>
        </p:nvSpPr>
        <p:spPr>
          <a:xfrm>
            <a:off x="4952603" y="3939580"/>
            <a:ext cx="24641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E3A63B"/>
                </a:solidFill>
                <a:latin typeface="JetBrains Mono" pitchFamily="34" charset="0"/>
                <a:ea typeface="JetBrains Mono" pitchFamily="34" charset="-122"/>
                <a:cs typeface="JetBrains Mono" pitchFamily="34" charset="-120"/>
              </a:rPr>
              <a:t>SUCCESS</a:t>
            </a:r>
            <a:endParaRPr lang="en-US" sz="3200" dirty="0"/>
          </a:p>
        </p:txBody>
      </p:sp>
      <p:sp>
        <p:nvSpPr>
          <p:cNvPr id="9" name="Text 7"/>
          <p:cNvSpPr/>
          <p:nvPr/>
        </p:nvSpPr>
        <p:spPr>
          <a:xfrm>
            <a:off x="4952603" y="4559300"/>
            <a:ext cx="246413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IBM Plex Sans" pitchFamily="34" charset="0"/>
                <a:ea typeface="IBM Plex Sans" pitchFamily="34" charset="-122"/>
                <a:cs typeface="IBM Plex Sans" pitchFamily="34" charset="-120"/>
              </a:rPr>
              <a:t>what the transfer job reported</a:t>
            </a:r>
            <a:endParaRPr lang="en-US" sz="14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DATA CONTRACTS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A data contract is enforced in code at a boundary</a:t>
            </a:r>
            <a:endParaRPr lang="en-US" sz="3200" dirty="0"/>
          </a:p>
        </p:txBody>
      </p:sp>
      <p:sp>
        <p:nvSpPr>
          <p:cNvPr id="4" name="Text 2"/>
          <p:cNvSpPr/>
          <p:nvPr/>
        </p:nvSpPr>
        <p:spPr>
          <a:xfrm>
            <a:off x="812800" y="1828701"/>
            <a:ext cx="4055110" cy="90914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6232E"/>
                </a:solidFill>
                <a:latin typeface="IBM Plex Sans" pitchFamily="34" charset="0"/>
                <a:ea typeface="IBM Plex Sans" pitchFamily="34" charset="-122"/>
                <a:cs typeface="IBM Plex Sans" pitchFamily="34" charset="-120"/>
              </a:rPr>
              <a:t>An agreement about what must hold for data to cross from one stage to the next — checked on every run, not in a meeting.</a:t>
            </a:r>
            <a:endParaRPr lang="en-US" sz="1600" dirty="0"/>
          </a:p>
        </p:txBody>
      </p:sp>
      <p:sp>
        <p:nvSpPr>
          <p:cNvPr id="5" name="Text 3"/>
          <p:cNvSpPr/>
          <p:nvPr/>
        </p:nvSpPr>
        <p:spPr>
          <a:xfrm>
            <a:off x="812800" y="2890242"/>
            <a:ext cx="405511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A contract states</a:t>
            </a:r>
            <a:endParaRPr lang="en-US" sz="1300" dirty="0"/>
          </a:p>
        </p:txBody>
      </p:sp>
      <p:sp>
        <p:nvSpPr>
          <p:cNvPr id="6" name="Shape 4"/>
          <p:cNvSpPr/>
          <p:nvPr/>
        </p:nvSpPr>
        <p:spPr>
          <a:xfrm>
            <a:off x="812800" y="3299123"/>
            <a:ext cx="875109" cy="358080"/>
          </a:xfrm>
          <a:prstGeom prst="roundRect">
            <a:avLst>
              <a:gd name="adj" fmla="val 50000"/>
            </a:avLst>
          </a:prstGeom>
          <a:solidFill>
            <a:srgbClr val="E2EEEC"/>
          </a:solidFill>
          <a:ln/>
        </p:spPr>
        <p:txBody>
          <a:bodyPr/>
          <a:lstStyle/>
          <a:p>
            <a:endParaRPr lang="en-IN"/>
          </a:p>
        </p:txBody>
      </p:sp>
      <p:sp>
        <p:nvSpPr>
          <p:cNvPr id="7" name="Text 5"/>
          <p:cNvSpPr/>
          <p:nvPr/>
        </p:nvSpPr>
        <p:spPr>
          <a:xfrm>
            <a:off x="952500" y="3362623"/>
            <a:ext cx="64650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32E"/>
                </a:solidFill>
                <a:latin typeface="IBM Plex Sans" pitchFamily="34" charset="0"/>
                <a:ea typeface="IBM Plex Sans" pitchFamily="34" charset="-122"/>
                <a:cs typeface="IBM Plex Sans" pitchFamily="34" charset="-120"/>
              </a:rPr>
              <a:t>Schema</a:t>
            </a:r>
            <a:endParaRPr lang="en-US" sz="1300" dirty="0"/>
          </a:p>
        </p:txBody>
      </p:sp>
      <p:sp>
        <p:nvSpPr>
          <p:cNvPr id="8" name="Shape 6"/>
          <p:cNvSpPr/>
          <p:nvPr/>
        </p:nvSpPr>
        <p:spPr>
          <a:xfrm>
            <a:off x="1776809" y="3299123"/>
            <a:ext cx="1054795" cy="358080"/>
          </a:xfrm>
          <a:prstGeom prst="roundRect">
            <a:avLst>
              <a:gd name="adj" fmla="val 50000"/>
            </a:avLst>
          </a:prstGeom>
          <a:solidFill>
            <a:srgbClr val="E2EEEC"/>
          </a:solidFill>
          <a:ln/>
        </p:spPr>
        <p:txBody>
          <a:bodyPr/>
          <a:lstStyle/>
          <a:p>
            <a:endParaRPr lang="en-IN"/>
          </a:p>
        </p:txBody>
      </p:sp>
      <p:sp>
        <p:nvSpPr>
          <p:cNvPr id="9" name="Text 7"/>
          <p:cNvSpPr/>
          <p:nvPr/>
        </p:nvSpPr>
        <p:spPr>
          <a:xfrm>
            <a:off x="1916509" y="3362623"/>
            <a:ext cx="82619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32E"/>
                </a:solidFill>
                <a:latin typeface="IBM Plex Sans" pitchFamily="34" charset="0"/>
                <a:ea typeface="IBM Plex Sans" pitchFamily="34" charset="-122"/>
                <a:cs typeface="IBM Plex Sans" pitchFamily="34" charset="-120"/>
              </a:rPr>
              <a:t>Semantics</a:t>
            </a:r>
            <a:endParaRPr lang="en-US" sz="1300" dirty="0"/>
          </a:p>
        </p:txBody>
      </p:sp>
      <p:sp>
        <p:nvSpPr>
          <p:cNvPr id="10" name="Shape 8"/>
          <p:cNvSpPr/>
          <p:nvPr/>
        </p:nvSpPr>
        <p:spPr>
          <a:xfrm>
            <a:off x="2920504" y="3299123"/>
            <a:ext cx="1214041" cy="358080"/>
          </a:xfrm>
          <a:prstGeom prst="roundRect">
            <a:avLst>
              <a:gd name="adj" fmla="val 50000"/>
            </a:avLst>
          </a:prstGeom>
          <a:solidFill>
            <a:srgbClr val="E2EEEC"/>
          </a:solidFill>
          <a:ln/>
        </p:spPr>
        <p:txBody>
          <a:bodyPr/>
          <a:lstStyle/>
          <a:p>
            <a:endParaRPr lang="en-IN"/>
          </a:p>
        </p:txBody>
      </p:sp>
      <p:sp>
        <p:nvSpPr>
          <p:cNvPr id="11" name="Text 9"/>
          <p:cNvSpPr/>
          <p:nvPr/>
        </p:nvSpPr>
        <p:spPr>
          <a:xfrm>
            <a:off x="3060204" y="3362623"/>
            <a:ext cx="98544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32E"/>
                </a:solidFill>
                <a:latin typeface="IBM Plex Sans" pitchFamily="34" charset="0"/>
                <a:ea typeface="IBM Plex Sans" pitchFamily="34" charset="-122"/>
                <a:cs typeface="IBM Plex Sans" pitchFamily="34" charset="-120"/>
              </a:rPr>
              <a:t>Quality rules</a:t>
            </a:r>
            <a:endParaRPr lang="en-US" sz="1300" dirty="0"/>
          </a:p>
        </p:txBody>
      </p:sp>
      <p:sp>
        <p:nvSpPr>
          <p:cNvPr id="12" name="Shape 10"/>
          <p:cNvSpPr/>
          <p:nvPr/>
        </p:nvSpPr>
        <p:spPr>
          <a:xfrm>
            <a:off x="812800" y="3746103"/>
            <a:ext cx="768152" cy="358080"/>
          </a:xfrm>
          <a:prstGeom prst="roundRect">
            <a:avLst>
              <a:gd name="adj" fmla="val 50000"/>
            </a:avLst>
          </a:prstGeom>
          <a:solidFill>
            <a:srgbClr val="E2EEEC"/>
          </a:solidFill>
          <a:ln/>
        </p:spPr>
        <p:txBody>
          <a:bodyPr/>
          <a:lstStyle/>
          <a:p>
            <a:endParaRPr lang="en-IN"/>
          </a:p>
        </p:txBody>
      </p:sp>
      <p:sp>
        <p:nvSpPr>
          <p:cNvPr id="13" name="Text 11"/>
          <p:cNvSpPr/>
          <p:nvPr/>
        </p:nvSpPr>
        <p:spPr>
          <a:xfrm>
            <a:off x="952500" y="3809603"/>
            <a:ext cx="53955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32E"/>
                </a:solidFill>
                <a:latin typeface="IBM Plex Sans" pitchFamily="34" charset="0"/>
                <a:ea typeface="IBM Plex Sans" pitchFamily="34" charset="-122"/>
                <a:cs typeface="IBM Plex Sans" pitchFamily="34" charset="-120"/>
              </a:rPr>
              <a:t>Owner</a:t>
            </a:r>
            <a:endParaRPr lang="en-US" sz="1300" dirty="0"/>
          </a:p>
        </p:txBody>
      </p:sp>
      <p:sp>
        <p:nvSpPr>
          <p:cNvPr id="14" name="Shape 12"/>
          <p:cNvSpPr/>
          <p:nvPr/>
        </p:nvSpPr>
        <p:spPr>
          <a:xfrm>
            <a:off x="1669852" y="3746103"/>
            <a:ext cx="1212056" cy="358080"/>
          </a:xfrm>
          <a:prstGeom prst="roundRect">
            <a:avLst>
              <a:gd name="adj" fmla="val 50000"/>
            </a:avLst>
          </a:prstGeom>
          <a:solidFill>
            <a:srgbClr val="E2EEEC"/>
          </a:solidFill>
          <a:ln/>
        </p:spPr>
        <p:txBody>
          <a:bodyPr/>
          <a:lstStyle/>
          <a:p>
            <a:endParaRPr lang="en-IN"/>
          </a:p>
        </p:txBody>
      </p:sp>
      <p:sp>
        <p:nvSpPr>
          <p:cNvPr id="15" name="Text 13"/>
          <p:cNvSpPr/>
          <p:nvPr/>
        </p:nvSpPr>
        <p:spPr>
          <a:xfrm>
            <a:off x="1809552" y="3809603"/>
            <a:ext cx="98345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32E"/>
                </a:solidFill>
                <a:latin typeface="IBM Plex Sans" pitchFamily="34" charset="0"/>
                <a:ea typeface="IBM Plex Sans" pitchFamily="34" charset="-122"/>
                <a:cs typeface="IBM Plex Sans" pitchFamily="34" charset="-120"/>
              </a:rPr>
              <a:t>Service level</a:t>
            </a:r>
            <a:endParaRPr lang="en-US" sz="1300" dirty="0"/>
          </a:p>
        </p:txBody>
      </p:sp>
      <p:sp>
        <p:nvSpPr>
          <p:cNvPr id="16" name="Text 14"/>
          <p:cNvSpPr/>
          <p:nvPr/>
        </p:nvSpPr>
        <p:spPr>
          <a:xfrm>
            <a:off x="812800" y="4281984"/>
            <a:ext cx="405511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E5B63"/>
                </a:solidFill>
                <a:latin typeface="IBM Plex Sans" pitchFamily="34" charset="0"/>
                <a:ea typeface="IBM Plex Sans" pitchFamily="34" charset="-122"/>
                <a:cs typeface="IBM Plex Sans" pitchFamily="34" charset="-120"/>
              </a:rPr>
              <a:t>Enforced with Great Expectations 1.x in Lab 1.</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56200" y="1828701"/>
          <a:ext cx="6223000" cy="2315766"/>
        </p:xfrm>
        <a:graphic>
          <a:graphicData uri="http://schemas.openxmlformats.org/drawingml/2006/table">
            <a:tbl>
              <a:tblPr/>
              <a:tblGrid>
                <a:gridCol w="1866900">
                  <a:extLst>
                    <a:ext uri="{9D8B030D-6E8A-4147-A177-3AD203B41FA5}">
                      <a16:colId xmlns:a16="http://schemas.microsoft.com/office/drawing/2014/main" val="20000"/>
                    </a:ext>
                  </a:extLst>
                </a:gridCol>
                <a:gridCol w="4356100">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Rule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FreshMart check</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Grain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One row per transaction_id — unique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Completeness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quantity present and greater than 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Range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unit_price within ₹20–₹500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Referential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store_id and product_id exist in the masters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Consistency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revenue = quantity × unit_price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5"/>
                  </a:ext>
                </a:extLst>
              </a:tr>
            </a:tbl>
          </a:graphicData>
        </a:graphic>
      </p:graphicFrame>
      <p:sp>
        <p:nvSpPr>
          <p:cNvPr id="18"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19"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DATA OBSERVABILITY</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The five pillars of data observability</a:t>
            </a:r>
            <a:endParaRPr lang="en-US" sz="3200" dirty="0"/>
          </a:p>
        </p:txBody>
      </p:sp>
      <p:sp>
        <p:nvSpPr>
          <p:cNvPr id="4" name="Shape 2"/>
          <p:cNvSpPr/>
          <p:nvPr/>
        </p:nvSpPr>
        <p:spPr>
          <a:xfrm>
            <a:off x="819150" y="1885851"/>
            <a:ext cx="1978620" cy="1721842"/>
          </a:xfrm>
          <a:prstGeom prst="roundRect">
            <a:avLst>
              <a:gd name="adj" fmla="val 4794"/>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977900" y="2070001"/>
            <a:ext cx="17119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01</a:t>
            </a:r>
            <a:endParaRPr lang="en-US" sz="1200" dirty="0"/>
          </a:p>
        </p:txBody>
      </p:sp>
      <p:sp>
        <p:nvSpPr>
          <p:cNvPr id="6" name="Text 4"/>
          <p:cNvSpPr/>
          <p:nvPr/>
        </p:nvSpPr>
        <p:spPr>
          <a:xfrm>
            <a:off x="977900" y="2384921"/>
            <a:ext cx="17119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Freshness</a:t>
            </a:r>
            <a:endParaRPr lang="en-US" sz="1600" dirty="0"/>
          </a:p>
        </p:txBody>
      </p:sp>
      <p:sp>
        <p:nvSpPr>
          <p:cNvPr id="7" name="Text 5"/>
          <p:cNvSpPr/>
          <p:nvPr/>
        </p:nvSpPr>
        <p:spPr>
          <a:xfrm>
            <a:off x="977900" y="2730302"/>
            <a:ext cx="171192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How old is the newest event?</a:t>
            </a:r>
            <a:endParaRPr lang="en-US" sz="1300" dirty="0"/>
          </a:p>
        </p:txBody>
      </p:sp>
      <p:sp>
        <p:nvSpPr>
          <p:cNvPr id="8" name="Shape 6"/>
          <p:cNvSpPr/>
          <p:nvPr/>
        </p:nvSpPr>
        <p:spPr>
          <a:xfrm>
            <a:off x="2962870" y="1885851"/>
            <a:ext cx="1978720" cy="1721842"/>
          </a:xfrm>
          <a:prstGeom prst="roundRect">
            <a:avLst>
              <a:gd name="adj" fmla="val 4794"/>
            </a:avLst>
          </a:prstGeom>
          <a:solidFill>
            <a:srgbClr val="FDFCF8"/>
          </a:solidFill>
          <a:ln w="12700">
            <a:solidFill>
              <a:srgbClr val="DCD6C8"/>
            </a:solidFill>
            <a:prstDash val="solid"/>
          </a:ln>
        </p:spPr>
        <p:txBody>
          <a:bodyPr/>
          <a:lstStyle/>
          <a:p>
            <a:endParaRPr lang="en-IN"/>
          </a:p>
        </p:txBody>
      </p:sp>
      <p:sp>
        <p:nvSpPr>
          <p:cNvPr id="9" name="Text 7"/>
          <p:cNvSpPr/>
          <p:nvPr/>
        </p:nvSpPr>
        <p:spPr>
          <a:xfrm>
            <a:off x="3121620" y="2070001"/>
            <a:ext cx="17120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02</a:t>
            </a:r>
            <a:endParaRPr lang="en-US" sz="1200" dirty="0"/>
          </a:p>
        </p:txBody>
      </p:sp>
      <p:sp>
        <p:nvSpPr>
          <p:cNvPr id="10" name="Text 8"/>
          <p:cNvSpPr/>
          <p:nvPr/>
        </p:nvSpPr>
        <p:spPr>
          <a:xfrm>
            <a:off x="3121620" y="2384921"/>
            <a:ext cx="17120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Volume</a:t>
            </a:r>
            <a:endParaRPr lang="en-US" sz="1600" dirty="0"/>
          </a:p>
        </p:txBody>
      </p:sp>
      <p:sp>
        <p:nvSpPr>
          <p:cNvPr id="11" name="Text 9"/>
          <p:cNvSpPr/>
          <p:nvPr/>
        </p:nvSpPr>
        <p:spPr>
          <a:xfrm>
            <a:off x="3121620" y="2730302"/>
            <a:ext cx="171202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Rows and store–product pairs within a band of the last run?</a:t>
            </a:r>
            <a:endParaRPr lang="en-US" sz="1300" dirty="0"/>
          </a:p>
        </p:txBody>
      </p:sp>
      <p:sp>
        <p:nvSpPr>
          <p:cNvPr id="12" name="Shape 10"/>
          <p:cNvSpPr/>
          <p:nvPr/>
        </p:nvSpPr>
        <p:spPr>
          <a:xfrm>
            <a:off x="5106690" y="1885851"/>
            <a:ext cx="1978620" cy="1721842"/>
          </a:xfrm>
          <a:prstGeom prst="roundRect">
            <a:avLst>
              <a:gd name="adj" fmla="val 4794"/>
            </a:avLst>
          </a:prstGeom>
          <a:solidFill>
            <a:srgbClr val="FDFCF8"/>
          </a:solidFill>
          <a:ln w="12700">
            <a:solidFill>
              <a:srgbClr val="DCD6C8"/>
            </a:solidFill>
            <a:prstDash val="solid"/>
          </a:ln>
        </p:spPr>
        <p:txBody>
          <a:bodyPr/>
          <a:lstStyle/>
          <a:p>
            <a:endParaRPr lang="en-IN"/>
          </a:p>
        </p:txBody>
      </p:sp>
      <p:sp>
        <p:nvSpPr>
          <p:cNvPr id="13" name="Text 11"/>
          <p:cNvSpPr/>
          <p:nvPr/>
        </p:nvSpPr>
        <p:spPr>
          <a:xfrm>
            <a:off x="5265440" y="2070001"/>
            <a:ext cx="17119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03</a:t>
            </a:r>
            <a:endParaRPr lang="en-US" sz="1200" dirty="0"/>
          </a:p>
        </p:txBody>
      </p:sp>
      <p:sp>
        <p:nvSpPr>
          <p:cNvPr id="14" name="Text 12"/>
          <p:cNvSpPr/>
          <p:nvPr/>
        </p:nvSpPr>
        <p:spPr>
          <a:xfrm>
            <a:off x="5265440" y="2384921"/>
            <a:ext cx="17119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Schema</a:t>
            </a:r>
            <a:endParaRPr lang="en-US" sz="1600" dirty="0"/>
          </a:p>
        </p:txBody>
      </p:sp>
      <p:sp>
        <p:nvSpPr>
          <p:cNvPr id="15" name="Text 13"/>
          <p:cNvSpPr/>
          <p:nvPr/>
        </p:nvSpPr>
        <p:spPr>
          <a:xfrm>
            <a:off x="5265440" y="2730302"/>
            <a:ext cx="171192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Same columns, same types?</a:t>
            </a:r>
            <a:endParaRPr lang="en-US" sz="1300" dirty="0"/>
          </a:p>
        </p:txBody>
      </p:sp>
      <p:sp>
        <p:nvSpPr>
          <p:cNvPr id="16" name="Shape 14"/>
          <p:cNvSpPr/>
          <p:nvPr/>
        </p:nvSpPr>
        <p:spPr>
          <a:xfrm>
            <a:off x="7250410" y="1885851"/>
            <a:ext cx="1978720" cy="1721842"/>
          </a:xfrm>
          <a:prstGeom prst="roundRect">
            <a:avLst>
              <a:gd name="adj" fmla="val 4794"/>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7409160" y="2070001"/>
            <a:ext cx="17120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04</a:t>
            </a:r>
            <a:endParaRPr lang="en-US" sz="1200" dirty="0"/>
          </a:p>
        </p:txBody>
      </p:sp>
      <p:sp>
        <p:nvSpPr>
          <p:cNvPr id="18" name="Text 16"/>
          <p:cNvSpPr/>
          <p:nvPr/>
        </p:nvSpPr>
        <p:spPr>
          <a:xfrm>
            <a:off x="7409160" y="2384921"/>
            <a:ext cx="17120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Distribution</a:t>
            </a:r>
            <a:endParaRPr lang="en-US" sz="1600" dirty="0"/>
          </a:p>
        </p:txBody>
      </p:sp>
      <p:sp>
        <p:nvSpPr>
          <p:cNvPr id="19" name="Text 17"/>
          <p:cNvSpPr/>
          <p:nvPr/>
        </p:nvSpPr>
        <p:spPr>
          <a:xfrm>
            <a:off x="7409160" y="2730302"/>
            <a:ext cx="171202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Mean basket size within tolerance?</a:t>
            </a:r>
            <a:endParaRPr lang="en-US" sz="1300" dirty="0"/>
          </a:p>
        </p:txBody>
      </p:sp>
      <p:sp>
        <p:nvSpPr>
          <p:cNvPr id="20" name="Shape 18"/>
          <p:cNvSpPr/>
          <p:nvPr/>
        </p:nvSpPr>
        <p:spPr>
          <a:xfrm>
            <a:off x="9394230" y="1885851"/>
            <a:ext cx="1978620" cy="1721842"/>
          </a:xfrm>
          <a:prstGeom prst="roundRect">
            <a:avLst>
              <a:gd name="adj" fmla="val 4794"/>
            </a:avLst>
          </a:prstGeom>
          <a:solidFill>
            <a:srgbClr val="FDFCF8"/>
          </a:solidFill>
          <a:ln w="12700">
            <a:solidFill>
              <a:srgbClr val="DCD6C8"/>
            </a:solidFill>
            <a:prstDash val="solid"/>
          </a:ln>
        </p:spPr>
        <p:txBody>
          <a:bodyPr/>
          <a:lstStyle/>
          <a:p>
            <a:endParaRPr lang="en-IN"/>
          </a:p>
        </p:txBody>
      </p:sp>
      <p:sp>
        <p:nvSpPr>
          <p:cNvPr id="21" name="Text 19"/>
          <p:cNvSpPr/>
          <p:nvPr/>
        </p:nvSpPr>
        <p:spPr>
          <a:xfrm>
            <a:off x="9552980" y="2070001"/>
            <a:ext cx="17119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05</a:t>
            </a:r>
            <a:endParaRPr lang="en-US" sz="1200" dirty="0"/>
          </a:p>
        </p:txBody>
      </p:sp>
      <p:sp>
        <p:nvSpPr>
          <p:cNvPr id="22" name="Text 20"/>
          <p:cNvSpPr/>
          <p:nvPr/>
        </p:nvSpPr>
        <p:spPr>
          <a:xfrm>
            <a:off x="9552980" y="2384921"/>
            <a:ext cx="17119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Lineage</a:t>
            </a:r>
            <a:endParaRPr lang="en-US" sz="1600" dirty="0"/>
          </a:p>
        </p:txBody>
      </p:sp>
      <p:sp>
        <p:nvSpPr>
          <p:cNvPr id="23" name="Text 21"/>
          <p:cNvSpPr/>
          <p:nvPr/>
        </p:nvSpPr>
        <p:spPr>
          <a:xfrm>
            <a:off x="9552980" y="2730302"/>
            <a:ext cx="171192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Is there a hash, and did it change?</a:t>
            </a:r>
            <a:endParaRPr lang="en-US" sz="1300" dirty="0"/>
          </a:p>
        </p:txBody>
      </p:sp>
      <p:sp>
        <p:nvSpPr>
          <p:cNvPr id="24" name="Text 22"/>
          <p:cNvSpPr/>
          <p:nvPr/>
        </p:nvSpPr>
        <p:spPr>
          <a:xfrm>
            <a:off x="812800" y="3918843"/>
            <a:ext cx="1088339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Contracts check </a:t>
            </a:r>
            <a:r>
              <a:rPr lang="en-US" sz="1500" b="1" dirty="0">
                <a:solidFill>
                  <a:srgbClr val="16232E"/>
                </a:solidFill>
                <a:latin typeface="IBM Plex Sans" pitchFamily="34" charset="0"/>
                <a:ea typeface="IBM Plex Sans" pitchFamily="34" charset="-122"/>
                <a:cs typeface="IBM Plex Sans" pitchFamily="34" charset="-120"/>
              </a:rPr>
              <a:t>this</a:t>
            </a:r>
            <a:r>
              <a:rPr lang="en-US" sz="1500" dirty="0">
                <a:solidFill>
                  <a:srgbClr val="16232E"/>
                </a:solidFill>
                <a:latin typeface="IBM Plex Sans" pitchFamily="34" charset="0"/>
                <a:ea typeface="IBM Plex Sans" pitchFamily="34" charset="-122"/>
                <a:cs typeface="IBM Plex Sans" pitchFamily="34" charset="-120"/>
              </a:rPr>
              <a:t> batch against rules. Observability checks it against </a:t>
            </a:r>
            <a:r>
              <a:rPr lang="en-US" sz="1500" b="1" dirty="0">
                <a:solidFill>
                  <a:srgbClr val="16232E"/>
                </a:solidFill>
                <a:latin typeface="IBM Plex Sans" pitchFamily="34" charset="0"/>
                <a:ea typeface="IBM Plex Sans" pitchFamily="34" charset="-122"/>
                <a:cs typeface="IBM Plex Sans" pitchFamily="34" charset="-120"/>
              </a:rPr>
              <a:t>history</a:t>
            </a:r>
            <a:r>
              <a:rPr lang="en-US" sz="1500" dirty="0">
                <a:solidFill>
                  <a:srgbClr val="16232E"/>
                </a:solidFill>
                <a:latin typeface="IBM Plex Sans" pitchFamily="34" charset="0"/>
                <a:ea typeface="IBM Plex Sans" pitchFamily="34" charset="-122"/>
                <a:cs typeface="IBM Plex Sans" pitchFamily="34" charset="-120"/>
              </a:rPr>
              <a:t> — and in Lab 1 each pillar becomes a gate that exits non-zero, so the orchestrator stops.</a:t>
            </a:r>
            <a:endParaRPr lang="en-US" sz="1500" dirty="0"/>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DVC STAGE DAGS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dvc.yaml declares what depends on what</a:t>
            </a:r>
            <a:endParaRPr lang="en-US" sz="3200" dirty="0"/>
          </a:p>
        </p:txBody>
      </p:sp>
      <p:sp>
        <p:nvSpPr>
          <p:cNvPr id="4" name="Shape 2"/>
          <p:cNvSpPr/>
          <p:nvPr/>
        </p:nvSpPr>
        <p:spPr>
          <a:xfrm>
            <a:off x="819150" y="2927350"/>
            <a:ext cx="1638300" cy="647700"/>
          </a:xfrm>
          <a:prstGeom prst="roundRect">
            <a:avLst>
              <a:gd name="adj" fmla="val 10784"/>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939800" y="3009900"/>
            <a:ext cx="1447800" cy="201315"/>
          </a:xfrm>
          <a:prstGeom prst="rect">
            <a:avLst/>
          </a:prstGeom>
          <a:noFill/>
          <a:ln/>
        </p:spPr>
        <p:txBody>
          <a:bodyPr wrap="square" lIns="0" tIns="0" rIns="0" bIns="0" rtlCol="0" anchor="t">
            <a:normAutofit/>
          </a:bodyPr>
          <a:lstStyle/>
          <a:p>
            <a:pPr marL="0" indent="0" algn="l">
              <a:lnSpc>
                <a:spcPts val="1424"/>
              </a:lnSpc>
              <a:buNone/>
            </a:pPr>
            <a:r>
              <a:rPr lang="en-US" sz="1017" b="1" dirty="0">
                <a:solidFill>
                  <a:srgbClr val="16232E"/>
                </a:solidFill>
                <a:latin typeface="JetBrains Mono" pitchFamily="34" charset="0"/>
                <a:ea typeface="JetBrains Mono" pitchFamily="34" charset="-122"/>
                <a:cs typeface="JetBrains Mono" pitchFamily="34" charset="-120"/>
              </a:rPr>
              <a:t>generate</a:t>
            </a:r>
            <a:endParaRPr lang="en-US" sz="1017" dirty="0"/>
          </a:p>
        </p:txBody>
      </p:sp>
      <p:sp>
        <p:nvSpPr>
          <p:cNvPr id="6" name="Text 4"/>
          <p:cNvSpPr/>
          <p:nvPr/>
        </p:nvSpPr>
        <p:spPr>
          <a:xfrm>
            <a:off x="939800" y="3211215"/>
            <a:ext cx="1447800" cy="306685"/>
          </a:xfrm>
          <a:prstGeom prst="rect">
            <a:avLst/>
          </a:prstGeom>
          <a:noFill/>
          <a:ln/>
        </p:spPr>
        <p:txBody>
          <a:bodyPr wrap="square" lIns="0" tIns="0" rIns="0" bIns="0" rtlCol="0" anchor="t">
            <a:normAutofit/>
          </a:bodyPr>
          <a:lstStyle/>
          <a:p>
            <a:pPr marL="0" indent="0" algn="l">
              <a:lnSpc>
                <a:spcPts val="1538"/>
              </a:lnSpc>
              <a:buNone/>
            </a:pPr>
            <a:r>
              <a:rPr lang="en-US" sz="1099" dirty="0">
                <a:solidFill>
                  <a:srgbClr val="4E5B63"/>
                </a:solidFill>
                <a:latin typeface="IBM Plex Sans" pitchFamily="34" charset="0"/>
                <a:ea typeface="IBM Plex Sans" pitchFamily="34" charset="-122"/>
                <a:cs typeface="IBM Plex Sans" pitchFamily="34" charset="-120"/>
              </a:rPr>
              <a:t>POS extract + masters</a:t>
            </a:r>
            <a:endParaRPr lang="en-US" sz="1099" dirty="0"/>
          </a:p>
        </p:txBody>
      </p:sp>
      <p:sp>
        <p:nvSpPr>
          <p:cNvPr id="7" name="Shape 5"/>
          <p:cNvSpPr/>
          <p:nvPr/>
        </p:nvSpPr>
        <p:spPr>
          <a:xfrm>
            <a:off x="2978150" y="2927350"/>
            <a:ext cx="1638300" cy="647700"/>
          </a:xfrm>
          <a:prstGeom prst="roundRect">
            <a:avLst>
              <a:gd name="adj" fmla="val 10784"/>
            </a:avLst>
          </a:prstGeom>
          <a:solidFill>
            <a:srgbClr val="FDFCF8"/>
          </a:solidFill>
          <a:ln w="12700">
            <a:solidFill>
              <a:srgbClr val="DCD6C8"/>
            </a:solidFill>
            <a:prstDash val="solid"/>
          </a:ln>
        </p:spPr>
        <p:txBody>
          <a:bodyPr/>
          <a:lstStyle/>
          <a:p>
            <a:endParaRPr lang="en-IN"/>
          </a:p>
        </p:txBody>
      </p:sp>
      <p:sp>
        <p:nvSpPr>
          <p:cNvPr id="8" name="Text 6"/>
          <p:cNvSpPr/>
          <p:nvPr/>
        </p:nvSpPr>
        <p:spPr>
          <a:xfrm>
            <a:off x="3098800" y="3009900"/>
            <a:ext cx="1447800" cy="279400"/>
          </a:xfrm>
          <a:prstGeom prst="rect">
            <a:avLst/>
          </a:prstGeom>
          <a:noFill/>
          <a:ln/>
        </p:spPr>
        <p:txBody>
          <a:bodyPr wrap="square" lIns="0" tIns="0" rIns="0" bIns="0" rtlCol="0" anchor="t">
            <a:normAutofit/>
          </a:bodyPr>
          <a:lstStyle/>
          <a:p>
            <a:pPr marL="0" indent="0" algn="l">
              <a:lnSpc>
                <a:spcPts val="2021"/>
              </a:lnSpc>
              <a:buNone/>
            </a:pPr>
            <a:r>
              <a:rPr lang="en-US" sz="1444" b="1" dirty="0">
                <a:solidFill>
                  <a:srgbClr val="16232E"/>
                </a:solidFill>
                <a:latin typeface="JetBrains Mono" pitchFamily="34" charset="0"/>
                <a:ea typeface="JetBrains Mono" pitchFamily="34" charset="-122"/>
                <a:cs typeface="JetBrains Mono" pitchFamily="34" charset="-120"/>
              </a:rPr>
              <a:t>clean</a:t>
            </a:r>
            <a:endParaRPr lang="en-US" sz="1444" dirty="0"/>
          </a:p>
        </p:txBody>
      </p:sp>
      <p:sp>
        <p:nvSpPr>
          <p:cNvPr id="9" name="Text 7"/>
          <p:cNvSpPr/>
          <p:nvPr/>
        </p:nvSpPr>
        <p:spPr>
          <a:xfrm>
            <a:off x="3098800" y="3289300"/>
            <a:ext cx="1447800" cy="228600"/>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E5B63"/>
                </a:solidFill>
                <a:latin typeface="IBM Plex Sans" pitchFamily="34" charset="0"/>
                <a:ea typeface="IBM Plex Sans" pitchFamily="34" charset="-122"/>
                <a:cs typeface="IBM Plex Sans" pitchFamily="34" charset="-120"/>
              </a:rPr>
              <a:t>pos_clean</a:t>
            </a:r>
            <a:endParaRPr lang="en-US" sz="1159" dirty="0"/>
          </a:p>
        </p:txBody>
      </p:sp>
      <p:sp>
        <p:nvSpPr>
          <p:cNvPr id="10" name="Shape 8"/>
          <p:cNvSpPr/>
          <p:nvPr/>
        </p:nvSpPr>
        <p:spPr>
          <a:xfrm>
            <a:off x="5391150" y="2038350"/>
            <a:ext cx="1638300" cy="647700"/>
          </a:xfrm>
          <a:prstGeom prst="roundRect">
            <a:avLst>
              <a:gd name="adj" fmla="val 10784"/>
            </a:avLst>
          </a:prstGeom>
          <a:solidFill>
            <a:srgbClr val="E2EEEC"/>
          </a:solidFill>
          <a:ln w="12700">
            <a:solidFill>
              <a:srgbClr val="0E6F6D"/>
            </a:solidFill>
            <a:prstDash val="solid"/>
          </a:ln>
        </p:spPr>
        <p:txBody>
          <a:bodyPr/>
          <a:lstStyle/>
          <a:p>
            <a:endParaRPr lang="en-IN"/>
          </a:p>
        </p:txBody>
      </p:sp>
      <p:sp>
        <p:nvSpPr>
          <p:cNvPr id="11" name="Text 9"/>
          <p:cNvSpPr/>
          <p:nvPr/>
        </p:nvSpPr>
        <p:spPr>
          <a:xfrm>
            <a:off x="5511800" y="2120900"/>
            <a:ext cx="1447800" cy="279400"/>
          </a:xfrm>
          <a:prstGeom prst="rect">
            <a:avLst/>
          </a:prstGeom>
          <a:noFill/>
          <a:ln/>
        </p:spPr>
        <p:txBody>
          <a:bodyPr wrap="square" lIns="0" tIns="0" rIns="0" bIns="0" rtlCol="0" anchor="t">
            <a:normAutofit/>
          </a:bodyPr>
          <a:lstStyle/>
          <a:p>
            <a:pPr marL="0" indent="0" algn="l">
              <a:lnSpc>
                <a:spcPts val="2021"/>
              </a:lnSpc>
              <a:buNone/>
            </a:pPr>
            <a:r>
              <a:rPr lang="en-US" sz="1444" b="1" dirty="0">
                <a:solidFill>
                  <a:srgbClr val="16232E"/>
                </a:solidFill>
                <a:latin typeface="JetBrains Mono" pitchFamily="34" charset="0"/>
                <a:ea typeface="JetBrains Mono" pitchFamily="34" charset="-122"/>
                <a:cs typeface="JetBrains Mono" pitchFamily="34" charset="-120"/>
              </a:rPr>
              <a:t>validate</a:t>
            </a:r>
            <a:endParaRPr lang="en-US" sz="1444" dirty="0"/>
          </a:p>
        </p:txBody>
      </p:sp>
      <p:sp>
        <p:nvSpPr>
          <p:cNvPr id="12" name="Text 10"/>
          <p:cNvSpPr/>
          <p:nvPr/>
        </p:nvSpPr>
        <p:spPr>
          <a:xfrm>
            <a:off x="5511800" y="2400300"/>
            <a:ext cx="1447800" cy="228600"/>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E5B63"/>
                </a:solidFill>
                <a:latin typeface="IBM Plex Sans" pitchFamily="34" charset="0"/>
                <a:ea typeface="IBM Plex Sans" pitchFamily="34" charset="-122"/>
                <a:cs typeface="IBM Plex Sans" pitchFamily="34" charset="-120"/>
              </a:rPr>
              <a:t>contract gate</a:t>
            </a:r>
            <a:endParaRPr lang="en-US" sz="1159" dirty="0"/>
          </a:p>
        </p:txBody>
      </p:sp>
      <p:sp>
        <p:nvSpPr>
          <p:cNvPr id="13" name="Shape 11"/>
          <p:cNvSpPr/>
          <p:nvPr/>
        </p:nvSpPr>
        <p:spPr>
          <a:xfrm>
            <a:off x="5391150" y="3943350"/>
            <a:ext cx="1638300" cy="647700"/>
          </a:xfrm>
          <a:prstGeom prst="roundRect">
            <a:avLst>
              <a:gd name="adj" fmla="val 10784"/>
            </a:avLst>
          </a:prstGeom>
          <a:solidFill>
            <a:srgbClr val="FDFCF8"/>
          </a:solidFill>
          <a:ln w="12700">
            <a:solidFill>
              <a:srgbClr val="DCD6C8"/>
            </a:solidFill>
            <a:prstDash val="solid"/>
          </a:ln>
        </p:spPr>
        <p:txBody>
          <a:bodyPr/>
          <a:lstStyle/>
          <a:p>
            <a:endParaRPr lang="en-IN"/>
          </a:p>
        </p:txBody>
      </p:sp>
      <p:sp>
        <p:nvSpPr>
          <p:cNvPr id="14" name="Text 12"/>
          <p:cNvSpPr/>
          <p:nvPr/>
        </p:nvSpPr>
        <p:spPr>
          <a:xfrm>
            <a:off x="5511800" y="4025900"/>
            <a:ext cx="1447800" cy="279400"/>
          </a:xfrm>
          <a:prstGeom prst="rect">
            <a:avLst/>
          </a:prstGeom>
          <a:noFill/>
          <a:ln/>
        </p:spPr>
        <p:txBody>
          <a:bodyPr wrap="square" lIns="0" tIns="0" rIns="0" bIns="0" rtlCol="0" anchor="t">
            <a:normAutofit/>
          </a:bodyPr>
          <a:lstStyle/>
          <a:p>
            <a:pPr marL="0" indent="0" algn="l">
              <a:lnSpc>
                <a:spcPts val="2021"/>
              </a:lnSpc>
              <a:buNone/>
            </a:pPr>
            <a:r>
              <a:rPr lang="en-US" sz="1444" b="1" dirty="0">
                <a:solidFill>
                  <a:srgbClr val="16232E"/>
                </a:solidFill>
                <a:latin typeface="JetBrains Mono" pitchFamily="34" charset="0"/>
                <a:ea typeface="JetBrains Mono" pitchFamily="34" charset="-122"/>
                <a:cs typeface="JetBrains Mono" pitchFamily="34" charset="-120"/>
              </a:rPr>
              <a:t>ops</a:t>
            </a:r>
            <a:endParaRPr lang="en-US" sz="1444" dirty="0"/>
          </a:p>
        </p:txBody>
      </p:sp>
      <p:sp>
        <p:nvSpPr>
          <p:cNvPr id="15" name="Text 13"/>
          <p:cNvSpPr/>
          <p:nvPr/>
        </p:nvSpPr>
        <p:spPr>
          <a:xfrm>
            <a:off x="5511800" y="4305300"/>
            <a:ext cx="1447800" cy="228600"/>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E5B63"/>
                </a:solidFill>
                <a:latin typeface="IBM Plex Sans" pitchFamily="34" charset="0"/>
                <a:ea typeface="IBM Plex Sans" pitchFamily="34" charset="-122"/>
                <a:cs typeface="IBM Plex Sans" pitchFamily="34" charset="-120"/>
              </a:rPr>
              <a:t>daily ops feed</a:t>
            </a:r>
            <a:endParaRPr lang="en-US" sz="1159" dirty="0"/>
          </a:p>
        </p:txBody>
      </p:sp>
      <p:sp>
        <p:nvSpPr>
          <p:cNvPr id="16" name="Shape 14"/>
          <p:cNvSpPr/>
          <p:nvPr/>
        </p:nvSpPr>
        <p:spPr>
          <a:xfrm>
            <a:off x="7423150" y="2927350"/>
            <a:ext cx="1765300" cy="647700"/>
          </a:xfrm>
          <a:prstGeom prst="roundRect">
            <a:avLst>
              <a:gd name="adj" fmla="val 10784"/>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7543800" y="3009900"/>
            <a:ext cx="1574800" cy="279400"/>
          </a:xfrm>
          <a:prstGeom prst="rect">
            <a:avLst/>
          </a:prstGeom>
          <a:noFill/>
          <a:ln/>
        </p:spPr>
        <p:txBody>
          <a:bodyPr wrap="square" lIns="0" tIns="0" rIns="0" bIns="0" rtlCol="0" anchor="t">
            <a:normAutofit/>
          </a:bodyPr>
          <a:lstStyle/>
          <a:p>
            <a:pPr marL="0" indent="0" algn="l">
              <a:lnSpc>
                <a:spcPts val="2021"/>
              </a:lnSpc>
              <a:buNone/>
            </a:pPr>
            <a:r>
              <a:rPr lang="en-US" sz="1444" b="1" dirty="0">
                <a:solidFill>
                  <a:srgbClr val="16232E"/>
                </a:solidFill>
                <a:latin typeface="JetBrains Mono" pitchFamily="34" charset="0"/>
                <a:ea typeface="JetBrains Mono" pitchFamily="34" charset="-122"/>
                <a:cs typeface="JetBrains Mono" pitchFamily="34" charset="-120"/>
              </a:rPr>
              <a:t>engineer</a:t>
            </a:r>
            <a:endParaRPr lang="en-US" sz="1444" dirty="0"/>
          </a:p>
        </p:txBody>
      </p:sp>
      <p:sp>
        <p:nvSpPr>
          <p:cNvPr id="18" name="Text 16"/>
          <p:cNvSpPr/>
          <p:nvPr/>
        </p:nvSpPr>
        <p:spPr>
          <a:xfrm>
            <a:off x="7543800" y="3289300"/>
            <a:ext cx="1574800" cy="228600"/>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E5B63"/>
                </a:solidFill>
                <a:latin typeface="IBM Plex Sans" pitchFamily="34" charset="0"/>
                <a:ea typeface="IBM Plex Sans" pitchFamily="34" charset="-122"/>
                <a:cs typeface="IBM Plex Sans" pitchFamily="34" charset="-120"/>
              </a:rPr>
              <a:t>feature table</a:t>
            </a:r>
            <a:endParaRPr lang="en-US" sz="1159" dirty="0"/>
          </a:p>
        </p:txBody>
      </p:sp>
      <p:sp>
        <p:nvSpPr>
          <p:cNvPr id="19" name="Shape 17"/>
          <p:cNvSpPr/>
          <p:nvPr/>
        </p:nvSpPr>
        <p:spPr>
          <a:xfrm>
            <a:off x="9709150" y="2927350"/>
            <a:ext cx="1663700" cy="647700"/>
          </a:xfrm>
          <a:prstGeom prst="roundRect">
            <a:avLst>
              <a:gd name="adj" fmla="val 10784"/>
            </a:avLst>
          </a:prstGeom>
          <a:solidFill>
            <a:srgbClr val="FDFCF8"/>
          </a:solidFill>
          <a:ln w="12700">
            <a:solidFill>
              <a:srgbClr val="DCD6C8"/>
            </a:solidFill>
            <a:prstDash val="solid"/>
          </a:ln>
        </p:spPr>
        <p:txBody>
          <a:bodyPr/>
          <a:lstStyle/>
          <a:p>
            <a:endParaRPr lang="en-IN"/>
          </a:p>
        </p:txBody>
      </p:sp>
      <p:sp>
        <p:nvSpPr>
          <p:cNvPr id="20" name="Text 18"/>
          <p:cNvSpPr/>
          <p:nvPr/>
        </p:nvSpPr>
        <p:spPr>
          <a:xfrm>
            <a:off x="9829800" y="3009900"/>
            <a:ext cx="1473200" cy="279400"/>
          </a:xfrm>
          <a:prstGeom prst="rect">
            <a:avLst/>
          </a:prstGeom>
          <a:noFill/>
          <a:ln/>
        </p:spPr>
        <p:txBody>
          <a:bodyPr wrap="square" lIns="0" tIns="0" rIns="0" bIns="0" rtlCol="0" anchor="t">
            <a:normAutofit/>
          </a:bodyPr>
          <a:lstStyle/>
          <a:p>
            <a:pPr marL="0" indent="0" algn="l">
              <a:lnSpc>
                <a:spcPts val="2021"/>
              </a:lnSpc>
              <a:buNone/>
            </a:pPr>
            <a:r>
              <a:rPr lang="en-US" sz="1444" b="1" dirty="0">
                <a:solidFill>
                  <a:srgbClr val="16232E"/>
                </a:solidFill>
                <a:latin typeface="JetBrains Mono" pitchFamily="34" charset="0"/>
                <a:ea typeface="JetBrains Mono" pitchFamily="34" charset="-122"/>
                <a:cs typeface="JetBrains Mono" pitchFamily="34" charset="-120"/>
              </a:rPr>
              <a:t>feast</a:t>
            </a:r>
            <a:endParaRPr lang="en-US" sz="1444" dirty="0"/>
          </a:p>
        </p:txBody>
      </p:sp>
      <p:sp>
        <p:nvSpPr>
          <p:cNvPr id="21" name="Text 19"/>
          <p:cNvSpPr/>
          <p:nvPr/>
        </p:nvSpPr>
        <p:spPr>
          <a:xfrm>
            <a:off x="9829800" y="3289300"/>
            <a:ext cx="1473200" cy="228600"/>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E5B63"/>
                </a:solidFill>
                <a:latin typeface="IBM Plex Sans" pitchFamily="34" charset="0"/>
                <a:ea typeface="IBM Plex Sans" pitchFamily="34" charset="-122"/>
                <a:cs typeface="IBM Plex Sans" pitchFamily="34" charset="-120"/>
              </a:rPr>
              <a:t>apply + materialize</a:t>
            </a:r>
            <a:endParaRPr lang="en-US" sz="1159" dirty="0"/>
          </a:p>
        </p:txBody>
      </p:sp>
      <p:pic>
        <p:nvPicPr>
          <p:cNvPr id="22" name="Image 0" descr="connector"/>
          <p:cNvPicPr>
            <a:picLocks noChangeAspect="1"/>
          </p:cNvPicPr>
          <p:nvPr/>
        </p:nvPicPr>
        <p:blipFill>
          <a:blip r:embed="rId3"/>
          <a:srcRect/>
          <a:stretch/>
        </p:blipFill>
        <p:spPr>
          <a:xfrm>
            <a:off x="2413000" y="3200400"/>
            <a:ext cx="609600" cy="101600"/>
          </a:xfrm>
          <a:prstGeom prst="rect">
            <a:avLst/>
          </a:prstGeom>
        </p:spPr>
      </p:pic>
      <p:pic>
        <p:nvPicPr>
          <p:cNvPr id="23" name="Image 1" descr="connector"/>
          <p:cNvPicPr>
            <a:picLocks noChangeAspect="1"/>
          </p:cNvPicPr>
          <p:nvPr/>
        </p:nvPicPr>
        <p:blipFill>
          <a:blip r:embed="rId4"/>
          <a:srcRect/>
          <a:stretch/>
        </p:blipFill>
        <p:spPr>
          <a:xfrm>
            <a:off x="4572000" y="2311400"/>
            <a:ext cx="863600" cy="990600"/>
          </a:xfrm>
          <a:prstGeom prst="rect">
            <a:avLst/>
          </a:prstGeom>
        </p:spPr>
      </p:pic>
      <p:pic>
        <p:nvPicPr>
          <p:cNvPr id="24" name="Image 2" descr="connector"/>
          <p:cNvPicPr>
            <a:picLocks noChangeAspect="1"/>
          </p:cNvPicPr>
          <p:nvPr/>
        </p:nvPicPr>
        <p:blipFill>
          <a:blip r:embed="rId5"/>
          <a:srcRect/>
          <a:stretch/>
        </p:blipFill>
        <p:spPr>
          <a:xfrm>
            <a:off x="4572000" y="3200400"/>
            <a:ext cx="2895600" cy="101600"/>
          </a:xfrm>
          <a:prstGeom prst="rect">
            <a:avLst/>
          </a:prstGeom>
        </p:spPr>
      </p:pic>
      <p:pic>
        <p:nvPicPr>
          <p:cNvPr id="25" name="Image 3" descr="connector"/>
          <p:cNvPicPr>
            <a:picLocks noChangeAspect="1"/>
          </p:cNvPicPr>
          <p:nvPr/>
        </p:nvPicPr>
        <p:blipFill>
          <a:blip r:embed="rId6"/>
          <a:srcRect/>
          <a:stretch/>
        </p:blipFill>
        <p:spPr>
          <a:xfrm>
            <a:off x="1587500" y="3530600"/>
            <a:ext cx="3848100" cy="787400"/>
          </a:xfrm>
          <a:prstGeom prst="rect">
            <a:avLst/>
          </a:prstGeom>
        </p:spPr>
      </p:pic>
      <p:pic>
        <p:nvPicPr>
          <p:cNvPr id="26" name="Image 4" descr="connector"/>
          <p:cNvPicPr>
            <a:picLocks noChangeAspect="1"/>
          </p:cNvPicPr>
          <p:nvPr/>
        </p:nvPicPr>
        <p:blipFill>
          <a:blip r:embed="rId7"/>
          <a:srcRect/>
          <a:stretch/>
        </p:blipFill>
        <p:spPr>
          <a:xfrm>
            <a:off x="6985000" y="3378200"/>
            <a:ext cx="482600" cy="939800"/>
          </a:xfrm>
          <a:prstGeom prst="rect">
            <a:avLst/>
          </a:prstGeom>
        </p:spPr>
      </p:pic>
      <p:pic>
        <p:nvPicPr>
          <p:cNvPr id="27" name="Image 5" descr="connector"/>
          <p:cNvPicPr>
            <a:picLocks noChangeAspect="1"/>
          </p:cNvPicPr>
          <p:nvPr/>
        </p:nvPicPr>
        <p:blipFill>
          <a:blip r:embed="rId3"/>
          <a:srcRect/>
          <a:stretch/>
        </p:blipFill>
        <p:spPr>
          <a:xfrm>
            <a:off x="9144000" y="3200400"/>
            <a:ext cx="609600" cy="101600"/>
          </a:xfrm>
          <a:prstGeom prst="rect">
            <a:avLst/>
          </a:prstGeom>
        </p:spPr>
      </p:pic>
      <p:sp>
        <p:nvSpPr>
          <p:cNvPr id="28" name="Text 20"/>
          <p:cNvSpPr/>
          <p:nvPr/>
        </p:nvSpPr>
        <p:spPr>
          <a:xfrm>
            <a:off x="812800" y="5016500"/>
            <a:ext cx="10883392"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32E"/>
                </a:solidFill>
                <a:latin typeface="IBM Plex Sans" pitchFamily="34" charset="0"/>
                <a:ea typeface="IBM Plex Sans" pitchFamily="34" charset="-122"/>
                <a:cs typeface="IBM Plex Sans" pitchFamily="34" charset="-120"/>
              </a:rPr>
              <a:t>dvc repro</a:t>
            </a:r>
            <a:r>
              <a:rPr lang="en-US" sz="1500" dirty="0">
                <a:solidFill>
                  <a:srgbClr val="4E5B63"/>
                </a:solidFill>
                <a:latin typeface="IBM Plex Sans" pitchFamily="34" charset="0"/>
                <a:ea typeface="IBM Plex Sans" pitchFamily="34" charset="-122"/>
                <a:cs typeface="IBM Plex Sans" pitchFamily="34" charset="-120"/>
              </a:rPr>
              <a:t> re-runs only the stages whose inputs changed; </a:t>
            </a:r>
            <a:r>
              <a:rPr lang="en-US" sz="1500" b="1" dirty="0">
                <a:solidFill>
                  <a:srgbClr val="16232E"/>
                </a:solidFill>
                <a:latin typeface="IBM Plex Sans" pitchFamily="34" charset="0"/>
                <a:ea typeface="IBM Plex Sans" pitchFamily="34" charset="-122"/>
                <a:cs typeface="IBM Plex Sans" pitchFamily="34" charset="-120"/>
              </a:rPr>
              <a:t>dvc.lock</a:t>
            </a:r>
            <a:r>
              <a:rPr lang="en-US" sz="1500" dirty="0">
                <a:solidFill>
                  <a:srgbClr val="4E5B63"/>
                </a:solidFill>
                <a:latin typeface="IBM Plex Sans" pitchFamily="34" charset="0"/>
                <a:ea typeface="IBM Plex Sans" pitchFamily="34" charset="-122"/>
                <a:cs typeface="IBM Plex Sans" pitchFamily="34" charset="-120"/>
              </a:rPr>
              <a:t> records the hash of every input and output. Change the ops feed and generate, clean and validate are skipped.</a:t>
            </a:r>
            <a:endParaRPr lang="en-US" sz="1500" dirty="0"/>
          </a:p>
        </p:txBody>
      </p:sp>
      <p:sp>
        <p:nvSpPr>
          <p:cNvPr id="29" name="Text 2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30" name="Text 2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18</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ORCHESTRATION</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Prefect decides when it runs, retries it, and stops it</a:t>
            </a:r>
            <a:endParaRPr lang="en-US" sz="3200" dirty="0"/>
          </a:p>
        </p:txBody>
      </p:sp>
      <p:sp>
        <p:nvSpPr>
          <p:cNvPr id="4" name="Shape 2"/>
          <p:cNvSpPr/>
          <p:nvPr/>
        </p:nvSpPr>
        <p:spPr>
          <a:xfrm>
            <a:off x="812800" y="1828701"/>
            <a:ext cx="4953000" cy="3096220"/>
          </a:xfrm>
          <a:prstGeom prst="roundRect">
            <a:avLst>
              <a:gd name="adj" fmla="val 3281"/>
            </a:avLst>
          </a:prstGeom>
          <a:solidFill>
            <a:srgbClr val="16232E"/>
          </a:solidFill>
          <a:ln/>
        </p:spPr>
        <p:txBody>
          <a:bodyPr/>
          <a:lstStyle/>
          <a:p>
            <a:endParaRPr lang="en-IN"/>
          </a:p>
        </p:txBody>
      </p:sp>
      <p:sp>
        <p:nvSpPr>
          <p:cNvPr id="5" name="Text 3"/>
          <p:cNvSpPr/>
          <p:nvPr/>
        </p:nvSpPr>
        <p:spPr>
          <a:xfrm>
            <a:off x="1041400" y="2057301"/>
            <a:ext cx="4630674" cy="2072481"/>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E7EEF0"/>
                </a:solidFill>
                <a:latin typeface="JetBrains Mono" pitchFamily="34" charset="0"/>
                <a:ea typeface="JetBrains Mono" pitchFamily="34" charset="-122"/>
                <a:cs typeface="JetBrains Mono" pitchFamily="34" charset="-120"/>
              </a:rPr>
              <a:t>@flow(name="reorder-data-pipeline")</a:t>
            </a:r>
            <a:endParaRPr lang="en-US" sz="1300" dirty="0"/>
          </a:p>
          <a:p>
            <a:pPr marL="0" indent="0" algn="l">
              <a:lnSpc>
                <a:spcPts val="2015"/>
              </a:lnSpc>
              <a:buNone/>
            </a:pPr>
            <a:r>
              <a:rPr lang="en-US" sz="1300" dirty="0">
                <a:solidFill>
                  <a:srgbClr val="E7EEF0"/>
                </a:solidFill>
                <a:latin typeface="JetBrains Mono" pitchFamily="34" charset="0"/>
                <a:ea typeface="JetBrains Mono" pitchFamily="34" charset="-122"/>
                <a:cs typeface="JetBrains Mono" pitchFamily="34" charset="-120"/>
              </a:rPr>
              <a:t>def data_pipeline(asof, drift=False):</a:t>
            </a:r>
            <a:endParaRPr lang="en-US" sz="1300" dirty="0"/>
          </a:p>
          <a:p>
            <a:pPr marL="0" indent="0" algn="l">
              <a:lnSpc>
                <a:spcPts val="2015"/>
              </a:lnSpc>
              <a:buNone/>
            </a:pPr>
            <a:r>
              <a:rPr lang="en-US" sz="1300" dirty="0">
                <a:solidFill>
                  <a:srgbClr val="E7EEF0"/>
                </a:solidFill>
                <a:latin typeface="JetBrains Mono" pitchFamily="34" charset="0"/>
                <a:ea typeface="JetBrains Mono" pitchFamily="34" charset="-122"/>
                <a:cs typeface="JetBrains Mono" pitchFamily="34" charset="-120"/>
              </a:rPr>
              <a:t>    generate(drift)</a:t>
            </a:r>
            <a:endParaRPr lang="en-US" sz="1300" dirty="0"/>
          </a:p>
          <a:p>
            <a:pPr marL="0" indent="0" algn="l">
              <a:lnSpc>
                <a:spcPts val="2015"/>
              </a:lnSpc>
              <a:buNone/>
            </a:pPr>
            <a:r>
              <a:rPr lang="en-US" sz="1300" dirty="0">
                <a:solidFill>
                  <a:srgbClr val="E7EEF0"/>
                </a:solidFill>
                <a:latin typeface="JetBrains Mono" pitchFamily="34" charset="0"/>
                <a:ea typeface="JetBrains Mono" pitchFamily="34" charset="-122"/>
                <a:cs typeface="JetBrains Mono" pitchFamily="34" charset="-120"/>
              </a:rPr>
              <a:t>    clean()</a:t>
            </a:r>
            <a:endParaRPr lang="en-US" sz="1300" dirty="0"/>
          </a:p>
          <a:p>
            <a:pPr marL="0" indent="0" algn="l">
              <a:lnSpc>
                <a:spcPts val="2015"/>
              </a:lnSpc>
              <a:buNone/>
            </a:pPr>
            <a:r>
              <a:rPr lang="en-US" sz="1300" dirty="0">
                <a:solidFill>
                  <a:srgbClr val="E7EEF0"/>
                </a:solidFill>
                <a:latin typeface="JetBrains Mono" pitchFamily="34" charset="0"/>
                <a:ea typeface="JetBrains Mono" pitchFamily="34" charset="-122"/>
                <a:cs typeface="JetBrains Mono" pitchFamily="34" charset="-120"/>
              </a:rPr>
              <a:t>    obs = validate() # raises: flow stops</a:t>
            </a:r>
            <a:endParaRPr lang="en-US" sz="1300" dirty="0"/>
          </a:p>
          <a:p>
            <a:pPr marL="0" indent="0" algn="l">
              <a:lnSpc>
                <a:spcPts val="2015"/>
              </a:lnSpc>
              <a:buNone/>
            </a:pPr>
            <a:r>
              <a:rPr lang="en-US" sz="1300" dirty="0">
                <a:solidFill>
                  <a:srgbClr val="E7EEF0"/>
                </a:solidFill>
                <a:latin typeface="JetBrains Mono" pitchFamily="34" charset="0"/>
                <a:ea typeface="JetBrains Mono" pitchFamily="34" charset="-122"/>
                <a:cs typeface="JetBrains Mono" pitchFamily="34" charset="-120"/>
              </a:rPr>
              <a:t>    ops(asof)</a:t>
            </a:r>
            <a:endParaRPr lang="en-US" sz="1300" dirty="0"/>
          </a:p>
          <a:p>
            <a:pPr marL="0" indent="0" algn="l">
              <a:lnSpc>
                <a:spcPts val="2015"/>
              </a:lnSpc>
              <a:buNone/>
            </a:pPr>
            <a:r>
              <a:rPr lang="en-US" sz="1300" dirty="0">
                <a:solidFill>
                  <a:srgbClr val="E7EEF0"/>
                </a:solidFill>
                <a:latin typeface="JetBrains Mono" pitchFamily="34" charset="0"/>
                <a:ea typeface="JetBrains Mono" pitchFamily="34" charset="-122"/>
                <a:cs typeface="JetBrains Mono" pitchFamily="34" charset="-120"/>
              </a:rPr>
              <a:t>    engineer()</a:t>
            </a:r>
            <a:endParaRPr lang="en-US" sz="1300" dirty="0"/>
          </a:p>
          <a:p>
            <a:pPr marL="0" indent="0" algn="l">
              <a:lnSpc>
                <a:spcPts val="2015"/>
              </a:lnSpc>
              <a:buNone/>
            </a:pPr>
            <a:r>
              <a:rPr lang="en-US" sz="1300" dirty="0">
                <a:solidFill>
                  <a:srgbClr val="E7EEF0"/>
                </a:solidFill>
                <a:latin typeface="JetBrains Mono" pitchFamily="34" charset="0"/>
                <a:ea typeface="JetBrains Mono" pitchFamily="34" charset="-122"/>
                <a:cs typeface="JetBrains Mono" pitchFamily="34" charset="-120"/>
              </a:rPr>
              <a:t>    feast_apply_materialize()</a:t>
            </a:r>
            <a:endParaRPr lang="en-US" sz="1300" dirty="0"/>
          </a:p>
        </p:txBody>
      </p:sp>
      <p:sp>
        <p:nvSpPr>
          <p:cNvPr id="6" name="Text 4"/>
          <p:cNvSpPr/>
          <p:nvPr/>
        </p:nvSpPr>
        <p:spPr>
          <a:xfrm>
            <a:off x="6121400" y="1828701"/>
            <a:ext cx="541553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Each stage becomes a task with logging, retries and a visible run. A failed contract raises — no feature is built on data nobody trusts.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21400" y="2835176"/>
          <a:ext cx="5257800" cy="1899246"/>
        </p:xfrm>
        <a:graphic>
          <a:graphicData uri="http://schemas.openxmlformats.org/drawingml/2006/table">
            <a:tbl>
              <a:tblPr/>
              <a:tblGrid>
                <a:gridCol w="1682496">
                  <a:extLst>
                    <a:ext uri="{9D8B030D-6E8A-4147-A177-3AD203B41FA5}">
                      <a16:colId xmlns:a16="http://schemas.microsoft.com/office/drawing/2014/main" val="20000"/>
                    </a:ext>
                  </a:extLst>
                </a:gridCol>
                <a:gridCol w="3575304">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16232E"/>
                          </a:solidFill>
                          <a:latin typeface="IBM Plex Sans" pitchFamily="34" charset="0"/>
                          <a:ea typeface="IBM Plex Sans" pitchFamily="34" charset="-122"/>
                          <a:cs typeface="IBM Plex Sans" pitchFamily="34" charset="-120"/>
                        </a:rPr>
                        <a:t>Orchestrator</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820"/>
                        </a:lnSpc>
                        <a:buNone/>
                      </a:pPr>
                      <a:r>
                        <a:rPr lang="en-US" sz="1300" b="1" dirty="0">
                          <a:solidFill>
                            <a:srgbClr val="16232E"/>
                          </a:solidFill>
                          <a:latin typeface="IBM Plex Sans" pitchFamily="34" charset="0"/>
                          <a:ea typeface="IBM Plex Sans" pitchFamily="34" charset="-122"/>
                          <a:cs typeface="IBM Plex Sans" pitchFamily="34" charset="-120"/>
                        </a:rPr>
                        <a:t>Trade-off</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590352">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Airflow</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The incumbent: mature, heavy, scheduler-centric</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Dagster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Asset-centric and type-aware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590352">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Prefect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Python-native, lightest on a laptop — our teaching choice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bl>
          </a:graphicData>
        </a:graphic>
      </p:graphicFrame>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FEATURE STORES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Feast serves one definition two ways</a:t>
            </a:r>
            <a:endParaRPr lang="en-US" sz="3200" dirty="0"/>
          </a:p>
        </p:txBody>
      </p:sp>
      <p:sp>
        <p:nvSpPr>
          <p:cNvPr id="4" name="Shape 2"/>
          <p:cNvSpPr/>
          <p:nvPr/>
        </p:nvSpPr>
        <p:spPr>
          <a:xfrm>
            <a:off x="812800" y="1828701"/>
            <a:ext cx="10566400" cy="571500"/>
          </a:xfrm>
          <a:prstGeom prst="roundRect">
            <a:avLst>
              <a:gd name="adj" fmla="val 17778"/>
            </a:avLst>
          </a:prstGeom>
          <a:solidFill>
            <a:srgbClr val="16232E"/>
          </a:solidFill>
          <a:ln/>
        </p:spPr>
        <p:txBody>
          <a:bodyPr/>
          <a:lstStyle/>
          <a:p>
            <a:endParaRPr lang="en-IN"/>
          </a:p>
        </p:txBody>
      </p:sp>
      <p:sp>
        <p:nvSpPr>
          <p:cNvPr id="5" name="Text 3"/>
          <p:cNvSpPr/>
          <p:nvPr/>
        </p:nvSpPr>
        <p:spPr>
          <a:xfrm>
            <a:off x="1041400" y="1981101"/>
            <a:ext cx="1041247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3A63B"/>
                </a:solidFill>
                <a:latin typeface="IBM Plex Sans" pitchFamily="34" charset="0"/>
                <a:ea typeface="IBM Plex Sans" pitchFamily="34" charset="-122"/>
                <a:cs typeface="IBM Plex Sans" pitchFamily="34" charset="-120"/>
              </a:rPr>
              <a:t>One FeatureView</a:t>
            </a:r>
            <a:r>
              <a:rPr lang="en-US" sz="1500" dirty="0">
                <a:solidFill>
                  <a:srgbClr val="F6F4EE"/>
                </a:solidFill>
                <a:latin typeface="IBM Plex Sans" pitchFamily="34" charset="0"/>
                <a:ea typeface="IBM Plex Sans" pitchFamily="34" charset="-122"/>
                <a:cs typeface="IBM Plex Sans" pitchFamily="34" charset="-120"/>
              </a:rPr>
              <a:t> · reorder_features · 8 features keyed by store_id × product_id</a:t>
            </a:r>
            <a:endParaRPr lang="en-US" sz="1500" dirty="0"/>
          </a:p>
        </p:txBody>
      </p:sp>
      <p:sp>
        <p:nvSpPr>
          <p:cNvPr id="6" name="Shape 4"/>
          <p:cNvSpPr/>
          <p:nvPr/>
        </p:nvSpPr>
        <p:spPr>
          <a:xfrm>
            <a:off x="819150" y="2660551"/>
            <a:ext cx="4615160" cy="2034480"/>
          </a:xfrm>
          <a:prstGeom prst="roundRect">
            <a:avLst>
              <a:gd name="adj" fmla="val 4682"/>
            </a:avLst>
          </a:prstGeom>
          <a:solidFill>
            <a:srgbClr val="FDFCF8"/>
          </a:solidFill>
          <a:ln w="12700">
            <a:solidFill>
              <a:srgbClr val="DCD6C8"/>
            </a:solidFill>
            <a:prstDash val="solid"/>
          </a:ln>
        </p:spPr>
        <p:txBody>
          <a:bodyPr/>
          <a:lstStyle/>
          <a:p>
            <a:endParaRPr lang="en-IN"/>
          </a:p>
        </p:txBody>
      </p:sp>
      <p:sp>
        <p:nvSpPr>
          <p:cNvPr id="7" name="Text 5"/>
          <p:cNvSpPr/>
          <p:nvPr/>
        </p:nvSpPr>
        <p:spPr>
          <a:xfrm>
            <a:off x="1054100" y="2895501"/>
            <a:ext cx="426961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32E"/>
                </a:solidFill>
                <a:latin typeface="IBM Plex Sans" pitchFamily="34" charset="0"/>
                <a:ea typeface="IBM Plex Sans" pitchFamily="34" charset="-122"/>
                <a:cs typeface="IBM Plex Sans" pitchFamily="34" charset="-120"/>
              </a:rPr>
              <a:t>Offline</a:t>
            </a:r>
            <a:endParaRPr lang="en-US" sz="2000" dirty="0"/>
          </a:p>
        </p:txBody>
      </p:sp>
      <p:sp>
        <p:nvSpPr>
          <p:cNvPr id="8" name="Text 6"/>
          <p:cNvSpPr/>
          <p:nvPr/>
        </p:nvSpPr>
        <p:spPr>
          <a:xfrm>
            <a:off x="1054100" y="3314601"/>
            <a:ext cx="426961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E6F6D"/>
                </a:solidFill>
                <a:latin typeface="JetBrains Mono" pitchFamily="34" charset="0"/>
                <a:ea typeface="JetBrains Mono" pitchFamily="34" charset="-122"/>
                <a:cs typeface="JetBrains Mono" pitchFamily="34" charset="-120"/>
              </a:rPr>
              <a:t>get_historical_features()</a:t>
            </a:r>
            <a:endParaRPr lang="en-US" sz="1300" dirty="0"/>
          </a:p>
        </p:txBody>
      </p:sp>
      <p:sp>
        <p:nvSpPr>
          <p:cNvPr id="9" name="Text 7"/>
          <p:cNvSpPr/>
          <p:nvPr/>
        </p:nvSpPr>
        <p:spPr>
          <a:xfrm>
            <a:off x="1054100" y="3659981"/>
            <a:ext cx="4269618" cy="825500"/>
          </a:xfrm>
          <a:prstGeom prst="rect">
            <a:avLst/>
          </a:prstGeom>
          <a:noFill/>
          <a:ln/>
        </p:spPr>
        <p:txBody>
          <a:bodyPr wrap="square" lIns="0" tIns="0" rIns="0" bIns="0" rtlCol="0" anchor="t">
            <a:normAutofit/>
          </a:bodyPr>
          <a:lstStyle/>
          <a:p>
            <a:pPr marL="213360" indent="-175768" algn="l">
              <a:lnSpc>
                <a:spcPts val="2100"/>
              </a:lnSpc>
              <a:buSzPct val="100000"/>
              <a:buChar char="•"/>
            </a:pPr>
            <a:r>
              <a:rPr lang="en-US" sz="1400" dirty="0">
                <a:solidFill>
                  <a:srgbClr val="4E5B63"/>
                </a:solidFill>
                <a:latin typeface="IBM Plex Sans" pitchFamily="34" charset="0"/>
                <a:ea typeface="IBM Plex Sans" pitchFamily="34" charset="-122"/>
                <a:cs typeface="IBM Plex Sans" pitchFamily="34" charset="-120"/>
              </a:rPr>
              <a:t>Point-in-time join for training</a:t>
            </a:r>
            <a:endParaRPr lang="en-US" sz="1400" dirty="0"/>
          </a:p>
          <a:p>
            <a:pPr marL="213360" indent="-175768" algn="l">
              <a:lnSpc>
                <a:spcPts val="2100"/>
              </a:lnSpc>
              <a:buSzPct val="100000"/>
              <a:buChar char="•"/>
            </a:pPr>
            <a:r>
              <a:rPr lang="en-US" sz="1400" dirty="0">
                <a:solidFill>
                  <a:srgbClr val="4E5B63"/>
                </a:solidFill>
                <a:latin typeface="IBM Plex Sans" pitchFamily="34" charset="0"/>
                <a:ea typeface="IBM Plex Sans" pitchFamily="34" charset="-122"/>
                <a:cs typeface="IBM Plex Sans" pitchFamily="34" charset="-120"/>
              </a:rPr>
              <a:t>Reads the Parquet feature table</a:t>
            </a:r>
            <a:endParaRPr lang="en-US" sz="1400" dirty="0"/>
          </a:p>
          <a:p>
            <a:pPr marL="213360" indent="-175768" algn="l">
              <a:lnSpc>
                <a:spcPts val="2100"/>
              </a:lnSpc>
              <a:buSzPct val="100000"/>
              <a:buChar char="•"/>
            </a:pPr>
            <a:r>
              <a:rPr lang="en-US" sz="1400" dirty="0">
                <a:solidFill>
                  <a:srgbClr val="4E5B63"/>
                </a:solidFill>
                <a:latin typeface="IBM Plex Sans" pitchFamily="34" charset="0"/>
                <a:ea typeface="IBM Plex Sans" pitchFamily="34" charset="-122"/>
                <a:cs typeface="IBM Plex Sans" pitchFamily="34" charset="-120"/>
              </a:rPr>
              <a:t>Used by Lab 2 to build the training set</a:t>
            </a:r>
            <a:endParaRPr lang="en-US" sz="1400" dirty="0"/>
          </a:p>
        </p:txBody>
      </p:sp>
      <p:sp>
        <p:nvSpPr>
          <p:cNvPr id="10" name="Text 8"/>
          <p:cNvSpPr/>
          <p:nvPr/>
        </p:nvSpPr>
        <p:spPr>
          <a:xfrm>
            <a:off x="5593060" y="3431381"/>
            <a:ext cx="1056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materialize</a:t>
            </a:r>
            <a:endParaRPr lang="en-US" sz="1200" dirty="0"/>
          </a:p>
        </p:txBody>
      </p:sp>
      <p:pic>
        <p:nvPicPr>
          <p:cNvPr id="11" name="Image 0" descr="arrow-right"/>
          <p:cNvPicPr>
            <a:picLocks noChangeAspect="1"/>
          </p:cNvPicPr>
          <p:nvPr/>
        </p:nvPicPr>
        <p:blipFill>
          <a:blip r:embed="rId3"/>
          <a:srcRect/>
          <a:stretch/>
        </p:blipFill>
        <p:spPr>
          <a:xfrm>
            <a:off x="5867400" y="3695502"/>
            <a:ext cx="457200" cy="228600"/>
          </a:xfrm>
          <a:prstGeom prst="rect">
            <a:avLst/>
          </a:prstGeom>
        </p:spPr>
      </p:pic>
      <p:sp>
        <p:nvSpPr>
          <p:cNvPr id="12" name="Shape 9"/>
          <p:cNvSpPr/>
          <p:nvPr/>
        </p:nvSpPr>
        <p:spPr>
          <a:xfrm>
            <a:off x="6757690" y="2660551"/>
            <a:ext cx="4615160" cy="2034480"/>
          </a:xfrm>
          <a:prstGeom prst="roundRect">
            <a:avLst>
              <a:gd name="adj" fmla="val 4682"/>
            </a:avLst>
          </a:prstGeom>
          <a:solidFill>
            <a:srgbClr val="FDFCF8"/>
          </a:solidFill>
          <a:ln w="12700">
            <a:solidFill>
              <a:srgbClr val="DCD6C8"/>
            </a:solidFill>
            <a:prstDash val="solid"/>
          </a:ln>
        </p:spPr>
        <p:txBody>
          <a:bodyPr/>
          <a:lstStyle/>
          <a:p>
            <a:endParaRPr lang="en-IN"/>
          </a:p>
        </p:txBody>
      </p:sp>
      <p:sp>
        <p:nvSpPr>
          <p:cNvPr id="13" name="Text 10"/>
          <p:cNvSpPr/>
          <p:nvPr/>
        </p:nvSpPr>
        <p:spPr>
          <a:xfrm>
            <a:off x="6992640" y="2895501"/>
            <a:ext cx="426961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32E"/>
                </a:solidFill>
                <a:latin typeface="IBM Plex Sans" pitchFamily="34" charset="0"/>
                <a:ea typeface="IBM Plex Sans" pitchFamily="34" charset="-122"/>
                <a:cs typeface="IBM Plex Sans" pitchFamily="34" charset="-120"/>
              </a:rPr>
              <a:t>Online</a:t>
            </a:r>
            <a:endParaRPr lang="en-US" sz="2000" dirty="0"/>
          </a:p>
        </p:txBody>
      </p:sp>
      <p:sp>
        <p:nvSpPr>
          <p:cNvPr id="14" name="Text 11"/>
          <p:cNvSpPr/>
          <p:nvPr/>
        </p:nvSpPr>
        <p:spPr>
          <a:xfrm>
            <a:off x="6992640" y="3314601"/>
            <a:ext cx="426961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E6F6D"/>
                </a:solidFill>
                <a:latin typeface="JetBrains Mono" pitchFamily="34" charset="0"/>
                <a:ea typeface="JetBrains Mono" pitchFamily="34" charset="-122"/>
                <a:cs typeface="JetBrains Mono" pitchFamily="34" charset="-120"/>
              </a:rPr>
              <a:t>get_online_features()</a:t>
            </a:r>
            <a:endParaRPr lang="en-US" sz="1300" dirty="0"/>
          </a:p>
        </p:txBody>
      </p:sp>
      <p:sp>
        <p:nvSpPr>
          <p:cNvPr id="15" name="Text 12"/>
          <p:cNvSpPr/>
          <p:nvPr/>
        </p:nvSpPr>
        <p:spPr>
          <a:xfrm>
            <a:off x="6992640" y="3659981"/>
            <a:ext cx="4269618" cy="825500"/>
          </a:xfrm>
          <a:prstGeom prst="rect">
            <a:avLst/>
          </a:prstGeom>
          <a:noFill/>
          <a:ln/>
        </p:spPr>
        <p:txBody>
          <a:bodyPr wrap="square" lIns="0" tIns="0" rIns="0" bIns="0" rtlCol="0" anchor="t">
            <a:normAutofit/>
          </a:bodyPr>
          <a:lstStyle/>
          <a:p>
            <a:pPr marL="213360" indent="-175768" algn="l">
              <a:lnSpc>
                <a:spcPts val="2100"/>
              </a:lnSpc>
              <a:buSzPct val="100000"/>
              <a:buChar char="•"/>
            </a:pPr>
            <a:r>
              <a:rPr lang="en-US" sz="1400" dirty="0">
                <a:solidFill>
                  <a:srgbClr val="4E5B63"/>
                </a:solidFill>
                <a:latin typeface="IBM Plex Sans" pitchFamily="34" charset="0"/>
                <a:ea typeface="IBM Plex Sans" pitchFamily="34" charset="-122"/>
                <a:cs typeface="IBM Plex Sans" pitchFamily="34" charset="-120"/>
              </a:rPr>
              <a:t>Millisecond lookup by entity key</a:t>
            </a:r>
            <a:endParaRPr lang="en-US" sz="1400" dirty="0"/>
          </a:p>
          <a:p>
            <a:pPr marL="213360" indent="-175768" algn="l">
              <a:lnSpc>
                <a:spcPts val="2100"/>
              </a:lnSpc>
              <a:buSzPct val="100000"/>
              <a:buChar char="•"/>
            </a:pPr>
            <a:r>
              <a:rPr lang="en-US" sz="1400" dirty="0">
                <a:solidFill>
                  <a:srgbClr val="4E5B63"/>
                </a:solidFill>
                <a:latin typeface="IBM Plex Sans" pitchFamily="34" charset="0"/>
                <a:ea typeface="IBM Plex Sans" pitchFamily="34" charset="-122"/>
                <a:cs typeface="IBM Plex Sans" pitchFamily="34" charset="-120"/>
              </a:rPr>
              <a:t>SQLite online store</a:t>
            </a:r>
            <a:endParaRPr lang="en-US" sz="1400" dirty="0"/>
          </a:p>
          <a:p>
            <a:pPr marL="213360" indent="-175768" algn="l">
              <a:lnSpc>
                <a:spcPts val="2100"/>
              </a:lnSpc>
              <a:buSzPct val="100000"/>
              <a:buChar char="•"/>
            </a:pPr>
            <a:r>
              <a:rPr lang="en-US" sz="1400" dirty="0">
                <a:solidFill>
                  <a:srgbClr val="4E5B63"/>
                </a:solidFill>
                <a:latin typeface="IBM Plex Sans" pitchFamily="34" charset="0"/>
                <a:ea typeface="IBM Plex Sans" pitchFamily="34" charset="-122"/>
                <a:cs typeface="IBM Plex Sans" pitchFamily="34" charset="-120"/>
              </a:rPr>
              <a:t>Used by Lab 3's API to score a line</a:t>
            </a:r>
            <a:endParaRPr lang="en-US" sz="1400" dirty="0"/>
          </a:p>
        </p:txBody>
      </p:sp>
      <p:sp>
        <p:nvSpPr>
          <p:cNvPr id="16"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TRAINING–SERVING SKEW</a:t>
            </a:r>
            <a:endParaRPr lang="en-US" sz="1200" dirty="0"/>
          </a:p>
        </p:txBody>
      </p:sp>
      <p:sp>
        <p:nvSpPr>
          <p:cNvPr id="3" name="Text 1"/>
          <p:cNvSpPr/>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Skew: the model trains on one feature and is served another</a:t>
            </a:r>
            <a:endParaRPr lang="en-US" sz="3200" dirty="0"/>
          </a:p>
        </p:txBody>
      </p:sp>
      <p:sp>
        <p:nvSpPr>
          <p:cNvPr id="4" name="Shape 2"/>
          <p:cNvSpPr/>
          <p:nvPr/>
        </p:nvSpPr>
        <p:spPr>
          <a:xfrm>
            <a:off x="819150" y="2282031"/>
            <a:ext cx="5168900" cy="1933972"/>
          </a:xfrm>
          <a:prstGeom prst="roundRect">
            <a:avLst>
              <a:gd name="adj" fmla="val 4925"/>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54100" y="2516981"/>
            <a:ext cx="4839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Without one</a:t>
            </a:r>
            <a:endParaRPr lang="en-US" sz="1200" dirty="0"/>
          </a:p>
        </p:txBody>
      </p:sp>
      <p:sp>
        <p:nvSpPr>
          <p:cNvPr id="6" name="Text 4"/>
          <p:cNvSpPr/>
          <p:nvPr/>
        </p:nvSpPr>
        <p:spPr>
          <a:xfrm>
            <a:off x="1054100" y="2831902"/>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Two implementations drift apart</a:t>
            </a:r>
            <a:endParaRPr lang="en-US" sz="1800" dirty="0"/>
          </a:p>
        </p:txBody>
      </p:sp>
      <p:sp>
        <p:nvSpPr>
          <p:cNvPr id="7" name="Text 5"/>
          <p:cNvSpPr/>
          <p:nvPr/>
        </p:nvSpPr>
        <p:spPr>
          <a:xfrm>
            <a:off x="1054100" y="3207742"/>
            <a:ext cx="4839970"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E5B63"/>
                </a:solidFill>
                <a:latin typeface="IBM Plex Sans" pitchFamily="34" charset="0"/>
                <a:ea typeface="IBM Plex Sans" pitchFamily="34" charset="-122"/>
                <a:cs typeface="IBM Plex Sans" pitchFamily="34" charset="-120"/>
              </a:rPr>
              <a:t>The notebook computes units_7d in pandas for training; the API recomputes it in service code. A window edge or null rule differs, and accuracy falls with no error raised.</a:t>
            </a:r>
            <a:endParaRPr lang="en-US" sz="1400" dirty="0"/>
          </a:p>
        </p:txBody>
      </p:sp>
      <p:sp>
        <p:nvSpPr>
          <p:cNvPr id="8" name="Shape 6"/>
          <p:cNvSpPr/>
          <p:nvPr/>
        </p:nvSpPr>
        <p:spPr>
          <a:xfrm>
            <a:off x="6203950" y="2282031"/>
            <a:ext cx="5168900" cy="1933972"/>
          </a:xfrm>
          <a:prstGeom prst="roundRect">
            <a:avLst>
              <a:gd name="adj" fmla="val 4925"/>
            </a:avLst>
          </a:prstGeom>
          <a:solidFill>
            <a:srgbClr val="E2EEEC"/>
          </a:solidFill>
          <a:ln w="12700">
            <a:solidFill>
              <a:srgbClr val="0E6F6D"/>
            </a:solidFill>
            <a:prstDash val="solid"/>
          </a:ln>
        </p:spPr>
        <p:txBody>
          <a:bodyPr/>
          <a:lstStyle/>
          <a:p>
            <a:endParaRPr lang="en-IN"/>
          </a:p>
        </p:txBody>
      </p:sp>
      <p:sp>
        <p:nvSpPr>
          <p:cNvPr id="9" name="Text 7"/>
          <p:cNvSpPr/>
          <p:nvPr/>
        </p:nvSpPr>
        <p:spPr>
          <a:xfrm>
            <a:off x="6438900" y="2516981"/>
            <a:ext cx="4839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With a feature store</a:t>
            </a:r>
            <a:endParaRPr lang="en-US" sz="1200" dirty="0"/>
          </a:p>
        </p:txBody>
      </p:sp>
      <p:sp>
        <p:nvSpPr>
          <p:cNvPr id="10" name="Text 8"/>
          <p:cNvSpPr/>
          <p:nvPr/>
        </p:nvSpPr>
        <p:spPr>
          <a:xfrm>
            <a:off x="6438900" y="2831902"/>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32E"/>
                </a:solidFill>
                <a:latin typeface="IBM Plex Sans" pitchFamily="34" charset="0"/>
                <a:ea typeface="IBM Plex Sans" pitchFamily="34" charset="-122"/>
                <a:cs typeface="IBM Plex Sans" pitchFamily="34" charset="-120"/>
              </a:rPr>
              <a:t>One definition, read twice</a:t>
            </a:r>
            <a:endParaRPr lang="en-US" sz="1800" dirty="0"/>
          </a:p>
        </p:txBody>
      </p:sp>
      <p:sp>
        <p:nvSpPr>
          <p:cNvPr id="11" name="Text 9"/>
          <p:cNvSpPr/>
          <p:nvPr/>
        </p:nvSpPr>
        <p:spPr>
          <a:xfrm>
            <a:off x="6438900" y="3207742"/>
            <a:ext cx="4839970"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E5B63"/>
                </a:solidFill>
                <a:latin typeface="IBM Plex Sans" pitchFamily="34" charset="0"/>
                <a:ea typeface="IBM Plex Sans" pitchFamily="34" charset="-122"/>
                <a:cs typeface="IBM Plex Sans" pitchFamily="34" charset="-120"/>
              </a:rPr>
              <a:t>Training and serving both read the same FeatureView. The API receives only store_id and product_id — never a feature value — so skew has nowhere to enter.</a:t>
            </a:r>
            <a:endParaRPr lang="en-US" sz="1400" dirty="0"/>
          </a:p>
        </p:txBody>
      </p:sp>
      <p:sp>
        <p:nvSpPr>
          <p:cNvPr id="12" name="Text 10"/>
          <p:cNvSpPr/>
          <p:nvPr/>
        </p:nvSpPr>
        <p:spPr>
          <a:xfrm>
            <a:off x="812800" y="4476353"/>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This is learning outcome LO3, and the reason Lab 3's API scores from an entity key.</a:t>
            </a:r>
            <a:endParaRPr lang="en-US" sz="15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REST OF DAY 1</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What comes next today</a:t>
            </a:r>
            <a:endParaRPr lang="en-US" sz="3200" dirty="0"/>
          </a:p>
        </p:txBody>
      </p:sp>
      <p:sp>
        <p:nvSpPr>
          <p:cNvPr id="4" name="Shape 2"/>
          <p:cNvSpPr/>
          <p:nvPr/>
        </p:nvSpPr>
        <p:spPr>
          <a:xfrm>
            <a:off x="812800" y="2000151"/>
            <a:ext cx="2451100" cy="0"/>
          </a:xfrm>
          <a:prstGeom prst="line">
            <a:avLst/>
          </a:prstGeom>
          <a:noFill/>
          <a:ln w="38100">
            <a:solidFill>
              <a:srgbClr val="0E6F6D"/>
            </a:solidFill>
            <a:prstDash val="solid"/>
          </a:ln>
        </p:spPr>
        <p:txBody>
          <a:bodyPr/>
          <a:lstStyle/>
          <a:p>
            <a:endParaRPr lang="en-IN"/>
          </a:p>
        </p:txBody>
      </p:sp>
      <p:sp>
        <p:nvSpPr>
          <p:cNvPr id="5" name="Text 3"/>
          <p:cNvSpPr/>
          <p:nvPr/>
        </p:nvSpPr>
        <p:spPr>
          <a:xfrm>
            <a:off x="812800" y="2171601"/>
            <a:ext cx="252463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E6F6D"/>
                </a:solidFill>
                <a:latin typeface="JetBrains Mono" pitchFamily="34" charset="0"/>
                <a:ea typeface="JetBrains Mono" pitchFamily="34" charset="-122"/>
                <a:cs typeface="JetBrains Mono" pitchFamily="34" charset="-120"/>
              </a:rPr>
              <a:t>09:30</a:t>
            </a:r>
            <a:endParaRPr lang="en-US" sz="2000" dirty="0"/>
          </a:p>
        </p:txBody>
      </p:sp>
      <p:sp>
        <p:nvSpPr>
          <p:cNvPr id="6" name="Text 4"/>
          <p:cNvSpPr/>
          <p:nvPr/>
        </p:nvSpPr>
        <p:spPr>
          <a:xfrm>
            <a:off x="812800" y="2603401"/>
            <a:ext cx="252463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M1 — foundations</a:t>
            </a:r>
            <a:endParaRPr lang="en-US" sz="1600" dirty="0"/>
          </a:p>
        </p:txBody>
      </p:sp>
      <p:sp>
        <p:nvSpPr>
          <p:cNvPr id="7" name="Text 5"/>
          <p:cNvSpPr/>
          <p:nvPr/>
        </p:nvSpPr>
        <p:spPr>
          <a:xfrm>
            <a:off x="812800" y="2923381"/>
            <a:ext cx="252463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Now</a:t>
            </a:r>
            <a:endParaRPr lang="en-US" sz="1300" dirty="0"/>
          </a:p>
        </p:txBody>
      </p:sp>
      <p:sp>
        <p:nvSpPr>
          <p:cNvPr id="8" name="Shape 6"/>
          <p:cNvSpPr/>
          <p:nvPr/>
        </p:nvSpPr>
        <p:spPr>
          <a:xfrm>
            <a:off x="3517900" y="2000151"/>
            <a:ext cx="2451100" cy="0"/>
          </a:xfrm>
          <a:prstGeom prst="line">
            <a:avLst/>
          </a:prstGeom>
          <a:noFill/>
          <a:ln w="38100">
            <a:solidFill>
              <a:srgbClr val="DCD6C8"/>
            </a:solidFill>
            <a:prstDash val="solid"/>
          </a:ln>
        </p:spPr>
        <p:txBody>
          <a:bodyPr/>
          <a:lstStyle/>
          <a:p>
            <a:endParaRPr lang="en-IN"/>
          </a:p>
        </p:txBody>
      </p:sp>
      <p:sp>
        <p:nvSpPr>
          <p:cNvPr id="9" name="Text 7"/>
          <p:cNvSpPr/>
          <p:nvPr/>
        </p:nvSpPr>
        <p:spPr>
          <a:xfrm>
            <a:off x="3517900" y="2171601"/>
            <a:ext cx="252463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6232E"/>
                </a:solidFill>
                <a:latin typeface="JetBrains Mono" pitchFamily="34" charset="0"/>
                <a:ea typeface="JetBrains Mono" pitchFamily="34" charset="-122"/>
                <a:cs typeface="JetBrains Mono" pitchFamily="34" charset="-120"/>
              </a:rPr>
              <a:t>11:00</a:t>
            </a:r>
            <a:endParaRPr lang="en-US" sz="2000" dirty="0"/>
          </a:p>
        </p:txBody>
      </p:sp>
      <p:sp>
        <p:nvSpPr>
          <p:cNvPr id="10" name="Text 8"/>
          <p:cNvSpPr/>
          <p:nvPr/>
        </p:nvSpPr>
        <p:spPr>
          <a:xfrm>
            <a:off x="3517900" y="2603401"/>
            <a:ext cx="2524633"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M2 — data analysis anchor</a:t>
            </a:r>
            <a:endParaRPr lang="en-US" sz="1600" dirty="0"/>
          </a:p>
        </p:txBody>
      </p:sp>
      <p:sp>
        <p:nvSpPr>
          <p:cNvPr id="11" name="Text 9"/>
          <p:cNvSpPr/>
          <p:nvPr/>
        </p:nvSpPr>
        <p:spPr>
          <a:xfrm>
            <a:off x="3517900" y="3167162"/>
            <a:ext cx="252463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Pandas EDA, profiling, cohorts</a:t>
            </a:r>
            <a:endParaRPr lang="en-US" sz="1300" dirty="0"/>
          </a:p>
        </p:txBody>
      </p:sp>
      <p:sp>
        <p:nvSpPr>
          <p:cNvPr id="12" name="Shape 10"/>
          <p:cNvSpPr/>
          <p:nvPr/>
        </p:nvSpPr>
        <p:spPr>
          <a:xfrm>
            <a:off x="6223000" y="2000151"/>
            <a:ext cx="2451100" cy="0"/>
          </a:xfrm>
          <a:prstGeom prst="line">
            <a:avLst/>
          </a:prstGeom>
          <a:noFill/>
          <a:ln w="38100">
            <a:solidFill>
              <a:srgbClr val="DCD6C8"/>
            </a:solidFill>
            <a:prstDash val="solid"/>
          </a:ln>
        </p:spPr>
        <p:txBody>
          <a:bodyPr/>
          <a:lstStyle/>
          <a:p>
            <a:endParaRPr lang="en-IN"/>
          </a:p>
        </p:txBody>
      </p:sp>
      <p:sp>
        <p:nvSpPr>
          <p:cNvPr id="13" name="Text 11"/>
          <p:cNvSpPr/>
          <p:nvPr/>
        </p:nvSpPr>
        <p:spPr>
          <a:xfrm>
            <a:off x="6223000" y="2171601"/>
            <a:ext cx="252463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6232E"/>
                </a:solidFill>
                <a:latin typeface="JetBrains Mono" pitchFamily="34" charset="0"/>
                <a:ea typeface="JetBrains Mono" pitchFamily="34" charset="-122"/>
                <a:cs typeface="JetBrains Mono" pitchFamily="34" charset="-120"/>
              </a:rPr>
              <a:t>13:15</a:t>
            </a:r>
            <a:endParaRPr lang="en-US" sz="2000" dirty="0"/>
          </a:p>
        </p:txBody>
      </p:sp>
      <p:sp>
        <p:nvSpPr>
          <p:cNvPr id="14" name="Text 12"/>
          <p:cNvSpPr/>
          <p:nvPr/>
        </p:nvSpPr>
        <p:spPr>
          <a:xfrm>
            <a:off x="6223000" y="2603401"/>
            <a:ext cx="252463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Lab 1 — DataOps pipeline</a:t>
            </a:r>
            <a:endParaRPr lang="en-US" sz="1600" dirty="0"/>
          </a:p>
        </p:txBody>
      </p:sp>
      <p:sp>
        <p:nvSpPr>
          <p:cNvPr id="15" name="Text 13"/>
          <p:cNvSpPr/>
          <p:nvPr/>
        </p:nvSpPr>
        <p:spPr>
          <a:xfrm>
            <a:off x="6223000" y="2923381"/>
            <a:ext cx="252463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Prefect · DVC · Great Expectations · Feast</a:t>
            </a:r>
            <a:endParaRPr lang="en-US" sz="1300" dirty="0"/>
          </a:p>
        </p:txBody>
      </p:sp>
      <p:sp>
        <p:nvSpPr>
          <p:cNvPr id="16" name="Shape 14"/>
          <p:cNvSpPr/>
          <p:nvPr/>
        </p:nvSpPr>
        <p:spPr>
          <a:xfrm>
            <a:off x="8928100" y="2000151"/>
            <a:ext cx="2451100" cy="0"/>
          </a:xfrm>
          <a:prstGeom prst="line">
            <a:avLst/>
          </a:prstGeom>
          <a:noFill/>
          <a:ln w="38100">
            <a:solidFill>
              <a:srgbClr val="DCD6C8"/>
            </a:solidFill>
            <a:prstDash val="solid"/>
          </a:ln>
        </p:spPr>
        <p:txBody>
          <a:bodyPr/>
          <a:lstStyle/>
          <a:p>
            <a:endParaRPr lang="en-IN"/>
          </a:p>
        </p:txBody>
      </p:sp>
      <p:sp>
        <p:nvSpPr>
          <p:cNvPr id="17" name="Text 15"/>
          <p:cNvSpPr/>
          <p:nvPr/>
        </p:nvSpPr>
        <p:spPr>
          <a:xfrm>
            <a:off x="8928100" y="2171601"/>
            <a:ext cx="252463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6232E"/>
                </a:solidFill>
                <a:latin typeface="JetBrains Mono" pitchFamily="34" charset="0"/>
                <a:ea typeface="JetBrains Mono" pitchFamily="34" charset="-122"/>
                <a:cs typeface="JetBrains Mono" pitchFamily="34" charset="-120"/>
              </a:rPr>
              <a:t>15:00</a:t>
            </a:r>
            <a:endParaRPr lang="en-US" sz="2000" dirty="0"/>
          </a:p>
        </p:txBody>
      </p:sp>
      <p:sp>
        <p:nvSpPr>
          <p:cNvPr id="18" name="Text 16"/>
          <p:cNvSpPr/>
          <p:nvPr/>
        </p:nvSpPr>
        <p:spPr>
          <a:xfrm>
            <a:off x="8928100" y="2603401"/>
            <a:ext cx="252463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M3 + Lab 2 — ML pipeline</a:t>
            </a:r>
            <a:endParaRPr lang="en-US" sz="1600" dirty="0"/>
          </a:p>
        </p:txBody>
      </p:sp>
      <p:sp>
        <p:nvSpPr>
          <p:cNvPr id="19" name="Text 17"/>
          <p:cNvSpPr/>
          <p:nvPr/>
        </p:nvSpPr>
        <p:spPr>
          <a:xfrm>
            <a:off x="8928100" y="2923381"/>
            <a:ext cx="252463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Feature stores · MLflow · registry</a:t>
            </a:r>
            <a:endParaRPr lang="en-US" sz="1300" dirty="0"/>
          </a:p>
        </p:txBody>
      </p:sp>
      <p:sp>
        <p:nvSpPr>
          <p:cNvPr id="20" name="Shape 18"/>
          <p:cNvSpPr/>
          <p:nvPr/>
        </p:nvSpPr>
        <p:spPr>
          <a:xfrm>
            <a:off x="812800" y="3804642"/>
            <a:ext cx="10566400" cy="908050"/>
          </a:xfrm>
          <a:prstGeom prst="roundRect">
            <a:avLst>
              <a:gd name="adj" fmla="val 11189"/>
            </a:avLst>
          </a:prstGeom>
          <a:solidFill>
            <a:srgbClr val="E2EEEC"/>
          </a:solidFill>
          <a:ln/>
        </p:spPr>
        <p:txBody>
          <a:bodyPr/>
          <a:lstStyle/>
          <a:p>
            <a:endParaRPr lang="en-IN"/>
          </a:p>
        </p:txBody>
      </p:sp>
      <p:sp>
        <p:nvSpPr>
          <p:cNvPr id="21" name="Text 19"/>
          <p:cNvSpPr/>
          <p:nvPr/>
        </p:nvSpPr>
        <p:spPr>
          <a:xfrm>
            <a:off x="1041400" y="3982442"/>
            <a:ext cx="10412476"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32E"/>
                </a:solidFill>
                <a:latin typeface="IBM Plex Sans" pitchFamily="34" charset="0"/>
                <a:ea typeface="IBM Plex Sans" pitchFamily="34" charset="-122"/>
                <a:cs typeface="IBM Plex Sans" pitchFamily="34" charset="-120"/>
              </a:rPr>
              <a:t>Before 11:00:</a:t>
            </a:r>
            <a:r>
              <a:rPr lang="en-US" sz="1500" dirty="0">
                <a:solidFill>
                  <a:srgbClr val="16232E"/>
                </a:solidFill>
                <a:latin typeface="IBM Plex Sans" pitchFamily="34" charset="0"/>
                <a:ea typeface="IBM Plex Sans" pitchFamily="34" charset="-122"/>
                <a:cs typeface="IBM Plex Sans" pitchFamily="34" charset="-120"/>
              </a:rPr>
              <a:t> run </a:t>
            </a:r>
            <a:r>
              <a:rPr lang="en-US" sz="1500" dirty="0">
                <a:solidFill>
                  <a:srgbClr val="0E6F6D"/>
                </a:solidFill>
                <a:latin typeface="IBM Plex Sans" pitchFamily="34" charset="0"/>
                <a:ea typeface="IBM Plex Sans" pitchFamily="34" charset="-122"/>
                <a:cs typeface="IBM Plex Sans" pitchFamily="34" charset="-120"/>
              </a:rPr>
              <a:t>python check_setup.py</a:t>
            </a:r>
            <a:r>
              <a:rPr lang="en-US" sz="1500" dirty="0">
                <a:solidFill>
                  <a:srgbClr val="16232E"/>
                </a:solidFill>
                <a:latin typeface="IBM Plex Sans" pitchFamily="34" charset="0"/>
                <a:ea typeface="IBM Plex Sans" pitchFamily="34" charset="-122"/>
                <a:cs typeface="IBM Plex Sans" pitchFamily="34" charset="-120"/>
              </a:rPr>
              <a:t> in ~/freshmart. Every line should read OK; flag a facilitator at the break if not.</a:t>
            </a:r>
            <a:endParaRPr lang="en-US" sz="15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4">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217517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DISCUSSION · 5 MINUTES</a:t>
            </a:r>
            <a:endParaRPr lang="en-US" sz="1200" dirty="0"/>
          </a:p>
        </p:txBody>
      </p:sp>
      <p:sp>
        <p:nvSpPr>
          <p:cNvPr id="3" name="Text 1"/>
          <p:cNvSpPr/>
          <p:nvPr/>
        </p:nvSpPr>
        <p:spPr>
          <a:xfrm>
            <a:off x="812800" y="2693293"/>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dirty="0">
                <a:solidFill>
                  <a:srgbClr val="F6F4EE"/>
                </a:solidFill>
                <a:latin typeface="IBM Plex Sans" pitchFamily="34" charset="0"/>
                <a:ea typeface="IBM Plex Sans" pitchFamily="34" charset="-122"/>
                <a:cs typeface="IBM Plex Sans" pitchFamily="34" charset="-120"/>
              </a:rPr>
              <a:t>Where on the maturity ladder do your students' lab pipelines sit today?</a:t>
            </a:r>
            <a:endParaRPr lang="en-US" sz="4000" dirty="0"/>
          </a:p>
        </p:txBody>
      </p:sp>
      <p:sp>
        <p:nvSpPr>
          <p:cNvPr id="4" name="Text 2"/>
          <p:cNvSpPr/>
          <p:nvPr/>
        </p:nvSpPr>
        <p:spPr>
          <a:xfrm>
            <a:off x="812800" y="4166493"/>
            <a:ext cx="9156700" cy="338435"/>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B8C5CB"/>
                </a:solidFill>
                <a:latin typeface="IBM Plex Sans" pitchFamily="34" charset="0"/>
                <a:ea typeface="IBM Plex Sans" pitchFamily="34" charset="-122"/>
                <a:cs typeface="IBM Plex Sans" pitchFamily="34" charset="-120"/>
              </a:rPr>
              <a:t>And which one M1 idea would move them up a level first?</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1 · Session 1</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24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2922</Words>
  <Application>Microsoft Office PowerPoint</Application>
  <PresentationFormat>Widescreen</PresentationFormat>
  <Paragraphs>336</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IBM Plex Sans</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FDP Day 1 · Session 1 — Welcome &amp; M1: ML Systems, DataOps &amp; Orchestration Foundations</dc:title>
  <dc:subject>PptxGenJS Presentation</dc:subject>
  <dc:creator>PptxGenJS</dc:creator>
  <cp:lastModifiedBy>Pravin Yashwant Pawar .</cp:lastModifiedBy>
  <cp:revision>5</cp:revision>
  <dcterms:created xsi:type="dcterms:W3CDTF">2026-09-23T06:37:02Z</dcterms:created>
  <dcterms:modified xsi:type="dcterms:W3CDTF">2026-09-29T05:27:31Z</dcterms:modified>
</cp:coreProperties>
</file>
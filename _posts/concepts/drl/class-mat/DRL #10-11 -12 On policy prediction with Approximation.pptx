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3" r:id="rId2"/>
  </p:sldMasterIdLst>
  <p:notesMasterIdLst>
    <p:notesMasterId r:id="rId3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37" r:id="rId36"/>
    <p:sldId id="338" r:id="rId37"/>
  </p:sldIdLst>
  <p:sldSz cx="9144000" cy="5143500" type="screen16x9"/>
  <p:notesSz cx="6858000" cy="9144000"/>
  <p:embeddedFontLst>
    <p:embeddedFont>
      <p:font typeface="Comfortaa" panose="020B0604020202020204" charset="0"/>
      <p:regular r:id="rId39"/>
      <p:bold r:id="rId40"/>
    </p:embeddedFont>
    <p:embeddedFont>
      <p:font typeface="Georgia" panose="02040502050405020303" pitchFamily="18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3" roundtripDataSignature="AMtx7mgccdwYOlUctqssMiPl0eWBXV0k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4D0D89-C0D7-FFF8-DF8B-555FC5E3D4B7}" v="11" dt="2025-07-12T06:45:59.065"/>
    <p1510:client id="{974FC469-2E79-9E41-D410-C9A8D970CECC}" v="6" dt="2025-07-11T16:57:33.3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4.fntdata"/><Relationship Id="rId9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font" Target="fonts/font2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9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6.fntdata"/><Relationship Id="rId94" Type="http://schemas.openxmlformats.org/officeDocument/2006/relationships/presProps" Target="presProps.xml"/><Relationship Id="rId9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5.fntdata"/><Relationship Id="rId8" Type="http://schemas.openxmlformats.org/officeDocument/2006/relationships/slide" Target="slides/slide6.xml"/><Relationship Id="rId93" Type="http://customschemas.google.com/relationships/presentationmetadata" Target="metadata"/><Relationship Id="rId98" Type="http://schemas.microsoft.com/office/2016/11/relationships/changesInfo" Target="changesInfos/changesInfo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font" Target="fonts/font3.fntdata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​Eranki L N Kiran Kumar ." userId="S::erankikiran@wilp.bits-pilani.ac.in::0d9c0fd7-7da5-492e-a61c-b35254b417fa" providerId="AD" clId="Web-{5D4D0D89-C0D7-FFF8-DF8B-555FC5E3D4B7}"/>
    <pc:docChg chg="modSld">
      <pc:chgData name="​Eranki L N Kiran Kumar ." userId="S::erankikiran@wilp.bits-pilani.ac.in::0d9c0fd7-7da5-492e-a61c-b35254b417fa" providerId="AD" clId="Web-{5D4D0D89-C0D7-FFF8-DF8B-555FC5E3D4B7}" dt="2025-07-12T06:45:59.065" v="10" actId="14100"/>
      <pc:docMkLst>
        <pc:docMk/>
      </pc:docMkLst>
      <pc:sldChg chg="delSp modSp">
        <pc:chgData name="​Eranki L N Kiran Kumar ." userId="S::erankikiran@wilp.bits-pilani.ac.in::0d9c0fd7-7da5-492e-a61c-b35254b417fa" providerId="AD" clId="Web-{5D4D0D89-C0D7-FFF8-DF8B-555FC5E3D4B7}" dt="2025-07-12T06:26:57.326" v="4" actId="1076"/>
        <pc:sldMkLst>
          <pc:docMk/>
          <pc:sldMk cId="0" sldId="284"/>
        </pc:sldMkLst>
        <pc:spChg chg="mod">
          <ac:chgData name="​Eranki L N Kiran Kumar ." userId="S::erankikiran@wilp.bits-pilani.ac.in::0d9c0fd7-7da5-492e-a61c-b35254b417fa" providerId="AD" clId="Web-{5D4D0D89-C0D7-FFF8-DF8B-555FC5E3D4B7}" dt="2025-07-12T06:26:57.326" v="4" actId="1076"/>
          <ac:spMkLst>
            <pc:docMk/>
            <pc:sldMk cId="0" sldId="284"/>
            <ac:spMk id="674" creationId="{00000000-0000-0000-0000-000000000000}"/>
          </ac:spMkLst>
        </pc:spChg>
        <pc:spChg chg="del">
          <ac:chgData name="​Eranki L N Kiran Kumar ." userId="S::erankikiran@wilp.bits-pilani.ac.in::0d9c0fd7-7da5-492e-a61c-b35254b417fa" providerId="AD" clId="Web-{5D4D0D89-C0D7-FFF8-DF8B-555FC5E3D4B7}" dt="2025-07-12T06:26:28.529" v="1"/>
          <ac:spMkLst>
            <pc:docMk/>
            <pc:sldMk cId="0" sldId="284"/>
            <ac:spMk id="677" creationId="{00000000-0000-0000-0000-000000000000}"/>
          </ac:spMkLst>
        </pc:spChg>
        <pc:picChg chg="mod">
          <ac:chgData name="​Eranki L N Kiran Kumar ." userId="S::erankikiran@wilp.bits-pilani.ac.in::0d9c0fd7-7da5-492e-a61c-b35254b417fa" providerId="AD" clId="Web-{5D4D0D89-C0D7-FFF8-DF8B-555FC5E3D4B7}" dt="2025-07-12T06:26:25.919" v="0" actId="1076"/>
          <ac:picMkLst>
            <pc:docMk/>
            <pc:sldMk cId="0" sldId="284"/>
            <ac:picMk id="676" creationId="{00000000-0000-0000-0000-000000000000}"/>
          </ac:picMkLst>
        </pc:picChg>
      </pc:sldChg>
      <pc:sldChg chg="modSp">
        <pc:chgData name="​Eranki L N Kiran Kumar ." userId="S::erankikiran@wilp.bits-pilani.ac.in::0d9c0fd7-7da5-492e-a61c-b35254b417fa" providerId="AD" clId="Web-{5D4D0D89-C0D7-FFF8-DF8B-555FC5E3D4B7}" dt="2025-07-12T06:27:49.437" v="5" actId="1076"/>
        <pc:sldMkLst>
          <pc:docMk/>
          <pc:sldMk cId="0" sldId="291"/>
        </pc:sldMkLst>
        <pc:spChg chg="mod">
          <ac:chgData name="​Eranki L N Kiran Kumar ." userId="S::erankikiran@wilp.bits-pilani.ac.in::0d9c0fd7-7da5-492e-a61c-b35254b417fa" providerId="AD" clId="Web-{5D4D0D89-C0D7-FFF8-DF8B-555FC5E3D4B7}" dt="2025-07-12T06:27:49.437" v="5" actId="1076"/>
          <ac:spMkLst>
            <pc:docMk/>
            <pc:sldMk cId="0" sldId="291"/>
            <ac:spMk id="742" creationId="{00000000-0000-0000-0000-000000000000}"/>
          </ac:spMkLst>
        </pc:spChg>
      </pc:sldChg>
      <pc:sldChg chg="modSp">
        <pc:chgData name="​Eranki L N Kiran Kumar ." userId="S::erankikiran@wilp.bits-pilani.ac.in::0d9c0fd7-7da5-492e-a61c-b35254b417fa" providerId="AD" clId="Web-{5D4D0D89-C0D7-FFF8-DF8B-555FC5E3D4B7}" dt="2025-07-12T06:45:17.064" v="7" actId="14100"/>
        <pc:sldMkLst>
          <pc:docMk/>
          <pc:sldMk cId="0" sldId="292"/>
        </pc:sldMkLst>
        <pc:picChg chg="mod">
          <ac:chgData name="​Eranki L N Kiran Kumar ." userId="S::erankikiran@wilp.bits-pilani.ac.in::0d9c0fd7-7da5-492e-a61c-b35254b417fa" providerId="AD" clId="Web-{5D4D0D89-C0D7-FFF8-DF8B-555FC5E3D4B7}" dt="2025-07-12T06:45:17.064" v="7" actId="14100"/>
          <ac:picMkLst>
            <pc:docMk/>
            <pc:sldMk cId="0" sldId="292"/>
            <ac:picMk id="767" creationId="{00000000-0000-0000-0000-000000000000}"/>
          </ac:picMkLst>
        </pc:picChg>
      </pc:sldChg>
      <pc:sldChg chg="modSp">
        <pc:chgData name="​Eranki L N Kiran Kumar ." userId="S::erankikiran@wilp.bits-pilani.ac.in::0d9c0fd7-7da5-492e-a61c-b35254b417fa" providerId="AD" clId="Web-{5D4D0D89-C0D7-FFF8-DF8B-555FC5E3D4B7}" dt="2025-07-12T06:45:59.065" v="10" actId="14100"/>
        <pc:sldMkLst>
          <pc:docMk/>
          <pc:sldMk cId="0" sldId="293"/>
        </pc:sldMkLst>
        <pc:spChg chg="mod">
          <ac:chgData name="​Eranki L N Kiran Kumar ." userId="S::erankikiran@wilp.bits-pilani.ac.in::0d9c0fd7-7da5-492e-a61c-b35254b417fa" providerId="AD" clId="Web-{5D4D0D89-C0D7-FFF8-DF8B-555FC5E3D4B7}" dt="2025-07-12T06:45:59.065" v="10" actId="14100"/>
          <ac:spMkLst>
            <pc:docMk/>
            <pc:sldMk cId="0" sldId="293"/>
            <ac:spMk id="774" creationId="{00000000-0000-0000-0000-000000000000}"/>
          </ac:spMkLst>
        </pc:spChg>
      </pc:sldChg>
    </pc:docChg>
  </pc:docChgLst>
  <pc:docChgLst>
    <pc:chgData name="​Eranki L N Kiran Kumar ." userId="S::erankikiran@wilp.bits-pilani.ac.in::0d9c0fd7-7da5-492e-a61c-b35254b417fa" providerId="AD" clId="Web-{974FC469-2E79-9E41-D410-C9A8D970CECC}"/>
    <pc:docChg chg="modSld">
      <pc:chgData name="​Eranki L N Kiran Kumar ." userId="S::erankikiran@wilp.bits-pilani.ac.in::0d9c0fd7-7da5-492e-a61c-b35254b417fa" providerId="AD" clId="Web-{974FC469-2E79-9E41-D410-C9A8D970CECC}" dt="2025-07-11T16:57:33.334" v="5" actId="1076"/>
      <pc:docMkLst>
        <pc:docMk/>
      </pc:docMkLst>
      <pc:sldChg chg="delSp">
        <pc:chgData name="​Eranki L N Kiran Kumar ." userId="S::erankikiran@wilp.bits-pilani.ac.in::0d9c0fd7-7da5-492e-a61c-b35254b417fa" providerId="AD" clId="Web-{974FC469-2E79-9E41-D410-C9A8D970CECC}" dt="2025-07-11T16:27:39.147" v="0"/>
        <pc:sldMkLst>
          <pc:docMk/>
          <pc:sldMk cId="0" sldId="262"/>
        </pc:sldMkLst>
        <pc:spChg chg="del">
          <ac:chgData name="​Eranki L N Kiran Kumar ." userId="S::erankikiran@wilp.bits-pilani.ac.in::0d9c0fd7-7da5-492e-a61c-b35254b417fa" providerId="AD" clId="Web-{974FC469-2E79-9E41-D410-C9A8D970CECC}" dt="2025-07-11T16:27:39.147" v="0"/>
          <ac:spMkLst>
            <pc:docMk/>
            <pc:sldMk cId="0" sldId="262"/>
            <ac:spMk id="419" creationId="{00000000-0000-0000-0000-000000000000}"/>
          </ac:spMkLst>
        </pc:spChg>
      </pc:sldChg>
      <pc:sldChg chg="delSp modSp">
        <pc:chgData name="​Eranki L N Kiran Kumar ." userId="S::erankikiran@wilp.bits-pilani.ac.in::0d9c0fd7-7da5-492e-a61c-b35254b417fa" providerId="AD" clId="Web-{974FC469-2E79-9E41-D410-C9A8D970CECC}" dt="2025-07-11T16:51:46.388" v="2" actId="1076"/>
        <pc:sldMkLst>
          <pc:docMk/>
          <pc:sldMk cId="0" sldId="277"/>
        </pc:sldMkLst>
        <pc:spChg chg="del">
          <ac:chgData name="​Eranki L N Kiran Kumar ." userId="S::erankikiran@wilp.bits-pilani.ac.in::0d9c0fd7-7da5-492e-a61c-b35254b417fa" providerId="AD" clId="Web-{974FC469-2E79-9E41-D410-C9A8D970CECC}" dt="2025-07-11T16:51:40.763" v="1"/>
          <ac:spMkLst>
            <pc:docMk/>
            <pc:sldMk cId="0" sldId="277"/>
            <ac:spMk id="578" creationId="{00000000-0000-0000-0000-000000000000}"/>
          </ac:spMkLst>
        </pc:spChg>
        <pc:picChg chg="mod">
          <ac:chgData name="​Eranki L N Kiran Kumar ." userId="S::erankikiran@wilp.bits-pilani.ac.in::0d9c0fd7-7da5-492e-a61c-b35254b417fa" providerId="AD" clId="Web-{974FC469-2E79-9E41-D410-C9A8D970CECC}" dt="2025-07-11T16:51:46.388" v="2" actId="1076"/>
          <ac:picMkLst>
            <pc:docMk/>
            <pc:sldMk cId="0" sldId="277"/>
            <ac:picMk id="579" creationId="{00000000-0000-0000-0000-000000000000}"/>
          </ac:picMkLst>
        </pc:picChg>
      </pc:sldChg>
      <pc:sldChg chg="modSp">
        <pc:chgData name="​Eranki L N Kiran Kumar ." userId="S::erankikiran@wilp.bits-pilani.ac.in::0d9c0fd7-7da5-492e-a61c-b35254b417fa" providerId="AD" clId="Web-{974FC469-2E79-9E41-D410-C9A8D970CECC}" dt="2025-07-11T16:55:12.159" v="3" actId="1076"/>
        <pc:sldMkLst>
          <pc:docMk/>
          <pc:sldMk cId="0" sldId="283"/>
        </pc:sldMkLst>
        <pc:picChg chg="mod">
          <ac:chgData name="​Eranki L N Kiran Kumar ." userId="S::erankikiran@wilp.bits-pilani.ac.in::0d9c0fd7-7da5-492e-a61c-b35254b417fa" providerId="AD" clId="Web-{974FC469-2E79-9E41-D410-C9A8D970CECC}" dt="2025-07-11T16:55:12.159" v="3" actId="1076"/>
          <ac:picMkLst>
            <pc:docMk/>
            <pc:sldMk cId="0" sldId="283"/>
            <ac:picMk id="668" creationId="{00000000-0000-0000-0000-000000000000}"/>
          </ac:picMkLst>
        </pc:picChg>
      </pc:sldChg>
      <pc:sldChg chg="modSp">
        <pc:chgData name="​Eranki L N Kiran Kumar ." userId="S::erankikiran@wilp.bits-pilani.ac.in::0d9c0fd7-7da5-492e-a61c-b35254b417fa" providerId="AD" clId="Web-{974FC469-2E79-9E41-D410-C9A8D970CECC}" dt="2025-07-11T16:57:33.334" v="5" actId="1076"/>
        <pc:sldMkLst>
          <pc:docMk/>
          <pc:sldMk cId="0" sldId="284"/>
        </pc:sldMkLst>
        <pc:picChg chg="mod">
          <ac:chgData name="​Eranki L N Kiran Kumar ." userId="S::erankikiran@wilp.bits-pilani.ac.in::0d9c0fd7-7da5-492e-a61c-b35254b417fa" providerId="AD" clId="Web-{974FC469-2E79-9E41-D410-C9A8D970CECC}" dt="2025-07-11T16:57:33.334" v="5" actId="1076"/>
          <ac:picMkLst>
            <pc:docMk/>
            <pc:sldMk cId="0" sldId="284"/>
            <ac:picMk id="67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3" name="Google Shape;3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0" name="Google Shape;31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77b51e96ad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g277b51e96a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77b51e96ad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277b51e96ad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pacman.py -p PacmanQAgent -x 50 -n 60 -l mediumGrid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277b51e96ad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77b51e96ad_0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g277b51e96ad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77b51e96ad_0_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g277b51e96ad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77b51e96ad_0_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277b51e96ad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277b51e96ad_0_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g277b51e96ad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77b51e96ad_0_1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g277b51e96ad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77b51e96ad_0_1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g277b51e96ad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277b51e96ad_0_1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g277b51e96ad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277b51e96ad_0_1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g277b51e96ad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277b51e96ad_0_2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g277b51e96ad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277b51e96ad_0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g277b51e96ad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277b51e96ad_0_2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g277b51e96ad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77b51e96ad_0_2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g277b51e96ad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240f7f18ef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240f7f18ef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240f7f18ef0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240f7f18ef0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240f7f18ef0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240f7f18ef0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240f7f18ef0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240f7f18ef0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277b51e96ad_0_2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g277b51e96ad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277b51e96ad_0_3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g277b51e96ad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77b51e96ad_0_3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g277b51e96ad_0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77b51e96ad_0_3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g277b51e96ad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77b51e96ad_0_3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g277b51e96ad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40f7f18ef0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240f7f18ef0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240f7f18ef0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240f7f18ef0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240f7f18ef0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240f7f18ef0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240f7f18ef0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240f7f18ef0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240f7f18ef0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240f7f18ef0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240f7f18ef0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240f7f18ef0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277b51e96ad_0_3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g277b51e96ad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277b51e96ad_0_4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g277b51e96ad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3" name="Google Shape;116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0" name="Google Shape;1170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1" name="Google Shape;1171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mailto:vimalsp@wilp.bits-pilani.ac.in" TargetMode="External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hyperlink" Target="mailto:sangeetha.viswanathan@pilani.bits-pilani.ac.in" TargetMode="Externa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40" descr="BITS Pilani 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17084" y="197102"/>
            <a:ext cx="2504055" cy="64943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40"/>
          <p:cNvSpPr txBox="1"/>
          <p:nvPr/>
        </p:nvSpPr>
        <p:spPr>
          <a:xfrm>
            <a:off x="3276900" y="4287169"/>
            <a:ext cx="5414700" cy="6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en-US" sz="1200" b="1" i="0" u="none" strike="noStrike" cap="none" dirty="0">
              <a:solidFill>
                <a:srgbClr val="0070C0"/>
              </a:solidFill>
              <a:latin typeface="Calibri"/>
              <a:ea typeface="Arial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0070C0"/>
                </a:solidFill>
                <a:latin typeface="Calibri"/>
                <a:ea typeface="Arial"/>
                <a:cs typeface="Calibri"/>
                <a:sym typeface="Calibri"/>
              </a:rPr>
              <a:t>			</a:t>
            </a:r>
            <a:r>
              <a:rPr lang="en-US" sz="1200" b="1" i="0" u="none" strike="noStrike" cap="none" dirty="0">
                <a:solidFill>
                  <a:srgbClr val="0070C0"/>
                </a:solidFill>
                <a:latin typeface="Courier New" panose="02070309020205020404" pitchFamily="49" charset="0"/>
                <a:ea typeface="Arial"/>
                <a:cs typeface="Courier New" panose="02070309020205020404" pitchFamily="49" charset="0"/>
                <a:sym typeface="Calibri"/>
              </a:rPr>
              <a:t>DRL Course Instructors</a:t>
            </a:r>
            <a:endParaRPr sz="1100" b="0" i="0" u="none" strike="noStrike" cap="none" dirty="0">
              <a:solidFill>
                <a:srgbClr val="0070C0"/>
              </a:solidFill>
              <a:latin typeface="Courier New" panose="02070309020205020404" pitchFamily="49" charset="0"/>
              <a:ea typeface="Arial"/>
              <a:cs typeface="Courier New" panose="02070309020205020404" pitchFamily="49" charset="0"/>
              <a:sym typeface="Arial"/>
            </a:endParaRPr>
          </a:p>
        </p:txBody>
      </p:sp>
      <p:pic>
        <p:nvPicPr>
          <p:cNvPr id="12" name="Google Shape;1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418624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40"/>
          <p:cNvSpPr txBox="1">
            <a:spLocks noGrp="1"/>
          </p:cNvSpPr>
          <p:nvPr>
            <p:ph type="ctrTitle"/>
          </p:nvPr>
        </p:nvSpPr>
        <p:spPr>
          <a:xfrm>
            <a:off x="1400993" y="2419895"/>
            <a:ext cx="7117500" cy="9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cap="none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40"/>
          <p:cNvSpPr txBox="1"/>
          <p:nvPr/>
        </p:nvSpPr>
        <p:spPr>
          <a:xfrm>
            <a:off x="48394" y="790425"/>
            <a:ext cx="3147000" cy="6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864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Reinforcement Learning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9792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2025-26 Second Semester,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M.Tech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(AIML)   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Tabl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4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41" descr="Birla Institute of Technology and Science, Pilani | Logopedia | Fandom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9391"/>
            <a:ext cx="528638" cy="52863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1"/>
          <p:cNvSpPr txBox="1">
            <a:spLocks noGrp="1"/>
          </p:cNvSpPr>
          <p:nvPr>
            <p:ph type="body" idx="1"/>
          </p:nvPr>
        </p:nvSpPr>
        <p:spPr>
          <a:xfrm>
            <a:off x="628650" y="1420585"/>
            <a:ext cx="7886700" cy="3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2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42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9" name="Google Shape;29;p4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0" name="Google Shape;30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4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5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2" name="Google Shape;52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6" name="Google Shape;56;p5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7" name="Google Shape;57;p5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1" name="Google Shape;61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4" name="Google Shape;64;p5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bg>
      <p:bgPr>
        <a:solidFill>
          <a:schemeClr val="accent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1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7" name="Google Shape;77;p44" descr="Birla Institute of Technology and Science, Pilani | Logopedia | Fandom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1431"/>
            <a:ext cx="528638" cy="52863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4"/>
          <p:cNvSpPr txBox="1">
            <a:spLocks noGrp="1"/>
          </p:cNvSpPr>
          <p:nvPr>
            <p:ph type="body" idx="1"/>
          </p:nvPr>
        </p:nvSpPr>
        <p:spPr>
          <a:xfrm>
            <a:off x="628650" y="1420585"/>
            <a:ext cx="7886700" cy="3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418624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45"/>
          <p:cNvSpPr txBox="1">
            <a:spLocks noGrp="1"/>
          </p:cNvSpPr>
          <p:nvPr>
            <p:ph type="title"/>
          </p:nvPr>
        </p:nvSpPr>
        <p:spPr>
          <a:xfrm>
            <a:off x="3493293" y="2107406"/>
            <a:ext cx="5022000" cy="14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1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5"/>
          <p:cNvSpPr txBox="1">
            <a:spLocks noGrp="1"/>
          </p:cNvSpPr>
          <p:nvPr>
            <p:ph type="subTitle" idx="1"/>
          </p:nvPr>
        </p:nvSpPr>
        <p:spPr>
          <a:xfrm>
            <a:off x="3493294" y="3771602"/>
            <a:ext cx="502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070"/>
              </a:buClr>
              <a:buSzPts val="1200"/>
              <a:buNone/>
              <a:defRPr sz="1200">
                <a:solidFill>
                  <a:srgbClr val="757070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3" name="Google Shape;83;p45"/>
          <p:cNvSpPr txBox="1">
            <a:spLocks noGrp="1"/>
          </p:cNvSpPr>
          <p:nvPr>
            <p:ph type="ftr" idx="11"/>
          </p:nvPr>
        </p:nvSpPr>
        <p:spPr>
          <a:xfrm>
            <a:off x="5057774" y="4767263"/>
            <a:ext cx="190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5"/>
          <p:cNvSpPr txBox="1">
            <a:spLocks noGrp="1"/>
          </p:cNvSpPr>
          <p:nvPr>
            <p:ph type="sldNum" idx="12"/>
          </p:nvPr>
        </p:nvSpPr>
        <p:spPr>
          <a:xfrm>
            <a:off x="7243763" y="4767263"/>
            <a:ext cx="127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5" name="Google Shape;85;p45" descr="BITS Pilani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27529" y="144383"/>
            <a:ext cx="2504055" cy="649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7" descr="BITS Pilani 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17084" y="197102"/>
            <a:ext cx="2504055" cy="64943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7"/>
          <p:cNvSpPr txBox="1"/>
          <p:nvPr/>
        </p:nvSpPr>
        <p:spPr>
          <a:xfrm>
            <a:off x="3276900" y="4287169"/>
            <a:ext cx="5414700" cy="6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Instructors</a:t>
            </a: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41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S. P. Vimal (</a:t>
            </a:r>
            <a:r>
              <a:rPr lang="en-US" sz="12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vimalsp@wilp.bits-pilani.ac.in</a:t>
            </a: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41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Sangeetha Viswanathan (</a:t>
            </a:r>
            <a:r>
              <a:rPr lang="en-US" sz="12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sangeetha.viswanathan@pilani.bits-pilani.ac.in</a:t>
            </a: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5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418624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7"/>
          <p:cNvSpPr txBox="1">
            <a:spLocks noGrp="1"/>
          </p:cNvSpPr>
          <p:nvPr>
            <p:ph type="ctrTitle"/>
          </p:nvPr>
        </p:nvSpPr>
        <p:spPr>
          <a:xfrm>
            <a:off x="1400993" y="2419895"/>
            <a:ext cx="7117500" cy="9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cap="none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7"/>
          <p:cNvSpPr txBox="1"/>
          <p:nvPr/>
        </p:nvSpPr>
        <p:spPr>
          <a:xfrm>
            <a:off x="48394" y="790425"/>
            <a:ext cx="3147000" cy="6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864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Reinforcement Learning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9792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2022-23 Second Semester, M.Tech (AIML)  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Table">
    <p:bg>
      <p:bgPr>
        <a:solidFill>
          <a:schemeClr val="lt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5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6" name="Google Shape;96;p58" descr="Birla Institute of Technology and Science, Pilani | Logopedia | Fandom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1431"/>
            <a:ext cx="528638" cy="528638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58"/>
          <p:cNvSpPr txBox="1">
            <a:spLocks noGrp="1"/>
          </p:cNvSpPr>
          <p:nvPr>
            <p:ph type="body" idx="1"/>
          </p:nvPr>
        </p:nvSpPr>
        <p:spPr>
          <a:xfrm>
            <a:off x="628650" y="1420585"/>
            <a:ext cx="7886700" cy="3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rt Art">
  <p:cSld name="Smart Art"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650000" cy="7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1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5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5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2" name="Google Shape;102;p59" descr="Birla Institute of Technology and Science, Pilani | Logopedia | Fandom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1431"/>
            <a:ext cx="528638" cy="52863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9"/>
          <p:cNvSpPr txBox="1">
            <a:spLocks noGrp="1"/>
          </p:cNvSpPr>
          <p:nvPr>
            <p:ph type="body" idx="1"/>
          </p:nvPr>
        </p:nvSpPr>
        <p:spPr>
          <a:xfrm>
            <a:off x="628650" y="1224643"/>
            <a:ext cx="7886700" cy="33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Introduction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60" descr="BITS Pilani 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8131" y="216696"/>
            <a:ext cx="2504055" cy="64943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0"/>
          <p:cNvSpPr txBox="1">
            <a:spLocks noGrp="1"/>
          </p:cNvSpPr>
          <p:nvPr>
            <p:ph type="title"/>
          </p:nvPr>
        </p:nvSpPr>
        <p:spPr>
          <a:xfrm>
            <a:off x="351337" y="1253729"/>
            <a:ext cx="45042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60"/>
          <p:cNvSpPr txBox="1">
            <a:spLocks noGrp="1"/>
          </p:cNvSpPr>
          <p:nvPr>
            <p:ph type="body" idx="1"/>
          </p:nvPr>
        </p:nvSpPr>
        <p:spPr>
          <a:xfrm>
            <a:off x="1021556" y="1939835"/>
            <a:ext cx="4504200" cy="24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60"/>
          <p:cNvSpPr txBox="1">
            <a:spLocks noGrp="1"/>
          </p:cNvSpPr>
          <p:nvPr>
            <p:ph type="ftr" idx="11"/>
          </p:nvPr>
        </p:nvSpPr>
        <p:spPr>
          <a:xfrm>
            <a:off x="1847850" y="4767263"/>
            <a:ext cx="2609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6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type="obj">
  <p:cSld name="OBJECT">
    <p:bg>
      <p:bgPr>
        <a:solidFill>
          <a:schemeClr val="dk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61"/>
          <p:cNvPicPr preferRelativeResize="0"/>
          <p:nvPr/>
        </p:nvPicPr>
        <p:blipFill rotWithShape="1">
          <a:blip r:embed="rId2">
            <a:alphaModFix/>
          </a:blip>
          <a:srcRect t="18298" r="28339" b="23069"/>
          <a:stretch/>
        </p:blipFill>
        <p:spPr>
          <a:xfrm>
            <a:off x="4116611" y="0"/>
            <a:ext cx="50273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61"/>
          <p:cNvSpPr txBox="1">
            <a:spLocks noGrp="1"/>
          </p:cNvSpPr>
          <p:nvPr>
            <p:ph type="title"/>
          </p:nvPr>
        </p:nvSpPr>
        <p:spPr>
          <a:xfrm>
            <a:off x="1000125" y="765334"/>
            <a:ext cx="2171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  <a:defRPr sz="2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61"/>
          <p:cNvSpPr txBox="1">
            <a:spLocks noGrp="1"/>
          </p:cNvSpPr>
          <p:nvPr>
            <p:ph type="body" idx="1"/>
          </p:nvPr>
        </p:nvSpPr>
        <p:spPr>
          <a:xfrm>
            <a:off x="1000125" y="2193131"/>
            <a:ext cx="2171700" cy="18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61"/>
          <p:cNvSpPr txBox="1">
            <a:spLocks noGrp="1"/>
          </p:cNvSpPr>
          <p:nvPr>
            <p:ph type="ftr" idx="11"/>
          </p:nvPr>
        </p:nvSpPr>
        <p:spPr>
          <a:xfrm>
            <a:off x="2002414" y="4767262"/>
            <a:ext cx="1862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61"/>
          <p:cNvSpPr txBox="1">
            <a:spLocks noGrp="1"/>
          </p:cNvSpPr>
          <p:nvPr>
            <p:ph type="sldNum" idx="12"/>
          </p:nvPr>
        </p:nvSpPr>
        <p:spPr>
          <a:xfrm>
            <a:off x="4152229" y="4767263"/>
            <a:ext cx="740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ntroduction" type="secHead">
  <p:cSld name="SECTION_HEADER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2"/>
          <p:cNvSpPr txBox="1">
            <a:spLocks noGrp="1"/>
          </p:cNvSpPr>
          <p:nvPr>
            <p:ph type="title"/>
          </p:nvPr>
        </p:nvSpPr>
        <p:spPr>
          <a:xfrm>
            <a:off x="351337" y="1253729"/>
            <a:ext cx="45042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62"/>
          <p:cNvSpPr txBox="1">
            <a:spLocks noGrp="1"/>
          </p:cNvSpPr>
          <p:nvPr>
            <p:ph type="body" idx="1"/>
          </p:nvPr>
        </p:nvSpPr>
        <p:spPr>
          <a:xfrm>
            <a:off x="1021556" y="1939835"/>
            <a:ext cx="4504200" cy="24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62"/>
          <p:cNvSpPr txBox="1">
            <a:spLocks noGrp="1"/>
          </p:cNvSpPr>
          <p:nvPr>
            <p:ph type="ftr" idx="11"/>
          </p:nvPr>
        </p:nvSpPr>
        <p:spPr>
          <a:xfrm>
            <a:off x="1847850" y="4767263"/>
            <a:ext cx="2609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6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1" name="Google Shape;121;p62" descr="BITS Pilani 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8131" y="216696"/>
            <a:ext cx="2504055" cy="649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" type="title">
  <p:cSld name="TITLE">
    <p:bg>
      <p:bgPr>
        <a:solidFill>
          <a:schemeClr val="dk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3"/>
          <p:cNvSpPr txBox="1">
            <a:spLocks noGrp="1"/>
          </p:cNvSpPr>
          <p:nvPr>
            <p:ph type="ctrTitle"/>
          </p:nvPr>
        </p:nvSpPr>
        <p:spPr>
          <a:xfrm>
            <a:off x="5243513" y="1611630"/>
            <a:ext cx="3134700" cy="1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  <a:defRPr sz="27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63"/>
          <p:cNvSpPr txBox="1">
            <a:spLocks noGrp="1"/>
          </p:cNvSpPr>
          <p:nvPr>
            <p:ph type="subTitle" idx="1"/>
          </p:nvPr>
        </p:nvSpPr>
        <p:spPr>
          <a:xfrm>
            <a:off x="5243513" y="2971502"/>
            <a:ext cx="3134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pic>
        <p:nvPicPr>
          <p:cNvPr id="125" name="Google Shape;125;p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1506"/>
            <a:ext cx="4407694" cy="3900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Slide 4 People">
  <p:cSld name="Team Slide 4 People">
    <p:bg>
      <p:bgPr>
        <a:solidFill>
          <a:schemeClr val="lt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4"/>
          <p:cNvSpPr txBox="1">
            <a:spLocks noGrp="1"/>
          </p:cNvSpPr>
          <p:nvPr>
            <p:ph type="title"/>
          </p:nvPr>
        </p:nvSpPr>
        <p:spPr>
          <a:xfrm>
            <a:off x="921425" y="280022"/>
            <a:ext cx="7847100" cy="9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1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64"/>
          <p:cNvSpPr>
            <a:spLocks noGrp="1"/>
          </p:cNvSpPr>
          <p:nvPr>
            <p:ph type="pic" idx="2"/>
          </p:nvPr>
        </p:nvSpPr>
        <p:spPr>
          <a:xfrm>
            <a:off x="1115386" y="2164556"/>
            <a:ext cx="1384200" cy="13842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9" name="Google Shape;129;p64"/>
          <p:cNvSpPr txBox="1">
            <a:spLocks noGrp="1"/>
          </p:cNvSpPr>
          <p:nvPr>
            <p:ph type="body" idx="1"/>
          </p:nvPr>
        </p:nvSpPr>
        <p:spPr>
          <a:xfrm>
            <a:off x="921426" y="3813393"/>
            <a:ext cx="17385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30" name="Google Shape;130;p64"/>
          <p:cNvSpPr txBox="1">
            <a:spLocks noGrp="1"/>
          </p:cNvSpPr>
          <p:nvPr>
            <p:ph type="body" idx="3"/>
          </p:nvPr>
        </p:nvSpPr>
        <p:spPr>
          <a:xfrm>
            <a:off x="1115386" y="4098086"/>
            <a:ext cx="13842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31" name="Google Shape;131;p64"/>
          <p:cNvSpPr>
            <a:spLocks noGrp="1"/>
          </p:cNvSpPr>
          <p:nvPr>
            <p:ph type="pic" idx="4"/>
          </p:nvPr>
        </p:nvSpPr>
        <p:spPr>
          <a:xfrm>
            <a:off x="2877685" y="2164556"/>
            <a:ext cx="1384200" cy="13842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2" name="Google Shape;132;p64"/>
          <p:cNvSpPr txBox="1">
            <a:spLocks noGrp="1"/>
          </p:cNvSpPr>
          <p:nvPr>
            <p:ph type="body" idx="5"/>
          </p:nvPr>
        </p:nvSpPr>
        <p:spPr>
          <a:xfrm>
            <a:off x="2683725" y="3813393"/>
            <a:ext cx="17481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33" name="Google Shape;133;p64"/>
          <p:cNvSpPr txBox="1">
            <a:spLocks noGrp="1"/>
          </p:cNvSpPr>
          <p:nvPr>
            <p:ph type="body" idx="6"/>
          </p:nvPr>
        </p:nvSpPr>
        <p:spPr>
          <a:xfrm>
            <a:off x="2877685" y="4109097"/>
            <a:ext cx="13920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34" name="Google Shape;134;p64"/>
          <p:cNvSpPr>
            <a:spLocks noGrp="1"/>
          </p:cNvSpPr>
          <p:nvPr>
            <p:ph type="pic" idx="7"/>
          </p:nvPr>
        </p:nvSpPr>
        <p:spPr>
          <a:xfrm>
            <a:off x="4745684" y="2164556"/>
            <a:ext cx="1384200" cy="13842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5" name="Google Shape;135;p64"/>
          <p:cNvSpPr txBox="1">
            <a:spLocks noGrp="1"/>
          </p:cNvSpPr>
          <p:nvPr>
            <p:ph type="body" idx="8"/>
          </p:nvPr>
        </p:nvSpPr>
        <p:spPr>
          <a:xfrm>
            <a:off x="4551723" y="3813393"/>
            <a:ext cx="17385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36" name="Google Shape;136;p64"/>
          <p:cNvSpPr txBox="1">
            <a:spLocks noGrp="1"/>
          </p:cNvSpPr>
          <p:nvPr>
            <p:ph type="body" idx="9"/>
          </p:nvPr>
        </p:nvSpPr>
        <p:spPr>
          <a:xfrm>
            <a:off x="4745683" y="4109097"/>
            <a:ext cx="13842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37" name="Google Shape;137;p64"/>
          <p:cNvSpPr>
            <a:spLocks noGrp="1"/>
          </p:cNvSpPr>
          <p:nvPr>
            <p:ph type="pic" idx="13"/>
          </p:nvPr>
        </p:nvSpPr>
        <p:spPr>
          <a:xfrm>
            <a:off x="6560594" y="2164556"/>
            <a:ext cx="1384200" cy="13842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8" name="Google Shape;138;p64"/>
          <p:cNvSpPr txBox="1">
            <a:spLocks noGrp="1"/>
          </p:cNvSpPr>
          <p:nvPr>
            <p:ph type="body" idx="14"/>
          </p:nvPr>
        </p:nvSpPr>
        <p:spPr>
          <a:xfrm>
            <a:off x="6366634" y="3813393"/>
            <a:ext cx="17385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39" name="Google Shape;139;p64"/>
          <p:cNvSpPr txBox="1">
            <a:spLocks noGrp="1"/>
          </p:cNvSpPr>
          <p:nvPr>
            <p:ph type="body" idx="15"/>
          </p:nvPr>
        </p:nvSpPr>
        <p:spPr>
          <a:xfrm>
            <a:off x="6560594" y="4098086"/>
            <a:ext cx="13842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40" name="Google Shape;140;p6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6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2" name="Google Shape;142;p64" descr="Birla Institute of Technology and Science, Pilani | Logopedia | Fandom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1431"/>
            <a:ext cx="528638" cy="528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Slide 8 People">
  <p:cSld name="Team Slide 8 People">
    <p:bg>
      <p:bgPr>
        <a:solidFill>
          <a:schemeClr val="dk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65"/>
          <p:cNvGrpSpPr/>
          <p:nvPr/>
        </p:nvGrpSpPr>
        <p:grpSpPr>
          <a:xfrm>
            <a:off x="0" y="355465"/>
            <a:ext cx="9144000" cy="4216002"/>
            <a:chOff x="0" y="473953"/>
            <a:chExt cx="12192000" cy="5621336"/>
          </a:xfrm>
        </p:grpSpPr>
        <p:pic>
          <p:nvPicPr>
            <p:cNvPr id="145" name="Google Shape;145;p65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473953"/>
              <a:ext cx="2057400" cy="1647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6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049000" y="5180889"/>
              <a:ext cx="11430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65"/>
          <p:cNvSpPr txBox="1">
            <a:spLocks noGrp="1"/>
          </p:cNvSpPr>
          <p:nvPr>
            <p:ph type="title"/>
          </p:nvPr>
        </p:nvSpPr>
        <p:spPr>
          <a:xfrm>
            <a:off x="1413867" y="669133"/>
            <a:ext cx="63162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  <a:def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65"/>
          <p:cNvSpPr>
            <a:spLocks noGrp="1"/>
          </p:cNvSpPr>
          <p:nvPr>
            <p:ph type="pic" idx="2"/>
          </p:nvPr>
        </p:nvSpPr>
        <p:spPr>
          <a:xfrm>
            <a:off x="1407882" y="1821656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9" name="Google Shape;149;p65"/>
          <p:cNvSpPr txBox="1">
            <a:spLocks noGrp="1"/>
          </p:cNvSpPr>
          <p:nvPr>
            <p:ph type="body" idx="1"/>
          </p:nvPr>
        </p:nvSpPr>
        <p:spPr>
          <a:xfrm>
            <a:off x="1125126" y="2740784"/>
            <a:ext cx="13716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50" name="Google Shape;150;p65"/>
          <p:cNvSpPr txBox="1">
            <a:spLocks noGrp="1"/>
          </p:cNvSpPr>
          <p:nvPr>
            <p:ph type="body" idx="3"/>
          </p:nvPr>
        </p:nvSpPr>
        <p:spPr>
          <a:xfrm>
            <a:off x="1125126" y="2857310"/>
            <a:ext cx="13716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51" name="Google Shape;151;p65"/>
          <p:cNvSpPr>
            <a:spLocks noGrp="1"/>
          </p:cNvSpPr>
          <p:nvPr>
            <p:ph type="pic" idx="4"/>
          </p:nvPr>
        </p:nvSpPr>
        <p:spPr>
          <a:xfrm>
            <a:off x="3169703" y="1821656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2" name="Google Shape;152;p65"/>
          <p:cNvSpPr txBox="1">
            <a:spLocks noGrp="1"/>
          </p:cNvSpPr>
          <p:nvPr>
            <p:ph type="body" idx="5"/>
          </p:nvPr>
        </p:nvSpPr>
        <p:spPr>
          <a:xfrm>
            <a:off x="2886946" y="2740784"/>
            <a:ext cx="13716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53" name="Google Shape;153;p65"/>
          <p:cNvSpPr txBox="1">
            <a:spLocks noGrp="1"/>
          </p:cNvSpPr>
          <p:nvPr>
            <p:ph type="body" idx="6"/>
          </p:nvPr>
        </p:nvSpPr>
        <p:spPr>
          <a:xfrm>
            <a:off x="2886946" y="2857310"/>
            <a:ext cx="13716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54" name="Google Shape;154;p65"/>
          <p:cNvSpPr>
            <a:spLocks noGrp="1"/>
          </p:cNvSpPr>
          <p:nvPr>
            <p:ph type="pic" idx="7"/>
          </p:nvPr>
        </p:nvSpPr>
        <p:spPr>
          <a:xfrm>
            <a:off x="4991688" y="1821656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5" name="Google Shape;155;p65"/>
          <p:cNvSpPr txBox="1">
            <a:spLocks noGrp="1"/>
          </p:cNvSpPr>
          <p:nvPr>
            <p:ph type="body" idx="8"/>
          </p:nvPr>
        </p:nvSpPr>
        <p:spPr>
          <a:xfrm>
            <a:off x="4648766" y="2740784"/>
            <a:ext cx="15789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56" name="Google Shape;156;p65"/>
          <p:cNvSpPr txBox="1">
            <a:spLocks noGrp="1"/>
          </p:cNvSpPr>
          <p:nvPr>
            <p:ph type="body" idx="9"/>
          </p:nvPr>
        </p:nvSpPr>
        <p:spPr>
          <a:xfrm>
            <a:off x="4571999" y="2857310"/>
            <a:ext cx="17250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57" name="Google Shape;157;p65"/>
          <p:cNvSpPr>
            <a:spLocks noGrp="1"/>
          </p:cNvSpPr>
          <p:nvPr>
            <p:ph type="pic" idx="13"/>
          </p:nvPr>
        </p:nvSpPr>
        <p:spPr>
          <a:xfrm>
            <a:off x="6852611" y="1821656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8" name="Google Shape;158;p65"/>
          <p:cNvSpPr txBox="1">
            <a:spLocks noGrp="1"/>
          </p:cNvSpPr>
          <p:nvPr>
            <p:ph type="body" idx="14"/>
          </p:nvPr>
        </p:nvSpPr>
        <p:spPr>
          <a:xfrm>
            <a:off x="6569855" y="2740784"/>
            <a:ext cx="13716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59" name="Google Shape;159;p65"/>
          <p:cNvSpPr txBox="1">
            <a:spLocks noGrp="1"/>
          </p:cNvSpPr>
          <p:nvPr>
            <p:ph type="body" idx="15"/>
          </p:nvPr>
        </p:nvSpPr>
        <p:spPr>
          <a:xfrm>
            <a:off x="6558360" y="2857310"/>
            <a:ext cx="13830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0" name="Google Shape;160;p65"/>
          <p:cNvSpPr>
            <a:spLocks noGrp="1"/>
          </p:cNvSpPr>
          <p:nvPr>
            <p:ph type="pic" idx="16"/>
          </p:nvPr>
        </p:nvSpPr>
        <p:spPr>
          <a:xfrm>
            <a:off x="1407882" y="3215783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1" name="Google Shape;161;p65"/>
          <p:cNvSpPr txBox="1">
            <a:spLocks noGrp="1"/>
          </p:cNvSpPr>
          <p:nvPr>
            <p:ph type="body" idx="17"/>
          </p:nvPr>
        </p:nvSpPr>
        <p:spPr>
          <a:xfrm>
            <a:off x="1125126" y="4134911"/>
            <a:ext cx="13716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2" name="Google Shape;162;p65"/>
          <p:cNvSpPr txBox="1">
            <a:spLocks noGrp="1"/>
          </p:cNvSpPr>
          <p:nvPr>
            <p:ph type="body" idx="18"/>
          </p:nvPr>
        </p:nvSpPr>
        <p:spPr>
          <a:xfrm>
            <a:off x="1125126" y="4251437"/>
            <a:ext cx="13716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3" name="Google Shape;163;p65"/>
          <p:cNvSpPr>
            <a:spLocks noGrp="1"/>
          </p:cNvSpPr>
          <p:nvPr>
            <p:ph type="pic" idx="19"/>
          </p:nvPr>
        </p:nvSpPr>
        <p:spPr>
          <a:xfrm>
            <a:off x="3169703" y="3215783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4" name="Google Shape;164;p65"/>
          <p:cNvSpPr txBox="1">
            <a:spLocks noGrp="1"/>
          </p:cNvSpPr>
          <p:nvPr>
            <p:ph type="body" idx="20"/>
          </p:nvPr>
        </p:nvSpPr>
        <p:spPr>
          <a:xfrm>
            <a:off x="2886946" y="4134911"/>
            <a:ext cx="13716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5" name="Google Shape;165;p65"/>
          <p:cNvSpPr txBox="1">
            <a:spLocks noGrp="1"/>
          </p:cNvSpPr>
          <p:nvPr>
            <p:ph type="body" idx="21"/>
          </p:nvPr>
        </p:nvSpPr>
        <p:spPr>
          <a:xfrm>
            <a:off x="2886946" y="4251437"/>
            <a:ext cx="13716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6" name="Google Shape;166;p65"/>
          <p:cNvSpPr>
            <a:spLocks noGrp="1"/>
          </p:cNvSpPr>
          <p:nvPr>
            <p:ph type="pic" idx="22"/>
          </p:nvPr>
        </p:nvSpPr>
        <p:spPr>
          <a:xfrm>
            <a:off x="4991688" y="3215783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7" name="Google Shape;167;p65"/>
          <p:cNvSpPr txBox="1">
            <a:spLocks noGrp="1"/>
          </p:cNvSpPr>
          <p:nvPr>
            <p:ph type="body" idx="23"/>
          </p:nvPr>
        </p:nvSpPr>
        <p:spPr>
          <a:xfrm>
            <a:off x="4754945" y="4134911"/>
            <a:ext cx="13716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8" name="Google Shape;168;p65"/>
          <p:cNvSpPr txBox="1">
            <a:spLocks noGrp="1"/>
          </p:cNvSpPr>
          <p:nvPr>
            <p:ph type="body" idx="24"/>
          </p:nvPr>
        </p:nvSpPr>
        <p:spPr>
          <a:xfrm>
            <a:off x="4754945" y="4251437"/>
            <a:ext cx="13602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9" name="Google Shape;169;p65"/>
          <p:cNvSpPr>
            <a:spLocks noGrp="1"/>
          </p:cNvSpPr>
          <p:nvPr>
            <p:ph type="pic" idx="25"/>
          </p:nvPr>
        </p:nvSpPr>
        <p:spPr>
          <a:xfrm>
            <a:off x="6852611" y="3215783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0" name="Google Shape;170;p65"/>
          <p:cNvSpPr txBox="1">
            <a:spLocks noGrp="1"/>
          </p:cNvSpPr>
          <p:nvPr>
            <p:ph type="body" idx="26"/>
          </p:nvPr>
        </p:nvSpPr>
        <p:spPr>
          <a:xfrm>
            <a:off x="6569855" y="4134911"/>
            <a:ext cx="13716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71" name="Google Shape;171;p65"/>
          <p:cNvSpPr txBox="1">
            <a:spLocks noGrp="1"/>
          </p:cNvSpPr>
          <p:nvPr>
            <p:ph type="body" idx="27"/>
          </p:nvPr>
        </p:nvSpPr>
        <p:spPr>
          <a:xfrm>
            <a:off x="6558360" y="4251437"/>
            <a:ext cx="13830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72" name="Google Shape;172;p6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7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6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Timeline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6"/>
          <p:cNvSpPr/>
          <p:nvPr/>
        </p:nvSpPr>
        <p:spPr>
          <a:xfrm>
            <a:off x="1585413" y="0"/>
            <a:ext cx="7558587" cy="5143500"/>
          </a:xfrm>
          <a:custGeom>
            <a:avLst/>
            <a:gdLst/>
            <a:ahLst/>
            <a:cxnLst/>
            <a:rect l="l" t="t" r="r" b="b"/>
            <a:pathLst>
              <a:path w="10078116" h="6858000" extrusionOk="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6"/>
          <p:cNvSpPr txBox="1">
            <a:spLocks noGrp="1"/>
          </p:cNvSpPr>
          <p:nvPr>
            <p:ph type="body" idx="1"/>
          </p:nvPr>
        </p:nvSpPr>
        <p:spPr>
          <a:xfrm>
            <a:off x="124556" y="1287585"/>
            <a:ext cx="16062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66"/>
          <p:cNvSpPr txBox="1">
            <a:spLocks noGrp="1"/>
          </p:cNvSpPr>
          <p:nvPr>
            <p:ph type="body" idx="2"/>
          </p:nvPr>
        </p:nvSpPr>
        <p:spPr>
          <a:xfrm>
            <a:off x="549098" y="2094829"/>
            <a:ext cx="16062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66"/>
          <p:cNvSpPr txBox="1">
            <a:spLocks noGrp="1"/>
          </p:cNvSpPr>
          <p:nvPr>
            <p:ph type="body" idx="3"/>
          </p:nvPr>
        </p:nvSpPr>
        <p:spPr>
          <a:xfrm>
            <a:off x="1003917" y="2902073"/>
            <a:ext cx="16062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66"/>
          <p:cNvSpPr txBox="1">
            <a:spLocks noGrp="1"/>
          </p:cNvSpPr>
          <p:nvPr>
            <p:ph type="body" idx="4"/>
          </p:nvPr>
        </p:nvSpPr>
        <p:spPr>
          <a:xfrm>
            <a:off x="1442067" y="3719114"/>
            <a:ext cx="16062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66"/>
          <p:cNvSpPr txBox="1">
            <a:spLocks noGrp="1"/>
          </p:cNvSpPr>
          <p:nvPr>
            <p:ph type="body" idx="5"/>
          </p:nvPr>
        </p:nvSpPr>
        <p:spPr>
          <a:xfrm>
            <a:off x="3291355" y="1112174"/>
            <a:ext cx="3827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66"/>
          <p:cNvSpPr txBox="1">
            <a:spLocks noGrp="1"/>
          </p:cNvSpPr>
          <p:nvPr>
            <p:ph type="body" idx="6"/>
          </p:nvPr>
        </p:nvSpPr>
        <p:spPr>
          <a:xfrm>
            <a:off x="3739522" y="1953140"/>
            <a:ext cx="3827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2" name="Google Shape;182;p66"/>
          <p:cNvSpPr txBox="1">
            <a:spLocks noGrp="1"/>
          </p:cNvSpPr>
          <p:nvPr>
            <p:ph type="body" idx="7"/>
          </p:nvPr>
        </p:nvSpPr>
        <p:spPr>
          <a:xfrm>
            <a:off x="4182704" y="2757764"/>
            <a:ext cx="3827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66"/>
          <p:cNvSpPr txBox="1">
            <a:spLocks noGrp="1"/>
          </p:cNvSpPr>
          <p:nvPr>
            <p:ph type="body" idx="8"/>
          </p:nvPr>
        </p:nvSpPr>
        <p:spPr>
          <a:xfrm>
            <a:off x="4631460" y="3588931"/>
            <a:ext cx="3827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66"/>
          <p:cNvSpPr txBox="1">
            <a:spLocks noGrp="1"/>
          </p:cNvSpPr>
          <p:nvPr>
            <p:ph type="ftr" idx="11"/>
          </p:nvPr>
        </p:nvSpPr>
        <p:spPr>
          <a:xfrm>
            <a:off x="5061857" y="4767263"/>
            <a:ext cx="283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66"/>
          <p:cNvSpPr txBox="1">
            <a:spLocks noGrp="1"/>
          </p:cNvSpPr>
          <p:nvPr>
            <p:ph type="sldNum" idx="12"/>
          </p:nvPr>
        </p:nvSpPr>
        <p:spPr>
          <a:xfrm>
            <a:off x="8108156" y="4767263"/>
            <a:ext cx="407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6" name="Google Shape;186;p66"/>
          <p:cNvCxnSpPr/>
          <p:nvPr/>
        </p:nvCxnSpPr>
        <p:spPr>
          <a:xfrm>
            <a:off x="3265136" y="3944300"/>
            <a:ext cx="113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7" name="Google Shape;187;p66"/>
          <p:cNvCxnSpPr/>
          <p:nvPr/>
        </p:nvCxnSpPr>
        <p:spPr>
          <a:xfrm>
            <a:off x="2819938" y="3118094"/>
            <a:ext cx="113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8" name="Google Shape;188;p66"/>
          <p:cNvCxnSpPr/>
          <p:nvPr/>
        </p:nvCxnSpPr>
        <p:spPr>
          <a:xfrm>
            <a:off x="2380090" y="2311271"/>
            <a:ext cx="113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9" name="Google Shape;189;p66"/>
          <p:cNvCxnSpPr/>
          <p:nvPr/>
        </p:nvCxnSpPr>
        <p:spPr>
          <a:xfrm>
            <a:off x="1939697" y="1503818"/>
            <a:ext cx="113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90" name="Google Shape;190;p66" descr="Birla Institute of Technology and Science, Pilani | Logopedia | Fandom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1431"/>
            <a:ext cx="528638" cy="52863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66"/>
          <p:cNvSpPr txBox="1"/>
          <p:nvPr/>
        </p:nvSpPr>
        <p:spPr>
          <a:xfrm>
            <a:off x="547282" y="430768"/>
            <a:ext cx="45042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bg>
      <p:bgPr>
        <a:solidFill>
          <a:schemeClr val="accent1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7"/>
          <p:cNvSpPr txBox="1">
            <a:spLocks noGrp="1"/>
          </p:cNvSpPr>
          <p:nvPr>
            <p:ph type="title"/>
          </p:nvPr>
        </p:nvSpPr>
        <p:spPr>
          <a:xfrm>
            <a:off x="932328" y="332527"/>
            <a:ext cx="75831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1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67"/>
          <p:cNvSpPr txBox="1">
            <a:spLocks noGrp="1"/>
          </p:cNvSpPr>
          <p:nvPr>
            <p:ph type="body" idx="1"/>
          </p:nvPr>
        </p:nvSpPr>
        <p:spPr>
          <a:xfrm>
            <a:off x="932327" y="1449578"/>
            <a:ext cx="21618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95" name="Google Shape;195;p67"/>
          <p:cNvSpPr txBox="1">
            <a:spLocks noGrp="1"/>
          </p:cNvSpPr>
          <p:nvPr>
            <p:ph type="body" idx="2"/>
          </p:nvPr>
        </p:nvSpPr>
        <p:spPr>
          <a:xfrm>
            <a:off x="932328" y="2292532"/>
            <a:ext cx="2161800" cy="20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67"/>
          <p:cNvSpPr txBox="1">
            <a:spLocks noGrp="1"/>
          </p:cNvSpPr>
          <p:nvPr>
            <p:ph type="body" idx="3"/>
          </p:nvPr>
        </p:nvSpPr>
        <p:spPr>
          <a:xfrm>
            <a:off x="3485748" y="1465082"/>
            <a:ext cx="21726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97" name="Google Shape;197;p67"/>
          <p:cNvSpPr txBox="1">
            <a:spLocks noGrp="1"/>
          </p:cNvSpPr>
          <p:nvPr>
            <p:ph type="body" idx="4"/>
          </p:nvPr>
        </p:nvSpPr>
        <p:spPr>
          <a:xfrm>
            <a:off x="3485749" y="2292532"/>
            <a:ext cx="2172600" cy="20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67"/>
          <p:cNvSpPr txBox="1">
            <a:spLocks noGrp="1"/>
          </p:cNvSpPr>
          <p:nvPr>
            <p:ph type="body" idx="5"/>
          </p:nvPr>
        </p:nvSpPr>
        <p:spPr>
          <a:xfrm>
            <a:off x="6049815" y="1469172"/>
            <a:ext cx="21618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99" name="Google Shape;199;p67"/>
          <p:cNvSpPr txBox="1">
            <a:spLocks noGrp="1"/>
          </p:cNvSpPr>
          <p:nvPr>
            <p:ph type="body" idx="6"/>
          </p:nvPr>
        </p:nvSpPr>
        <p:spPr>
          <a:xfrm>
            <a:off x="6049816" y="2292532"/>
            <a:ext cx="2161800" cy="20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6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6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2" name="Google Shape;202;p67" descr="Birla Institute of Technology and Science, Pilani | Logopedia | Fandom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1431"/>
            <a:ext cx="528638" cy="528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>
  <p:cSld name="Three Content">
    <p:bg>
      <p:bgPr>
        <a:solidFill>
          <a:schemeClr val="lt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8"/>
          <p:cNvSpPr txBox="1">
            <a:spLocks noGrp="1"/>
          </p:cNvSpPr>
          <p:nvPr>
            <p:ph type="title"/>
          </p:nvPr>
        </p:nvSpPr>
        <p:spPr>
          <a:xfrm>
            <a:off x="932328" y="332527"/>
            <a:ext cx="75831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1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68"/>
          <p:cNvSpPr txBox="1">
            <a:spLocks noGrp="1"/>
          </p:cNvSpPr>
          <p:nvPr>
            <p:ph type="body" idx="1"/>
          </p:nvPr>
        </p:nvSpPr>
        <p:spPr>
          <a:xfrm>
            <a:off x="932327" y="1449578"/>
            <a:ext cx="21618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06" name="Google Shape;206;p68"/>
          <p:cNvSpPr txBox="1">
            <a:spLocks noGrp="1"/>
          </p:cNvSpPr>
          <p:nvPr>
            <p:ph type="body" idx="2"/>
          </p:nvPr>
        </p:nvSpPr>
        <p:spPr>
          <a:xfrm>
            <a:off x="932328" y="2292532"/>
            <a:ext cx="2161800" cy="20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68"/>
          <p:cNvSpPr txBox="1">
            <a:spLocks noGrp="1"/>
          </p:cNvSpPr>
          <p:nvPr>
            <p:ph type="body" idx="3"/>
          </p:nvPr>
        </p:nvSpPr>
        <p:spPr>
          <a:xfrm>
            <a:off x="3485748" y="1465082"/>
            <a:ext cx="21726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08" name="Google Shape;208;p68"/>
          <p:cNvSpPr txBox="1">
            <a:spLocks noGrp="1"/>
          </p:cNvSpPr>
          <p:nvPr>
            <p:ph type="body" idx="4"/>
          </p:nvPr>
        </p:nvSpPr>
        <p:spPr>
          <a:xfrm>
            <a:off x="3485749" y="2292532"/>
            <a:ext cx="2172600" cy="20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9" name="Google Shape;209;p68"/>
          <p:cNvSpPr txBox="1">
            <a:spLocks noGrp="1"/>
          </p:cNvSpPr>
          <p:nvPr>
            <p:ph type="body" idx="5"/>
          </p:nvPr>
        </p:nvSpPr>
        <p:spPr>
          <a:xfrm>
            <a:off x="6049815" y="1469172"/>
            <a:ext cx="21618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10" name="Google Shape;210;p68"/>
          <p:cNvSpPr txBox="1">
            <a:spLocks noGrp="1"/>
          </p:cNvSpPr>
          <p:nvPr>
            <p:ph type="body" idx="6"/>
          </p:nvPr>
        </p:nvSpPr>
        <p:spPr>
          <a:xfrm>
            <a:off x="6049816" y="2292532"/>
            <a:ext cx="2161800" cy="20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11" name="Google Shape;211;p6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6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3" name="Google Shape;213;p68" descr="Birla Institute of Technology and Science, Pilani | Logopedia | Fandom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1431"/>
            <a:ext cx="528638" cy="528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">
  <p:cSld name="Summary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9"/>
          <p:cNvSpPr txBox="1">
            <a:spLocks noGrp="1"/>
          </p:cNvSpPr>
          <p:nvPr>
            <p:ph type="title"/>
          </p:nvPr>
        </p:nvSpPr>
        <p:spPr>
          <a:xfrm>
            <a:off x="2890157" y="1253729"/>
            <a:ext cx="5051400" cy="9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1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69"/>
          <p:cNvSpPr txBox="1">
            <a:spLocks noGrp="1"/>
          </p:cNvSpPr>
          <p:nvPr>
            <p:ph type="body" idx="1"/>
          </p:nvPr>
        </p:nvSpPr>
        <p:spPr>
          <a:xfrm>
            <a:off x="2890157" y="2745581"/>
            <a:ext cx="5051400" cy="11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6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6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9" name="Google Shape;219;p69" descr="BITS Pilani 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27529" y="144383"/>
            <a:ext cx="2504055" cy="649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25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">
  <p:cSld name="Closing">
    <p:bg>
      <p:bgPr>
        <a:solidFill>
          <a:schemeClr val="dk1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0"/>
          <p:cNvSpPr txBox="1">
            <a:spLocks noGrp="1"/>
          </p:cNvSpPr>
          <p:nvPr>
            <p:ph type="ctrTitle"/>
          </p:nvPr>
        </p:nvSpPr>
        <p:spPr>
          <a:xfrm>
            <a:off x="3200400" y="1211802"/>
            <a:ext cx="3134700" cy="11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  <a:defRPr sz="27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70"/>
          <p:cNvSpPr txBox="1">
            <a:spLocks noGrp="1"/>
          </p:cNvSpPr>
          <p:nvPr>
            <p:ph type="subTitle" idx="1"/>
          </p:nvPr>
        </p:nvSpPr>
        <p:spPr>
          <a:xfrm>
            <a:off x="3200400" y="2428577"/>
            <a:ext cx="3134700" cy="10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pic>
        <p:nvPicPr>
          <p:cNvPr id="223" name="Google Shape;223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238270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70"/>
          <p:cNvSpPr txBox="1">
            <a:spLocks noGrp="1"/>
          </p:cNvSpPr>
          <p:nvPr>
            <p:ph type="ftr" idx="11"/>
          </p:nvPr>
        </p:nvSpPr>
        <p:spPr>
          <a:xfrm>
            <a:off x="4859791" y="4767263"/>
            <a:ext cx="1996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70"/>
          <p:cNvSpPr txBox="1">
            <a:spLocks noGrp="1"/>
          </p:cNvSpPr>
          <p:nvPr>
            <p:ph type="sldNum" idx="12"/>
          </p:nvPr>
        </p:nvSpPr>
        <p:spPr>
          <a:xfrm>
            <a:off x="7184571" y="4767263"/>
            <a:ext cx="13308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4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4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4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eople.engr.tamu.edu/guni/csce689/index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6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9.png"/><Relationship Id="rId4" Type="http://schemas.openxmlformats.org/officeDocument/2006/relationships/image" Target="../media/image11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jp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9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11" Type="http://schemas.openxmlformats.org/officeDocument/2006/relationships/image" Target="../media/image43.png"/><Relationship Id="rId5" Type="http://schemas.openxmlformats.org/officeDocument/2006/relationships/image" Target="../media/image12.png"/><Relationship Id="rId10" Type="http://schemas.openxmlformats.org/officeDocument/2006/relationships/image" Target="../media/image42.png"/><Relationship Id="rId4" Type="http://schemas.openxmlformats.org/officeDocument/2006/relationships/image" Target="../media/image11.png"/><Relationship Id="rId9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g"/><Relationship Id="rId3" Type="http://schemas.openxmlformats.org/officeDocument/2006/relationships/image" Target="../media/image5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55.png"/><Relationship Id="rId4" Type="http://schemas.openxmlformats.org/officeDocument/2006/relationships/image" Target="../media/image11.png"/><Relationship Id="rId9" Type="http://schemas.openxmlformats.org/officeDocument/2006/relationships/image" Target="../media/image5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4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"/>
          <p:cNvSpPr txBox="1">
            <a:spLocks noGrp="1"/>
          </p:cNvSpPr>
          <p:nvPr>
            <p:ph type="ctrTitle"/>
          </p:nvPr>
        </p:nvSpPr>
        <p:spPr>
          <a:xfrm>
            <a:off x="3206500" y="2309675"/>
            <a:ext cx="5749800" cy="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US" u="sng" dirty="0"/>
              <a:t>Session #10 ( #11) : </a:t>
            </a:r>
            <a:endParaRPr u="sng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US" sz="2600" dirty="0"/>
              <a:t>On Policy Prediction with Approximation</a:t>
            </a:r>
            <a:endParaRPr sz="2600" dirty="0"/>
          </a:p>
        </p:txBody>
      </p:sp>
      <p:sp>
        <p:nvSpPr>
          <p:cNvPr id="306" name="Google Shape;306;p1"/>
          <p:cNvSpPr txBox="1">
            <a:spLocks noGrp="1"/>
          </p:cNvSpPr>
          <p:nvPr>
            <p:ph type="sldNum" idx="4294967295"/>
          </p:nvPr>
        </p:nvSpPr>
        <p:spPr>
          <a:xfrm>
            <a:off x="708660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Agenda for the classes </a:t>
            </a:r>
            <a:endParaRPr/>
          </a:p>
        </p:txBody>
      </p:sp>
      <p:sp>
        <p:nvSpPr>
          <p:cNvPr id="313" name="Google Shape;313;p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314" name="Google Shape;314;p2"/>
          <p:cNvSpPr txBox="1">
            <a:spLocks noGrp="1"/>
          </p:cNvSpPr>
          <p:nvPr>
            <p:ph type="body" idx="1"/>
          </p:nvPr>
        </p:nvSpPr>
        <p:spPr>
          <a:xfrm>
            <a:off x="628650" y="1420585"/>
            <a:ext cx="7886700" cy="3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➔"/>
            </a:pPr>
            <a:r>
              <a:rPr lang="en-US"/>
              <a:t>Introduction</a:t>
            </a:r>
            <a:endParaRPr/>
          </a:p>
          <a:p>
            <a:pPr marL="45720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➔"/>
            </a:pPr>
            <a:r>
              <a:rPr lang="en-US"/>
              <a:t>Value Function Approximation</a:t>
            </a:r>
            <a:endParaRPr/>
          </a:p>
          <a:p>
            <a:pPr marL="45720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➔"/>
            </a:pPr>
            <a:r>
              <a:rPr lang="en-US"/>
              <a:t>Stochastic Gradient, Semi-Gradient Methods </a:t>
            </a:r>
            <a:endParaRPr sz="2000"/>
          </a:p>
          <a:p>
            <a:pPr marL="45720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➔"/>
            </a:pPr>
            <a:r>
              <a:rPr lang="en-US"/>
              <a:t>Role of Deep Learning for Function Approximation; </a:t>
            </a:r>
            <a:endParaRPr/>
          </a:p>
          <a:p>
            <a:pPr marL="45720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➔"/>
            </a:pPr>
            <a:r>
              <a:rPr lang="en-US"/>
              <a:t>Feature Construction Methods</a:t>
            </a:r>
            <a:endParaRPr/>
          </a:p>
        </p:txBody>
      </p:sp>
      <p:sp>
        <p:nvSpPr>
          <p:cNvPr id="315" name="Google Shape;315;p2"/>
          <p:cNvSpPr txBox="1">
            <a:spLocks noGrp="1"/>
          </p:cNvSpPr>
          <p:nvPr>
            <p:ph type="ftr" idx="11"/>
          </p:nvPr>
        </p:nvSpPr>
        <p:spPr>
          <a:xfrm>
            <a:off x="35719" y="4768463"/>
            <a:ext cx="8533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u="sng">
                <a:solidFill>
                  <a:srgbClr val="A61C00"/>
                </a:solidFill>
                <a:highlight>
                  <a:srgbClr val="C9DAF8"/>
                </a:highlight>
              </a:rPr>
              <a:t>Acknowledgements</a:t>
            </a:r>
            <a:r>
              <a:rPr lang="en-US" sz="1100">
                <a:solidFill>
                  <a:srgbClr val="A61C00"/>
                </a:solidFill>
                <a:highlight>
                  <a:srgbClr val="C9DAF8"/>
                </a:highlight>
              </a:rPr>
              <a:t>: Some of the slides were adopted </a:t>
            </a:r>
            <a:r>
              <a:rPr lang="en-US" sz="1100" i="1" u="sng">
                <a:solidFill>
                  <a:srgbClr val="A61C00"/>
                </a:solidFill>
                <a:highlight>
                  <a:srgbClr val="C9DAF8"/>
                </a:highlight>
              </a:rPr>
              <a:t>with permission</a:t>
            </a:r>
            <a:r>
              <a:rPr lang="en-US" sz="1100">
                <a:solidFill>
                  <a:srgbClr val="A61C00"/>
                </a:solidFill>
                <a:highlight>
                  <a:srgbClr val="C9DAF8"/>
                </a:highlight>
              </a:rPr>
              <a:t> from the course </a:t>
            </a:r>
            <a:r>
              <a:rPr lang="en-US" sz="1100" u="sng">
                <a:solidFill>
                  <a:schemeClr val="hlink"/>
                </a:solidFill>
                <a:highlight>
                  <a:srgbClr val="C9DAF8"/>
                </a:highlight>
                <a:hlinkClick r:id="rId3"/>
              </a:rPr>
              <a:t>CSCE-689</a:t>
            </a:r>
            <a:r>
              <a:rPr lang="en-US" sz="1100">
                <a:solidFill>
                  <a:srgbClr val="A61C00"/>
                </a:solidFill>
                <a:highlight>
                  <a:srgbClr val="C9DAF8"/>
                </a:highlight>
              </a:rPr>
              <a:t>  (Texas A&amp;M University) by Prof.  Guni Sharon</a:t>
            </a:r>
            <a:endParaRPr sz="1100">
              <a:solidFill>
                <a:srgbClr val="A61C00"/>
              </a:solidFill>
              <a:highlight>
                <a:srgbClr val="C9DAF8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77b51e96ad_0_5"/>
          <p:cNvSpPr txBox="1">
            <a:spLocks noGrp="1"/>
          </p:cNvSpPr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857"/>
              <a:buFont typeface="Calibri"/>
              <a:buNone/>
            </a:pPr>
            <a:r>
              <a:rPr lang="en-US"/>
              <a:t>Generalizing Across States</a:t>
            </a:r>
            <a:endParaRPr/>
          </a:p>
        </p:txBody>
      </p:sp>
      <p:sp>
        <p:nvSpPr>
          <p:cNvPr id="321" name="Google Shape;321;g277b51e96ad_0_5"/>
          <p:cNvSpPr txBox="1">
            <a:spLocks noGrp="1"/>
          </p:cNvSpPr>
          <p:nvPr>
            <p:ph type="body" idx="1"/>
          </p:nvPr>
        </p:nvSpPr>
        <p:spPr>
          <a:xfrm>
            <a:off x="247650" y="1299999"/>
            <a:ext cx="5544600" cy="3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780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Tabular Learning keeps a table of all state values</a:t>
            </a:r>
            <a:endParaRPr sz="1500"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In realistic situations, we cannot possibly learn about every single state!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/>
              <a:t>Too many states to visit them all during training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/>
              <a:t>Too many states to hold a value table in memory</a:t>
            </a:r>
            <a:endParaRPr sz="1500"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Instead, we want to generalize: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/>
              <a:t>Learn about some small number of training states from experience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/>
              <a:t>Generalize that experience to new, similar situations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/>
              <a:t>This is a fundamental idea in machine learning</a:t>
            </a:r>
            <a:endParaRPr/>
          </a:p>
        </p:txBody>
      </p:sp>
      <p:pic>
        <p:nvPicPr>
          <p:cNvPr id="322" name="Google Shape;322;g277b51e96ad_0_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70897" y="2929558"/>
            <a:ext cx="3182973" cy="1983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g277b51e96ad_0_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21644" y="990002"/>
            <a:ext cx="2228851" cy="1581567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g277b51e96ad_0_5"/>
          <p:cNvSpPr txBox="1">
            <a:spLocks noGrp="1"/>
          </p:cNvSpPr>
          <p:nvPr>
            <p:ph type="sldNum" idx="12"/>
          </p:nvPr>
        </p:nvSpPr>
        <p:spPr>
          <a:xfrm>
            <a:off x="6354344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77b51e96ad_0_13"/>
          <p:cNvSpPr txBox="1">
            <a:spLocks noGrp="1"/>
          </p:cNvSpPr>
          <p:nvPr>
            <p:ph type="title"/>
          </p:nvPr>
        </p:nvSpPr>
        <p:spPr>
          <a:xfrm>
            <a:off x="626166" y="23168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Example: Pacman</a:t>
            </a:r>
            <a:endParaRPr/>
          </a:p>
        </p:txBody>
      </p:sp>
      <p:grpSp>
        <p:nvGrpSpPr>
          <p:cNvPr id="331" name="Google Shape;331;g277b51e96ad_0_13"/>
          <p:cNvGrpSpPr/>
          <p:nvPr/>
        </p:nvGrpSpPr>
        <p:grpSpPr>
          <a:xfrm>
            <a:off x="685800" y="2482297"/>
            <a:ext cx="2170843" cy="2126741"/>
            <a:chOff x="3408" y="912"/>
            <a:chExt cx="1583" cy="1551"/>
          </a:xfrm>
        </p:grpSpPr>
        <p:grpSp>
          <p:nvGrpSpPr>
            <p:cNvPr id="332" name="Google Shape;332;g277b51e96ad_0_13"/>
            <p:cNvGrpSpPr/>
            <p:nvPr/>
          </p:nvGrpSpPr>
          <p:grpSpPr>
            <a:xfrm>
              <a:off x="3408" y="912"/>
              <a:ext cx="1583" cy="1551"/>
              <a:chOff x="3360" y="1008"/>
              <a:chExt cx="1583" cy="1551"/>
            </a:xfrm>
          </p:grpSpPr>
          <p:pic>
            <p:nvPicPr>
              <p:cNvPr id="333" name="Google Shape;333;g277b51e96ad_0_13"/>
              <p:cNvPicPr preferRelativeResize="0"/>
              <p:nvPr/>
            </p:nvPicPr>
            <p:blipFill rotWithShape="1">
              <a:blip r:embed="rId3">
                <a:alphaModFix/>
              </a:blip>
              <a:srcRect r="73026"/>
              <a:stretch/>
            </p:blipFill>
            <p:spPr>
              <a:xfrm>
                <a:off x="3360" y="1008"/>
                <a:ext cx="768" cy="15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4" name="Google Shape;334;g277b51e96ad_0_13"/>
              <p:cNvPicPr preferRelativeResize="0"/>
              <p:nvPr/>
            </p:nvPicPr>
            <p:blipFill rotWithShape="1">
              <a:blip r:embed="rId3">
                <a:alphaModFix/>
              </a:blip>
              <a:srcRect l="72497" r="-1157"/>
              <a:stretch/>
            </p:blipFill>
            <p:spPr>
              <a:xfrm>
                <a:off x="4128" y="1008"/>
                <a:ext cx="815" cy="15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35" name="Google Shape;335;g277b51e96ad_0_1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480" y="1872"/>
              <a:ext cx="216" cy="1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" name="Google Shape;336;g277b51e96ad_0_1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792" y="2160"/>
              <a:ext cx="197" cy="1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7" name="Google Shape;337;g277b51e96ad_0_1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504" y="2160"/>
              <a:ext cx="216" cy="18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8" name="Google Shape;338;g277b51e96ad_0_13"/>
          <p:cNvGrpSpPr/>
          <p:nvPr/>
        </p:nvGrpSpPr>
        <p:grpSpPr>
          <a:xfrm>
            <a:off x="3486150" y="2482297"/>
            <a:ext cx="2170843" cy="2126741"/>
            <a:chOff x="3456" y="2592"/>
            <a:chExt cx="1583" cy="1551"/>
          </a:xfrm>
        </p:grpSpPr>
        <p:grpSp>
          <p:nvGrpSpPr>
            <p:cNvPr id="339" name="Google Shape;339;g277b51e96ad_0_13"/>
            <p:cNvGrpSpPr/>
            <p:nvPr/>
          </p:nvGrpSpPr>
          <p:grpSpPr>
            <a:xfrm>
              <a:off x="3456" y="2592"/>
              <a:ext cx="1583" cy="1551"/>
              <a:chOff x="3360" y="1008"/>
              <a:chExt cx="1583" cy="1551"/>
            </a:xfrm>
          </p:grpSpPr>
          <p:pic>
            <p:nvPicPr>
              <p:cNvPr id="340" name="Google Shape;340;g277b51e96ad_0_13"/>
              <p:cNvPicPr preferRelativeResize="0"/>
              <p:nvPr/>
            </p:nvPicPr>
            <p:blipFill rotWithShape="1">
              <a:blip r:embed="rId3">
                <a:alphaModFix/>
              </a:blip>
              <a:srcRect r="73026"/>
              <a:stretch/>
            </p:blipFill>
            <p:spPr>
              <a:xfrm>
                <a:off x="3360" y="1008"/>
                <a:ext cx="768" cy="15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1" name="Google Shape;341;g277b51e96ad_0_13"/>
              <p:cNvPicPr preferRelativeResize="0"/>
              <p:nvPr/>
            </p:nvPicPr>
            <p:blipFill rotWithShape="1">
              <a:blip r:embed="rId3">
                <a:alphaModFix/>
              </a:blip>
              <a:srcRect l="72497" r="-1157"/>
              <a:stretch/>
            </p:blipFill>
            <p:spPr>
              <a:xfrm>
                <a:off x="4128" y="1008"/>
                <a:ext cx="815" cy="15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42" name="Google Shape;342;g277b51e96ad_0_1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272" y="2832"/>
              <a:ext cx="216" cy="1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3" name="Google Shape;343;g277b51e96ad_0_1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704" y="2976"/>
              <a:ext cx="197" cy="1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" name="Google Shape;344;g277b51e96ad_0_1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704" y="2688"/>
              <a:ext cx="216" cy="1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5" name="Google Shape;345;g277b51e96ad_0_13"/>
          <p:cNvSpPr txBox="1"/>
          <p:nvPr/>
        </p:nvSpPr>
        <p:spPr>
          <a:xfrm>
            <a:off x="32905" y="5015731"/>
            <a:ext cx="9144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sz="1100"/>
          </a:p>
        </p:txBody>
      </p:sp>
      <p:sp>
        <p:nvSpPr>
          <p:cNvPr id="346" name="Google Shape;346;g277b51e96ad_0_13"/>
          <p:cNvSpPr txBox="1"/>
          <p:nvPr/>
        </p:nvSpPr>
        <p:spPr>
          <a:xfrm>
            <a:off x="628650" y="1582889"/>
            <a:ext cx="2114700" cy="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say we discover through experience that this state is bad:</a:t>
            </a:r>
            <a:endParaRPr sz="1100"/>
          </a:p>
        </p:txBody>
      </p:sp>
      <p:sp>
        <p:nvSpPr>
          <p:cNvPr id="347" name="Google Shape;347;g277b51e96ad_0_13"/>
          <p:cNvSpPr txBox="1"/>
          <p:nvPr/>
        </p:nvSpPr>
        <p:spPr>
          <a:xfrm>
            <a:off x="3332849" y="1614368"/>
            <a:ext cx="2473500" cy="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naïve tabular-learning, we know nothing about this state:</a:t>
            </a:r>
            <a:endParaRPr sz="1100"/>
          </a:p>
        </p:txBody>
      </p:sp>
      <p:sp>
        <p:nvSpPr>
          <p:cNvPr id="348" name="Google Shape;348;g277b51e96ad_0_13"/>
          <p:cNvSpPr txBox="1"/>
          <p:nvPr/>
        </p:nvSpPr>
        <p:spPr>
          <a:xfrm>
            <a:off x="6334460" y="1863668"/>
            <a:ext cx="21147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even this one!</a:t>
            </a:r>
            <a:endParaRPr sz="1100"/>
          </a:p>
        </p:txBody>
      </p:sp>
      <p:grpSp>
        <p:nvGrpSpPr>
          <p:cNvPr id="349" name="Google Shape;349;g277b51e96ad_0_13"/>
          <p:cNvGrpSpPr/>
          <p:nvPr/>
        </p:nvGrpSpPr>
        <p:grpSpPr>
          <a:xfrm>
            <a:off x="6343880" y="2482367"/>
            <a:ext cx="2170952" cy="2126847"/>
            <a:chOff x="8458507" y="2971892"/>
            <a:chExt cx="2894602" cy="2835796"/>
          </a:xfrm>
        </p:grpSpPr>
        <p:grpSp>
          <p:nvGrpSpPr>
            <p:cNvPr id="350" name="Google Shape;350;g277b51e96ad_0_13"/>
            <p:cNvGrpSpPr/>
            <p:nvPr/>
          </p:nvGrpSpPr>
          <p:grpSpPr>
            <a:xfrm>
              <a:off x="8458507" y="2971892"/>
              <a:ext cx="2894602" cy="2835796"/>
              <a:chOff x="3744" y="3190"/>
              <a:chExt cx="1056" cy="1034"/>
            </a:xfrm>
          </p:grpSpPr>
          <p:grpSp>
            <p:nvGrpSpPr>
              <p:cNvPr id="351" name="Google Shape;351;g277b51e96ad_0_13"/>
              <p:cNvGrpSpPr/>
              <p:nvPr/>
            </p:nvGrpSpPr>
            <p:grpSpPr>
              <a:xfrm>
                <a:off x="3744" y="3190"/>
                <a:ext cx="1056" cy="1034"/>
                <a:chOff x="3360" y="1008"/>
                <a:chExt cx="1583" cy="1551"/>
              </a:xfrm>
            </p:grpSpPr>
            <p:pic>
              <p:nvPicPr>
                <p:cNvPr id="352" name="Google Shape;352;g277b51e96ad_0_1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r="73026"/>
                <a:stretch/>
              </p:blipFill>
              <p:spPr>
                <a:xfrm>
                  <a:off x="3360" y="1008"/>
                  <a:ext cx="768" cy="15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53" name="Google Shape;353;g277b51e96ad_0_1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l="72497" r="-1157"/>
                <a:stretch/>
              </p:blipFill>
              <p:spPr>
                <a:xfrm>
                  <a:off x="4128" y="1008"/>
                  <a:ext cx="815" cy="15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354" name="Google Shape;354;g277b51e96ad_0_13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3792" y="3830"/>
                <a:ext cx="144" cy="11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5" name="Google Shape;355;g277b51e96ad_0_13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4000" y="4022"/>
                <a:ext cx="131" cy="1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6" name="Google Shape;356;g277b51e96ad_0_13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3808" y="4022"/>
                <a:ext cx="144" cy="1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7" name="Google Shape;357;g277b51e96ad_0_13"/>
              <p:cNvSpPr/>
              <p:nvPr/>
            </p:nvSpPr>
            <p:spPr>
              <a:xfrm>
                <a:off x="4512" y="3264"/>
                <a:ext cx="0" cy="0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8" name="Google Shape;358;g277b51e96ad_0_13"/>
            <p:cNvSpPr/>
            <p:nvPr/>
          </p:nvSpPr>
          <p:spPr>
            <a:xfrm>
              <a:off x="10549837" y="3152802"/>
              <a:ext cx="291600" cy="336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9" name="Google Shape;359;g277b51e96ad_0_13"/>
          <p:cNvSpPr txBox="1">
            <a:spLocks noGrp="1"/>
          </p:cNvSpPr>
          <p:nvPr>
            <p:ph type="sldNum" idx="12"/>
          </p:nvPr>
        </p:nvSpPr>
        <p:spPr>
          <a:xfrm>
            <a:off x="6354344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g277b51e96ad_0_47" descr="naiveQ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699163" y="20060"/>
            <a:ext cx="5444700" cy="512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g277b51e96ad_0_47"/>
          <p:cNvSpPr txBox="1"/>
          <p:nvPr/>
        </p:nvSpPr>
        <p:spPr>
          <a:xfrm>
            <a:off x="457200" y="1200151"/>
            <a:ext cx="3150000" cy="3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Naïve Q-learning</a:t>
            </a:r>
            <a:endParaRPr sz="1100"/>
          </a:p>
          <a:p>
            <a:pPr marL="254000" marR="0" lvl="0" indent="-254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After 50 training episodes </a:t>
            </a:r>
            <a:endParaRPr sz="1100"/>
          </a:p>
        </p:txBody>
      </p:sp>
      <p:sp>
        <p:nvSpPr>
          <p:cNvPr id="366" name="Google Shape;366;g277b51e96ad_0_47"/>
          <p:cNvSpPr txBox="1">
            <a:spLocks noGrp="1"/>
          </p:cNvSpPr>
          <p:nvPr>
            <p:ph type="sldNum" idx="12"/>
          </p:nvPr>
        </p:nvSpPr>
        <p:spPr>
          <a:xfrm>
            <a:off x="6354344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77b51e96ad_0_54"/>
          <p:cNvSpPr txBox="1">
            <a:spLocks noGrp="1"/>
          </p:cNvSpPr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857"/>
              <a:buFont typeface="Calibri"/>
              <a:buNone/>
            </a:pPr>
            <a:r>
              <a:rPr lang="en-US"/>
              <a:t>Learn an approximation function</a:t>
            </a:r>
            <a:endParaRPr/>
          </a:p>
        </p:txBody>
      </p:sp>
      <p:pic>
        <p:nvPicPr>
          <p:cNvPr id="372" name="Google Shape;372;g277b51e96ad_0_54" descr="Image result for happy sad index&quot;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4592" y="3889357"/>
            <a:ext cx="1950347" cy="9768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g277b51e96ad_0_54"/>
          <p:cNvGrpSpPr/>
          <p:nvPr/>
        </p:nvGrpSpPr>
        <p:grpSpPr>
          <a:xfrm>
            <a:off x="1948246" y="1784076"/>
            <a:ext cx="1508165" cy="1508962"/>
            <a:chOff x="3408" y="912"/>
            <a:chExt cx="1583" cy="1551"/>
          </a:xfrm>
        </p:grpSpPr>
        <p:grpSp>
          <p:nvGrpSpPr>
            <p:cNvPr id="374" name="Google Shape;374;g277b51e96ad_0_54"/>
            <p:cNvGrpSpPr/>
            <p:nvPr/>
          </p:nvGrpSpPr>
          <p:grpSpPr>
            <a:xfrm>
              <a:off x="3408" y="912"/>
              <a:ext cx="1583" cy="1551"/>
              <a:chOff x="3360" y="1008"/>
              <a:chExt cx="1583" cy="1551"/>
            </a:xfrm>
          </p:grpSpPr>
          <p:pic>
            <p:nvPicPr>
              <p:cNvPr id="375" name="Google Shape;375;g277b51e96ad_0_54"/>
              <p:cNvPicPr preferRelativeResize="0"/>
              <p:nvPr/>
            </p:nvPicPr>
            <p:blipFill rotWithShape="1">
              <a:blip r:embed="rId4">
                <a:alphaModFix/>
              </a:blip>
              <a:srcRect r="73026"/>
              <a:stretch/>
            </p:blipFill>
            <p:spPr>
              <a:xfrm>
                <a:off x="3360" y="1008"/>
                <a:ext cx="768" cy="15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6" name="Google Shape;376;g277b51e96ad_0_54"/>
              <p:cNvPicPr preferRelativeResize="0"/>
              <p:nvPr/>
            </p:nvPicPr>
            <p:blipFill rotWithShape="1">
              <a:blip r:embed="rId4">
                <a:alphaModFix/>
              </a:blip>
              <a:srcRect l="72497" r="-1157"/>
              <a:stretch/>
            </p:blipFill>
            <p:spPr>
              <a:xfrm>
                <a:off x="4128" y="1008"/>
                <a:ext cx="815" cy="15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77" name="Google Shape;377;g277b51e96ad_0_5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480" y="1872"/>
              <a:ext cx="216" cy="1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8" name="Google Shape;378;g277b51e96ad_0_5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792" y="2160"/>
              <a:ext cx="197" cy="1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9" name="Google Shape;379;g277b51e96ad_0_5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504" y="2160"/>
              <a:ext cx="216" cy="18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0" name="Google Shape;380;g277b51e96ad_0_54"/>
          <p:cNvGrpSpPr/>
          <p:nvPr/>
        </p:nvGrpSpPr>
        <p:grpSpPr>
          <a:xfrm>
            <a:off x="5213810" y="1784076"/>
            <a:ext cx="1508165" cy="1508962"/>
            <a:chOff x="3456" y="2592"/>
            <a:chExt cx="1583" cy="1551"/>
          </a:xfrm>
        </p:grpSpPr>
        <p:grpSp>
          <p:nvGrpSpPr>
            <p:cNvPr id="381" name="Google Shape;381;g277b51e96ad_0_54"/>
            <p:cNvGrpSpPr/>
            <p:nvPr/>
          </p:nvGrpSpPr>
          <p:grpSpPr>
            <a:xfrm>
              <a:off x="3456" y="2592"/>
              <a:ext cx="1583" cy="1551"/>
              <a:chOff x="3360" y="1008"/>
              <a:chExt cx="1583" cy="1551"/>
            </a:xfrm>
          </p:grpSpPr>
          <p:pic>
            <p:nvPicPr>
              <p:cNvPr id="382" name="Google Shape;382;g277b51e96ad_0_54"/>
              <p:cNvPicPr preferRelativeResize="0"/>
              <p:nvPr/>
            </p:nvPicPr>
            <p:blipFill rotWithShape="1">
              <a:blip r:embed="rId4">
                <a:alphaModFix/>
              </a:blip>
              <a:srcRect r="73026"/>
              <a:stretch/>
            </p:blipFill>
            <p:spPr>
              <a:xfrm>
                <a:off x="3360" y="1008"/>
                <a:ext cx="768" cy="15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3" name="Google Shape;383;g277b51e96ad_0_54"/>
              <p:cNvPicPr preferRelativeResize="0"/>
              <p:nvPr/>
            </p:nvPicPr>
            <p:blipFill rotWithShape="1">
              <a:blip r:embed="rId4">
                <a:alphaModFix/>
              </a:blip>
              <a:srcRect l="72497" r="-1157"/>
              <a:stretch/>
            </p:blipFill>
            <p:spPr>
              <a:xfrm>
                <a:off x="4128" y="1008"/>
                <a:ext cx="815" cy="15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84" name="Google Shape;384;g277b51e96ad_0_5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272" y="2832"/>
              <a:ext cx="216" cy="1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5" name="Google Shape;385;g277b51e96ad_0_5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704" y="2976"/>
              <a:ext cx="197" cy="1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6" name="Google Shape;386;g277b51e96ad_0_5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704" y="2688"/>
              <a:ext cx="216" cy="18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7" name="Google Shape;387;g277b51e96ad_0_54"/>
          <p:cNvGrpSpPr/>
          <p:nvPr/>
        </p:nvGrpSpPr>
        <p:grpSpPr>
          <a:xfrm>
            <a:off x="7382321" y="1784010"/>
            <a:ext cx="1508088" cy="1508927"/>
            <a:chOff x="8458507" y="2971892"/>
            <a:chExt cx="2894602" cy="2835796"/>
          </a:xfrm>
        </p:grpSpPr>
        <p:grpSp>
          <p:nvGrpSpPr>
            <p:cNvPr id="388" name="Google Shape;388;g277b51e96ad_0_54"/>
            <p:cNvGrpSpPr/>
            <p:nvPr/>
          </p:nvGrpSpPr>
          <p:grpSpPr>
            <a:xfrm>
              <a:off x="8458507" y="2971892"/>
              <a:ext cx="2894602" cy="2835796"/>
              <a:chOff x="3744" y="3190"/>
              <a:chExt cx="1056" cy="1034"/>
            </a:xfrm>
          </p:grpSpPr>
          <p:grpSp>
            <p:nvGrpSpPr>
              <p:cNvPr id="389" name="Google Shape;389;g277b51e96ad_0_54"/>
              <p:cNvGrpSpPr/>
              <p:nvPr/>
            </p:nvGrpSpPr>
            <p:grpSpPr>
              <a:xfrm>
                <a:off x="3744" y="3190"/>
                <a:ext cx="1056" cy="1034"/>
                <a:chOff x="3360" y="1008"/>
                <a:chExt cx="1583" cy="1551"/>
              </a:xfrm>
            </p:grpSpPr>
            <p:pic>
              <p:nvPicPr>
                <p:cNvPr id="390" name="Google Shape;390;g277b51e96ad_0_54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r="73026"/>
                <a:stretch/>
              </p:blipFill>
              <p:spPr>
                <a:xfrm>
                  <a:off x="3360" y="1008"/>
                  <a:ext cx="768" cy="15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91" name="Google Shape;391;g277b51e96ad_0_54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l="72497" r="-1157"/>
                <a:stretch/>
              </p:blipFill>
              <p:spPr>
                <a:xfrm>
                  <a:off x="4128" y="1008"/>
                  <a:ext cx="815" cy="15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392" name="Google Shape;392;g277b51e96ad_0_54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3792" y="3830"/>
                <a:ext cx="144" cy="11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93" name="Google Shape;393;g277b51e96ad_0_54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4000" y="4022"/>
                <a:ext cx="131" cy="1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94" name="Google Shape;394;g277b51e96ad_0_54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3808" y="4022"/>
                <a:ext cx="144" cy="1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5" name="Google Shape;395;g277b51e96ad_0_54"/>
              <p:cNvSpPr/>
              <p:nvPr/>
            </p:nvSpPr>
            <p:spPr>
              <a:xfrm>
                <a:off x="4512" y="3264"/>
                <a:ext cx="0" cy="0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6" name="Google Shape;396;g277b51e96ad_0_54"/>
            <p:cNvSpPr/>
            <p:nvPr/>
          </p:nvSpPr>
          <p:spPr>
            <a:xfrm>
              <a:off x="10549837" y="3152802"/>
              <a:ext cx="291600" cy="336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97" name="Google Shape;397;g277b51e96ad_0_54" descr="Image result for happy sad index&quot;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70156" y="3889357"/>
            <a:ext cx="1950347" cy="976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g277b51e96ad_0_54" descr="Image result for happy sad index&quot;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38952" y="3882968"/>
            <a:ext cx="1950347" cy="9768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9" name="Google Shape;399;g277b51e96ad_0_54"/>
          <p:cNvCxnSpPr>
            <a:endCxn id="372" idx="0"/>
          </p:cNvCxnSpPr>
          <p:nvPr/>
        </p:nvCxnSpPr>
        <p:spPr>
          <a:xfrm>
            <a:off x="2679765" y="3292957"/>
            <a:ext cx="0" cy="596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0" name="Google Shape;400;g277b51e96ad_0_54"/>
          <p:cNvCxnSpPr/>
          <p:nvPr/>
        </p:nvCxnSpPr>
        <p:spPr>
          <a:xfrm rot="10800000">
            <a:off x="1938473" y="3587902"/>
            <a:ext cx="731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01" name="Google Shape;401;g277b51e96ad_0_54"/>
          <p:cNvSpPr txBox="1"/>
          <p:nvPr/>
        </p:nvSpPr>
        <p:spPr>
          <a:xfrm>
            <a:off x="561731" y="3410267"/>
            <a:ext cx="1217100" cy="2769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549" t="-13329" r="-3099" b="-13339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cxnSp>
        <p:nvCxnSpPr>
          <p:cNvPr id="402" name="Google Shape;402;g277b51e96ad_0_54"/>
          <p:cNvCxnSpPr>
            <a:endCxn id="397" idx="0"/>
          </p:cNvCxnSpPr>
          <p:nvPr/>
        </p:nvCxnSpPr>
        <p:spPr>
          <a:xfrm>
            <a:off x="5945330" y="3292957"/>
            <a:ext cx="0" cy="596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03" name="Google Shape;403;g277b51e96ad_0_54"/>
          <p:cNvCxnSpPr/>
          <p:nvPr/>
        </p:nvCxnSpPr>
        <p:spPr>
          <a:xfrm>
            <a:off x="8114126" y="3292836"/>
            <a:ext cx="9000" cy="5901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04" name="Google Shape;404;g277b51e96ad_0_54"/>
          <p:cNvSpPr/>
          <p:nvPr/>
        </p:nvSpPr>
        <p:spPr>
          <a:xfrm>
            <a:off x="2164226" y="4650010"/>
            <a:ext cx="162600" cy="2385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277b51e96ad_0_54"/>
          <p:cNvSpPr/>
          <p:nvPr/>
        </p:nvSpPr>
        <p:spPr>
          <a:xfrm>
            <a:off x="5777100" y="4650010"/>
            <a:ext cx="162401" cy="238539"/>
          </a:xfrm>
          <a:custGeom>
            <a:avLst/>
            <a:gdLst/>
            <a:ahLst/>
            <a:cxnLst/>
            <a:rect l="l" t="t" r="r" b="b"/>
            <a:pathLst>
              <a:path w="216535" h="318052" fill="none" extrusionOk="0">
                <a:moveTo>
                  <a:pt x="0" y="108268"/>
                </a:moveTo>
                <a:cubicBezTo>
                  <a:pt x="41551" y="56019"/>
                  <a:pt x="72165" y="49265"/>
                  <a:pt x="108268" y="0"/>
                </a:cubicBezTo>
                <a:cubicBezTo>
                  <a:pt x="151835" y="21029"/>
                  <a:pt x="168000" y="76693"/>
                  <a:pt x="216535" y="108268"/>
                </a:cubicBezTo>
                <a:cubicBezTo>
                  <a:pt x="192013" y="114697"/>
                  <a:pt x="187497" y="106459"/>
                  <a:pt x="162401" y="108268"/>
                </a:cubicBezTo>
                <a:cubicBezTo>
                  <a:pt x="178579" y="204951"/>
                  <a:pt x="140097" y="226382"/>
                  <a:pt x="162401" y="318052"/>
                </a:cubicBezTo>
                <a:cubicBezTo>
                  <a:pt x="136109" y="329707"/>
                  <a:pt x="86755" y="317701"/>
                  <a:pt x="54134" y="318052"/>
                </a:cubicBezTo>
                <a:cubicBezTo>
                  <a:pt x="30719" y="223262"/>
                  <a:pt x="78967" y="185045"/>
                  <a:pt x="54134" y="108268"/>
                </a:cubicBezTo>
                <a:cubicBezTo>
                  <a:pt x="41913" y="110502"/>
                  <a:pt x="22298" y="106611"/>
                  <a:pt x="0" y="108268"/>
                </a:cubicBezTo>
                <a:close/>
              </a:path>
              <a:path w="216535" h="318052" extrusionOk="0">
                <a:moveTo>
                  <a:pt x="0" y="108268"/>
                </a:moveTo>
                <a:cubicBezTo>
                  <a:pt x="11153" y="74611"/>
                  <a:pt x="88117" y="44436"/>
                  <a:pt x="108268" y="0"/>
                </a:cubicBezTo>
                <a:cubicBezTo>
                  <a:pt x="142252" y="25992"/>
                  <a:pt x="152161" y="64605"/>
                  <a:pt x="216535" y="108268"/>
                </a:cubicBezTo>
                <a:cubicBezTo>
                  <a:pt x="192454" y="111055"/>
                  <a:pt x="189142" y="102461"/>
                  <a:pt x="162401" y="108268"/>
                </a:cubicBezTo>
                <a:cubicBezTo>
                  <a:pt x="172543" y="194284"/>
                  <a:pt x="138766" y="242301"/>
                  <a:pt x="162401" y="318052"/>
                </a:cubicBezTo>
                <a:cubicBezTo>
                  <a:pt x="128717" y="320427"/>
                  <a:pt x="103084" y="317995"/>
                  <a:pt x="54134" y="318052"/>
                </a:cubicBezTo>
                <a:cubicBezTo>
                  <a:pt x="37947" y="265999"/>
                  <a:pt x="58708" y="152413"/>
                  <a:pt x="54134" y="108268"/>
                </a:cubicBezTo>
                <a:cubicBezTo>
                  <a:pt x="38910" y="109837"/>
                  <a:pt x="16306" y="107917"/>
                  <a:pt x="0" y="108268"/>
                </a:cubicBezTo>
                <a:close/>
              </a:path>
            </a:pathLst>
          </a:custGeom>
          <a:gradFill>
            <a:gsLst>
              <a:gs pos="0">
                <a:srgbClr val="92AAEA"/>
              </a:gs>
              <a:gs pos="50000">
                <a:srgbClr val="BDCAF0"/>
              </a:gs>
              <a:gs pos="100000">
                <a:srgbClr val="DEE4F7"/>
              </a:gs>
            </a:gsLst>
            <a:path path="circle">
              <a:fillToRect l="50000" t="50000" r="50000" b="50000"/>
            </a:path>
            <a:tileRect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277b51e96ad_0_54"/>
          <p:cNvSpPr/>
          <p:nvPr/>
        </p:nvSpPr>
        <p:spPr>
          <a:xfrm>
            <a:off x="7666584" y="4650010"/>
            <a:ext cx="162401" cy="238539"/>
          </a:xfrm>
          <a:custGeom>
            <a:avLst/>
            <a:gdLst/>
            <a:ahLst/>
            <a:cxnLst/>
            <a:rect l="l" t="t" r="r" b="b"/>
            <a:pathLst>
              <a:path w="216535" h="318052" fill="none" extrusionOk="0">
                <a:moveTo>
                  <a:pt x="0" y="108268"/>
                </a:moveTo>
                <a:cubicBezTo>
                  <a:pt x="24173" y="76392"/>
                  <a:pt x="77770" y="37338"/>
                  <a:pt x="108268" y="0"/>
                </a:cubicBezTo>
                <a:cubicBezTo>
                  <a:pt x="148428" y="33603"/>
                  <a:pt x="190089" y="84952"/>
                  <a:pt x="216535" y="108268"/>
                </a:cubicBezTo>
                <a:cubicBezTo>
                  <a:pt x="193866" y="112279"/>
                  <a:pt x="179918" y="107122"/>
                  <a:pt x="162401" y="108268"/>
                </a:cubicBezTo>
                <a:cubicBezTo>
                  <a:pt x="182639" y="177389"/>
                  <a:pt x="138339" y="272417"/>
                  <a:pt x="162401" y="318052"/>
                </a:cubicBezTo>
                <a:cubicBezTo>
                  <a:pt x="134217" y="329666"/>
                  <a:pt x="90709" y="310611"/>
                  <a:pt x="54134" y="318052"/>
                </a:cubicBezTo>
                <a:cubicBezTo>
                  <a:pt x="30128" y="222831"/>
                  <a:pt x="61341" y="157297"/>
                  <a:pt x="54134" y="108268"/>
                </a:cubicBezTo>
                <a:cubicBezTo>
                  <a:pt x="29904" y="112908"/>
                  <a:pt x="14458" y="105862"/>
                  <a:pt x="0" y="108268"/>
                </a:cubicBezTo>
                <a:close/>
              </a:path>
              <a:path w="216535" h="318052" extrusionOk="0">
                <a:moveTo>
                  <a:pt x="0" y="108268"/>
                </a:moveTo>
                <a:cubicBezTo>
                  <a:pt x="21334" y="71863"/>
                  <a:pt x="59975" y="56865"/>
                  <a:pt x="108268" y="0"/>
                </a:cubicBezTo>
                <a:cubicBezTo>
                  <a:pt x="154371" y="25732"/>
                  <a:pt x="182841" y="89351"/>
                  <a:pt x="216535" y="108268"/>
                </a:cubicBezTo>
                <a:cubicBezTo>
                  <a:pt x="205260" y="110916"/>
                  <a:pt x="186365" y="104807"/>
                  <a:pt x="162401" y="108268"/>
                </a:cubicBezTo>
                <a:cubicBezTo>
                  <a:pt x="175207" y="186772"/>
                  <a:pt x="151321" y="231511"/>
                  <a:pt x="162401" y="318052"/>
                </a:cubicBezTo>
                <a:cubicBezTo>
                  <a:pt x="133647" y="320423"/>
                  <a:pt x="84341" y="311913"/>
                  <a:pt x="54134" y="318052"/>
                </a:cubicBezTo>
                <a:cubicBezTo>
                  <a:pt x="52606" y="229334"/>
                  <a:pt x="57533" y="163379"/>
                  <a:pt x="54134" y="108268"/>
                </a:cubicBezTo>
                <a:cubicBezTo>
                  <a:pt x="37509" y="114620"/>
                  <a:pt x="26391" y="106439"/>
                  <a:pt x="0" y="108268"/>
                </a:cubicBezTo>
                <a:close/>
              </a:path>
            </a:pathLst>
          </a:custGeom>
          <a:gradFill>
            <a:gsLst>
              <a:gs pos="0">
                <a:srgbClr val="92AAEA"/>
              </a:gs>
              <a:gs pos="50000">
                <a:srgbClr val="BDCAF0"/>
              </a:gs>
              <a:gs pos="100000">
                <a:srgbClr val="DEE4F7"/>
              </a:gs>
            </a:gsLst>
            <a:path path="circle">
              <a:fillToRect l="50000" t="50000" r="50000" b="50000"/>
            </a:path>
            <a:tileRect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277b51e96ad_0_54"/>
          <p:cNvSpPr txBox="1"/>
          <p:nvPr/>
        </p:nvSpPr>
        <p:spPr>
          <a:xfrm>
            <a:off x="2343614" y="1360720"/>
            <a:ext cx="6723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Learn</a:t>
            </a:r>
            <a:endParaRPr sz="1100"/>
          </a:p>
        </p:txBody>
      </p:sp>
      <p:sp>
        <p:nvSpPr>
          <p:cNvPr id="408" name="Google Shape;408;g277b51e96ad_0_54"/>
          <p:cNvSpPr txBox="1"/>
          <p:nvPr/>
        </p:nvSpPr>
        <p:spPr>
          <a:xfrm>
            <a:off x="3705595" y="1892053"/>
            <a:ext cx="1149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Generalize</a:t>
            </a:r>
            <a:endParaRPr sz="1100"/>
          </a:p>
        </p:txBody>
      </p:sp>
      <p:sp>
        <p:nvSpPr>
          <p:cNvPr id="409" name="Google Shape;409;g277b51e96ad_0_54"/>
          <p:cNvSpPr txBox="1"/>
          <p:nvPr/>
        </p:nvSpPr>
        <p:spPr>
          <a:xfrm>
            <a:off x="6637213" y="1360720"/>
            <a:ext cx="8142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Predict</a:t>
            </a:r>
            <a:endParaRPr sz="1100"/>
          </a:p>
        </p:txBody>
      </p:sp>
      <p:sp>
        <p:nvSpPr>
          <p:cNvPr id="410" name="Google Shape;410;g277b51e96ad_0_54"/>
          <p:cNvSpPr/>
          <p:nvPr/>
        </p:nvSpPr>
        <p:spPr>
          <a:xfrm>
            <a:off x="3760467" y="2330771"/>
            <a:ext cx="1149900" cy="55050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277b51e96ad_0_54"/>
          <p:cNvSpPr txBox="1"/>
          <p:nvPr/>
        </p:nvSpPr>
        <p:spPr>
          <a:xfrm>
            <a:off x="80911" y="5272365"/>
            <a:ext cx="91440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Demo: python3 pacman.py -p PacmanQAgent -x 50 -n 60 -l mediumGrid ; python3 pacman.py -p ApproximateQAgent -a extractor=SimpleExtractor -x 50 -n 60 -l mediumGrid ; python3 pacman.py -p ApproximateQAgent -n 10 -l smallClassic -a numTraining=10 -a extractor=SimpleExtractor</a:t>
            </a:r>
            <a:endParaRPr sz="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/>
          </a:p>
        </p:txBody>
      </p:sp>
      <p:sp>
        <p:nvSpPr>
          <p:cNvPr id="412" name="Google Shape;412;g277b51e96ad_0_54"/>
          <p:cNvSpPr txBox="1"/>
          <p:nvPr/>
        </p:nvSpPr>
        <p:spPr>
          <a:xfrm>
            <a:off x="5213810" y="3410267"/>
            <a:ext cx="723300" cy="2769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2599" t="-13329" b="-6669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413" name="Google Shape;413;g277b51e96ad_0_54"/>
          <p:cNvSpPr txBox="1"/>
          <p:nvPr/>
        </p:nvSpPr>
        <p:spPr>
          <a:xfrm>
            <a:off x="7390898" y="3403965"/>
            <a:ext cx="723300" cy="2769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l="-2599" t="-9999" b="-6668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414" name="Google Shape;414;g277b51e96ad_0_54"/>
          <p:cNvSpPr txBox="1">
            <a:spLocks noGrp="1"/>
          </p:cNvSpPr>
          <p:nvPr>
            <p:ph type="sldNum" idx="12"/>
          </p:nvPr>
        </p:nvSpPr>
        <p:spPr>
          <a:xfrm>
            <a:off x="6354344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77b51e96ad_0_101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2930100" cy="3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Q-learning  with function approximator</a:t>
            </a:r>
            <a:endParaRPr/>
          </a:p>
        </p:txBody>
      </p:sp>
      <p:pic>
        <p:nvPicPr>
          <p:cNvPr id="421" name="Google Shape;421;g277b51e96ad_0_101" descr="funcapprox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2064" y="17269"/>
            <a:ext cx="5101937" cy="5126231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277b51e96ad_0_101"/>
          <p:cNvSpPr txBox="1">
            <a:spLocks noGrp="1"/>
          </p:cNvSpPr>
          <p:nvPr>
            <p:ph type="sldNum" idx="12"/>
          </p:nvPr>
        </p:nvSpPr>
        <p:spPr>
          <a:xfrm>
            <a:off x="6354344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77b51e96ad_0_108"/>
          <p:cNvSpPr txBox="1">
            <a:spLocks noGrp="1"/>
          </p:cNvSpPr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857"/>
              <a:buFont typeface="Calibri"/>
              <a:buNone/>
            </a:pPr>
            <a:r>
              <a:rPr lang="en-US"/>
              <a:t>Parameterized function approximator</a:t>
            </a:r>
            <a:endParaRPr/>
          </a:p>
        </p:txBody>
      </p:sp>
      <p:sp>
        <p:nvSpPr>
          <p:cNvPr id="428" name="Google Shape;428;g277b51e96ad_0_108"/>
          <p:cNvSpPr txBox="1">
            <a:spLocks noGrp="1"/>
          </p:cNvSpPr>
          <p:nvPr>
            <p:ph type="body" idx="1"/>
          </p:nvPr>
        </p:nvSpPr>
        <p:spPr>
          <a:xfrm>
            <a:off x="195150" y="935131"/>
            <a:ext cx="6390600" cy="2562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209" t="-2329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 </a:t>
            </a:r>
            <a:endParaRPr/>
          </a:p>
        </p:txBody>
      </p:sp>
      <p:grpSp>
        <p:nvGrpSpPr>
          <p:cNvPr id="429" name="Google Shape;429;g277b51e96ad_0_108"/>
          <p:cNvGrpSpPr/>
          <p:nvPr/>
        </p:nvGrpSpPr>
        <p:grpSpPr>
          <a:xfrm>
            <a:off x="5984027" y="2634779"/>
            <a:ext cx="3134718" cy="1609963"/>
            <a:chOff x="7978703" y="3513038"/>
            <a:chExt cx="4179624" cy="2146617"/>
          </a:xfrm>
        </p:grpSpPr>
        <p:pic>
          <p:nvPicPr>
            <p:cNvPr id="430" name="Google Shape;430;g277b51e96ad_0_108" descr="Image result for neural net&quot;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978703" y="3609473"/>
              <a:ext cx="4179624" cy="20501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1" name="Google Shape;431;g277b51e96ad_0_108"/>
            <p:cNvSpPr/>
            <p:nvPr/>
          </p:nvSpPr>
          <p:spPr>
            <a:xfrm>
              <a:off x="8102230" y="3902017"/>
              <a:ext cx="456900" cy="4002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1561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sz="1100"/>
            </a:p>
          </p:txBody>
        </p:sp>
        <p:sp>
          <p:nvSpPr>
            <p:cNvPr id="432" name="Google Shape;432;g277b51e96ad_0_108"/>
            <p:cNvSpPr/>
            <p:nvPr/>
          </p:nvSpPr>
          <p:spPr>
            <a:xfrm>
              <a:off x="8102229" y="4296287"/>
              <a:ext cx="462900" cy="4002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1249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sz="1100"/>
            </a:p>
          </p:txBody>
        </p:sp>
        <p:sp>
          <p:nvSpPr>
            <p:cNvPr id="433" name="Google Shape;433;g277b51e96ad_0_108"/>
            <p:cNvSpPr/>
            <p:nvPr/>
          </p:nvSpPr>
          <p:spPr>
            <a:xfrm>
              <a:off x="8111853" y="4662046"/>
              <a:ext cx="462900" cy="4002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1249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sz="1100"/>
            </a:p>
          </p:txBody>
        </p:sp>
        <p:sp>
          <p:nvSpPr>
            <p:cNvPr id="434" name="Google Shape;434;g277b51e96ad_0_108"/>
            <p:cNvSpPr/>
            <p:nvPr/>
          </p:nvSpPr>
          <p:spPr>
            <a:xfrm>
              <a:off x="8463531" y="3569946"/>
              <a:ext cx="845700" cy="4002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sz="1100"/>
            </a:p>
          </p:txBody>
        </p:sp>
        <p:sp>
          <p:nvSpPr>
            <p:cNvPr id="435" name="Google Shape;435;g277b51e96ad_0_108"/>
            <p:cNvSpPr/>
            <p:nvPr/>
          </p:nvSpPr>
          <p:spPr>
            <a:xfrm>
              <a:off x="9594442" y="3513038"/>
              <a:ext cx="954600" cy="4002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sz="1100"/>
            </a:p>
          </p:txBody>
        </p:sp>
        <p:sp>
          <p:nvSpPr>
            <p:cNvPr id="436" name="Google Shape;436;g277b51e96ad_0_108"/>
            <p:cNvSpPr/>
            <p:nvPr/>
          </p:nvSpPr>
          <p:spPr>
            <a:xfrm>
              <a:off x="10803568" y="3689692"/>
              <a:ext cx="954000" cy="40020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sz="1100"/>
            </a:p>
          </p:txBody>
        </p:sp>
        <p:sp>
          <p:nvSpPr>
            <p:cNvPr id="437" name="Google Shape;437;g277b51e96ad_0_108"/>
            <p:cNvSpPr/>
            <p:nvPr/>
          </p:nvSpPr>
          <p:spPr>
            <a:xfrm>
              <a:off x="11477326" y="4274563"/>
              <a:ext cx="389400" cy="400200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t="-311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sz="1100"/>
            </a:p>
          </p:txBody>
        </p:sp>
      </p:grpSp>
      <p:sp>
        <p:nvSpPr>
          <p:cNvPr id="438" name="Google Shape;438;g277b51e96ad_0_108"/>
          <p:cNvSpPr txBox="1">
            <a:spLocks noGrp="1"/>
          </p:cNvSpPr>
          <p:nvPr>
            <p:ph type="sldNum" idx="12"/>
          </p:nvPr>
        </p:nvSpPr>
        <p:spPr>
          <a:xfrm>
            <a:off x="6354344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77b51e96ad_0_123"/>
          <p:cNvSpPr txBox="1">
            <a:spLocks noGrp="1"/>
          </p:cNvSpPr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857"/>
              <a:buFont typeface="Calibri"/>
              <a:buNone/>
            </a:pPr>
            <a:r>
              <a:rPr lang="en-US"/>
              <a:t>Gradient Descent</a:t>
            </a:r>
            <a:endParaRPr/>
          </a:p>
        </p:txBody>
      </p:sp>
      <p:sp>
        <p:nvSpPr>
          <p:cNvPr id="444" name="Google Shape;444;g277b51e96ad_0_123"/>
          <p:cNvSpPr txBox="1">
            <a:spLocks noGrp="1"/>
          </p:cNvSpPr>
          <p:nvPr>
            <p:ph type="body" idx="1"/>
          </p:nvPr>
        </p:nvSpPr>
        <p:spPr>
          <a:xfrm>
            <a:off x="233775" y="864356"/>
            <a:ext cx="6390600" cy="2562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89" t="-2329" b="-6968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 </a:t>
            </a:r>
            <a:endParaRPr/>
          </a:p>
        </p:txBody>
      </p:sp>
      <p:sp>
        <p:nvSpPr>
          <p:cNvPr id="445" name="Google Shape;445;g277b51e96ad_0_123"/>
          <p:cNvSpPr txBox="1">
            <a:spLocks noGrp="1"/>
          </p:cNvSpPr>
          <p:nvPr>
            <p:ph type="sldNum" idx="12"/>
          </p:nvPr>
        </p:nvSpPr>
        <p:spPr>
          <a:xfrm>
            <a:off x="6354344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77b51e96ad_0_129"/>
          <p:cNvSpPr txBox="1">
            <a:spLocks noGrp="1"/>
          </p:cNvSpPr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857"/>
              <a:buFont typeface="Calibri"/>
              <a:buNone/>
            </a:pPr>
            <a:r>
              <a:rPr lang="en-US"/>
              <a:t>Gradient Decent</a:t>
            </a:r>
            <a:endParaRPr/>
          </a:p>
        </p:txBody>
      </p:sp>
      <p:sp>
        <p:nvSpPr>
          <p:cNvPr id="451" name="Google Shape;451;g277b51e96ad_0_129"/>
          <p:cNvSpPr txBox="1">
            <a:spLocks noGrp="1"/>
          </p:cNvSpPr>
          <p:nvPr>
            <p:ph type="body" idx="1"/>
          </p:nvPr>
        </p:nvSpPr>
        <p:spPr>
          <a:xfrm>
            <a:off x="233775" y="864356"/>
            <a:ext cx="6390600" cy="2562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89" t="-14238" r="-239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 </a:t>
            </a:r>
            <a:endParaRPr/>
          </a:p>
        </p:txBody>
      </p:sp>
      <p:sp>
        <p:nvSpPr>
          <p:cNvPr id="452" name="Google Shape;452;g277b51e96ad_0_129"/>
          <p:cNvSpPr/>
          <p:nvPr/>
        </p:nvSpPr>
        <p:spPr>
          <a:xfrm>
            <a:off x="7263286" y="785356"/>
            <a:ext cx="1631092" cy="1167725"/>
          </a:xfrm>
          <a:custGeom>
            <a:avLst/>
            <a:gdLst/>
            <a:ahLst/>
            <a:cxnLst/>
            <a:rect l="l" t="t" r="r" b="b"/>
            <a:pathLst>
              <a:path w="2174789" h="1556967" extrusionOk="0">
                <a:moveTo>
                  <a:pt x="0" y="24714"/>
                </a:moveTo>
                <a:cubicBezTo>
                  <a:pt x="374821" y="792892"/>
                  <a:pt x="749643" y="1561070"/>
                  <a:pt x="1112108" y="1556951"/>
                </a:cubicBezTo>
                <a:cubicBezTo>
                  <a:pt x="1474573" y="1552832"/>
                  <a:pt x="1824681" y="776416"/>
                  <a:pt x="2174789" y="0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3" name="Google Shape;453;g277b51e96ad_0_129"/>
          <p:cNvCxnSpPr/>
          <p:nvPr/>
        </p:nvCxnSpPr>
        <p:spPr>
          <a:xfrm rot="10800000" flipH="1">
            <a:off x="7698862" y="1369070"/>
            <a:ext cx="951600" cy="2550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54" name="Google Shape;454;g277b51e96ad_0_129"/>
          <p:cNvCxnSpPr/>
          <p:nvPr/>
        </p:nvCxnSpPr>
        <p:spPr>
          <a:xfrm rot="10800000">
            <a:off x="7501243" y="1232118"/>
            <a:ext cx="1031700" cy="1371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55" name="Google Shape;455;g277b51e96ad_0_129"/>
          <p:cNvCxnSpPr>
            <a:endCxn id="452" idx="2"/>
          </p:cNvCxnSpPr>
          <p:nvPr/>
        </p:nvCxnSpPr>
        <p:spPr>
          <a:xfrm rot="10800000" flipH="1">
            <a:off x="7624721" y="785392"/>
            <a:ext cx="1269600" cy="3753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56" name="Google Shape;456;g277b51e96ad_0_129"/>
          <p:cNvSpPr/>
          <p:nvPr/>
        </p:nvSpPr>
        <p:spPr>
          <a:xfrm>
            <a:off x="5785108" y="1506140"/>
            <a:ext cx="1631092" cy="1167725"/>
          </a:xfrm>
          <a:custGeom>
            <a:avLst/>
            <a:gdLst/>
            <a:ahLst/>
            <a:cxnLst/>
            <a:rect l="l" t="t" r="r" b="b"/>
            <a:pathLst>
              <a:path w="2174789" h="1556967" extrusionOk="0">
                <a:moveTo>
                  <a:pt x="0" y="24714"/>
                </a:moveTo>
                <a:cubicBezTo>
                  <a:pt x="374821" y="792892"/>
                  <a:pt x="749643" y="1561070"/>
                  <a:pt x="1112108" y="1556951"/>
                </a:cubicBezTo>
                <a:cubicBezTo>
                  <a:pt x="1474573" y="1552832"/>
                  <a:pt x="1824681" y="776416"/>
                  <a:pt x="2174789" y="0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7" name="Google Shape;457;g277b51e96ad_0_129"/>
          <p:cNvCxnSpPr/>
          <p:nvPr/>
        </p:nvCxnSpPr>
        <p:spPr>
          <a:xfrm>
            <a:off x="5868516" y="1661150"/>
            <a:ext cx="150000" cy="2883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58" name="Google Shape;458;g277b51e96ad_0_129"/>
          <p:cNvCxnSpPr/>
          <p:nvPr/>
        </p:nvCxnSpPr>
        <p:spPr>
          <a:xfrm>
            <a:off x="6018342" y="1949278"/>
            <a:ext cx="83400" cy="1551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59" name="Google Shape;459;g277b51e96ad_0_129"/>
          <p:cNvCxnSpPr/>
          <p:nvPr/>
        </p:nvCxnSpPr>
        <p:spPr>
          <a:xfrm>
            <a:off x="6101750" y="2104287"/>
            <a:ext cx="72600" cy="1371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60" name="Google Shape;460;g277b51e96ad_0_129"/>
          <p:cNvSpPr txBox="1">
            <a:spLocks noGrp="1"/>
          </p:cNvSpPr>
          <p:nvPr>
            <p:ph type="sldNum" idx="12"/>
          </p:nvPr>
        </p:nvSpPr>
        <p:spPr>
          <a:xfrm>
            <a:off x="6354344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277b51e96ad_0_189"/>
          <p:cNvSpPr txBox="1">
            <a:spLocks noGrp="1"/>
          </p:cNvSpPr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857"/>
              <a:buFont typeface="Calibri"/>
              <a:buNone/>
            </a:pPr>
            <a:r>
              <a:rPr lang="en-US"/>
              <a:t>SGD for Monte Carlo estimation</a:t>
            </a:r>
            <a:endParaRPr/>
          </a:p>
        </p:txBody>
      </p:sp>
      <p:sp>
        <p:nvSpPr>
          <p:cNvPr id="529" name="Google Shape;529;g277b51e96ad_0_189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774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89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 </a:t>
            </a:r>
            <a:endParaRPr/>
          </a:p>
        </p:txBody>
      </p:sp>
      <p:pic>
        <p:nvPicPr>
          <p:cNvPr id="530" name="Google Shape;530;g277b51e96ad_0_18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7193" y="1369219"/>
            <a:ext cx="8909611" cy="2590486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g277b51e96ad_0_189"/>
          <p:cNvSpPr/>
          <p:nvPr/>
        </p:nvSpPr>
        <p:spPr>
          <a:xfrm>
            <a:off x="912114" y="3470148"/>
            <a:ext cx="3237000" cy="2742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g277b51e96ad_0_189"/>
          <p:cNvSpPr txBox="1"/>
          <p:nvPr/>
        </p:nvSpPr>
        <p:spPr>
          <a:xfrm>
            <a:off x="6455664" y="2767492"/>
            <a:ext cx="2059800" cy="7158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 are the tunable parameters of the value approximation function</a:t>
            </a:r>
            <a:endParaRPr sz="1100"/>
          </a:p>
        </p:txBody>
      </p:sp>
      <p:sp>
        <p:nvSpPr>
          <p:cNvPr id="533" name="Google Shape;533;g277b51e96ad_0_189"/>
          <p:cNvSpPr txBox="1">
            <a:spLocks noGrp="1"/>
          </p:cNvSpPr>
          <p:nvPr>
            <p:ph type="sldNum" idx="12"/>
          </p:nvPr>
        </p:nvSpPr>
        <p:spPr>
          <a:xfrm>
            <a:off x="6354344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277b51e96ad_0_198"/>
          <p:cNvSpPr txBox="1">
            <a:spLocks noGrp="1"/>
          </p:cNvSpPr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857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539" name="Google Shape;539;g277b51e96ad_0_198"/>
          <p:cNvSpPr txBox="1">
            <a:spLocks noGrp="1"/>
          </p:cNvSpPr>
          <p:nvPr>
            <p:ph type="body" idx="1"/>
          </p:nvPr>
        </p:nvSpPr>
        <p:spPr>
          <a:xfrm>
            <a:off x="2121883" y="1568101"/>
            <a:ext cx="6253800" cy="3263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219" t="-1739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 </a:t>
            </a:r>
            <a:endParaRPr/>
          </a:p>
        </p:txBody>
      </p:sp>
      <p:grpSp>
        <p:nvGrpSpPr>
          <p:cNvPr id="540" name="Google Shape;540;g277b51e96ad_0_198"/>
          <p:cNvGrpSpPr/>
          <p:nvPr/>
        </p:nvGrpSpPr>
        <p:grpSpPr>
          <a:xfrm>
            <a:off x="502527" y="1872717"/>
            <a:ext cx="1424396" cy="1303908"/>
            <a:chOff x="3408" y="912"/>
            <a:chExt cx="1583" cy="1551"/>
          </a:xfrm>
        </p:grpSpPr>
        <p:grpSp>
          <p:nvGrpSpPr>
            <p:cNvPr id="541" name="Google Shape;541;g277b51e96ad_0_198"/>
            <p:cNvGrpSpPr/>
            <p:nvPr/>
          </p:nvGrpSpPr>
          <p:grpSpPr>
            <a:xfrm>
              <a:off x="3408" y="912"/>
              <a:ext cx="1583" cy="1551"/>
              <a:chOff x="3360" y="1008"/>
              <a:chExt cx="1583" cy="1551"/>
            </a:xfrm>
          </p:grpSpPr>
          <p:pic>
            <p:nvPicPr>
              <p:cNvPr id="542" name="Google Shape;542;g277b51e96ad_0_198"/>
              <p:cNvPicPr preferRelativeResize="0"/>
              <p:nvPr/>
            </p:nvPicPr>
            <p:blipFill rotWithShape="1">
              <a:blip r:embed="rId4">
                <a:alphaModFix/>
              </a:blip>
              <a:srcRect r="73026"/>
              <a:stretch/>
            </p:blipFill>
            <p:spPr>
              <a:xfrm>
                <a:off x="3360" y="1008"/>
                <a:ext cx="768" cy="15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43" name="Google Shape;543;g277b51e96ad_0_198"/>
              <p:cNvPicPr preferRelativeResize="0"/>
              <p:nvPr/>
            </p:nvPicPr>
            <p:blipFill rotWithShape="1">
              <a:blip r:embed="rId4">
                <a:alphaModFix/>
              </a:blip>
              <a:srcRect l="72497" r="-1157"/>
              <a:stretch/>
            </p:blipFill>
            <p:spPr>
              <a:xfrm>
                <a:off x="4128" y="1008"/>
                <a:ext cx="815" cy="15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44" name="Google Shape;544;g277b51e96ad_0_19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480" y="1872"/>
              <a:ext cx="216" cy="1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5" name="Google Shape;545;g277b51e96ad_0_19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792" y="2160"/>
              <a:ext cx="197" cy="1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6" name="Google Shape;546;g277b51e96ad_0_19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504" y="2160"/>
              <a:ext cx="216" cy="18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7" name="Google Shape;547;g277b51e96ad_0_198"/>
          <p:cNvGrpSpPr/>
          <p:nvPr/>
        </p:nvGrpSpPr>
        <p:grpSpPr>
          <a:xfrm>
            <a:off x="7588377" y="1872717"/>
            <a:ext cx="1436689" cy="1303908"/>
            <a:chOff x="3456" y="2592"/>
            <a:chExt cx="1583" cy="1551"/>
          </a:xfrm>
        </p:grpSpPr>
        <p:grpSp>
          <p:nvGrpSpPr>
            <p:cNvPr id="548" name="Google Shape;548;g277b51e96ad_0_198"/>
            <p:cNvGrpSpPr/>
            <p:nvPr/>
          </p:nvGrpSpPr>
          <p:grpSpPr>
            <a:xfrm>
              <a:off x="3456" y="2592"/>
              <a:ext cx="1583" cy="1551"/>
              <a:chOff x="3360" y="1008"/>
              <a:chExt cx="1583" cy="1551"/>
            </a:xfrm>
          </p:grpSpPr>
          <p:pic>
            <p:nvPicPr>
              <p:cNvPr id="549" name="Google Shape;549;g277b51e96ad_0_198"/>
              <p:cNvPicPr preferRelativeResize="0"/>
              <p:nvPr/>
            </p:nvPicPr>
            <p:blipFill rotWithShape="1">
              <a:blip r:embed="rId4">
                <a:alphaModFix/>
              </a:blip>
              <a:srcRect r="73026"/>
              <a:stretch/>
            </p:blipFill>
            <p:spPr>
              <a:xfrm>
                <a:off x="3360" y="1008"/>
                <a:ext cx="768" cy="15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50" name="Google Shape;550;g277b51e96ad_0_198"/>
              <p:cNvPicPr preferRelativeResize="0"/>
              <p:nvPr/>
            </p:nvPicPr>
            <p:blipFill rotWithShape="1">
              <a:blip r:embed="rId4">
                <a:alphaModFix/>
              </a:blip>
              <a:srcRect l="72497" r="-1157"/>
              <a:stretch/>
            </p:blipFill>
            <p:spPr>
              <a:xfrm>
                <a:off x="4128" y="1008"/>
                <a:ext cx="815" cy="15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51" name="Google Shape;551;g277b51e96ad_0_19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272" y="2832"/>
              <a:ext cx="216" cy="1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2" name="Google Shape;552;g277b51e96ad_0_19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704" y="2976"/>
              <a:ext cx="197" cy="1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3" name="Google Shape;553;g277b51e96ad_0_19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704" y="2688"/>
              <a:ext cx="216" cy="1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4" name="Google Shape;554;g277b51e96ad_0_198"/>
          <p:cNvSpPr/>
          <p:nvPr/>
        </p:nvSpPr>
        <p:spPr>
          <a:xfrm>
            <a:off x="859253" y="3177251"/>
            <a:ext cx="434319" cy="1128531"/>
          </a:xfrm>
          <a:custGeom>
            <a:avLst/>
            <a:gdLst/>
            <a:ahLst/>
            <a:cxnLst/>
            <a:rect l="l" t="t" r="r" b="b"/>
            <a:pathLst>
              <a:path w="579092" h="1504708" extrusionOk="0">
                <a:moveTo>
                  <a:pt x="405337" y="0"/>
                </a:moveTo>
                <a:cubicBezTo>
                  <a:pt x="401479" y="34724"/>
                  <a:pt x="404810" y="71027"/>
                  <a:pt x="393762" y="104172"/>
                </a:cubicBezTo>
                <a:cubicBezTo>
                  <a:pt x="388586" y="119701"/>
                  <a:pt x="371613" y="128417"/>
                  <a:pt x="359038" y="138896"/>
                </a:cubicBezTo>
                <a:cubicBezTo>
                  <a:pt x="309283" y="180358"/>
                  <a:pt x="341790" y="147520"/>
                  <a:pt x="289590" y="173620"/>
                </a:cubicBezTo>
                <a:cubicBezTo>
                  <a:pt x="277148" y="179841"/>
                  <a:pt x="267578" y="191119"/>
                  <a:pt x="254866" y="196769"/>
                </a:cubicBezTo>
                <a:cubicBezTo>
                  <a:pt x="232568" y="206679"/>
                  <a:pt x="205721" y="206384"/>
                  <a:pt x="185418" y="219919"/>
                </a:cubicBezTo>
                <a:lnTo>
                  <a:pt x="115970" y="266217"/>
                </a:lnTo>
                <a:cubicBezTo>
                  <a:pt x="93152" y="334669"/>
                  <a:pt x="79352" y="341559"/>
                  <a:pt x="104395" y="416688"/>
                </a:cubicBezTo>
                <a:cubicBezTo>
                  <a:pt x="107846" y="427041"/>
                  <a:pt x="117783" y="434958"/>
                  <a:pt x="127544" y="439838"/>
                </a:cubicBezTo>
                <a:cubicBezTo>
                  <a:pt x="149369" y="450751"/>
                  <a:pt x="172922" y="458975"/>
                  <a:pt x="196992" y="462987"/>
                </a:cubicBezTo>
                <a:lnTo>
                  <a:pt x="335888" y="486136"/>
                </a:lnTo>
                <a:cubicBezTo>
                  <a:pt x="416424" y="518351"/>
                  <a:pt x="374044" y="502713"/>
                  <a:pt x="463210" y="532435"/>
                </a:cubicBezTo>
                <a:cubicBezTo>
                  <a:pt x="474785" y="536293"/>
                  <a:pt x="487782" y="537242"/>
                  <a:pt x="497934" y="544010"/>
                </a:cubicBezTo>
                <a:lnTo>
                  <a:pt x="567382" y="590308"/>
                </a:lnTo>
                <a:cubicBezTo>
                  <a:pt x="571240" y="601883"/>
                  <a:pt x="580304" y="612906"/>
                  <a:pt x="578957" y="625032"/>
                </a:cubicBezTo>
                <a:cubicBezTo>
                  <a:pt x="571247" y="694422"/>
                  <a:pt x="558300" y="694354"/>
                  <a:pt x="509509" y="729205"/>
                </a:cubicBezTo>
                <a:cubicBezTo>
                  <a:pt x="498189" y="737291"/>
                  <a:pt x="486863" y="745452"/>
                  <a:pt x="474785" y="752354"/>
                </a:cubicBezTo>
                <a:cubicBezTo>
                  <a:pt x="392759" y="799225"/>
                  <a:pt x="465046" y="756006"/>
                  <a:pt x="382187" y="787078"/>
                </a:cubicBezTo>
                <a:cubicBezTo>
                  <a:pt x="366031" y="793136"/>
                  <a:pt x="351908" y="803819"/>
                  <a:pt x="335888" y="810227"/>
                </a:cubicBezTo>
                <a:cubicBezTo>
                  <a:pt x="313232" y="819290"/>
                  <a:pt x="289589" y="825661"/>
                  <a:pt x="266440" y="833377"/>
                </a:cubicBezTo>
                <a:cubicBezTo>
                  <a:pt x="254865" y="837235"/>
                  <a:pt x="243751" y="842945"/>
                  <a:pt x="231716" y="844951"/>
                </a:cubicBezTo>
                <a:cubicBezTo>
                  <a:pt x="208567" y="848809"/>
                  <a:pt x="185281" y="851923"/>
                  <a:pt x="162268" y="856526"/>
                </a:cubicBezTo>
                <a:cubicBezTo>
                  <a:pt x="146669" y="859646"/>
                  <a:pt x="131621" y="865255"/>
                  <a:pt x="115970" y="868101"/>
                </a:cubicBezTo>
                <a:cubicBezTo>
                  <a:pt x="89128" y="872981"/>
                  <a:pt x="61955" y="875817"/>
                  <a:pt x="34947" y="879675"/>
                </a:cubicBezTo>
                <a:cubicBezTo>
                  <a:pt x="27230" y="887392"/>
                  <a:pt x="17412" y="893467"/>
                  <a:pt x="11797" y="902825"/>
                </a:cubicBezTo>
                <a:cubicBezTo>
                  <a:pt x="-9220" y="937853"/>
                  <a:pt x="-182" y="971665"/>
                  <a:pt x="23372" y="1006997"/>
                </a:cubicBezTo>
                <a:cubicBezTo>
                  <a:pt x="31088" y="1018572"/>
                  <a:pt x="40300" y="1029279"/>
                  <a:pt x="46521" y="1041721"/>
                </a:cubicBezTo>
                <a:cubicBezTo>
                  <a:pt x="51977" y="1052634"/>
                  <a:pt x="52640" y="1065532"/>
                  <a:pt x="58096" y="1076445"/>
                </a:cubicBezTo>
                <a:cubicBezTo>
                  <a:pt x="64856" y="1089964"/>
                  <a:pt x="89015" y="1125091"/>
                  <a:pt x="104395" y="1134319"/>
                </a:cubicBezTo>
                <a:cubicBezTo>
                  <a:pt x="129800" y="1149562"/>
                  <a:pt x="205754" y="1155254"/>
                  <a:pt x="220142" y="1157468"/>
                </a:cubicBezTo>
                <a:cubicBezTo>
                  <a:pt x="295803" y="1169109"/>
                  <a:pt x="270352" y="1162631"/>
                  <a:pt x="324314" y="1180617"/>
                </a:cubicBezTo>
                <a:cubicBezTo>
                  <a:pt x="346843" y="1270739"/>
                  <a:pt x="341045" y="1226805"/>
                  <a:pt x="324314" y="1377387"/>
                </a:cubicBezTo>
                <a:cubicBezTo>
                  <a:pt x="322142" y="1396940"/>
                  <a:pt x="314520" y="1415668"/>
                  <a:pt x="312739" y="1435260"/>
                </a:cubicBezTo>
                <a:cubicBezTo>
                  <a:pt x="310643" y="1458314"/>
                  <a:pt x="312739" y="1481559"/>
                  <a:pt x="312739" y="1504708"/>
                </a:cubicBezTo>
              </a:path>
            </a:pathLst>
          </a:custGeom>
          <a:noFill/>
          <a:ln w="381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g277b51e96ad_0_198"/>
          <p:cNvSpPr txBox="1"/>
          <p:nvPr/>
        </p:nvSpPr>
        <p:spPr>
          <a:xfrm>
            <a:off x="919401" y="4305775"/>
            <a:ext cx="4344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100"/>
          </a:p>
        </p:txBody>
      </p:sp>
      <p:sp>
        <p:nvSpPr>
          <p:cNvPr id="556" name="Google Shape;556;g277b51e96ad_0_198"/>
          <p:cNvSpPr/>
          <p:nvPr/>
        </p:nvSpPr>
        <p:spPr>
          <a:xfrm>
            <a:off x="-175519" y="1454795"/>
            <a:ext cx="2503800" cy="3924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6669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557" name="Google Shape;557;g277b51e96ad_0_198"/>
          <p:cNvSpPr/>
          <p:nvPr/>
        </p:nvSpPr>
        <p:spPr>
          <a:xfrm>
            <a:off x="7033297" y="1457558"/>
            <a:ext cx="2503800" cy="3924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9049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558" name="Google Shape;558;g277b51e96ad_0_198"/>
          <p:cNvSpPr txBox="1">
            <a:spLocks noGrp="1"/>
          </p:cNvSpPr>
          <p:nvPr>
            <p:ph type="sldNum" idx="12"/>
          </p:nvPr>
        </p:nvSpPr>
        <p:spPr>
          <a:xfrm>
            <a:off x="6354344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277b51e96ad_0_229"/>
          <p:cNvSpPr txBox="1">
            <a:spLocks noGrp="1"/>
          </p:cNvSpPr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857"/>
              <a:buFont typeface="Calibri"/>
              <a:buNone/>
            </a:pPr>
            <a:r>
              <a:rPr lang="en-US"/>
              <a:t>Learning approximation with bootstrapping </a:t>
            </a:r>
            <a:endParaRPr/>
          </a:p>
        </p:txBody>
      </p:sp>
      <p:sp>
        <p:nvSpPr>
          <p:cNvPr id="564" name="Google Shape;564;g277b51e96ad_0_229"/>
          <p:cNvSpPr txBox="1">
            <a:spLocks noGrp="1"/>
          </p:cNvSpPr>
          <p:nvPr>
            <p:ph type="body" idx="1"/>
          </p:nvPr>
        </p:nvSpPr>
        <p:spPr>
          <a:xfrm>
            <a:off x="233775" y="864356"/>
            <a:ext cx="6390600" cy="2562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89" t="-2329" r="-1679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 </a:t>
            </a:r>
            <a:endParaRPr/>
          </a:p>
        </p:txBody>
      </p:sp>
      <p:sp>
        <p:nvSpPr>
          <p:cNvPr id="565" name="Google Shape;565;g277b51e96ad_0_229"/>
          <p:cNvSpPr txBox="1">
            <a:spLocks noGrp="1"/>
          </p:cNvSpPr>
          <p:nvPr>
            <p:ph type="sldNum" idx="12"/>
          </p:nvPr>
        </p:nvSpPr>
        <p:spPr>
          <a:xfrm>
            <a:off x="6354344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277b51e96ad_0_235"/>
          <p:cNvSpPr txBox="1">
            <a:spLocks noGrp="1"/>
          </p:cNvSpPr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857"/>
              <a:buFont typeface="Calibri"/>
              <a:buNone/>
            </a:pPr>
            <a:r>
              <a:rPr lang="en-US"/>
              <a:t>Semi-gradient methods</a:t>
            </a:r>
            <a:endParaRPr/>
          </a:p>
        </p:txBody>
      </p:sp>
      <p:sp>
        <p:nvSpPr>
          <p:cNvPr id="571" name="Google Shape;571;g277b51e96ad_0_235"/>
          <p:cNvSpPr txBox="1">
            <a:spLocks noGrp="1"/>
          </p:cNvSpPr>
          <p:nvPr>
            <p:ph type="body" idx="1"/>
          </p:nvPr>
        </p:nvSpPr>
        <p:spPr>
          <a:xfrm>
            <a:off x="233775" y="864356"/>
            <a:ext cx="6390600" cy="25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/>
          </a:bodyPr>
          <a:lstStyle/>
          <a:p>
            <a:pPr marL="17780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They do converge reliably in important cases such as the linear approximation case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They offer important advantages that make them often clearly preferred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They typically enable significantly faster learning, as we have seen in Chapters 6 and 7 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They enable learning to be continual and online, without waiting for the end of an episode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This enables them to be used on continuing problems and provides computational advantages</a:t>
            </a:r>
            <a:endParaRPr/>
          </a:p>
        </p:txBody>
      </p:sp>
      <p:sp>
        <p:nvSpPr>
          <p:cNvPr id="572" name="Google Shape;572;g277b51e96ad_0_235"/>
          <p:cNvSpPr txBox="1">
            <a:spLocks noGrp="1"/>
          </p:cNvSpPr>
          <p:nvPr>
            <p:ph type="sldNum" idx="12"/>
          </p:nvPr>
        </p:nvSpPr>
        <p:spPr>
          <a:xfrm>
            <a:off x="6354344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77b51e96ad_0_241"/>
          <p:cNvSpPr txBox="1">
            <a:spLocks noGrp="1"/>
          </p:cNvSpPr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857"/>
              <a:buFont typeface="Calibri"/>
              <a:buNone/>
            </a:pPr>
            <a:r>
              <a:rPr lang="en-US"/>
              <a:t>Semi-gradient TD(0)</a:t>
            </a:r>
            <a:endParaRPr/>
          </a:p>
        </p:txBody>
      </p:sp>
      <p:pic>
        <p:nvPicPr>
          <p:cNvPr id="579" name="Google Shape;579;g277b51e96ad_0_2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342" y="904320"/>
            <a:ext cx="7718722" cy="3103879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g277b51e96ad_0_241"/>
          <p:cNvSpPr txBox="1"/>
          <p:nvPr/>
        </p:nvSpPr>
        <p:spPr>
          <a:xfrm>
            <a:off x="6123214" y="3000970"/>
            <a:ext cx="2001300" cy="5001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What’s the difference from the tabular case?</a:t>
            </a:r>
            <a:endParaRPr sz="1100"/>
          </a:p>
        </p:txBody>
      </p:sp>
      <p:sp>
        <p:nvSpPr>
          <p:cNvPr id="581" name="Google Shape;581;g277b51e96ad_0_241"/>
          <p:cNvSpPr txBox="1">
            <a:spLocks noGrp="1"/>
          </p:cNvSpPr>
          <p:nvPr>
            <p:ph type="sldNum" idx="12"/>
          </p:nvPr>
        </p:nvSpPr>
        <p:spPr>
          <a:xfrm>
            <a:off x="6354344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277b51e96ad_0_259"/>
          <p:cNvSpPr txBox="1">
            <a:spLocks noGrp="1"/>
          </p:cNvSpPr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857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587" name="Google Shape;587;g277b51e96ad_0_259"/>
          <p:cNvSpPr txBox="1">
            <a:spLocks noGrp="1"/>
          </p:cNvSpPr>
          <p:nvPr>
            <p:ph type="body" idx="1"/>
          </p:nvPr>
        </p:nvSpPr>
        <p:spPr>
          <a:xfrm>
            <a:off x="2053303" y="1369219"/>
            <a:ext cx="6253800" cy="3263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369" t="-1739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 </a:t>
            </a:r>
            <a:endParaRPr/>
          </a:p>
        </p:txBody>
      </p:sp>
      <p:grpSp>
        <p:nvGrpSpPr>
          <p:cNvPr id="588" name="Google Shape;588;g277b51e96ad_0_259"/>
          <p:cNvGrpSpPr/>
          <p:nvPr/>
        </p:nvGrpSpPr>
        <p:grpSpPr>
          <a:xfrm>
            <a:off x="502527" y="1611123"/>
            <a:ext cx="1424396" cy="1303908"/>
            <a:chOff x="3408" y="912"/>
            <a:chExt cx="1583" cy="1551"/>
          </a:xfrm>
        </p:grpSpPr>
        <p:grpSp>
          <p:nvGrpSpPr>
            <p:cNvPr id="589" name="Google Shape;589;g277b51e96ad_0_259"/>
            <p:cNvGrpSpPr/>
            <p:nvPr/>
          </p:nvGrpSpPr>
          <p:grpSpPr>
            <a:xfrm>
              <a:off x="3408" y="912"/>
              <a:ext cx="1583" cy="1551"/>
              <a:chOff x="3360" y="1008"/>
              <a:chExt cx="1583" cy="1551"/>
            </a:xfrm>
          </p:grpSpPr>
          <p:pic>
            <p:nvPicPr>
              <p:cNvPr id="590" name="Google Shape;590;g277b51e96ad_0_259"/>
              <p:cNvPicPr preferRelativeResize="0"/>
              <p:nvPr/>
            </p:nvPicPr>
            <p:blipFill rotWithShape="1">
              <a:blip r:embed="rId4">
                <a:alphaModFix/>
              </a:blip>
              <a:srcRect r="73026"/>
              <a:stretch/>
            </p:blipFill>
            <p:spPr>
              <a:xfrm>
                <a:off x="3360" y="1008"/>
                <a:ext cx="768" cy="15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91" name="Google Shape;591;g277b51e96ad_0_259"/>
              <p:cNvPicPr preferRelativeResize="0"/>
              <p:nvPr/>
            </p:nvPicPr>
            <p:blipFill rotWithShape="1">
              <a:blip r:embed="rId4">
                <a:alphaModFix/>
              </a:blip>
              <a:srcRect l="72497" r="-1157"/>
              <a:stretch/>
            </p:blipFill>
            <p:spPr>
              <a:xfrm>
                <a:off x="4128" y="1008"/>
                <a:ext cx="815" cy="15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92" name="Google Shape;592;g277b51e96ad_0_25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480" y="1714"/>
              <a:ext cx="216" cy="1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3" name="Google Shape;593;g277b51e96ad_0_25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792" y="2160"/>
              <a:ext cx="197" cy="1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4" name="Google Shape;594;g277b51e96ad_0_25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504" y="2160"/>
              <a:ext cx="216" cy="18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5" name="Google Shape;595;g277b51e96ad_0_259"/>
          <p:cNvGrpSpPr/>
          <p:nvPr/>
        </p:nvGrpSpPr>
        <p:grpSpPr>
          <a:xfrm>
            <a:off x="7509900" y="1268016"/>
            <a:ext cx="1436689" cy="1303908"/>
            <a:chOff x="3456" y="2592"/>
            <a:chExt cx="1583" cy="1551"/>
          </a:xfrm>
        </p:grpSpPr>
        <p:grpSp>
          <p:nvGrpSpPr>
            <p:cNvPr id="596" name="Google Shape;596;g277b51e96ad_0_259"/>
            <p:cNvGrpSpPr/>
            <p:nvPr/>
          </p:nvGrpSpPr>
          <p:grpSpPr>
            <a:xfrm>
              <a:off x="3456" y="2592"/>
              <a:ext cx="1583" cy="1551"/>
              <a:chOff x="3360" y="1008"/>
              <a:chExt cx="1583" cy="1551"/>
            </a:xfrm>
          </p:grpSpPr>
          <p:pic>
            <p:nvPicPr>
              <p:cNvPr id="597" name="Google Shape;597;g277b51e96ad_0_259"/>
              <p:cNvPicPr preferRelativeResize="0"/>
              <p:nvPr/>
            </p:nvPicPr>
            <p:blipFill rotWithShape="1">
              <a:blip r:embed="rId4">
                <a:alphaModFix/>
              </a:blip>
              <a:srcRect r="73026"/>
              <a:stretch/>
            </p:blipFill>
            <p:spPr>
              <a:xfrm>
                <a:off x="3360" y="1008"/>
                <a:ext cx="768" cy="15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98" name="Google Shape;598;g277b51e96ad_0_259"/>
              <p:cNvPicPr preferRelativeResize="0"/>
              <p:nvPr/>
            </p:nvPicPr>
            <p:blipFill rotWithShape="1">
              <a:blip r:embed="rId4">
                <a:alphaModFix/>
              </a:blip>
              <a:srcRect l="72497" r="-1157"/>
              <a:stretch/>
            </p:blipFill>
            <p:spPr>
              <a:xfrm>
                <a:off x="4128" y="1008"/>
                <a:ext cx="815" cy="15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99" name="Google Shape;599;g277b51e96ad_0_25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272" y="2832"/>
              <a:ext cx="216" cy="1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0" name="Google Shape;600;g277b51e96ad_0_25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704" y="2976"/>
              <a:ext cx="197" cy="1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1" name="Google Shape;601;g277b51e96ad_0_25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704" y="2688"/>
              <a:ext cx="216" cy="1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2" name="Google Shape;602;g277b51e96ad_0_259"/>
          <p:cNvSpPr/>
          <p:nvPr/>
        </p:nvSpPr>
        <p:spPr>
          <a:xfrm>
            <a:off x="-58516" y="1260440"/>
            <a:ext cx="2503800" cy="3003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2499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603" name="Google Shape;603;g277b51e96ad_0_259"/>
          <p:cNvSpPr/>
          <p:nvPr/>
        </p:nvSpPr>
        <p:spPr>
          <a:xfrm>
            <a:off x="6952930" y="855428"/>
            <a:ext cx="2503800" cy="3924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6669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grpSp>
        <p:nvGrpSpPr>
          <p:cNvPr id="604" name="Google Shape;604;g277b51e96ad_0_259"/>
          <p:cNvGrpSpPr/>
          <p:nvPr/>
        </p:nvGrpSpPr>
        <p:grpSpPr>
          <a:xfrm>
            <a:off x="502527" y="3694519"/>
            <a:ext cx="1424396" cy="1303908"/>
            <a:chOff x="670036" y="4926026"/>
            <a:chExt cx="1899194" cy="1738545"/>
          </a:xfrm>
        </p:grpSpPr>
        <p:grpSp>
          <p:nvGrpSpPr>
            <p:cNvPr id="605" name="Google Shape;605;g277b51e96ad_0_259"/>
            <p:cNvGrpSpPr/>
            <p:nvPr/>
          </p:nvGrpSpPr>
          <p:grpSpPr>
            <a:xfrm>
              <a:off x="670036" y="4926026"/>
              <a:ext cx="1899194" cy="1738545"/>
              <a:chOff x="3408" y="912"/>
              <a:chExt cx="1583" cy="1551"/>
            </a:xfrm>
          </p:grpSpPr>
          <p:grpSp>
            <p:nvGrpSpPr>
              <p:cNvPr id="606" name="Google Shape;606;g277b51e96ad_0_259"/>
              <p:cNvGrpSpPr/>
              <p:nvPr/>
            </p:nvGrpSpPr>
            <p:grpSpPr>
              <a:xfrm>
                <a:off x="3408" y="912"/>
                <a:ext cx="1583" cy="1551"/>
                <a:chOff x="3360" y="1008"/>
                <a:chExt cx="1583" cy="1551"/>
              </a:xfrm>
            </p:grpSpPr>
            <p:pic>
              <p:nvPicPr>
                <p:cNvPr id="607" name="Google Shape;607;g277b51e96ad_0_25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r="73026"/>
                <a:stretch/>
              </p:blipFill>
              <p:spPr>
                <a:xfrm>
                  <a:off x="3360" y="1008"/>
                  <a:ext cx="768" cy="15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08" name="Google Shape;608;g277b51e96ad_0_25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l="72497" r="-1157"/>
                <a:stretch/>
              </p:blipFill>
              <p:spPr>
                <a:xfrm>
                  <a:off x="4128" y="1008"/>
                  <a:ext cx="815" cy="15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609" name="Google Shape;609;g277b51e96ad_0_259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3641" y="2160"/>
                <a:ext cx="197" cy="1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10" name="Google Shape;610;g277b51e96ad_0_259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3488" y="2016"/>
                <a:ext cx="216" cy="1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11" name="Google Shape;611;g277b51e96ad_0_259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3480" y="1872"/>
                <a:ext cx="216" cy="16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12" name="Google Shape;612;g277b51e96ad_0_259"/>
            <p:cNvSpPr/>
            <p:nvPr/>
          </p:nvSpPr>
          <p:spPr>
            <a:xfrm>
              <a:off x="781753" y="6370405"/>
              <a:ext cx="188100" cy="16380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3" name="Google Shape;613;g277b51e96ad_0_259"/>
          <p:cNvSpPr/>
          <p:nvPr/>
        </p:nvSpPr>
        <p:spPr>
          <a:xfrm>
            <a:off x="-55793" y="3377314"/>
            <a:ext cx="2503800" cy="3003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2499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cxnSp>
        <p:nvCxnSpPr>
          <p:cNvPr id="614" name="Google Shape;614;g277b51e96ad_0_259"/>
          <p:cNvCxnSpPr>
            <a:endCxn id="613" idx="0"/>
          </p:cNvCxnSpPr>
          <p:nvPr/>
        </p:nvCxnSpPr>
        <p:spPr>
          <a:xfrm>
            <a:off x="1193407" y="2915014"/>
            <a:ext cx="2700" cy="462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15" name="Google Shape;615;g277b51e96ad_0_259"/>
          <p:cNvSpPr txBox="1"/>
          <p:nvPr/>
        </p:nvSpPr>
        <p:spPr>
          <a:xfrm>
            <a:off x="379714" y="3029373"/>
            <a:ext cx="841800" cy="2769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616" name="Google Shape;616;g277b51e96ad_0_259"/>
          <p:cNvSpPr txBox="1">
            <a:spLocks noGrp="1"/>
          </p:cNvSpPr>
          <p:nvPr>
            <p:ph type="sldNum" idx="12"/>
          </p:nvPr>
        </p:nvSpPr>
        <p:spPr>
          <a:xfrm>
            <a:off x="6354344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240f7f18ef0_0_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r>
              <a:rPr lang="en-US">
                <a:solidFill>
                  <a:srgbClr val="38761D"/>
                </a:solidFill>
              </a:rPr>
              <a:t>Review</a:t>
            </a:r>
            <a:r>
              <a:rPr lang="en-US"/>
              <a:t>] n-step TD Prediction</a:t>
            </a:r>
            <a:endParaRPr/>
          </a:p>
        </p:txBody>
      </p:sp>
      <p:pic>
        <p:nvPicPr>
          <p:cNvPr id="622" name="Google Shape;622;g240f7f18ef0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0575" y="920675"/>
            <a:ext cx="4520324" cy="3769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g240f7f18ef0_0_0"/>
          <p:cNvSpPr txBox="1"/>
          <p:nvPr/>
        </p:nvSpPr>
        <p:spPr>
          <a:xfrm>
            <a:off x="1044450" y="4642750"/>
            <a:ext cx="4120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/>
              <a:t>Ref Section 7.1 of TB</a:t>
            </a:r>
            <a:endParaRPr sz="1000" b="1"/>
          </a:p>
        </p:txBody>
      </p:sp>
      <p:sp>
        <p:nvSpPr>
          <p:cNvPr id="624" name="Google Shape;624;g240f7f18ef0_0_0"/>
          <p:cNvSpPr txBox="1"/>
          <p:nvPr/>
        </p:nvSpPr>
        <p:spPr>
          <a:xfrm>
            <a:off x="0" y="10876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/>
              <a:t>One-step return</a:t>
            </a:r>
            <a:r>
              <a:rPr lang="en-US"/>
              <a:t>: </a:t>
            </a:r>
            <a:endParaRPr/>
          </a:p>
        </p:txBody>
      </p:sp>
      <p:pic>
        <p:nvPicPr>
          <p:cNvPr id="625" name="Google Shape;625;g240f7f18ef0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3625" y="1411675"/>
            <a:ext cx="2491575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g240f7f18ef0_0_0"/>
          <p:cNvSpPr txBox="1"/>
          <p:nvPr/>
        </p:nvSpPr>
        <p:spPr>
          <a:xfrm>
            <a:off x="0" y="17734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/>
              <a:t>Two-step return</a:t>
            </a:r>
            <a:r>
              <a:rPr lang="en-US"/>
              <a:t>: </a:t>
            </a:r>
            <a:endParaRPr/>
          </a:p>
        </p:txBody>
      </p:sp>
      <p:pic>
        <p:nvPicPr>
          <p:cNvPr id="627" name="Google Shape;627;g240f7f18ef0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8525" y="2234000"/>
            <a:ext cx="3644775" cy="37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240f7f18ef0_0_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r>
              <a:rPr lang="en-US">
                <a:solidFill>
                  <a:srgbClr val="38761D"/>
                </a:solidFill>
              </a:rPr>
              <a:t>Review</a:t>
            </a:r>
            <a:r>
              <a:rPr lang="en-US"/>
              <a:t>] n-step TD Prediction</a:t>
            </a:r>
            <a:endParaRPr/>
          </a:p>
        </p:txBody>
      </p:sp>
      <p:pic>
        <p:nvPicPr>
          <p:cNvPr id="633" name="Google Shape;633;g240f7f18ef0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0575" y="920675"/>
            <a:ext cx="4520324" cy="3769650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g240f7f18ef0_0_33"/>
          <p:cNvSpPr txBox="1"/>
          <p:nvPr/>
        </p:nvSpPr>
        <p:spPr>
          <a:xfrm>
            <a:off x="1044450" y="4642750"/>
            <a:ext cx="4120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/>
              <a:t>Ref Section 7.1 of TB</a:t>
            </a:r>
            <a:endParaRPr sz="1000" b="1"/>
          </a:p>
        </p:txBody>
      </p:sp>
      <p:sp>
        <p:nvSpPr>
          <p:cNvPr id="635" name="Google Shape;635;g240f7f18ef0_0_33"/>
          <p:cNvSpPr txBox="1"/>
          <p:nvPr/>
        </p:nvSpPr>
        <p:spPr>
          <a:xfrm>
            <a:off x="0" y="10876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/>
              <a:t>One-step return</a:t>
            </a:r>
            <a:r>
              <a:rPr lang="en-US"/>
              <a:t>: </a:t>
            </a:r>
            <a:endParaRPr/>
          </a:p>
        </p:txBody>
      </p:sp>
      <p:pic>
        <p:nvPicPr>
          <p:cNvPr id="636" name="Google Shape;636;g240f7f18ef0_0_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3625" y="1411675"/>
            <a:ext cx="2491575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g240f7f18ef0_0_33"/>
          <p:cNvSpPr txBox="1"/>
          <p:nvPr/>
        </p:nvSpPr>
        <p:spPr>
          <a:xfrm>
            <a:off x="0" y="17734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/>
              <a:t>Two-step return</a:t>
            </a:r>
            <a:r>
              <a:rPr lang="en-US"/>
              <a:t>: </a:t>
            </a:r>
            <a:endParaRPr/>
          </a:p>
        </p:txBody>
      </p:sp>
      <p:pic>
        <p:nvPicPr>
          <p:cNvPr id="638" name="Google Shape;638;g240f7f18ef0_0_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8525" y="2234000"/>
            <a:ext cx="3644775" cy="370425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g240f7f18ef0_0_33"/>
          <p:cNvSpPr txBox="1"/>
          <p:nvPr/>
        </p:nvSpPr>
        <p:spPr>
          <a:xfrm>
            <a:off x="0" y="26116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/>
              <a:t>n-step return</a:t>
            </a:r>
            <a:r>
              <a:rPr lang="en-US"/>
              <a:t>: </a:t>
            </a:r>
            <a:endParaRPr/>
          </a:p>
        </p:txBody>
      </p:sp>
      <p:pic>
        <p:nvPicPr>
          <p:cNvPr id="640" name="Google Shape;640;g240f7f18ef0_0_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5150" y="3065550"/>
            <a:ext cx="5154376" cy="3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240f7f18ef0_0_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r>
              <a:rPr lang="en-US">
                <a:solidFill>
                  <a:srgbClr val="38761D"/>
                </a:solidFill>
              </a:rPr>
              <a:t>Review</a:t>
            </a:r>
            <a:r>
              <a:rPr lang="en-US"/>
              <a:t>] n-step TD Prediction</a:t>
            </a:r>
            <a:endParaRPr/>
          </a:p>
        </p:txBody>
      </p:sp>
      <p:pic>
        <p:nvPicPr>
          <p:cNvPr id="646" name="Google Shape;646;g240f7f18ef0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0575" y="920675"/>
            <a:ext cx="4520324" cy="376965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g240f7f18ef0_0_19"/>
          <p:cNvSpPr txBox="1"/>
          <p:nvPr/>
        </p:nvSpPr>
        <p:spPr>
          <a:xfrm>
            <a:off x="1044450" y="4642750"/>
            <a:ext cx="4120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/>
              <a:t>Ref Section 7.1 of TB</a:t>
            </a:r>
            <a:endParaRPr sz="1000" b="1"/>
          </a:p>
        </p:txBody>
      </p:sp>
      <p:sp>
        <p:nvSpPr>
          <p:cNvPr id="648" name="Google Shape;648;g240f7f18ef0_0_19"/>
          <p:cNvSpPr txBox="1"/>
          <p:nvPr/>
        </p:nvSpPr>
        <p:spPr>
          <a:xfrm>
            <a:off x="0" y="10876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/>
              <a:t>One-step return</a:t>
            </a:r>
            <a:r>
              <a:rPr lang="en-US"/>
              <a:t>: </a:t>
            </a:r>
            <a:endParaRPr/>
          </a:p>
        </p:txBody>
      </p:sp>
      <p:pic>
        <p:nvPicPr>
          <p:cNvPr id="649" name="Google Shape;649;g240f7f18ef0_0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3625" y="1411675"/>
            <a:ext cx="2491575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g240f7f18ef0_0_19"/>
          <p:cNvSpPr txBox="1"/>
          <p:nvPr/>
        </p:nvSpPr>
        <p:spPr>
          <a:xfrm>
            <a:off x="0" y="17734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/>
              <a:t>Two-step return</a:t>
            </a:r>
            <a:r>
              <a:rPr lang="en-US"/>
              <a:t>: </a:t>
            </a:r>
            <a:endParaRPr/>
          </a:p>
        </p:txBody>
      </p:sp>
      <p:pic>
        <p:nvPicPr>
          <p:cNvPr id="651" name="Google Shape;651;g240f7f18ef0_0_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8525" y="2234000"/>
            <a:ext cx="3644775" cy="370425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g240f7f18ef0_0_19"/>
          <p:cNvSpPr txBox="1"/>
          <p:nvPr/>
        </p:nvSpPr>
        <p:spPr>
          <a:xfrm>
            <a:off x="0" y="26116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/>
              <a:t>n-step return</a:t>
            </a:r>
            <a:r>
              <a:rPr lang="en-US"/>
              <a:t>: </a:t>
            </a:r>
            <a:endParaRPr/>
          </a:p>
        </p:txBody>
      </p:sp>
      <p:pic>
        <p:nvPicPr>
          <p:cNvPr id="653" name="Google Shape;653;g240f7f18ef0_0_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5150" y="3065550"/>
            <a:ext cx="5154376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g240f7f18ef0_0_19"/>
          <p:cNvSpPr txBox="1"/>
          <p:nvPr/>
        </p:nvSpPr>
        <p:spPr>
          <a:xfrm>
            <a:off x="50075" y="3404250"/>
            <a:ext cx="6045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/>
              <a:t>State-value learning algorithm for using n-step returns: </a:t>
            </a:r>
            <a:endParaRPr u="sng"/>
          </a:p>
        </p:txBody>
      </p:sp>
      <p:pic>
        <p:nvPicPr>
          <p:cNvPr id="655" name="Google Shape;655;g240f7f18ef0_0_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0550" y="3865375"/>
            <a:ext cx="5849129" cy="37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240f7f18ef0_0_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r>
              <a:rPr lang="en-US">
                <a:solidFill>
                  <a:srgbClr val="38761D"/>
                </a:solidFill>
              </a:rPr>
              <a:t>Review</a:t>
            </a:r>
            <a:r>
              <a:rPr lang="en-US"/>
              <a:t>] n-step TD Prediction</a:t>
            </a:r>
            <a:endParaRPr/>
          </a:p>
        </p:txBody>
      </p:sp>
      <p:pic>
        <p:nvPicPr>
          <p:cNvPr id="661" name="Google Shape;661;g240f7f18ef0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72207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277b51e96ad_0_293"/>
          <p:cNvSpPr txBox="1">
            <a:spLocks noGrp="1"/>
          </p:cNvSpPr>
          <p:nvPr>
            <p:ph type="title"/>
          </p:nvPr>
        </p:nvSpPr>
        <p:spPr>
          <a:xfrm>
            <a:off x="233775" y="333779"/>
            <a:ext cx="6390600" cy="682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359"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Calibri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667" name="Google Shape;667;g277b51e96ad_0_293"/>
          <p:cNvSpPr txBox="1">
            <a:spLocks noGrp="1"/>
          </p:cNvSpPr>
          <p:nvPr>
            <p:ph type="body" idx="1"/>
          </p:nvPr>
        </p:nvSpPr>
        <p:spPr>
          <a:xfrm>
            <a:off x="6830493" y="1369219"/>
            <a:ext cx="22050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Again, only a simple modification over the tabular setting</a:t>
            </a:r>
            <a:endParaRPr/>
          </a:p>
        </p:txBody>
      </p:sp>
      <p:pic>
        <p:nvPicPr>
          <p:cNvPr id="668" name="Google Shape;668;g277b51e96ad_0_29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276" y="822600"/>
            <a:ext cx="6399215" cy="3927993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g277b51e96ad_0_293"/>
          <p:cNvSpPr txBox="1">
            <a:spLocks noGrp="1"/>
          </p:cNvSpPr>
          <p:nvPr>
            <p:ph type="sldNum" idx="12"/>
          </p:nvPr>
        </p:nvSpPr>
        <p:spPr>
          <a:xfrm>
            <a:off x="6354344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277b51e96ad_0_300"/>
          <p:cNvSpPr txBox="1">
            <a:spLocks noGrp="1"/>
          </p:cNvSpPr>
          <p:nvPr>
            <p:ph type="title"/>
          </p:nvPr>
        </p:nvSpPr>
        <p:spPr>
          <a:xfrm>
            <a:off x="176625" y="67069"/>
            <a:ext cx="6390600" cy="63915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359"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7857"/>
              <a:buFont typeface="Calibri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675" name="Google Shape;675;g277b51e96ad_0_300"/>
          <p:cNvSpPr txBox="1">
            <a:spLocks noGrp="1"/>
          </p:cNvSpPr>
          <p:nvPr>
            <p:ph type="body" idx="1"/>
          </p:nvPr>
        </p:nvSpPr>
        <p:spPr>
          <a:xfrm>
            <a:off x="6830493" y="1369219"/>
            <a:ext cx="22050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Again, only a simple modification over the tabular setting</a:t>
            </a:r>
            <a:endParaRPr/>
          </a:p>
          <a:p>
            <a:pPr marL="177800" lvl="0" indent="-177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Weight update instead of tabular entry update</a:t>
            </a:r>
            <a:endParaRPr/>
          </a:p>
        </p:txBody>
      </p:sp>
      <p:pic>
        <p:nvPicPr>
          <p:cNvPr id="676" name="Google Shape;676;g277b51e96ad_0_30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0909" y="704727"/>
            <a:ext cx="6399215" cy="3927993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g277b51e96ad_0_300"/>
          <p:cNvSpPr txBox="1">
            <a:spLocks noGrp="1"/>
          </p:cNvSpPr>
          <p:nvPr>
            <p:ph type="sldNum" idx="12"/>
          </p:nvPr>
        </p:nvSpPr>
        <p:spPr>
          <a:xfrm>
            <a:off x="6354344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277b51e96ad_0_360"/>
          <p:cNvSpPr txBox="1">
            <a:spLocks noGrp="1"/>
          </p:cNvSpPr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857"/>
              <a:buFont typeface="Calibri"/>
              <a:buNone/>
            </a:pPr>
            <a:r>
              <a:rPr lang="en-US"/>
              <a:t>Feature selection</a:t>
            </a:r>
            <a:endParaRPr/>
          </a:p>
        </p:txBody>
      </p:sp>
      <p:sp>
        <p:nvSpPr>
          <p:cNvPr id="742" name="Google Shape;742;g277b51e96ad_0_360"/>
          <p:cNvSpPr txBox="1">
            <a:spLocks noGrp="1"/>
          </p:cNvSpPr>
          <p:nvPr>
            <p:ph type="body" idx="1"/>
          </p:nvPr>
        </p:nvSpPr>
        <p:spPr>
          <a:xfrm>
            <a:off x="624300" y="1226306"/>
            <a:ext cx="6390600" cy="2562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89" t="-2329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 </a:t>
            </a:r>
            <a:endParaRPr/>
          </a:p>
        </p:txBody>
      </p:sp>
      <p:grpSp>
        <p:nvGrpSpPr>
          <p:cNvPr id="743" name="Google Shape;743;g277b51e96ad_0_360"/>
          <p:cNvGrpSpPr/>
          <p:nvPr/>
        </p:nvGrpSpPr>
        <p:grpSpPr>
          <a:xfrm>
            <a:off x="628903" y="2340279"/>
            <a:ext cx="1900036" cy="1805044"/>
            <a:chOff x="5943600" y="1524000"/>
            <a:chExt cx="2513608" cy="2462542"/>
          </a:xfrm>
        </p:grpSpPr>
        <p:grpSp>
          <p:nvGrpSpPr>
            <p:cNvPr id="744" name="Google Shape;744;g277b51e96ad_0_360"/>
            <p:cNvGrpSpPr/>
            <p:nvPr/>
          </p:nvGrpSpPr>
          <p:grpSpPr>
            <a:xfrm>
              <a:off x="5943600" y="1524000"/>
              <a:ext cx="2513608" cy="2462542"/>
              <a:chOff x="3744" y="960"/>
              <a:chExt cx="1583" cy="1551"/>
            </a:xfrm>
          </p:grpSpPr>
          <p:grpSp>
            <p:nvGrpSpPr>
              <p:cNvPr id="745" name="Google Shape;745;g277b51e96ad_0_360"/>
              <p:cNvGrpSpPr/>
              <p:nvPr/>
            </p:nvGrpSpPr>
            <p:grpSpPr>
              <a:xfrm>
                <a:off x="3744" y="960"/>
                <a:ext cx="1583" cy="1551"/>
                <a:chOff x="3408" y="912"/>
                <a:chExt cx="1583" cy="1551"/>
              </a:xfrm>
            </p:grpSpPr>
            <p:grpSp>
              <p:nvGrpSpPr>
                <p:cNvPr id="746" name="Google Shape;746;g277b51e96ad_0_360"/>
                <p:cNvGrpSpPr/>
                <p:nvPr/>
              </p:nvGrpSpPr>
              <p:grpSpPr>
                <a:xfrm>
                  <a:off x="3408" y="912"/>
                  <a:ext cx="1583" cy="1551"/>
                  <a:chOff x="3360" y="1008"/>
                  <a:chExt cx="1583" cy="1551"/>
                </a:xfrm>
              </p:grpSpPr>
              <p:pic>
                <p:nvPicPr>
                  <p:cNvPr id="747" name="Google Shape;747;g277b51e96ad_0_360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r="73026"/>
                  <a:stretch/>
                </p:blipFill>
                <p:spPr>
                  <a:xfrm>
                    <a:off x="3360" y="1008"/>
                    <a:ext cx="768" cy="155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748" name="Google Shape;748;g277b51e96ad_0_360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l="72497" r="-1157"/>
                  <a:stretch/>
                </p:blipFill>
                <p:spPr>
                  <a:xfrm>
                    <a:off x="4128" y="1008"/>
                    <a:ext cx="815" cy="155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pic>
              <p:nvPicPr>
                <p:cNvPr id="749" name="Google Shape;749;g277b51e96ad_0_360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480" y="1872"/>
                  <a:ext cx="216" cy="16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50" name="Google Shape;750;g277b51e96ad_0_360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/>
                <a:stretch/>
              </p:blipFill>
              <p:spPr>
                <a:xfrm>
                  <a:off x="3792" y="2160"/>
                  <a:ext cx="197" cy="17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51" name="Google Shape;751;g277b51e96ad_0_360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/>
                <a:stretch/>
              </p:blipFill>
              <p:spPr>
                <a:xfrm>
                  <a:off x="3504" y="2160"/>
                  <a:ext cx="216" cy="18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752" name="Google Shape;752;g277b51e96ad_0_360"/>
              <p:cNvSpPr/>
              <p:nvPr/>
            </p:nvSpPr>
            <p:spPr>
              <a:xfrm>
                <a:off x="4032" y="2208"/>
                <a:ext cx="0" cy="0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g277b51e96ad_0_360"/>
              <p:cNvSpPr/>
              <p:nvPr/>
            </p:nvSpPr>
            <p:spPr>
              <a:xfrm>
                <a:off x="4320" y="1968"/>
                <a:ext cx="0" cy="300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4" name="Google Shape;754;g277b51e96ad_0_360"/>
              <p:cNvSpPr/>
              <p:nvPr/>
            </p:nvSpPr>
            <p:spPr>
              <a:xfrm>
                <a:off x="4320" y="1968"/>
                <a:ext cx="600" cy="0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55" name="Google Shape;755;g277b51e96ad_0_360"/>
            <p:cNvSpPr/>
            <p:nvPr/>
          </p:nvSpPr>
          <p:spPr>
            <a:xfrm>
              <a:off x="6096000" y="3352800"/>
              <a:ext cx="228600" cy="15240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56" name="Google Shape;756;g277b51e96ad_0_360" descr="Image result for atari game&quot;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250863" y="2505058"/>
            <a:ext cx="2499693" cy="1454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g277b51e96ad_0_360" descr="Image result for atari game&quot;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72089" y="2344730"/>
            <a:ext cx="2213660" cy="1804680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g277b51e96ad_0_360"/>
          <p:cNvSpPr txBox="1"/>
          <p:nvPr/>
        </p:nvSpPr>
        <p:spPr>
          <a:xfrm>
            <a:off x="3011140" y="4388369"/>
            <a:ext cx="31218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Features are domain depended 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requiring expert knowledge</a:t>
            </a:r>
            <a:endParaRPr sz="1100"/>
          </a:p>
        </p:txBody>
      </p:sp>
      <p:pic>
        <p:nvPicPr>
          <p:cNvPr id="759" name="Google Shape;759;g277b51e96ad_0_36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659484" y="124678"/>
            <a:ext cx="1359532" cy="1143337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g277b51e96ad_0_360"/>
          <p:cNvSpPr txBox="1">
            <a:spLocks noGrp="1"/>
          </p:cNvSpPr>
          <p:nvPr>
            <p:ph type="sldNum" idx="12"/>
          </p:nvPr>
        </p:nvSpPr>
        <p:spPr>
          <a:xfrm>
            <a:off x="6354344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277b51e96ad_0_383"/>
          <p:cNvSpPr txBox="1">
            <a:spLocks noGrp="1"/>
          </p:cNvSpPr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857"/>
              <a:buFont typeface="Calibri"/>
              <a:buNone/>
            </a:pPr>
            <a:r>
              <a:rPr lang="en-US"/>
              <a:t>Automatic features extraction</a:t>
            </a:r>
            <a:endParaRPr/>
          </a:p>
        </p:txBody>
      </p:sp>
      <p:sp>
        <p:nvSpPr>
          <p:cNvPr id="766" name="Google Shape;766;g277b51e96ad_0_383"/>
          <p:cNvSpPr txBox="1">
            <a:spLocks noGrp="1"/>
          </p:cNvSpPr>
          <p:nvPr>
            <p:ph type="body" idx="1"/>
          </p:nvPr>
        </p:nvSpPr>
        <p:spPr>
          <a:xfrm>
            <a:off x="233775" y="864356"/>
            <a:ext cx="6390600" cy="2562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959" t="-2629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 </a:t>
            </a:r>
            <a:endParaRPr/>
          </a:p>
        </p:txBody>
      </p:sp>
      <p:pic>
        <p:nvPicPr>
          <p:cNvPr id="767" name="Google Shape;767;g277b51e96ad_0_383" descr="Image result for atari game&quot;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2386" y="2265772"/>
            <a:ext cx="4988553" cy="2710842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g277b51e96ad_0_383"/>
          <p:cNvSpPr txBox="1">
            <a:spLocks noGrp="1"/>
          </p:cNvSpPr>
          <p:nvPr>
            <p:ph type="sldNum" idx="12"/>
          </p:nvPr>
        </p:nvSpPr>
        <p:spPr>
          <a:xfrm>
            <a:off x="6354344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77b51e96ad_0_390"/>
          <p:cNvSpPr txBox="1">
            <a:spLocks noGrp="1"/>
          </p:cNvSpPr>
          <p:nvPr>
            <p:ph type="title"/>
          </p:nvPr>
        </p:nvSpPr>
        <p:spPr>
          <a:xfrm>
            <a:off x="233775" y="333775"/>
            <a:ext cx="82578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857"/>
              <a:buFont typeface="Calibri"/>
              <a:buNone/>
            </a:pPr>
            <a:r>
              <a:rPr lang="en-US"/>
              <a:t>Automatic features extraction for linear approximator</a:t>
            </a:r>
            <a:endParaRPr/>
          </a:p>
        </p:txBody>
      </p:sp>
      <p:sp>
        <p:nvSpPr>
          <p:cNvPr id="774" name="Google Shape;774;g277b51e96ad_0_390"/>
          <p:cNvSpPr txBox="1">
            <a:spLocks noGrp="1"/>
          </p:cNvSpPr>
          <p:nvPr>
            <p:ph type="body" idx="1"/>
          </p:nvPr>
        </p:nvSpPr>
        <p:spPr>
          <a:xfrm>
            <a:off x="297875" y="985356"/>
            <a:ext cx="6733500" cy="3019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959" t="-15699" r="-1209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 </a:t>
            </a:r>
            <a:endParaRPr/>
          </a:p>
        </p:txBody>
      </p:sp>
      <p:sp>
        <p:nvSpPr>
          <p:cNvPr id="775" name="Google Shape;775;g277b51e96ad_0_390"/>
          <p:cNvSpPr txBox="1">
            <a:spLocks noGrp="1"/>
          </p:cNvSpPr>
          <p:nvPr>
            <p:ph type="sldNum" idx="12"/>
          </p:nvPr>
        </p:nvSpPr>
        <p:spPr>
          <a:xfrm>
            <a:off x="6354344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40f7f18ef0_0_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Automatic features extraction for linear approximator - </a:t>
            </a:r>
            <a:r>
              <a:rPr lang="en-US">
                <a:solidFill>
                  <a:srgbClr val="1C4587"/>
                </a:solidFill>
              </a:rPr>
              <a:t>Coarse Coding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781" name="Google Shape;781;g240f7f18ef0_0_60"/>
          <p:cNvSpPr txBox="1">
            <a:spLocks noGrp="1"/>
          </p:cNvSpPr>
          <p:nvPr>
            <p:ph type="body" idx="1"/>
          </p:nvPr>
        </p:nvSpPr>
        <p:spPr>
          <a:xfrm>
            <a:off x="159300" y="1359200"/>
            <a:ext cx="4796100" cy="320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Natural representation of the state set is continuous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In 2-d, features corresponding to circles in state space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Coding of a state: </a:t>
            </a:r>
            <a:endParaRPr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/>
              <a:t>If the state is inside a circle, then the corresponding feature has the value 1 </a:t>
            </a:r>
            <a:endParaRPr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/>
              <a:t>otherwise the feature is 0 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Corresponding to each circle is a single weight (a component of w) that is learned</a:t>
            </a:r>
            <a:endParaRPr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/>
              <a:t>Training a state affects the weights of all the intersecting circles. </a:t>
            </a:r>
            <a:endParaRPr/>
          </a:p>
        </p:txBody>
      </p:sp>
      <p:pic>
        <p:nvPicPr>
          <p:cNvPr id="782" name="Google Shape;782;g240f7f18ef0_0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8825" y="1320401"/>
            <a:ext cx="3798450" cy="324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240f7f18ef0_0_7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Automatic features extraction for linear approximator - </a:t>
            </a:r>
            <a:r>
              <a:rPr lang="en-US">
                <a:solidFill>
                  <a:srgbClr val="1C4587"/>
                </a:solidFill>
              </a:rPr>
              <a:t>Coarse Coding</a:t>
            </a:r>
            <a:endParaRPr>
              <a:solidFill>
                <a:srgbClr val="1C4587"/>
              </a:solidFill>
            </a:endParaRPr>
          </a:p>
        </p:txBody>
      </p:sp>
      <p:pic>
        <p:nvPicPr>
          <p:cNvPr id="788" name="Google Shape;788;g240f7f18ef0_0_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74925"/>
            <a:ext cx="8839201" cy="3046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240f7f18ef0_0_8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Automatic features extraction for linear approximator - </a:t>
            </a:r>
            <a:r>
              <a:rPr lang="en-US">
                <a:solidFill>
                  <a:srgbClr val="1C4587"/>
                </a:solidFill>
              </a:rPr>
              <a:t>Coarse Coding</a:t>
            </a:r>
            <a:endParaRPr>
              <a:solidFill>
                <a:srgbClr val="1C4587"/>
              </a:solidFill>
            </a:endParaRPr>
          </a:p>
        </p:txBody>
      </p:sp>
      <p:pic>
        <p:nvPicPr>
          <p:cNvPr id="794" name="Google Shape;794;g240f7f18ef0_0_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326900"/>
            <a:ext cx="7667225" cy="366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40f7f18ef0_0_8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Automatic features extraction for linear approximator - </a:t>
            </a:r>
            <a:r>
              <a:rPr lang="en-US">
                <a:solidFill>
                  <a:srgbClr val="980000"/>
                </a:solidFill>
              </a:rPr>
              <a:t>Tile Coding</a:t>
            </a:r>
            <a:endParaRPr>
              <a:solidFill>
                <a:srgbClr val="980000"/>
              </a:solidFill>
            </a:endParaRPr>
          </a:p>
        </p:txBody>
      </p:sp>
      <p:pic>
        <p:nvPicPr>
          <p:cNvPr id="800" name="Google Shape;800;g240f7f18ef0_0_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77900"/>
            <a:ext cx="8679899" cy="2939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240f7f18ef0_0_9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Automatic features extraction for linear approximator - </a:t>
            </a:r>
            <a:r>
              <a:rPr lang="en-US">
                <a:solidFill>
                  <a:srgbClr val="980000"/>
                </a:solidFill>
              </a:rPr>
              <a:t>Tile Coding</a:t>
            </a:r>
            <a:endParaRPr>
              <a:solidFill>
                <a:srgbClr val="980000"/>
              </a:solidFill>
            </a:endParaRPr>
          </a:p>
        </p:txBody>
      </p:sp>
      <p:pic>
        <p:nvPicPr>
          <p:cNvPr id="806" name="Google Shape;806;g240f7f18ef0_0_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51125"/>
            <a:ext cx="2878025" cy="190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g240f7f18ef0_0_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6250" y="1594575"/>
            <a:ext cx="5450699" cy="197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240f7f18ef0_0_9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Automatic features extraction for linear approximator - </a:t>
            </a:r>
            <a:r>
              <a:rPr lang="en-US">
                <a:solidFill>
                  <a:srgbClr val="980000"/>
                </a:solidFill>
              </a:rPr>
              <a:t>Tile Coding</a:t>
            </a:r>
            <a:endParaRPr>
              <a:solidFill>
                <a:srgbClr val="980000"/>
              </a:solidFill>
            </a:endParaRPr>
          </a:p>
        </p:txBody>
      </p:sp>
      <p:pic>
        <p:nvPicPr>
          <p:cNvPr id="813" name="Google Shape;813;g240f7f18ef0_0_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750" y="1470575"/>
            <a:ext cx="8252800" cy="299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277b51e96ad_0_396"/>
          <p:cNvSpPr txBox="1">
            <a:spLocks noGrp="1"/>
          </p:cNvSpPr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857"/>
              <a:buFont typeface="Calibri"/>
              <a:buNone/>
            </a:pPr>
            <a:r>
              <a:rPr lang="en-US"/>
              <a:t>Automatic features extraction for linear approximator</a:t>
            </a:r>
            <a:endParaRPr/>
          </a:p>
        </p:txBody>
      </p:sp>
      <p:sp>
        <p:nvSpPr>
          <p:cNvPr id="819" name="Google Shape;819;g277b51e96ad_0_396"/>
          <p:cNvSpPr txBox="1">
            <a:spLocks noGrp="1"/>
          </p:cNvSpPr>
          <p:nvPr>
            <p:ph type="body" idx="1"/>
          </p:nvPr>
        </p:nvSpPr>
        <p:spPr>
          <a:xfrm>
            <a:off x="233775" y="864356"/>
            <a:ext cx="6390600" cy="25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Other approaches include: Coarse Coding, Tile Coding, Radial Basis Functions (See chapter 9.5 in textbook)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Each of these approaches defines a set of features, some useful yet most are not 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/>
              <a:t>E.g., is there a polynomial/Fourier function that translates pixels to pan location?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/>
              <a:t>Probably but it’s a needle in a (combinatorial) haystack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 Can we do better (generically) </a:t>
            </a:r>
            <a:endParaRPr/>
          </a:p>
          <a:p>
            <a:pPr marL="52070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/>
              <a:t>Yes, using deep neural networks…</a:t>
            </a:r>
            <a:endParaRPr/>
          </a:p>
        </p:txBody>
      </p:sp>
      <p:pic>
        <p:nvPicPr>
          <p:cNvPr id="820" name="Google Shape;820;g277b51e96ad_0_396" descr="Image result for atari game&quot;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29720" y="3276788"/>
            <a:ext cx="2107630" cy="17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g277b51e96ad_0_396"/>
          <p:cNvSpPr txBox="1">
            <a:spLocks noGrp="1"/>
          </p:cNvSpPr>
          <p:nvPr>
            <p:ph type="sldNum" idx="12"/>
          </p:nvPr>
        </p:nvSpPr>
        <p:spPr>
          <a:xfrm>
            <a:off x="6354344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277b51e96ad_0_403"/>
          <p:cNvSpPr txBox="1">
            <a:spLocks noGrp="1"/>
          </p:cNvSpPr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857"/>
              <a:buFont typeface="Calibri"/>
              <a:buNone/>
            </a:pPr>
            <a:r>
              <a:rPr lang="en-US"/>
              <a:t>What did we learn? </a:t>
            </a:r>
            <a:endParaRPr/>
          </a:p>
        </p:txBody>
      </p:sp>
      <p:sp>
        <p:nvSpPr>
          <p:cNvPr id="827" name="Google Shape;827;g277b51e96ad_0_403"/>
          <p:cNvSpPr txBox="1">
            <a:spLocks noGrp="1"/>
          </p:cNvSpPr>
          <p:nvPr>
            <p:ph type="body" idx="1"/>
          </p:nvPr>
        </p:nvSpPr>
        <p:spPr>
          <a:xfrm>
            <a:off x="233775" y="864356"/>
            <a:ext cx="6390600" cy="25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/>
          </a:bodyPr>
          <a:lstStyle/>
          <a:p>
            <a:pPr marL="17780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Reinforcement learning must generalize on observed experience if it is to be applicable to real world domains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We can use parameterized function approximation to represent our knowledge about the domain state/action values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Use stochastic gradient descend to update the tunable parameters such that the observed (TD, rollout) error is reduced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/>
              <a:t>When using a linear approximator, the Least squares TD method provides the most sample efficient approximation</a:t>
            </a:r>
            <a:endParaRPr/>
          </a:p>
        </p:txBody>
      </p:sp>
      <p:sp>
        <p:nvSpPr>
          <p:cNvPr id="828" name="Google Shape;828;g277b51e96ad_0_403"/>
          <p:cNvSpPr txBox="1">
            <a:spLocks noGrp="1"/>
          </p:cNvSpPr>
          <p:nvPr>
            <p:ph type="sldNum" idx="12"/>
          </p:nvPr>
        </p:nvSpPr>
        <p:spPr>
          <a:xfrm>
            <a:off x="6354344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37"/>
          <p:cNvSpPr txBox="1">
            <a:spLocks noGrp="1"/>
          </p:cNvSpPr>
          <p:nvPr>
            <p:ph type="title"/>
          </p:nvPr>
        </p:nvSpPr>
        <p:spPr>
          <a:xfrm>
            <a:off x="628650" y="789056"/>
            <a:ext cx="78867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US" sz="2000">
                <a:solidFill>
                  <a:srgbClr val="4C1130"/>
                </a:solidFill>
                <a:latin typeface="Comfortaa"/>
                <a:ea typeface="Comfortaa"/>
                <a:cs typeface="Comfortaa"/>
                <a:sym typeface="Comfortaa"/>
              </a:rPr>
              <a:t>Required Readings</a:t>
            </a:r>
            <a:endParaRPr sz="2000">
              <a:solidFill>
                <a:srgbClr val="4C113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66" name="Google Shape;1166;p3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1167" name="Google Shape;1167;p37"/>
          <p:cNvSpPr txBox="1">
            <a:spLocks noGrp="1"/>
          </p:cNvSpPr>
          <p:nvPr>
            <p:ph type="body" idx="1"/>
          </p:nvPr>
        </p:nvSpPr>
        <p:spPr>
          <a:xfrm>
            <a:off x="628650" y="1420593"/>
            <a:ext cx="78867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42900" lvl="0" indent="-2667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C4587"/>
              </a:buClr>
              <a:buSzPts val="1600"/>
              <a:buFont typeface="Comfortaa"/>
              <a:buAutoNum type="arabicPeriod"/>
            </a:pPr>
            <a:r>
              <a:rPr lang="en-US" sz="1600">
                <a:solidFill>
                  <a:srgbClr val="1C4587"/>
                </a:solidFill>
                <a:latin typeface="Comfortaa"/>
                <a:ea typeface="Comfortaa"/>
                <a:cs typeface="Comfortaa"/>
                <a:sym typeface="Comfortaa"/>
              </a:rPr>
              <a:t>Chapter-6 of Introduction to Reinforcement Learning,2</a:t>
            </a:r>
            <a:r>
              <a:rPr lang="en-US" sz="1600" baseline="30000">
                <a:solidFill>
                  <a:srgbClr val="1C4587"/>
                </a:solidFill>
                <a:latin typeface="Comfortaa"/>
                <a:ea typeface="Comfortaa"/>
                <a:cs typeface="Comfortaa"/>
                <a:sym typeface="Comfortaa"/>
              </a:rPr>
              <a:t>nd</a:t>
            </a:r>
            <a:r>
              <a:rPr lang="en-US" sz="1600">
                <a:solidFill>
                  <a:srgbClr val="1C4587"/>
                </a:solidFill>
                <a:latin typeface="Comfortaa"/>
                <a:ea typeface="Comfortaa"/>
                <a:cs typeface="Comfortaa"/>
                <a:sym typeface="Comfortaa"/>
              </a:rPr>
              <a:t> Ed.,  Sutton &amp; Barto</a:t>
            </a:r>
            <a:endParaRPr sz="1600">
              <a:solidFill>
                <a:srgbClr val="1C458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38"/>
          <p:cNvSpPr txBox="1">
            <a:spLocks noGrp="1"/>
          </p:cNvSpPr>
          <p:nvPr>
            <p:ph type="title"/>
          </p:nvPr>
        </p:nvSpPr>
        <p:spPr>
          <a:xfrm>
            <a:off x="3493293" y="2107406"/>
            <a:ext cx="5022000" cy="14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1174" name="Google Shape;1174;p38"/>
          <p:cNvSpPr txBox="1">
            <a:spLocks noGrp="1"/>
          </p:cNvSpPr>
          <p:nvPr>
            <p:ph type="subTitle" idx="1"/>
          </p:nvPr>
        </p:nvSpPr>
        <p:spPr>
          <a:xfrm>
            <a:off x="3493294" y="3771602"/>
            <a:ext cx="502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 fontScale="77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129032"/>
              <a:buNone/>
            </a:pPr>
            <a:endParaRPr/>
          </a:p>
        </p:txBody>
      </p:sp>
      <p:sp>
        <p:nvSpPr>
          <p:cNvPr id="1175" name="Google Shape;1175;p38"/>
          <p:cNvSpPr txBox="1">
            <a:spLocks noGrp="1"/>
          </p:cNvSpPr>
          <p:nvPr>
            <p:ph type="sldNum" idx="12"/>
          </p:nvPr>
        </p:nvSpPr>
        <p:spPr>
          <a:xfrm>
            <a:off x="7243763" y="4767263"/>
            <a:ext cx="127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862</Words>
  <Application>Microsoft Office PowerPoint</Application>
  <PresentationFormat>On-screen Show (16:9)</PresentationFormat>
  <Paragraphs>159</Paragraphs>
  <Slides>35</Slides>
  <Notes>35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37" baseType="lpstr">
      <vt:lpstr>Simple Light</vt:lpstr>
      <vt:lpstr>Office Theme</vt:lpstr>
      <vt:lpstr> Session #10 ( #11) :  On Policy Prediction with Approximation</vt:lpstr>
      <vt:lpstr>Agenda for the classes </vt:lpstr>
      <vt:lpstr>Generalizing Across States</vt:lpstr>
      <vt:lpstr>Example: Pacman</vt:lpstr>
      <vt:lpstr>PowerPoint Presentation</vt:lpstr>
      <vt:lpstr>Learn an approximation function</vt:lpstr>
      <vt:lpstr>PowerPoint Presentation</vt:lpstr>
      <vt:lpstr>Parameterized function approximator</vt:lpstr>
      <vt:lpstr>Gradient Descent</vt:lpstr>
      <vt:lpstr>Gradient Decent</vt:lpstr>
      <vt:lpstr>SGD for Monte Carlo estimation</vt:lpstr>
      <vt:lpstr>Example</vt:lpstr>
      <vt:lpstr>Learning approximation with bootstrapping </vt:lpstr>
      <vt:lpstr>Semi-gradient methods</vt:lpstr>
      <vt:lpstr>Semi-gradient TD(0)</vt:lpstr>
      <vt:lpstr>Example</vt:lpstr>
      <vt:lpstr>[Review] n-step TD Prediction</vt:lpstr>
      <vt:lpstr>[Review] n-step TD Prediction</vt:lpstr>
      <vt:lpstr>[Review] n-step TD Prediction</vt:lpstr>
      <vt:lpstr>[Review] n-step TD Prediction</vt:lpstr>
      <vt:lpstr> </vt:lpstr>
      <vt:lpstr> </vt:lpstr>
      <vt:lpstr>Feature selection</vt:lpstr>
      <vt:lpstr>Automatic features extraction</vt:lpstr>
      <vt:lpstr>Automatic features extraction for linear approximator</vt:lpstr>
      <vt:lpstr>Automatic features extraction for linear approximator - Coarse Coding</vt:lpstr>
      <vt:lpstr>Automatic features extraction for linear approximator - Coarse Coding</vt:lpstr>
      <vt:lpstr>Automatic features extraction for linear approximator - Coarse Coding</vt:lpstr>
      <vt:lpstr>Automatic features extraction for linear approximator - Tile Coding</vt:lpstr>
      <vt:lpstr>Automatic features extraction for linear approximator - Tile Coding</vt:lpstr>
      <vt:lpstr>Automatic features extraction for linear approximator - Tile Coding</vt:lpstr>
      <vt:lpstr>Automatic features extraction for linear approximator</vt:lpstr>
      <vt:lpstr>What did we learn? </vt:lpstr>
      <vt:lpstr>Required Readings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Session #10-11-12:  On Policy Prediction with Approximation</dc:title>
  <cp:lastModifiedBy>Vimal Pillai</cp:lastModifiedBy>
  <cp:revision>18</cp:revision>
  <dcterms:modified xsi:type="dcterms:W3CDTF">2025-07-12T06:45:59Z</dcterms:modified>
</cp:coreProperties>
</file>
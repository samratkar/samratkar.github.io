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2" showSpecialPlsOnTitleSld="0" saveSubsetFonts="1" autoCompressPictures="0">
  <p:sldMasterIdLst>
    <p:sldMasterId id="2147483660" r:id="rId1"/>
    <p:sldMasterId id="2147483667" r:id="rId2"/>
  </p:sldMasterIdLst>
  <p:notesMasterIdLst>
    <p:notesMasterId r:id="rId46"/>
  </p:notesMasterIdLst>
  <p:handoutMasterIdLst>
    <p:handoutMasterId r:id="rId47"/>
  </p:handoutMasterIdLst>
  <p:sldIdLst>
    <p:sldId id="256" r:id="rId3"/>
    <p:sldId id="257" r:id="rId4"/>
    <p:sldId id="258" r:id="rId5"/>
    <p:sldId id="259" r:id="rId6"/>
    <p:sldId id="275" r:id="rId7"/>
    <p:sldId id="276" r:id="rId8"/>
    <p:sldId id="277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3" r:id="rId17"/>
    <p:sldId id="270" r:id="rId18"/>
    <p:sldId id="271" r:id="rId19"/>
    <p:sldId id="274" r:id="rId20"/>
    <p:sldId id="272" r:id="rId21"/>
    <p:sldId id="278" r:id="rId22"/>
    <p:sldId id="280" r:id="rId23"/>
    <p:sldId id="286" r:id="rId24"/>
    <p:sldId id="281" r:id="rId25"/>
    <p:sldId id="282" r:id="rId26"/>
    <p:sldId id="285" r:id="rId27"/>
    <p:sldId id="296" r:id="rId28"/>
    <p:sldId id="287" r:id="rId29"/>
    <p:sldId id="288" r:id="rId30"/>
    <p:sldId id="289" r:id="rId31"/>
    <p:sldId id="284" r:id="rId32"/>
    <p:sldId id="290" r:id="rId33"/>
    <p:sldId id="291" r:id="rId34"/>
    <p:sldId id="292" r:id="rId35"/>
    <p:sldId id="293" r:id="rId36"/>
    <p:sldId id="294" r:id="rId37"/>
    <p:sldId id="297" r:id="rId38"/>
    <p:sldId id="298" r:id="rId39"/>
    <p:sldId id="295" r:id="rId40"/>
    <p:sldId id="299" r:id="rId41"/>
    <p:sldId id="300" r:id="rId42"/>
    <p:sldId id="301" r:id="rId43"/>
    <p:sldId id="302" r:id="rId44"/>
    <p:sldId id="303" r:id="rId4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432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772"/>
    <p:restoredTop sz="88742" autoAdjust="0"/>
  </p:normalViewPr>
  <p:slideViewPr>
    <p:cSldViewPr snapToGrid="0">
      <p:cViewPr varScale="1">
        <p:scale>
          <a:sx n="87" d="100"/>
          <a:sy n="87" d="100"/>
        </p:scale>
        <p:origin x="95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6" d="100"/>
          <a:sy n="96" d="100"/>
        </p:scale>
        <p:origin x="4328" y="17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handoutMaster" Target="handoutMasters/handoutMaster1.xml"/><Relationship Id="rId50" Type="http://schemas.openxmlformats.org/officeDocument/2006/relationships/theme" Target="theme/theme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presProps" Target="presProps.xml"/><Relationship Id="rId8" Type="http://schemas.openxmlformats.org/officeDocument/2006/relationships/slide" Target="slides/slide6.xml"/><Relationship Id="rId51" Type="http://schemas.openxmlformats.org/officeDocument/2006/relationships/tableStyles" Target="tableStyles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9462071-6DCE-F8B9-5FD7-C21C6AA6961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AF76832-477F-1A75-18B2-ADA503EFF95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F48769-8EBE-2743-A7CE-2741C4A06A28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9CD8A14-069E-6BD5-2937-CDCB9AA92D2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Faculty Development Workshop on Deep Reinforcement Learning - 9 &amp; 10 March,2026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180AC71-93AF-BF69-0FD6-DCF3DEB1637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9DA32A-1991-C742-89A3-22E8860108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0941592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761802-59AE-A046-80C1-97E5C23B0E02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Faculty Development Workshop on Deep Reinforcement Learning - 9 &amp; 10 March,2026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05F7881-6536-994A-A65D-E25A2CAF27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4898112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ai.stackexchange.com/questions/27931/what-is-the-probability-of-selecting-the-greedy-action-in-a-0-5-greedy-selection" TargetMode="External"/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ai.stackexchange.com/questions/27931/what-is-the-probability-of-selecting-the-greedy-action-in-a-0-5-greedy-selection" TargetMode="External"/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6" name="Google Shape;3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D79C721-36AE-718C-4020-D7BC0022BC7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Faculty Development Workshop on Deep Reinforcement Learning - 9 &amp; 10 March,2026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24a90fbe9f0_0_5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29" name="Google Shape;229;g24a90fbe9f0_0_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24a90fbe9f0_0_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38" name="Google Shape;238;g24a90fbe9f0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24a90fbe9f0_0_8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47" name="Google Shape;247;g24a90fbe9f0_0_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24a90fbe9f0_0_9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57" name="Google Shape;257;g24a90fbe9f0_0_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24a90fbe9f0_0_1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66" name="Google Shape;266;g24a90fbe9f0_0_1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24a90fbe9f0_0_10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77" name="Google Shape;277;g24a90fbe9f0_0_1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24a90fbe9f0_0_1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7" name="Google Shape;287;g24a90fbe9f0_0_18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88" name="Google Shape;288;g24a90fbe9f0_0_18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5">
          <a:extLst>
            <a:ext uri="{FF2B5EF4-FFF2-40B4-BE49-F238E27FC236}">
              <a16:creationId xmlns:a16="http://schemas.microsoft.com/office/drawing/2014/main" id="{CA7A1CC3-6A2A-4944-DC39-4D9BD3BB61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24a90fbe9f0_0_183:notes">
            <a:extLst>
              <a:ext uri="{FF2B5EF4-FFF2-40B4-BE49-F238E27FC236}">
                <a16:creationId xmlns:a16="http://schemas.microsoft.com/office/drawing/2014/main" id="{546B6FE0-EDDA-D5DC-72ED-2D86E781526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7" name="Google Shape;287;g24a90fbe9f0_0_183:notes">
            <a:extLst>
              <a:ext uri="{FF2B5EF4-FFF2-40B4-BE49-F238E27FC236}">
                <a16:creationId xmlns:a16="http://schemas.microsoft.com/office/drawing/2014/main" id="{644B3A04-F9A4-B71A-5A07-0575D240613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88" name="Google Shape;288;g24a90fbe9f0_0_183:notes">
            <a:extLst>
              <a:ext uri="{FF2B5EF4-FFF2-40B4-BE49-F238E27FC236}">
                <a16:creationId xmlns:a16="http://schemas.microsoft.com/office/drawing/2014/main" id="{97FF93EA-C0E8-C8A7-13EE-4FBA64322EF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7214683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24a90fbe9f0_0_1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5" name="Google Shape;295;g24a90fbe9f0_0_15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96" name="Google Shape;296;g24a90fbe9f0_0_15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24a90fbe9f0_0_1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5" name="Google Shape;305;g24a90fbe9f0_0_19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06" name="Google Shape;306;g24a90fbe9f0_0_19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24a90fbe9f0_0_14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15" name="Google Shape;315;g24a90fbe9f0_0_1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24a90fbe9f0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Refer to </a:t>
            </a:r>
            <a:r>
              <a:rPr lang="en-US" u="sng">
                <a:solidFill>
                  <a:schemeClr val="hlink"/>
                </a:solidFill>
                <a:hlinkClick r:id="rId3"/>
              </a:rPr>
              <a:t>https://ai.stackexchange.com/questions/27931/what-is-the-probability-of-selecting-the-greedy-action-in-a-0-5-greedy-selection</a:t>
            </a:r>
            <a:r>
              <a:rPr lang="en-US"/>
              <a:t> 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for a good discussion on the solution. </a:t>
            </a:r>
            <a:endParaRPr/>
          </a:p>
        </p:txBody>
      </p:sp>
      <p:sp>
        <p:nvSpPr>
          <p:cNvPr id="325" name="Google Shape;325;g24a90fbe9f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3">
          <a:extLst>
            <a:ext uri="{FF2B5EF4-FFF2-40B4-BE49-F238E27FC236}">
              <a16:creationId xmlns:a16="http://schemas.microsoft.com/office/drawing/2014/main" id="{13293DE9-8A3C-7846-E5E0-6A5F127EDD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24a90fbe9f0_0_0:notes">
            <a:extLst>
              <a:ext uri="{FF2B5EF4-FFF2-40B4-BE49-F238E27FC236}">
                <a16:creationId xmlns:a16="http://schemas.microsoft.com/office/drawing/2014/main" id="{F9B42B4F-897E-E759-E1EA-03F5AB34F82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Refer to </a:t>
            </a:r>
            <a:r>
              <a:rPr lang="en-US" u="sng">
                <a:solidFill>
                  <a:schemeClr val="hlink"/>
                </a:solidFill>
                <a:hlinkClick r:id="rId3"/>
              </a:rPr>
              <a:t>https://ai.stackexchange.com/questions/27931/what-is-the-probability-of-selecting-the-greedy-action-in-a-0-5-greedy-selection</a:t>
            </a:r>
            <a:r>
              <a:rPr lang="en-US"/>
              <a:t> 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for a good discussion on the solution. </a:t>
            </a:r>
            <a:endParaRPr/>
          </a:p>
        </p:txBody>
      </p:sp>
      <p:sp>
        <p:nvSpPr>
          <p:cNvPr id="325" name="Google Shape;325;g24a90fbe9f0_0_0:notes">
            <a:extLst>
              <a:ext uri="{FF2B5EF4-FFF2-40B4-BE49-F238E27FC236}">
                <a16:creationId xmlns:a16="http://schemas.microsoft.com/office/drawing/2014/main" id="{4DD8FD05-09B3-3649-7E34-5E76F8A8BB1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01618939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8">
          <a:extLst>
            <a:ext uri="{FF2B5EF4-FFF2-40B4-BE49-F238E27FC236}">
              <a16:creationId xmlns:a16="http://schemas.microsoft.com/office/drawing/2014/main" id="{300486A6-6927-41AB-2633-6F7920C9E6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24a90fbe9f0_0_214:notes">
            <a:extLst>
              <a:ext uri="{FF2B5EF4-FFF2-40B4-BE49-F238E27FC236}">
                <a16:creationId xmlns:a16="http://schemas.microsoft.com/office/drawing/2014/main" id="{A7AC4700-A03D-8F54-1DE4-362D3778942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0" name="Google Shape;340;g24a90fbe9f0_0_214:notes">
            <a:extLst>
              <a:ext uri="{FF2B5EF4-FFF2-40B4-BE49-F238E27FC236}">
                <a16:creationId xmlns:a16="http://schemas.microsoft.com/office/drawing/2014/main" id="{7636E6EC-5669-370B-E246-340A2825360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41" name="Google Shape;341;g24a90fbe9f0_0_214:notes">
            <a:extLst>
              <a:ext uri="{FF2B5EF4-FFF2-40B4-BE49-F238E27FC236}">
                <a16:creationId xmlns:a16="http://schemas.microsoft.com/office/drawing/2014/main" id="{1749CA24-B6BF-352B-738D-9332233F974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7523317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24a90fbe9f0_0_2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0" name="Google Shape;340;g24a90fbe9f0_0_2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41" name="Google Shape;341;g24a90fbe9f0_0_2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24a90fbe9f0_0_2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0" name="Google Shape;350;g24a90fbe9f0_0_22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51" name="Google Shape;351;g24a90fbe9f0_0_22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8">
          <a:extLst>
            <a:ext uri="{FF2B5EF4-FFF2-40B4-BE49-F238E27FC236}">
              <a16:creationId xmlns:a16="http://schemas.microsoft.com/office/drawing/2014/main" id="{7F466638-2409-F619-9998-BAF671A283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24a90fbe9f0_0_229:notes">
            <a:extLst>
              <a:ext uri="{FF2B5EF4-FFF2-40B4-BE49-F238E27FC236}">
                <a16:creationId xmlns:a16="http://schemas.microsoft.com/office/drawing/2014/main" id="{CE7EBE64-5955-17CE-E530-E74E52FBB66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0" name="Google Shape;350;g24a90fbe9f0_0_229:notes">
            <a:extLst>
              <a:ext uri="{FF2B5EF4-FFF2-40B4-BE49-F238E27FC236}">
                <a16:creationId xmlns:a16="http://schemas.microsoft.com/office/drawing/2014/main" id="{E9AEFA24-AB15-1611-2C6C-E500229D902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51" name="Google Shape;351;g24a90fbe9f0_0_229:notes">
            <a:extLst>
              <a:ext uri="{FF2B5EF4-FFF2-40B4-BE49-F238E27FC236}">
                <a16:creationId xmlns:a16="http://schemas.microsoft.com/office/drawing/2014/main" id="{592A16F4-3205-34BD-5FF2-061C149B21C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2780332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8">
          <a:extLst>
            <a:ext uri="{FF2B5EF4-FFF2-40B4-BE49-F238E27FC236}">
              <a16:creationId xmlns:a16="http://schemas.microsoft.com/office/drawing/2014/main" id="{BD9D787B-B60E-F499-5138-93F1A26CAA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24a90fbe9f0_0_229:notes">
            <a:extLst>
              <a:ext uri="{FF2B5EF4-FFF2-40B4-BE49-F238E27FC236}">
                <a16:creationId xmlns:a16="http://schemas.microsoft.com/office/drawing/2014/main" id="{D402221F-FFDE-BED7-E842-D93F3AAD72A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0" name="Google Shape;350;g24a90fbe9f0_0_229:notes">
            <a:extLst>
              <a:ext uri="{FF2B5EF4-FFF2-40B4-BE49-F238E27FC236}">
                <a16:creationId xmlns:a16="http://schemas.microsoft.com/office/drawing/2014/main" id="{FA6E243F-14C1-2671-3886-67D2A31D6E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51" name="Google Shape;351;g24a90fbe9f0_0_229:notes">
            <a:extLst>
              <a:ext uri="{FF2B5EF4-FFF2-40B4-BE49-F238E27FC236}">
                <a16:creationId xmlns:a16="http://schemas.microsoft.com/office/drawing/2014/main" id="{2D9D684E-7E13-2D74-C42B-4592FD93D15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3345966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g24a90fbe9f0_0_2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2" name="Google Shape;382;g24a90fbe9f0_0_27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83" name="Google Shape;383;g24a90fbe9f0_0_27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28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g24a90fbe9f0_0_2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92" name="Google Shape;392;g24a90fbe9f0_0_28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93" name="Google Shape;393;g24a90fbe9f0_0_28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29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g24a90fbe9f0_0_3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02" name="Google Shape;402;g24a90fbe9f0_0_30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03" name="Google Shape;403;g24a90fbe9f0_0_30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30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g24a90fbe9f0_0_3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17" name="Google Shape;417;g24a90fbe9f0_0_3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18" name="Google Shape;418;g24a90fbe9f0_0_3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31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g24a90fbe9f0_0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26" name="Google Shape;426;g24a90fbe9f0_0_33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 Averaging methods are appropriate for stationary bandit problems,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We often encounter reinforcement learning problems that are effectively nonstationary; In such cases it makes sense to give more weight to recent rewards than to long-past rewards.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27" name="Google Shape;427;g24a90fbe9f0_0_33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32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g24a90fbe9f0_0_3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37" name="Google Shape;437;g24a90fbe9f0_0_34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38" name="Google Shape;438;g24a90fbe9f0_0_34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33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g24a90fbe9f0_0_3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45" name="Google Shape;445;g24a90fbe9f0_0_35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46" name="Google Shape;446;g24a90fbe9f0_0_35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34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g24a90fbe9f0_0_3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6" name="Google Shape;456;g24a90fbe9f0_0_37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57" name="Google Shape;457;g24a90fbe9f0_0_37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35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g24a90fbe9f0_0_3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5" name="Google Shape;465;g24a90fbe9f0_0_39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66" name="Google Shape;466;g24a90fbe9f0_0_39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36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3">
          <a:extLst>
            <a:ext uri="{FF2B5EF4-FFF2-40B4-BE49-F238E27FC236}">
              <a16:creationId xmlns:a16="http://schemas.microsoft.com/office/drawing/2014/main" id="{8802DE88-FAF2-1E78-32A4-62AEC64858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g24a90fbe9f0_0_395:notes">
            <a:extLst>
              <a:ext uri="{FF2B5EF4-FFF2-40B4-BE49-F238E27FC236}">
                <a16:creationId xmlns:a16="http://schemas.microsoft.com/office/drawing/2014/main" id="{0F972F50-A3C9-932A-FEF4-94A067FF676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5" name="Google Shape;465;g24a90fbe9f0_0_395:notes">
            <a:extLst>
              <a:ext uri="{FF2B5EF4-FFF2-40B4-BE49-F238E27FC236}">
                <a16:creationId xmlns:a16="http://schemas.microsoft.com/office/drawing/2014/main" id="{A9172995-E6EA-D3C7-79A0-6E676909A36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66" name="Google Shape;466;g24a90fbe9f0_0_395:notes">
            <a:extLst>
              <a:ext uri="{FF2B5EF4-FFF2-40B4-BE49-F238E27FC236}">
                <a16:creationId xmlns:a16="http://schemas.microsoft.com/office/drawing/2014/main" id="{CE05D7D1-9634-F349-607B-CCC90DA301E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37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7814398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9">
          <a:extLst>
            <a:ext uri="{FF2B5EF4-FFF2-40B4-BE49-F238E27FC236}">
              <a16:creationId xmlns:a16="http://schemas.microsoft.com/office/drawing/2014/main" id="{5D3F1BCA-0D1F-6706-55F5-C087CDDFF4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g24a90fbe9f0_0_414:notes">
            <a:extLst>
              <a:ext uri="{FF2B5EF4-FFF2-40B4-BE49-F238E27FC236}">
                <a16:creationId xmlns:a16="http://schemas.microsoft.com/office/drawing/2014/main" id="{EAE8E7EA-4906-6CDC-FEBC-8C6C546637F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81" name="Google Shape;481;g24a90fbe9f0_0_414:notes">
            <a:extLst>
              <a:ext uri="{FF2B5EF4-FFF2-40B4-BE49-F238E27FC236}">
                <a16:creationId xmlns:a16="http://schemas.microsoft.com/office/drawing/2014/main" id="{E5432572-627B-4040-42FD-420251146AE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82" name="Google Shape;482;g24a90fbe9f0_0_414:notes">
            <a:extLst>
              <a:ext uri="{FF2B5EF4-FFF2-40B4-BE49-F238E27FC236}">
                <a16:creationId xmlns:a16="http://schemas.microsoft.com/office/drawing/2014/main" id="{9F970683-AD2E-A0E0-E679-6F492F92399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38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739451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g24a90fbe9f0_0_4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81" name="Google Shape;481;g24a90fbe9f0_0_4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82" name="Google Shape;482;g24a90fbe9f0_0_4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39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9">
          <a:extLst>
            <a:ext uri="{FF2B5EF4-FFF2-40B4-BE49-F238E27FC236}">
              <a16:creationId xmlns:a16="http://schemas.microsoft.com/office/drawing/2014/main" id="{FB0C417D-A1D1-EAA3-B127-5D4012CEAE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g24a90fbe9f0_0_414:notes">
            <a:extLst>
              <a:ext uri="{FF2B5EF4-FFF2-40B4-BE49-F238E27FC236}">
                <a16:creationId xmlns:a16="http://schemas.microsoft.com/office/drawing/2014/main" id="{9BCCD897-087A-7004-6B06-B82789E1ED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81" name="Google Shape;481;g24a90fbe9f0_0_414:notes">
            <a:extLst>
              <a:ext uri="{FF2B5EF4-FFF2-40B4-BE49-F238E27FC236}">
                <a16:creationId xmlns:a16="http://schemas.microsoft.com/office/drawing/2014/main" id="{A40C6559-08C0-1FFA-8ED9-ECA5B7131D2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82" name="Google Shape;482;g24a90fbe9f0_0_414:notes">
            <a:extLst>
              <a:ext uri="{FF2B5EF4-FFF2-40B4-BE49-F238E27FC236}">
                <a16:creationId xmlns:a16="http://schemas.microsoft.com/office/drawing/2014/main" id="{4437F64E-4606-A1F5-3B2A-AC8826D048A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40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1739046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9">
          <a:extLst>
            <a:ext uri="{FF2B5EF4-FFF2-40B4-BE49-F238E27FC236}">
              <a16:creationId xmlns:a16="http://schemas.microsoft.com/office/drawing/2014/main" id="{BB417ECB-CACF-B088-D8AC-25F86D36AC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g24a90fbe9f0_0_414:notes">
            <a:extLst>
              <a:ext uri="{FF2B5EF4-FFF2-40B4-BE49-F238E27FC236}">
                <a16:creationId xmlns:a16="http://schemas.microsoft.com/office/drawing/2014/main" id="{3D00313A-0ED0-9CE8-607F-46138247637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81" name="Google Shape;481;g24a90fbe9f0_0_414:notes">
            <a:extLst>
              <a:ext uri="{FF2B5EF4-FFF2-40B4-BE49-F238E27FC236}">
                <a16:creationId xmlns:a16="http://schemas.microsoft.com/office/drawing/2014/main" id="{614F9DA6-652E-7F80-781E-06317BBF4A6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82" name="Google Shape;482;g24a90fbe9f0_0_414:notes">
            <a:extLst>
              <a:ext uri="{FF2B5EF4-FFF2-40B4-BE49-F238E27FC236}">
                <a16:creationId xmlns:a16="http://schemas.microsoft.com/office/drawing/2014/main" id="{D64A3544-95AB-1A8A-C603-A81C79F6CD3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41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956642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obj">
  <p:cSld name="Blank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3"/>
          <p:cNvSpPr txBox="1">
            <a:spLocks noGrp="1"/>
          </p:cNvSpPr>
          <p:nvPr>
            <p:ph type="ftr" idx="11"/>
          </p:nvPr>
        </p:nvSpPr>
        <p:spPr>
          <a:xfrm>
            <a:off x="1209773" y="6631479"/>
            <a:ext cx="1554883" cy="1951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68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IN"/>
              <a:t>Faculty Development Workshop on Deep Reinforcement Learning - 9 &amp; 10 March,2026</a:t>
            </a:r>
            <a:endParaRPr/>
          </a:p>
        </p:txBody>
      </p:sp>
      <p:sp>
        <p:nvSpPr>
          <p:cNvPr id="15" name="Google Shape;15;p33"/>
          <p:cNvSpPr txBox="1">
            <a:spLocks noGrp="1"/>
          </p:cNvSpPr>
          <p:nvPr>
            <p:ph type="sldNum" idx="12"/>
          </p:nvPr>
        </p:nvSpPr>
        <p:spPr>
          <a:xfrm>
            <a:off x="9830163" y="6631479"/>
            <a:ext cx="672863" cy="218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124813" marR="0" lvl="0" indent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126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124813" marR="0" lvl="1" indent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126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24813" marR="0" lvl="2" indent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126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24813" marR="0" lvl="3" indent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126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24813" marR="0" lvl="4" indent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126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124813" marR="0" lvl="5" indent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126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124813" marR="0" lvl="6" indent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126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24813" marR="0" lvl="7" indent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126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124813" marR="0" lvl="8" indent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126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r>
              <a:rPr lang="en-US"/>
              <a:t> / 46</a:t>
            </a:r>
          </a:p>
        </p:txBody>
      </p:sp>
      <p:sp>
        <p:nvSpPr>
          <p:cNvPr id="2" name="Google Shape;9;p32">
            <a:extLst>
              <a:ext uri="{FF2B5EF4-FFF2-40B4-BE49-F238E27FC236}">
                <a16:creationId xmlns:a16="http://schemas.microsoft.com/office/drawing/2014/main" id="{63DF31E0-A0D1-73B6-6B22-14377E225714}"/>
              </a:ext>
            </a:extLst>
          </p:cNvPr>
          <p:cNvSpPr txBox="1">
            <a:spLocks/>
          </p:cNvSpPr>
          <p:nvPr userDrawn="1"/>
        </p:nvSpPr>
        <p:spPr>
          <a:xfrm>
            <a:off x="994016" y="6431358"/>
            <a:ext cx="7985597" cy="1951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>
              <a:defRPr lang="en-US"/>
            </a:defPPr>
            <a:lvl1pPr marL="0" marR="0" lvl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68" b="0" i="0" u="none" strike="noStrike" kern="1200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804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804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804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804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804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804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804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804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/>
              <a:t>Faculty Development Workshop on Deep Reinforcement Learning - 9 &amp; 10 March , 2026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07711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422273-F2E3-E5EC-42CC-1B48E640A9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25E7444-89E2-84D5-5911-966E318F287D}"/>
              </a:ext>
            </a:extLst>
          </p:cNvPr>
          <p:cNvSpPr>
            <a:spLocks noGrp="1"/>
          </p:cNvSpPr>
          <p:nvPr>
            <p:ph type="ftr" idx="10"/>
          </p:nvPr>
        </p:nvSpPr>
        <p:spPr>
          <a:xfrm>
            <a:off x="3346797" y="6507925"/>
            <a:ext cx="8057517" cy="975588"/>
          </a:xfrm>
        </p:spPr>
        <p:txBody>
          <a:bodyPr/>
          <a:lstStyle/>
          <a:p>
            <a:r>
              <a:rPr lang="en-IN"/>
              <a:t>Faculty Development Workshop on Deep Reinforcement Learning - 9 &amp; 10 March,2026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585453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4"/>
          <p:cNvSpPr txBox="1">
            <a:spLocks noGrp="1"/>
          </p:cNvSpPr>
          <p:nvPr>
            <p:ph type="title"/>
          </p:nvPr>
        </p:nvSpPr>
        <p:spPr>
          <a:xfrm>
            <a:off x="174662" y="231524"/>
            <a:ext cx="10453163" cy="552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593" b="0" i="0">
                <a:solidFill>
                  <a:srgbClr val="1B147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34"/>
          <p:cNvSpPr txBox="1">
            <a:spLocks noGrp="1"/>
          </p:cNvSpPr>
          <p:nvPr>
            <p:ph type="body" idx="1"/>
          </p:nvPr>
        </p:nvSpPr>
        <p:spPr>
          <a:xfrm>
            <a:off x="680657" y="3165995"/>
            <a:ext cx="8061759" cy="341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966292" lvl="0" indent="-48314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19" b="0" i="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1932584" lvl="1" indent="-48314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2898877" lvl="2" indent="-48314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3865169" lvl="3" indent="-48314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4831461" lvl="4" indent="-48314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5797753" lvl="5" indent="-48314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6764045" lvl="6" indent="-48314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7730338" lvl="7" indent="-48314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8696630" lvl="8" indent="-48314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4"/>
          <p:cNvSpPr txBox="1">
            <a:spLocks noGrp="1"/>
          </p:cNvSpPr>
          <p:nvPr>
            <p:ph type="ftr" idx="11"/>
          </p:nvPr>
        </p:nvSpPr>
        <p:spPr>
          <a:xfrm>
            <a:off x="1209773" y="6631479"/>
            <a:ext cx="1554883" cy="1951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68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IN"/>
              <a:t>Faculty Development Workshop on Deep Reinforcement Learning - 9 &amp; 10 March,2026</a:t>
            </a:r>
            <a:endParaRPr/>
          </a:p>
        </p:txBody>
      </p:sp>
      <p:sp>
        <p:nvSpPr>
          <p:cNvPr id="20" name="Google Shape;20;p34"/>
          <p:cNvSpPr txBox="1">
            <a:spLocks noGrp="1"/>
          </p:cNvSpPr>
          <p:nvPr>
            <p:ph type="dt" idx="10"/>
          </p:nvPr>
        </p:nvSpPr>
        <p:spPr>
          <a:xfrm>
            <a:off x="609600" y="6377939"/>
            <a:ext cx="2804160" cy="585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175235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35"/>
          <p:cNvSpPr txBox="1">
            <a:spLocks noGrp="1"/>
          </p:cNvSpPr>
          <p:nvPr>
            <p:ph type="title"/>
          </p:nvPr>
        </p:nvSpPr>
        <p:spPr>
          <a:xfrm>
            <a:off x="174662" y="231524"/>
            <a:ext cx="10453163" cy="552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593" b="0" i="0">
                <a:solidFill>
                  <a:srgbClr val="1B147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5"/>
          <p:cNvSpPr txBox="1">
            <a:spLocks noGrp="1"/>
          </p:cNvSpPr>
          <p:nvPr>
            <p:ph type="body" idx="1"/>
          </p:nvPr>
        </p:nvSpPr>
        <p:spPr>
          <a:xfrm>
            <a:off x="609601" y="1577340"/>
            <a:ext cx="5303520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966292" lvl="0" indent="-48314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1932584" lvl="1" indent="-48314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2898877" lvl="2" indent="-48314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3865169" lvl="3" indent="-48314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4831461" lvl="4" indent="-48314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5797753" lvl="5" indent="-48314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6764045" lvl="6" indent="-48314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7730338" lvl="7" indent="-48314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8696630" lvl="8" indent="-48314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5"/>
          <p:cNvSpPr txBox="1">
            <a:spLocks noGrp="1"/>
          </p:cNvSpPr>
          <p:nvPr>
            <p:ph type="body" idx="2"/>
          </p:nvPr>
        </p:nvSpPr>
        <p:spPr>
          <a:xfrm>
            <a:off x="6278881" y="1577340"/>
            <a:ext cx="5303520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966292" lvl="0" indent="-48314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1932584" lvl="1" indent="-48314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2898877" lvl="2" indent="-48314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3865169" lvl="3" indent="-48314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4831461" lvl="4" indent="-48314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5797753" lvl="5" indent="-48314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6764045" lvl="6" indent="-48314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7730338" lvl="7" indent="-48314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8696630" lvl="8" indent="-48314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35"/>
          <p:cNvSpPr txBox="1">
            <a:spLocks noGrp="1"/>
          </p:cNvSpPr>
          <p:nvPr>
            <p:ph type="ftr" idx="11"/>
          </p:nvPr>
        </p:nvSpPr>
        <p:spPr>
          <a:xfrm>
            <a:off x="1209773" y="6631479"/>
            <a:ext cx="1554883" cy="1951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68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IN"/>
              <a:t>Faculty Development Workshop on Deep Reinforcement Learning - 9 &amp; 10 March,2026</a:t>
            </a:r>
            <a:endParaRPr/>
          </a:p>
        </p:txBody>
      </p:sp>
      <p:sp>
        <p:nvSpPr>
          <p:cNvPr id="27" name="Google Shape;27;p35"/>
          <p:cNvSpPr txBox="1">
            <a:spLocks noGrp="1"/>
          </p:cNvSpPr>
          <p:nvPr>
            <p:ph type="dt" idx="10"/>
          </p:nvPr>
        </p:nvSpPr>
        <p:spPr>
          <a:xfrm>
            <a:off x="609600" y="6377939"/>
            <a:ext cx="2804160" cy="585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37188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36"/>
          <p:cNvSpPr txBox="1">
            <a:spLocks noGrp="1"/>
          </p:cNvSpPr>
          <p:nvPr>
            <p:ph type="title"/>
          </p:nvPr>
        </p:nvSpPr>
        <p:spPr>
          <a:xfrm>
            <a:off x="174662" y="231524"/>
            <a:ext cx="10453163" cy="552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593" b="0" i="0">
                <a:solidFill>
                  <a:srgbClr val="1B147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36"/>
          <p:cNvSpPr txBox="1">
            <a:spLocks noGrp="1"/>
          </p:cNvSpPr>
          <p:nvPr>
            <p:ph type="ftr" idx="11"/>
          </p:nvPr>
        </p:nvSpPr>
        <p:spPr>
          <a:xfrm>
            <a:off x="1209773" y="6631479"/>
            <a:ext cx="1554883" cy="1951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68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IN"/>
              <a:t>Faculty Development Workshop on Deep Reinforcement Learning - 9 &amp; 10 March,2026</a:t>
            </a:r>
            <a:endParaRPr/>
          </a:p>
        </p:txBody>
      </p:sp>
      <p:sp>
        <p:nvSpPr>
          <p:cNvPr id="32" name="Google Shape;32;p36"/>
          <p:cNvSpPr txBox="1">
            <a:spLocks noGrp="1"/>
          </p:cNvSpPr>
          <p:nvPr>
            <p:ph type="dt" idx="10"/>
          </p:nvPr>
        </p:nvSpPr>
        <p:spPr>
          <a:xfrm>
            <a:off x="609600" y="6377939"/>
            <a:ext cx="2804160" cy="585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534857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">
  <p:cSld name="Table">
    <p:bg>
      <p:bgPr>
        <a:solidFill>
          <a:schemeClr val="lt1"/>
        </a:solidFill>
        <a:effectLst/>
      </p:bgPr>
    </p:bg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599" cy="1246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4" name="Google Shape;24;p8" descr="Birla Institute of Technology and Science, Pilani | Logopedia | Fandom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28575"/>
            <a:ext cx="704850" cy="704850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8"/>
          <p:cNvSpPr txBox="1">
            <a:spLocks noGrp="1"/>
          </p:cNvSpPr>
          <p:nvPr>
            <p:ph type="body" idx="1"/>
          </p:nvPr>
        </p:nvSpPr>
        <p:spPr>
          <a:xfrm>
            <a:off x="838200" y="1894114"/>
            <a:ext cx="10515599" cy="4180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649449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mart Art">
  <p:cSld name="Smart Art">
    <p:bg>
      <p:bgPr>
        <a:solidFill>
          <a:schemeClr val="lt1"/>
        </a:solidFill>
        <a:effectLst/>
      </p:bgPr>
    </p:bg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199914" cy="10279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 sz="2800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0" name="Google Shape;30;p16" descr="Birla Institute of Technology and Science, Pilani | Logopedia | Fandom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28575"/>
            <a:ext cx="704850" cy="70485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16"/>
          <p:cNvSpPr txBox="1">
            <a:spLocks noGrp="1"/>
          </p:cNvSpPr>
          <p:nvPr>
            <p:ph type="body" idx="1"/>
          </p:nvPr>
        </p:nvSpPr>
        <p:spPr>
          <a:xfrm>
            <a:off x="838200" y="1632858"/>
            <a:ext cx="10515599" cy="44413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107438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EC4AC9-B7CE-0B8D-E4B8-7D9E3BF9F2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BDED586-33F5-7A80-594D-47FAE79F60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53EE5B-AC57-CEEA-AE03-E938C8F614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004AE9-1624-B857-97A0-096CE61D7B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Faculty Development Workshop on Deep Reinforcement Learning - 9 &amp; 10 March,2026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05F7B6-D2FA-8C8A-6BBA-B6E7197004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12452E-E194-7743-A088-CC2C83C48B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66379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357DD7-3E00-BBEE-DEE7-CA865EE94C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0A91C4-A51F-02E5-9E21-E22F572F92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4A6779-B824-83CB-5ECF-334A3AC2BB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0DB89F-2F35-511B-C20E-BE1951F79E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Faculty Development Workshop on Deep Reinforcement Learning - 9 &amp; 10 March,2026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F15B5A-443C-0BEA-74EC-C16BC01B1C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12452E-E194-7743-A088-CC2C83C48B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9264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9E7EA6-998C-9393-7E02-06466C20D1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9EC880-3630-0131-ED7D-6700B012A2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302281-35AB-11FF-9C61-94992DC49B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EB17D6-7A90-AE65-AB6A-179E2CF1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Faculty Development Workshop on Deep Reinforcement Learning - 9 &amp; 10 March,2026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B910C6-141E-9B8A-28EB-B6D4003B32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12452E-E194-7743-A088-CC2C83C48B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74297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1EAEFA-F090-A1AD-B432-331F287CA7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157862-7E51-7560-474B-1DCD6216737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364FC0-2D16-D51D-3B45-628722DC20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DC3D4A-1D12-C8D8-DAC8-822AB6B695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1C25CF-05AB-CCF1-1CB2-95A716320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Faculty Development Workshop on Deep Reinforcement Learning - 9 &amp; 10 March,2026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9AD5B2-86BC-5D3C-FE4F-3ACEE1EF9A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12452E-E194-7743-A088-CC2C83C48B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670927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87EE76-EA4F-27A7-A9BD-1FC56B01D7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16F1AF-4B46-9E1C-8666-07AA94046D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3AAF24-4C2C-9DCB-61D6-E44723C890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81BC6A2-3354-8FB0-5B48-9C84C34FB23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D425BE2-5568-6817-5FCF-4F49D8C41B6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168F015-6ECA-0156-D520-BA1A4DE39F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68852B6-7F81-DD99-AA84-8928852151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Faculty Development Workshop on Deep Reinforcement Learning - 9 &amp; 10 March,2026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98DCDEC-10D6-7139-CB36-35EBB45F9A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12452E-E194-7743-A088-CC2C83C48B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847840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8F46F2-E53B-1080-40CB-EA216BE638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EA08C54-B7CB-3FD4-3AB3-B1CC746DCB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EF8D28-DACF-E77A-0E59-14734E46D3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Faculty Development Workshop on Deep Reinforcement Learning - 9 &amp; 10 March,2026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4364E5-7CAD-21BE-2678-3C4713E2A8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12452E-E194-7743-A088-CC2C83C48B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966900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9D2E3E5-C443-9165-9EBD-032FAE609E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4DB461A-EED4-5331-00A6-B31B6EF37B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Faculty Development Workshop on Deep Reinforcement Learning - 9 &amp; 10 March,2026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C00245-8F05-7D70-CEA3-C17CD70E6E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12452E-E194-7743-A088-CC2C83C48B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298389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391155-FBBA-7B21-6138-59C9CC6089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DF3F17-280A-7F2C-70AC-694498C751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452921-9E1A-D159-39BB-38CFB12C8E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537681-968E-8ABF-88C1-DEA8EB212A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D1D2F3-34ED-25C5-4D6E-EB6C320CFD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Faculty Development Workshop on Deep Reinforcement Learning - 9 &amp; 10 March,2026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6ABCBF-61E2-AA46-7876-7BF92C8E19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12452E-E194-7743-A088-CC2C83C48B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64517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55C7E9-917C-1817-8CCF-8918A7A333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E88AA94-57A3-EEFE-ACE5-2766DE38FC7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AFADAC-6365-02BD-A8C5-C62A405686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DDBAF7-62BF-DD64-20F6-E17A90AD53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65EE86-C897-994B-8585-BF988DAB00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Faculty Development Workshop on Deep Reinforcement Learning - 9 &amp; 10 March,2026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DC30F8-EA20-CB9B-CBC2-C37782B3C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12452E-E194-7743-A088-CC2C83C48B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709812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25DD48-E0E1-ED70-B332-89A9464D5B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CD9C79A-9A07-E290-B7FA-93E21CCE6A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D78606-EC16-41E3-4AD9-50DFE4776C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CECAC0-E8A4-25D7-06CF-750DFD0902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Faculty Development Workshop on Deep Reinforcement Learning - 9 &amp; 10 March,2026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87E28A-F4BE-315A-C249-90305C77BC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12452E-E194-7743-A088-CC2C83C48B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188987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0885AA4-5800-CD5F-4E5D-2B084340F33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7767F15-D908-6B67-E35E-919763E772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9F90AC-BEF3-9D75-23E8-96249D211A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447DFD-D6C3-025B-6C17-9762FC7645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Faculty Development Workshop on Deep Reinforcement Learning - 9 &amp; 10 March,2026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A4DE05-3BA2-BBBA-FF83-4B738DBA69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12452E-E194-7743-A088-CC2C83C48B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701191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9FB43B-DE69-0B57-605A-EC70976CD9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152365F-32B0-5909-6E91-54CFBBE17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BFCDA3E-940A-80F6-4DEA-BCC6A02AB7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Faculty Development Workshop on Deep Reinforcement Learning - 9 &amp; 10 March,2026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5C0630-0FEE-980A-322F-7FC9589E09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12452E-E194-7743-A088-CC2C83C48B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63045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jp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5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0.xml"/><Relationship Id="rId7" Type="http://schemas.openxmlformats.org/officeDocument/2006/relationships/slideLayout" Target="../slideLayouts/slideLayout14.xml"/><Relationship Id="rId12" Type="http://schemas.openxmlformats.org/officeDocument/2006/relationships/slideLayout" Target="../slideLayouts/slideLayout19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Relationship Id="rId6" Type="http://schemas.openxmlformats.org/officeDocument/2006/relationships/slideLayout" Target="../slideLayouts/slideLayout13.xml"/><Relationship Id="rId11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2.xml"/><Relationship Id="rId10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1.xml"/><Relationship Id="rId9" Type="http://schemas.openxmlformats.org/officeDocument/2006/relationships/slideLayout" Target="../slideLayouts/slideLayout1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32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267" y="169608"/>
            <a:ext cx="12179452" cy="6678137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32"/>
          <p:cNvSpPr txBox="1">
            <a:spLocks noGrp="1"/>
          </p:cNvSpPr>
          <p:nvPr>
            <p:ph type="title"/>
          </p:nvPr>
        </p:nvSpPr>
        <p:spPr>
          <a:xfrm>
            <a:off x="174662" y="231524"/>
            <a:ext cx="10453163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700" b="0" i="0" u="none" strike="noStrike" cap="none">
                <a:solidFill>
                  <a:srgbClr val="1B147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32"/>
          <p:cNvSpPr txBox="1">
            <a:spLocks noGrp="1"/>
          </p:cNvSpPr>
          <p:nvPr>
            <p:ph type="body" idx="1"/>
          </p:nvPr>
        </p:nvSpPr>
        <p:spPr>
          <a:xfrm>
            <a:off x="680657" y="3165995"/>
            <a:ext cx="8061759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50" b="0" i="0" u="none" strike="noStrike" cap="none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32"/>
          <p:cNvSpPr txBox="1">
            <a:spLocks noGrp="1"/>
          </p:cNvSpPr>
          <p:nvPr>
            <p:ph type="ftr" idx="11"/>
          </p:nvPr>
        </p:nvSpPr>
        <p:spPr>
          <a:xfrm>
            <a:off x="994016" y="6431358"/>
            <a:ext cx="7985597" cy="1951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6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804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804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804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804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804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804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804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804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/>
              <a:t>Faculty Development Workshop on Deep Reinforcement Learning - 9 &amp; 10 March,2026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978963245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6" r:id="rId2"/>
    <p:sldLayoutId id="2147483662" r:id="rId3"/>
    <p:sldLayoutId id="2147483663" r:id="rId4"/>
    <p:sldLayoutId id="2147483664" r:id="rId5"/>
    <p:sldLayoutId id="2147483680" r:id="rId6"/>
    <p:sldLayoutId id="2147483681" r:id="rId7"/>
  </p:sldLayoutIdLst>
  <p:hf hd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95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95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95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95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95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95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95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95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95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95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95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95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95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95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95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95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95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95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95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95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95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95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95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95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95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95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95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5EF9BC0-1A5E-8BD3-716B-F6CE81E484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F003DC-5B15-B9AF-0346-C093FE49AA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961706-4907-1FF2-4D7D-2E5A0FC42EE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727992-23B1-2B59-AD5D-F6FED5E8A2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Faculty Development Workshop on Deep Reinforcement Learning - 9 &amp; 10 March,2026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1BDB04-688F-7A8C-693C-E93B5E74F5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612452E-E194-7743-A088-CC2C83C48BF4}" type="slidenum">
              <a:rPr lang="en-US" smtClean="0"/>
              <a:t>‹#›</a:t>
            </a:fld>
            <a:endParaRPr lang="en-US"/>
          </a:p>
        </p:txBody>
      </p:sp>
      <p:sp>
        <p:nvSpPr>
          <p:cNvPr id="7" name="Google Shape;9;p32">
            <a:extLst>
              <a:ext uri="{FF2B5EF4-FFF2-40B4-BE49-F238E27FC236}">
                <a16:creationId xmlns:a16="http://schemas.microsoft.com/office/drawing/2014/main" id="{5B2BC610-4E12-4B37-85FF-14B1DB50CC3F}"/>
              </a:ext>
            </a:extLst>
          </p:cNvPr>
          <p:cNvSpPr txBox="1">
            <a:spLocks/>
          </p:cNvSpPr>
          <p:nvPr userDrawn="1"/>
        </p:nvSpPr>
        <p:spPr>
          <a:xfrm>
            <a:off x="994016" y="6431358"/>
            <a:ext cx="7985597" cy="1951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>
              <a:defRPr lang="en-US"/>
            </a:defPPr>
            <a:lvl1pPr marL="0" marR="0" lvl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68" b="0" i="0" u="none" strike="noStrike" kern="1200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804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804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804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804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804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804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804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804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/>
              <a:t>Faculty Development Workshop on Deep Reinforcement Learning - 9 &amp; 10 March , 2026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02852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73" r:id="rId6"/>
    <p:sldLayoutId id="2147483674" r:id="rId7"/>
    <p:sldLayoutId id="2147483675" r:id="rId8"/>
    <p:sldLayoutId id="2147483676" r:id="rId9"/>
    <p:sldLayoutId id="2147483677" r:id="rId10"/>
    <p:sldLayoutId id="2147483678" r:id="rId11"/>
    <p:sldLayoutId id="2147483679" r:id="rId1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6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8.png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Google Shape;38;p1"/>
          <p:cNvGrpSpPr/>
          <p:nvPr/>
        </p:nvGrpSpPr>
        <p:grpSpPr>
          <a:xfrm>
            <a:off x="2982" y="15"/>
            <a:ext cx="12173494" cy="6847542"/>
            <a:chOff x="0" y="7"/>
            <a:chExt cx="5759866" cy="3239902"/>
          </a:xfrm>
        </p:grpSpPr>
        <p:pic>
          <p:nvPicPr>
            <p:cNvPr id="39" name="Google Shape;39;p1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0" y="7"/>
              <a:ext cx="5759866" cy="323990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0" name="Google Shape;40;p1"/>
            <p:cNvSpPr/>
            <p:nvPr/>
          </p:nvSpPr>
          <p:spPr>
            <a:xfrm>
              <a:off x="1982523" y="1293502"/>
              <a:ext cx="3325495" cy="721995"/>
            </a:xfrm>
            <a:custGeom>
              <a:avLst/>
              <a:gdLst/>
              <a:ahLst/>
              <a:cxnLst/>
              <a:rect l="l" t="t" r="r" b="b"/>
              <a:pathLst>
                <a:path w="3325495" h="721994" extrusionOk="0">
                  <a:moveTo>
                    <a:pt x="0" y="721869"/>
                  </a:moveTo>
                  <a:lnTo>
                    <a:pt x="0" y="0"/>
                  </a:lnTo>
                  <a:lnTo>
                    <a:pt x="3324982" y="0"/>
                  </a:lnTo>
                  <a:lnTo>
                    <a:pt x="3324982" y="721869"/>
                  </a:lnTo>
                  <a:lnTo>
                    <a:pt x="0" y="721869"/>
                  </a:lnTo>
                  <a:close/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endParaRPr sz="295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1" name="Google Shape;41;p1"/>
          <p:cNvSpPr txBox="1"/>
          <p:nvPr/>
        </p:nvSpPr>
        <p:spPr>
          <a:xfrm>
            <a:off x="4193052" y="2733819"/>
            <a:ext cx="7250255" cy="449557"/>
          </a:xfrm>
          <a:prstGeom prst="rect">
            <a:avLst/>
          </a:prstGeom>
          <a:solidFill>
            <a:srgbClr val="FFFFFF">
              <a:alpha val="79215"/>
            </a:srgbClr>
          </a:solidFill>
          <a:ln w="126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212037" rIns="0" bIns="0" anchor="t" anchorCtr="0">
            <a:spAutoFit/>
          </a:bodyPr>
          <a:lstStyle/>
          <a:p>
            <a:pPr marL="908581" marR="892478" indent="-1340" algn="ctr">
              <a:lnSpc>
                <a:spcPct val="84500"/>
              </a:lnSpc>
            </a:pPr>
            <a:r>
              <a:rPr lang="en-IN" dirty="0"/>
              <a:t>Multi-arm Bandits, Applications and Contextual Bandits</a:t>
            </a:r>
            <a:endParaRPr sz="3804" dirty="0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42" name="Google Shape;42;p1"/>
          <p:cNvSpPr txBox="1"/>
          <p:nvPr/>
        </p:nvSpPr>
        <p:spPr>
          <a:xfrm>
            <a:off x="8736343" y="4914479"/>
            <a:ext cx="2706964" cy="12272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4147" rIns="0" bIns="0" anchor="t" anchorCtr="0">
            <a:spAutoFit/>
          </a:bodyPr>
          <a:lstStyle/>
          <a:p>
            <a:pPr marL="657616" marR="10737" indent="-632116">
              <a:lnSpc>
                <a:spcPct val="126699"/>
              </a:lnSpc>
              <a:buClr>
                <a:srgbClr val="000000"/>
              </a:buClr>
              <a:buSzPts val="950"/>
            </a:pPr>
            <a:r>
              <a:rPr lang="en-US" sz="2008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Surya Prakash G</a:t>
            </a:r>
            <a:endParaRPr lang="en-US" sz="2008" dirty="0">
              <a:solidFill>
                <a:srgbClr val="1B147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57616" marR="10737" indent="-632116">
              <a:lnSpc>
                <a:spcPct val="126699"/>
              </a:lnSpc>
              <a:buClr>
                <a:srgbClr val="000000"/>
              </a:buClr>
              <a:buSzPts val="950"/>
            </a:pPr>
            <a:r>
              <a:rPr lang="en-US" sz="2008" dirty="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DRL Team</a:t>
            </a:r>
            <a:endParaRPr sz="2008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57616" marR="10737" indent="-632116">
              <a:lnSpc>
                <a:spcPct val="126699"/>
              </a:lnSpc>
              <a:spcBef>
                <a:spcPts val="190"/>
              </a:spcBef>
              <a:buClr>
                <a:srgbClr val="000000"/>
              </a:buClr>
              <a:buSzPts val="950"/>
            </a:pPr>
            <a:r>
              <a:rPr lang="en-US" sz="2008" dirty="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BITS Pilani WILP</a:t>
            </a:r>
            <a:endParaRPr sz="2959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fade thruBlk="1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B3075E-0A7F-42B7-F663-CD04DE33F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4662" y="231524"/>
            <a:ext cx="10453163" cy="553998"/>
          </a:xfrm>
        </p:spPr>
        <p:txBody>
          <a:bodyPr/>
          <a:lstStyle/>
          <a:p>
            <a:pPr>
              <a:lnSpc>
                <a:spcPct val="90000"/>
              </a:lnSpc>
              <a:buClr>
                <a:schemeClr val="dk1"/>
              </a:buClr>
              <a:buSzPts val="4000"/>
            </a:pPr>
            <a:r>
              <a:rPr lang="en-US" sz="4000" b="1" kern="1200" dirty="0">
                <a:solidFill>
                  <a:schemeClr val="bg1"/>
                </a:solidFill>
              </a:rPr>
              <a:t>Agenda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7A0EB57-A38F-2350-046E-660C12DC94FB}"/>
              </a:ext>
            </a:extLst>
          </p:cNvPr>
          <p:cNvSpPr>
            <a:spLocks noGrp="1"/>
          </p:cNvSpPr>
          <p:nvPr>
            <p:ph type="ftr" idx="10"/>
          </p:nvPr>
        </p:nvSpPr>
        <p:spPr/>
        <p:txBody>
          <a:bodyPr/>
          <a:lstStyle/>
          <a:p>
            <a:r>
              <a:rPr lang="en-IN"/>
              <a:t>Faculty Development Workshop on Deep Reinforcement Learning - 9 &amp; 10 March,2026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CB5CD1C-52D6-C3C8-4AF0-3AF02C5354A6}"/>
              </a:ext>
            </a:extLst>
          </p:cNvPr>
          <p:cNvSpPr txBox="1"/>
          <p:nvPr/>
        </p:nvSpPr>
        <p:spPr>
          <a:xfrm>
            <a:off x="296025" y="1250575"/>
            <a:ext cx="7388451" cy="48472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Motivation 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K-arm Bandit problem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Exploration and exploitation 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Action Value methods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Update rule for single action; simple Bandit algorithm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Update rule in non-stationary context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Bias problem -Concept of Optimistic Initial Values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Upper confidence Bound Action Selection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Contextual Bandits</a:t>
            </a:r>
          </a:p>
        </p:txBody>
      </p:sp>
    </p:spTree>
    <p:extLst>
      <p:ext uri="{BB962C8B-B14F-4D97-AF65-F5344CB8AC3E}">
        <p14:creationId xmlns:p14="http://schemas.microsoft.com/office/powerpoint/2010/main" val="18941039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BD8AC5-7248-499E-A457-DE437DD365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3C2214-7FA7-3C87-3CC7-812A46B962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4662" y="231524"/>
            <a:ext cx="10453163" cy="553998"/>
          </a:xfrm>
        </p:spPr>
        <p:txBody>
          <a:bodyPr/>
          <a:lstStyle/>
          <a:p>
            <a:pPr>
              <a:lnSpc>
                <a:spcPct val="90000"/>
              </a:lnSpc>
              <a:buClr>
                <a:schemeClr val="dk1"/>
              </a:buClr>
              <a:buSzPts val="4000"/>
            </a:pPr>
            <a:r>
              <a:rPr lang="en-US" sz="4000" b="1" kern="1200" dirty="0">
                <a:solidFill>
                  <a:schemeClr val="bg1"/>
                </a:solidFill>
              </a:rPr>
              <a:t>Motivation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D46891D-5EC3-8DAC-A707-334733FEF288}"/>
              </a:ext>
            </a:extLst>
          </p:cNvPr>
          <p:cNvSpPr>
            <a:spLocks noGrp="1"/>
          </p:cNvSpPr>
          <p:nvPr>
            <p:ph type="ftr" idx="10"/>
          </p:nvPr>
        </p:nvSpPr>
        <p:spPr/>
        <p:txBody>
          <a:bodyPr/>
          <a:lstStyle/>
          <a:p>
            <a:r>
              <a:rPr lang="en-IN"/>
              <a:t>Faculty Development Workshop on Deep Reinforcement Learning - 9 &amp; 10 March,2026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7DB260E-44A4-70D8-8B34-4169E5139538}"/>
              </a:ext>
            </a:extLst>
          </p:cNvPr>
          <p:cNvSpPr txBox="1"/>
          <p:nvPr/>
        </p:nvSpPr>
        <p:spPr>
          <a:xfrm>
            <a:off x="-77586" y="1204833"/>
            <a:ext cx="12053455" cy="430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</a:t>
            </a:r>
            <a:r>
              <a:rPr lang="en-US" sz="18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</a:t>
            </a:r>
            <a:r>
              <a:rPr lang="en-US" altLang="en-US" dirty="0">
                <a:latin typeface="Arial" panose="020B0604020202020204" pitchFamily="34" charset="0"/>
              </a:rPr>
              <a:t>eal-world systems –we  must choose among several options without knowing  their outcomes in advance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dirty="0">
              <a:latin typeface="Arial" panose="020B0604020202020204" pitchFamily="34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   Each option may produce </a:t>
            </a:r>
            <a:r>
              <a:rPr lang="en-US" altLang="en-US" b="1" dirty="0">
                <a:latin typeface="Arial" panose="020B0604020202020204" pitchFamily="34" charset="0"/>
              </a:rPr>
              <a:t>different rewards</a:t>
            </a:r>
            <a:r>
              <a:rPr lang="en-US" altLang="en-US" dirty="0">
                <a:latin typeface="Arial" panose="020B0604020202020204" pitchFamily="34" charset="0"/>
              </a:rPr>
              <a:t>, but the reward distributions are </a:t>
            </a:r>
            <a:r>
              <a:rPr lang="en-US" altLang="en-US" b="1" dirty="0">
                <a:latin typeface="Arial" panose="020B0604020202020204" pitchFamily="34" charset="0"/>
              </a:rPr>
              <a:t>unknown initially</a:t>
            </a:r>
            <a:r>
              <a:rPr lang="en-US" altLang="en-US" dirty="0">
                <a:latin typeface="Arial" panose="020B0604020202020204" pitchFamily="34" charset="0"/>
              </a:rPr>
              <a:t>.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dirty="0">
              <a:latin typeface="Arial" panose="020B0604020202020204" pitchFamily="34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   Agent must learn which option is best while making the choices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dirty="0">
              <a:latin typeface="Arial" panose="020B0604020202020204" pitchFamily="34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   k-Bandit problem is an abstract model to understand the concept of decision making under </a:t>
            </a:r>
            <a:r>
              <a:rPr lang="en-US" altLang="en-US" dirty="0" err="1">
                <a:latin typeface="Arial" panose="020B0604020202020204" pitchFamily="34" charset="0"/>
              </a:rPr>
              <a:t>uncertainity</a:t>
            </a:r>
            <a:endParaRPr lang="en-US" altLang="en-US" dirty="0">
              <a:latin typeface="Arial" panose="020B0604020202020204" pitchFamily="34" charset="0"/>
            </a:endParaRPr>
          </a:p>
          <a:p>
            <a:pPr lvl="1">
              <a:lnSpc>
                <a:spcPct val="107000"/>
              </a:lnSpc>
              <a:spcAft>
                <a:spcPts val="800"/>
              </a:spcAft>
              <a:buSzPts val="1000"/>
              <a:tabLst>
                <a:tab pos="914400" algn="l"/>
              </a:tabLst>
            </a:pPr>
            <a:endParaRPr lang="en-IN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Use cases </a:t>
            </a:r>
          </a:p>
          <a:p>
            <a:pPr marL="1200150" lvl="2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Online Advertising</a:t>
            </a:r>
          </a:p>
          <a:p>
            <a:pPr marL="1200150" lvl="2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Recommendation systems</a:t>
            </a:r>
          </a:p>
          <a:p>
            <a:pPr marL="1200150" lvl="2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Clinical trials –allocate different patients to different trials</a:t>
            </a:r>
            <a:endParaRPr lang="en-IN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endParaRPr lang="en-I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28156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9A5526-60E7-4E1E-8B57-E798081B85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F704D1-1263-4ABD-A4EB-645722169F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4662" y="231524"/>
            <a:ext cx="10453163" cy="553998"/>
          </a:xfrm>
        </p:spPr>
        <p:txBody>
          <a:bodyPr/>
          <a:lstStyle/>
          <a:p>
            <a:pPr>
              <a:lnSpc>
                <a:spcPct val="90000"/>
              </a:lnSpc>
              <a:buClr>
                <a:schemeClr val="dk1"/>
              </a:buClr>
              <a:buSzPts val="4000"/>
            </a:pPr>
            <a:r>
              <a:rPr lang="en-US" sz="4000" b="1" kern="1200" dirty="0">
                <a:solidFill>
                  <a:schemeClr val="bg1"/>
                </a:solidFill>
              </a:rPr>
              <a:t>K-arm Bandit Problem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451F0B0-9B41-89B4-AA50-273725CBFC6E}"/>
              </a:ext>
            </a:extLst>
          </p:cNvPr>
          <p:cNvSpPr>
            <a:spLocks noGrp="1"/>
          </p:cNvSpPr>
          <p:nvPr>
            <p:ph type="ftr" idx="10"/>
          </p:nvPr>
        </p:nvSpPr>
        <p:spPr/>
        <p:txBody>
          <a:bodyPr/>
          <a:lstStyle/>
          <a:p>
            <a:r>
              <a:rPr lang="en-IN"/>
              <a:t>Faculty Development Workshop on Deep Reinforcement Learning - 9 &amp; 10 March,2026</a:t>
            </a:r>
            <a:endParaRPr lang="en-IN" dirty="0"/>
          </a:p>
        </p:txBody>
      </p:sp>
      <p:sp>
        <p:nvSpPr>
          <p:cNvPr id="6" name="Google Shape;196;g24a90fbe9f0_0_21">
            <a:extLst>
              <a:ext uri="{FF2B5EF4-FFF2-40B4-BE49-F238E27FC236}">
                <a16:creationId xmlns:a16="http://schemas.microsoft.com/office/drawing/2014/main" id="{F3064832-789B-B519-72EA-FAB58C3CF8EE}"/>
              </a:ext>
            </a:extLst>
          </p:cNvPr>
          <p:cNvSpPr txBox="1">
            <a:spLocks/>
          </p:cNvSpPr>
          <p:nvPr/>
        </p:nvSpPr>
        <p:spPr>
          <a:xfrm>
            <a:off x="372687" y="1254390"/>
            <a:ext cx="10515600" cy="418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95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95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95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95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95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95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95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95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95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just">
              <a:lnSpc>
                <a:spcPct val="115000"/>
              </a:lnSpc>
              <a:buSzPts val="2800"/>
            </a:pPr>
            <a:r>
              <a:rPr lang="en-US" sz="2100" b="1" kern="0" dirty="0">
                <a:solidFill>
                  <a:srgbClr val="A61C00"/>
                </a:solidFill>
              </a:rPr>
              <a:t>Core Idea</a:t>
            </a:r>
          </a:p>
          <a:p>
            <a:pPr marL="457200" indent="-361950" algn="just">
              <a:lnSpc>
                <a:spcPct val="115000"/>
              </a:lnSpc>
              <a:buSzPts val="2100"/>
              <a:buFont typeface="Arial"/>
              <a:buChar char="•"/>
            </a:pPr>
            <a:r>
              <a:rPr lang="en-US" sz="2100" kern="0" dirty="0"/>
              <a:t>An Agent repeatedly selects one action among K alternatives</a:t>
            </a:r>
          </a:p>
          <a:p>
            <a:pPr marL="457200" indent="-361950" algn="just">
              <a:lnSpc>
                <a:spcPct val="115000"/>
              </a:lnSpc>
              <a:buSzPts val="2100"/>
              <a:buFont typeface="Arial"/>
              <a:buChar char="•"/>
            </a:pPr>
            <a:endParaRPr lang="en-US" sz="2100" kern="0" dirty="0"/>
          </a:p>
          <a:p>
            <a:pPr marL="457200" indent="-361950" algn="just">
              <a:lnSpc>
                <a:spcPct val="115000"/>
              </a:lnSpc>
              <a:buSzPts val="2100"/>
              <a:buFont typeface="Arial"/>
              <a:buChar char="•"/>
            </a:pPr>
            <a:r>
              <a:rPr lang="en-US" sz="2100" kern="0" dirty="0"/>
              <a:t>Each action produces an uncertain reward</a:t>
            </a:r>
          </a:p>
          <a:p>
            <a:pPr marL="457200" indent="-361950" algn="just">
              <a:lnSpc>
                <a:spcPct val="115000"/>
              </a:lnSpc>
              <a:buSzPts val="2100"/>
              <a:buFont typeface="Arial"/>
              <a:buChar char="•"/>
            </a:pPr>
            <a:endParaRPr lang="en-US" sz="2100" kern="0" dirty="0"/>
          </a:p>
          <a:p>
            <a:pPr marL="457200" indent="-361950" algn="just">
              <a:lnSpc>
                <a:spcPct val="115000"/>
              </a:lnSpc>
              <a:buSzPts val="2100"/>
              <a:buFont typeface="Arial"/>
              <a:buChar char="•"/>
            </a:pPr>
            <a:r>
              <a:rPr lang="en-US" sz="2100" kern="0" dirty="0"/>
              <a:t>Reward distributions are un-known</a:t>
            </a:r>
          </a:p>
          <a:p>
            <a:pPr marL="457200" indent="-361950" algn="just">
              <a:lnSpc>
                <a:spcPct val="115000"/>
              </a:lnSpc>
              <a:buSzPts val="2100"/>
              <a:buFont typeface="Arial"/>
              <a:buChar char="•"/>
            </a:pPr>
            <a:endParaRPr lang="en-US" sz="2100" kern="0" dirty="0"/>
          </a:p>
          <a:p>
            <a:pPr marL="457200" indent="-361950" algn="just">
              <a:lnSpc>
                <a:spcPct val="115000"/>
              </a:lnSpc>
              <a:buSzPts val="2100"/>
              <a:buFont typeface="Arial"/>
              <a:buChar char="•"/>
            </a:pPr>
            <a:r>
              <a:rPr lang="en-US" sz="2100" kern="0" dirty="0"/>
              <a:t>Learning occurs through interaction</a:t>
            </a:r>
          </a:p>
        </p:txBody>
      </p:sp>
    </p:spTree>
    <p:extLst>
      <p:ext uri="{BB962C8B-B14F-4D97-AF65-F5344CB8AC3E}">
        <p14:creationId xmlns:p14="http://schemas.microsoft.com/office/powerpoint/2010/main" val="15474931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5367BF-88C7-D1EC-1B24-4354CC4FC1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45F141-A1E0-68C1-3A08-34F9A7212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4662" y="231524"/>
            <a:ext cx="10453163" cy="553998"/>
          </a:xfrm>
        </p:spPr>
        <p:txBody>
          <a:bodyPr/>
          <a:lstStyle/>
          <a:p>
            <a:pPr>
              <a:lnSpc>
                <a:spcPct val="90000"/>
              </a:lnSpc>
              <a:buClr>
                <a:schemeClr val="dk1"/>
              </a:buClr>
              <a:buSzPts val="4000"/>
            </a:pPr>
            <a:r>
              <a:rPr lang="en-US" sz="4000" b="1" kern="1200" dirty="0">
                <a:solidFill>
                  <a:schemeClr val="bg1"/>
                </a:solidFill>
              </a:rPr>
              <a:t>K-arm Bandit Problem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0EF2576-40CF-5802-0C49-BDFC498DEEAC}"/>
              </a:ext>
            </a:extLst>
          </p:cNvPr>
          <p:cNvSpPr>
            <a:spLocks noGrp="1"/>
          </p:cNvSpPr>
          <p:nvPr>
            <p:ph type="ftr" idx="10"/>
          </p:nvPr>
        </p:nvSpPr>
        <p:spPr/>
        <p:txBody>
          <a:bodyPr/>
          <a:lstStyle/>
          <a:p>
            <a:r>
              <a:rPr lang="en-IN"/>
              <a:t>Faculty Development Workshop on Deep Reinforcement Learning - 9 &amp; 10 March,2026</a:t>
            </a:r>
            <a:endParaRPr lang="en-IN" dirty="0"/>
          </a:p>
        </p:txBody>
      </p:sp>
      <p:sp>
        <p:nvSpPr>
          <p:cNvPr id="6" name="Google Shape;196;g24a90fbe9f0_0_21">
            <a:extLst>
              <a:ext uri="{FF2B5EF4-FFF2-40B4-BE49-F238E27FC236}">
                <a16:creationId xmlns:a16="http://schemas.microsoft.com/office/drawing/2014/main" id="{6F39ED1D-A694-2B52-AF60-2B8C6BAB618B}"/>
              </a:ext>
            </a:extLst>
          </p:cNvPr>
          <p:cNvSpPr txBox="1">
            <a:spLocks/>
          </p:cNvSpPr>
          <p:nvPr/>
        </p:nvSpPr>
        <p:spPr>
          <a:xfrm>
            <a:off x="372687" y="1254390"/>
            <a:ext cx="10515600" cy="418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95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95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95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95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95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95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95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95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95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just">
              <a:lnSpc>
                <a:spcPct val="115000"/>
              </a:lnSpc>
              <a:buSzPts val="2800"/>
            </a:pPr>
            <a:r>
              <a:rPr lang="en-US" sz="2100" b="1" kern="0" dirty="0">
                <a:solidFill>
                  <a:srgbClr val="A61C00"/>
                </a:solidFill>
              </a:rPr>
              <a:t>Problem</a:t>
            </a:r>
          </a:p>
          <a:p>
            <a:pPr marL="457200" indent="-361950" algn="just">
              <a:lnSpc>
                <a:spcPct val="115000"/>
              </a:lnSpc>
              <a:buSzPts val="2100"/>
              <a:buFont typeface="Arial"/>
              <a:buChar char="•"/>
            </a:pPr>
            <a:r>
              <a:rPr lang="en-US" sz="2100" kern="0" dirty="0"/>
              <a:t>You are faced repeatedly with a choice among k different options, or actions</a:t>
            </a:r>
          </a:p>
          <a:p>
            <a:pPr marL="457200" indent="-361950" algn="just">
              <a:lnSpc>
                <a:spcPct val="115000"/>
              </a:lnSpc>
              <a:buSzPts val="2100"/>
              <a:buFont typeface="Arial"/>
              <a:buChar char="•"/>
            </a:pPr>
            <a:endParaRPr lang="en-US" sz="2100" kern="0" dirty="0"/>
          </a:p>
          <a:p>
            <a:pPr marL="457200" indent="-361950" algn="just">
              <a:lnSpc>
                <a:spcPct val="115000"/>
              </a:lnSpc>
              <a:buSzPts val="2100"/>
              <a:buFont typeface="Arial"/>
              <a:buChar char="•"/>
            </a:pPr>
            <a:r>
              <a:rPr lang="en-US" sz="2100" kern="0" dirty="0"/>
              <a:t>After each choice of actions, you receive a numerical reward </a:t>
            </a:r>
          </a:p>
          <a:p>
            <a:pPr marL="457200" indent="-361950" algn="just">
              <a:lnSpc>
                <a:spcPct val="115000"/>
              </a:lnSpc>
              <a:buSzPts val="2100"/>
              <a:buFont typeface="Arial"/>
              <a:buChar char="•"/>
            </a:pPr>
            <a:endParaRPr lang="en-US" sz="2100" kern="0" dirty="0"/>
          </a:p>
          <a:p>
            <a:pPr marL="457200" indent="-361950" algn="just">
              <a:lnSpc>
                <a:spcPct val="115000"/>
              </a:lnSpc>
              <a:buSzPts val="2100"/>
              <a:buFont typeface="Arial"/>
              <a:buChar char="•"/>
            </a:pPr>
            <a:r>
              <a:rPr lang="en-US" sz="2100" kern="0" dirty="0"/>
              <a:t>Reward is chosen from a stationary probability distribution that depends on the selected action </a:t>
            </a:r>
          </a:p>
          <a:p>
            <a:pPr marL="457200" indent="-361950" algn="just">
              <a:lnSpc>
                <a:spcPct val="115000"/>
              </a:lnSpc>
              <a:buSzPts val="2100"/>
              <a:buFont typeface="Arial"/>
              <a:buChar char="•"/>
            </a:pPr>
            <a:r>
              <a:rPr lang="en-US" sz="2100" b="1" kern="0" dirty="0">
                <a:solidFill>
                  <a:srgbClr val="1155CC"/>
                </a:solidFill>
              </a:rPr>
              <a:t>Objective </a:t>
            </a:r>
            <a:r>
              <a:rPr lang="en-US" sz="2100" kern="0" dirty="0"/>
              <a:t>: To </a:t>
            </a:r>
            <a:r>
              <a:rPr lang="en-US" sz="2100" i="1" kern="0" dirty="0">
                <a:solidFill>
                  <a:srgbClr val="A64D79"/>
                </a:solidFill>
              </a:rPr>
              <a:t>maximize the expected total reward</a:t>
            </a:r>
            <a:r>
              <a:rPr lang="en-US" sz="2100" kern="0" dirty="0"/>
              <a:t> </a:t>
            </a:r>
            <a:r>
              <a:rPr lang="en-US" sz="2100" i="1" kern="0" dirty="0">
                <a:solidFill>
                  <a:srgbClr val="CC0000"/>
                </a:solidFill>
              </a:rPr>
              <a:t>over some time period</a:t>
            </a:r>
            <a:endParaRPr lang="en-US" sz="2100" kern="0" dirty="0"/>
          </a:p>
        </p:txBody>
      </p:sp>
      <p:pic>
        <p:nvPicPr>
          <p:cNvPr id="9" name="Google Shape;197;g24a90fbe9f0_0_21">
            <a:extLst>
              <a:ext uri="{FF2B5EF4-FFF2-40B4-BE49-F238E27FC236}">
                <a16:creationId xmlns:a16="http://schemas.microsoft.com/office/drawing/2014/main" id="{27A84166-5C9D-64B1-A2D2-CA83F75666AA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72687" y="4605904"/>
            <a:ext cx="7206851" cy="165737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912254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186344-A627-41D4-050B-06E987FDD9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350701-C208-D06C-2EF9-18540F8BFC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4662" y="231524"/>
            <a:ext cx="10453163" cy="553998"/>
          </a:xfrm>
        </p:spPr>
        <p:txBody>
          <a:bodyPr/>
          <a:lstStyle/>
          <a:p>
            <a:pPr>
              <a:lnSpc>
                <a:spcPct val="90000"/>
              </a:lnSpc>
              <a:buClr>
                <a:schemeClr val="dk1"/>
              </a:buClr>
              <a:buSzPts val="4000"/>
            </a:pPr>
            <a:r>
              <a:rPr lang="en-US" sz="4000" b="1" kern="1200" dirty="0">
                <a:solidFill>
                  <a:schemeClr val="bg1"/>
                </a:solidFill>
              </a:rPr>
              <a:t>K-arm Bandit Problem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30B50C2-3937-7B68-618D-A37F8B4C361E}"/>
              </a:ext>
            </a:extLst>
          </p:cNvPr>
          <p:cNvSpPr>
            <a:spLocks noGrp="1"/>
          </p:cNvSpPr>
          <p:nvPr>
            <p:ph type="ftr" idx="10"/>
          </p:nvPr>
        </p:nvSpPr>
        <p:spPr/>
        <p:txBody>
          <a:bodyPr/>
          <a:lstStyle/>
          <a:p>
            <a:r>
              <a:rPr lang="en-IN"/>
              <a:t>Faculty Development Workshop on Deep Reinforcement Learning - 9 &amp; 10 March,2026</a:t>
            </a:r>
            <a:endParaRPr lang="en-IN" dirty="0"/>
          </a:p>
        </p:txBody>
      </p:sp>
      <p:sp>
        <p:nvSpPr>
          <p:cNvPr id="6" name="Google Shape;196;g24a90fbe9f0_0_21">
            <a:extLst>
              <a:ext uri="{FF2B5EF4-FFF2-40B4-BE49-F238E27FC236}">
                <a16:creationId xmlns:a16="http://schemas.microsoft.com/office/drawing/2014/main" id="{69ED8B01-D53B-E5CF-1B89-49341C966121}"/>
              </a:ext>
            </a:extLst>
          </p:cNvPr>
          <p:cNvSpPr txBox="1">
            <a:spLocks/>
          </p:cNvSpPr>
          <p:nvPr/>
        </p:nvSpPr>
        <p:spPr>
          <a:xfrm>
            <a:off x="372687" y="1254390"/>
            <a:ext cx="10515600" cy="418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95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95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95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95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95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95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95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95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95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just">
              <a:lnSpc>
                <a:spcPct val="115000"/>
              </a:lnSpc>
              <a:buSzPts val="2800"/>
            </a:pPr>
            <a:r>
              <a:rPr lang="en-US" sz="2100" b="1" kern="0" dirty="0">
                <a:solidFill>
                  <a:srgbClr val="A61C00"/>
                </a:solidFill>
              </a:rPr>
              <a:t>Problem</a:t>
            </a:r>
          </a:p>
          <a:p>
            <a:pPr marL="457200" indent="-361950" algn="just">
              <a:lnSpc>
                <a:spcPct val="115000"/>
              </a:lnSpc>
              <a:buSzPts val="2100"/>
              <a:buFont typeface="Arial"/>
              <a:buChar char="•"/>
            </a:pPr>
            <a:r>
              <a:rPr lang="en-US" sz="2100" kern="0" dirty="0"/>
              <a:t>You are faced repeatedly with a choice among k different options, or actions</a:t>
            </a:r>
          </a:p>
          <a:p>
            <a:pPr marL="457200" indent="-361950" algn="just">
              <a:lnSpc>
                <a:spcPct val="115000"/>
              </a:lnSpc>
              <a:buSzPts val="2100"/>
              <a:buFont typeface="Arial"/>
              <a:buChar char="•"/>
            </a:pPr>
            <a:endParaRPr lang="en-US" sz="2100" kern="0" dirty="0"/>
          </a:p>
          <a:p>
            <a:pPr marL="457200" indent="-361950" algn="just">
              <a:lnSpc>
                <a:spcPct val="115000"/>
              </a:lnSpc>
              <a:buSzPts val="2100"/>
              <a:buFont typeface="Arial"/>
              <a:buChar char="•"/>
            </a:pPr>
            <a:r>
              <a:rPr lang="en-US" sz="2100" kern="0" dirty="0"/>
              <a:t>After each choice of actions, you receive a numerical reward </a:t>
            </a:r>
          </a:p>
          <a:p>
            <a:pPr marL="457200" indent="-361950" algn="just">
              <a:lnSpc>
                <a:spcPct val="115000"/>
              </a:lnSpc>
              <a:buSzPts val="2100"/>
              <a:buFont typeface="Arial"/>
              <a:buChar char="•"/>
            </a:pPr>
            <a:endParaRPr lang="en-US" sz="2100" kern="0" dirty="0"/>
          </a:p>
          <a:p>
            <a:pPr marL="457200" indent="-361950" algn="just">
              <a:lnSpc>
                <a:spcPct val="115000"/>
              </a:lnSpc>
              <a:buSzPts val="2100"/>
              <a:buFont typeface="Arial"/>
              <a:buChar char="•"/>
            </a:pPr>
            <a:r>
              <a:rPr lang="en-US" sz="2100" kern="0" dirty="0"/>
              <a:t>Reward is chosen from a stationary probability distribution that depends on the selected action </a:t>
            </a:r>
          </a:p>
          <a:p>
            <a:pPr marL="457200" indent="-361950" algn="just">
              <a:lnSpc>
                <a:spcPct val="115000"/>
              </a:lnSpc>
              <a:buSzPts val="2100"/>
              <a:buFont typeface="Arial"/>
              <a:buChar char="•"/>
            </a:pPr>
            <a:r>
              <a:rPr lang="en-US" sz="2100" b="1" kern="0" dirty="0">
                <a:solidFill>
                  <a:srgbClr val="1155CC"/>
                </a:solidFill>
              </a:rPr>
              <a:t>Objective </a:t>
            </a:r>
            <a:r>
              <a:rPr lang="en-US" sz="2100" kern="0" dirty="0"/>
              <a:t>: To </a:t>
            </a:r>
            <a:r>
              <a:rPr lang="en-US" sz="2100" i="1" kern="0" dirty="0">
                <a:solidFill>
                  <a:srgbClr val="A64D79"/>
                </a:solidFill>
              </a:rPr>
              <a:t>maximize the expected total reward</a:t>
            </a:r>
            <a:r>
              <a:rPr lang="en-US" sz="2100" kern="0" dirty="0"/>
              <a:t> </a:t>
            </a:r>
            <a:r>
              <a:rPr lang="en-US" sz="2100" i="1" kern="0" dirty="0">
                <a:solidFill>
                  <a:srgbClr val="CC0000"/>
                </a:solidFill>
              </a:rPr>
              <a:t>over some time period</a:t>
            </a:r>
            <a:endParaRPr lang="en-US" sz="2100" kern="0" dirty="0"/>
          </a:p>
        </p:txBody>
      </p:sp>
      <p:pic>
        <p:nvPicPr>
          <p:cNvPr id="9" name="Google Shape;197;g24a90fbe9f0_0_21">
            <a:extLst>
              <a:ext uri="{FF2B5EF4-FFF2-40B4-BE49-F238E27FC236}">
                <a16:creationId xmlns:a16="http://schemas.microsoft.com/office/drawing/2014/main" id="{146EB8C4-7E49-5792-032C-3CF8BAB39460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72687" y="4605904"/>
            <a:ext cx="7206851" cy="1657371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206;g24a90fbe9f0_0_29">
            <a:extLst>
              <a:ext uri="{FF2B5EF4-FFF2-40B4-BE49-F238E27FC236}">
                <a16:creationId xmlns:a16="http://schemas.microsoft.com/office/drawing/2014/main" id="{3AF4EB79-6DB2-F11C-4108-AFB239413911}"/>
              </a:ext>
            </a:extLst>
          </p:cNvPr>
          <p:cNvSpPr txBox="1"/>
          <p:nvPr/>
        </p:nvSpPr>
        <p:spPr>
          <a:xfrm>
            <a:off x="7598425" y="4203000"/>
            <a:ext cx="4381200" cy="21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lang="en-US" sz="2300" b="0" i="0" u="sng" strike="noStrike" cap="none" dirty="0">
                <a:solidFill>
                  <a:srgbClr val="741B47"/>
                </a:solidFill>
                <a:latin typeface="Calibri"/>
                <a:ea typeface="Calibri"/>
                <a:cs typeface="Calibri"/>
                <a:sym typeface="Calibri"/>
              </a:rPr>
              <a:t>Strategy</a:t>
            </a:r>
            <a:r>
              <a:rPr lang="en-US" sz="23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 sz="23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Char char="●"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Identify the best lever(s)</a:t>
            </a:r>
            <a:endParaRPr sz="20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Char char="●"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Keep pulling the identified ones </a:t>
            </a:r>
            <a:endParaRPr sz="20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lang="en-US" sz="2300" b="0" i="0" u="sng" strike="noStrike" cap="none" dirty="0">
                <a:solidFill>
                  <a:srgbClr val="741B47"/>
                </a:solidFill>
                <a:latin typeface="Calibri"/>
                <a:ea typeface="Calibri"/>
                <a:cs typeface="Calibri"/>
                <a:sym typeface="Calibri"/>
              </a:rPr>
              <a:t>Questions</a:t>
            </a:r>
            <a:r>
              <a:rPr lang="en-US" sz="23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 sz="23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 do we define the </a:t>
            </a:r>
            <a:r>
              <a:rPr lang="en-US" sz="2000" b="0" i="1" u="none" strike="noStrike" cap="none" dirty="0">
                <a:solidFill>
                  <a:schemeClr val="dk1"/>
                </a:solidFill>
                <a:highlight>
                  <a:srgbClr val="F1C232"/>
                </a:highlight>
                <a:latin typeface="Calibri"/>
                <a:ea typeface="Calibri"/>
                <a:cs typeface="Calibri"/>
                <a:sym typeface="Calibri"/>
              </a:rPr>
              <a:t>best one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s?</a:t>
            </a:r>
            <a:endParaRPr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are the best levers? </a:t>
            </a:r>
            <a:endParaRPr sz="20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570996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115111-2EE5-1CB3-A9A9-7DECF31734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B8062B-F8DD-0E77-DFEC-7715570C3E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4662" y="231524"/>
            <a:ext cx="10453163" cy="553998"/>
          </a:xfrm>
        </p:spPr>
        <p:txBody>
          <a:bodyPr/>
          <a:lstStyle/>
          <a:p>
            <a:pPr>
              <a:lnSpc>
                <a:spcPct val="90000"/>
              </a:lnSpc>
              <a:buClr>
                <a:schemeClr val="dk1"/>
              </a:buClr>
              <a:buSzPts val="4000"/>
            </a:pPr>
            <a:r>
              <a:rPr lang="en-US" sz="4000" b="1" kern="1200" dirty="0">
                <a:solidFill>
                  <a:schemeClr val="bg1"/>
                </a:solidFill>
              </a:rPr>
              <a:t>K-arm Bandit Problem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D974029-FD0D-CACD-7596-043706EEA02F}"/>
              </a:ext>
            </a:extLst>
          </p:cNvPr>
          <p:cNvSpPr>
            <a:spLocks noGrp="1"/>
          </p:cNvSpPr>
          <p:nvPr>
            <p:ph type="ftr" idx="10"/>
          </p:nvPr>
        </p:nvSpPr>
        <p:spPr/>
        <p:txBody>
          <a:bodyPr/>
          <a:lstStyle/>
          <a:p>
            <a:r>
              <a:rPr lang="en-IN"/>
              <a:t>Faculty Development Workshop on Deep Reinforcement Learning - 9 &amp; 10 March,2026</a:t>
            </a:r>
            <a:endParaRPr lang="en-IN" dirty="0"/>
          </a:p>
        </p:txBody>
      </p:sp>
      <p:sp>
        <p:nvSpPr>
          <p:cNvPr id="6" name="Google Shape;196;g24a90fbe9f0_0_21">
            <a:extLst>
              <a:ext uri="{FF2B5EF4-FFF2-40B4-BE49-F238E27FC236}">
                <a16:creationId xmlns:a16="http://schemas.microsoft.com/office/drawing/2014/main" id="{D39BD658-C99A-E442-500F-F607F27A193D}"/>
              </a:ext>
            </a:extLst>
          </p:cNvPr>
          <p:cNvSpPr txBox="1">
            <a:spLocks/>
          </p:cNvSpPr>
          <p:nvPr/>
        </p:nvSpPr>
        <p:spPr>
          <a:xfrm>
            <a:off x="372687" y="1254390"/>
            <a:ext cx="10515600" cy="418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95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95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95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95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95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95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95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95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95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just">
              <a:lnSpc>
                <a:spcPct val="115000"/>
              </a:lnSpc>
              <a:buSzPts val="2800"/>
            </a:pPr>
            <a:r>
              <a:rPr lang="en-US" sz="2100" b="1" kern="0" dirty="0">
                <a:solidFill>
                  <a:srgbClr val="A61C00"/>
                </a:solidFill>
              </a:rPr>
              <a:t>Problem</a:t>
            </a:r>
          </a:p>
          <a:p>
            <a:pPr marL="457200" indent="-361950" algn="just">
              <a:lnSpc>
                <a:spcPct val="115000"/>
              </a:lnSpc>
              <a:buSzPts val="2100"/>
              <a:buFont typeface="Arial"/>
              <a:buChar char="•"/>
            </a:pPr>
            <a:r>
              <a:rPr lang="en-US" sz="2100" kern="0" dirty="0"/>
              <a:t>You are faced repeatedly with a choice among k different options, or actions</a:t>
            </a:r>
          </a:p>
          <a:p>
            <a:pPr marL="457200" indent="-361950" algn="just">
              <a:lnSpc>
                <a:spcPct val="115000"/>
              </a:lnSpc>
              <a:buSzPts val="2100"/>
              <a:buFont typeface="Arial"/>
              <a:buChar char="•"/>
            </a:pPr>
            <a:endParaRPr lang="en-US" sz="2100" kern="0" dirty="0"/>
          </a:p>
          <a:p>
            <a:pPr marL="457200" indent="-361950" algn="just">
              <a:lnSpc>
                <a:spcPct val="115000"/>
              </a:lnSpc>
              <a:buSzPts val="2100"/>
              <a:buFont typeface="Arial"/>
              <a:buChar char="•"/>
            </a:pPr>
            <a:r>
              <a:rPr lang="en-US" sz="2100" kern="0" dirty="0"/>
              <a:t>After each choice of actions, you receive a numerical reward </a:t>
            </a:r>
          </a:p>
          <a:p>
            <a:pPr marL="457200" indent="-361950" algn="just">
              <a:lnSpc>
                <a:spcPct val="115000"/>
              </a:lnSpc>
              <a:buSzPts val="2100"/>
              <a:buFont typeface="Arial"/>
              <a:buChar char="•"/>
            </a:pPr>
            <a:endParaRPr lang="en-US" sz="2100" kern="0" dirty="0"/>
          </a:p>
          <a:p>
            <a:pPr marL="457200" indent="-361950" algn="just">
              <a:lnSpc>
                <a:spcPct val="115000"/>
              </a:lnSpc>
              <a:buSzPts val="2100"/>
              <a:buFont typeface="Arial"/>
              <a:buChar char="•"/>
            </a:pPr>
            <a:r>
              <a:rPr lang="en-US" sz="2100" kern="0" dirty="0"/>
              <a:t>Reward is chosen from a stationary probability distribution that depends on the selected action </a:t>
            </a:r>
          </a:p>
          <a:p>
            <a:pPr marL="457200" indent="-361950" algn="just">
              <a:lnSpc>
                <a:spcPct val="115000"/>
              </a:lnSpc>
              <a:buSzPts val="2100"/>
              <a:buFont typeface="Arial"/>
              <a:buChar char="•"/>
            </a:pPr>
            <a:r>
              <a:rPr lang="en-US" sz="2100" b="1" kern="0" dirty="0">
                <a:solidFill>
                  <a:srgbClr val="1155CC"/>
                </a:solidFill>
              </a:rPr>
              <a:t>Objective </a:t>
            </a:r>
            <a:r>
              <a:rPr lang="en-US" sz="2100" kern="0" dirty="0"/>
              <a:t>: To </a:t>
            </a:r>
            <a:r>
              <a:rPr lang="en-US" sz="2100" i="1" kern="0" dirty="0">
                <a:solidFill>
                  <a:srgbClr val="A64D79"/>
                </a:solidFill>
              </a:rPr>
              <a:t>maximize the expected total reward</a:t>
            </a:r>
            <a:r>
              <a:rPr lang="en-US" sz="2100" kern="0" dirty="0"/>
              <a:t> </a:t>
            </a:r>
            <a:r>
              <a:rPr lang="en-US" sz="2100" i="1" kern="0" dirty="0">
                <a:solidFill>
                  <a:srgbClr val="CC0000"/>
                </a:solidFill>
              </a:rPr>
              <a:t>over some time period</a:t>
            </a:r>
            <a:endParaRPr lang="en-US" sz="2100" kern="0" dirty="0"/>
          </a:p>
        </p:txBody>
      </p:sp>
      <p:pic>
        <p:nvPicPr>
          <p:cNvPr id="9" name="Google Shape;197;g24a90fbe9f0_0_21">
            <a:extLst>
              <a:ext uri="{FF2B5EF4-FFF2-40B4-BE49-F238E27FC236}">
                <a16:creationId xmlns:a16="http://schemas.microsoft.com/office/drawing/2014/main" id="{D0B351F6-B081-4342-F754-0DE90406915F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72687" y="4605904"/>
            <a:ext cx="7206851" cy="1657371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225;g24a90fbe9f0_0_47">
            <a:extLst>
              <a:ext uri="{FF2B5EF4-FFF2-40B4-BE49-F238E27FC236}">
                <a16:creationId xmlns:a16="http://schemas.microsoft.com/office/drawing/2014/main" id="{27E8C36D-9943-60ED-6D10-FAC3C6F55AB1}"/>
              </a:ext>
            </a:extLst>
          </p:cNvPr>
          <p:cNvSpPr txBox="1"/>
          <p:nvPr/>
        </p:nvSpPr>
        <p:spPr>
          <a:xfrm>
            <a:off x="7598425" y="4203000"/>
            <a:ext cx="4381200" cy="11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lang="en-US" sz="2000" b="1" i="1" u="none" strike="noStrike" cap="none" dirty="0">
                <a:solidFill>
                  <a:srgbClr val="000000"/>
                </a:solidFill>
                <a:highlight>
                  <a:srgbClr val="FFD966"/>
                </a:highlight>
                <a:latin typeface="Calibri"/>
                <a:ea typeface="Calibri"/>
                <a:cs typeface="Calibri"/>
                <a:sym typeface="Calibri"/>
              </a:rPr>
              <a:t>Expected Mean Reward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for  each action selected </a:t>
            </a:r>
            <a:endParaRPr sz="20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→ call it </a:t>
            </a:r>
            <a:r>
              <a:rPr lang="en-US" sz="2000" b="1" i="1" u="none" strike="noStrike" cap="none" dirty="0">
                <a:solidFill>
                  <a:srgbClr val="000000"/>
                </a:solidFill>
                <a:highlight>
                  <a:srgbClr val="FCE5CD"/>
                </a:highlight>
                <a:latin typeface="Calibri"/>
                <a:ea typeface="Calibri"/>
                <a:cs typeface="Calibri"/>
                <a:sym typeface="Calibri"/>
              </a:rPr>
              <a:t>Value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of the action</a:t>
            </a:r>
            <a:endParaRPr sz="20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Google Shape;226;g24a90fbe9f0_0_47">
            <a:extLst>
              <a:ext uri="{FF2B5EF4-FFF2-40B4-BE49-F238E27FC236}">
                <a16:creationId xmlns:a16="http://schemas.microsoft.com/office/drawing/2014/main" id="{085AD388-76F3-F16D-6732-1E55EC3404B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797952" y="5332678"/>
            <a:ext cx="3539774" cy="7221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123014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24a90fbe9f0_0_58"/>
          <p:cNvSpPr txBox="1">
            <a:spLocks noGrp="1"/>
          </p:cNvSpPr>
          <p:nvPr>
            <p:ph type="title"/>
          </p:nvPr>
        </p:nvSpPr>
        <p:spPr>
          <a:xfrm>
            <a:off x="655320" y="0"/>
            <a:ext cx="10515600" cy="12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lang="en-US" dirty="0">
                <a:solidFill>
                  <a:schemeClr val="bg1"/>
                </a:solidFill>
              </a:rPr>
              <a:t>K-armed Bandit Problem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232" name="Google Shape;232;g24a90fbe9f0_0_5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  <p:sp>
        <p:nvSpPr>
          <p:cNvPr id="233" name="Google Shape;233;g24a90fbe9f0_0_58"/>
          <p:cNvSpPr txBox="1">
            <a:spLocks noGrp="1"/>
          </p:cNvSpPr>
          <p:nvPr>
            <p:ph type="body" idx="1"/>
          </p:nvPr>
        </p:nvSpPr>
        <p:spPr>
          <a:xfrm>
            <a:off x="838200" y="3165373"/>
            <a:ext cx="10515600" cy="136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683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Comfortaa Medium"/>
              <a:buChar char="•"/>
            </a:pPr>
            <a:r>
              <a:rPr lang="en-US" sz="2200">
                <a:latin typeface="Comfortaa Medium"/>
                <a:ea typeface="Comfortaa Medium"/>
                <a:cs typeface="Comfortaa Medium"/>
                <a:sym typeface="Comfortaa Medium"/>
              </a:rPr>
              <a:t>A</a:t>
            </a:r>
            <a:r>
              <a:rPr lang="en-US" sz="2200" baseline="-25000">
                <a:latin typeface="Comfortaa Medium"/>
                <a:ea typeface="Comfortaa Medium"/>
                <a:cs typeface="Comfortaa Medium"/>
                <a:sym typeface="Comfortaa Medium"/>
              </a:rPr>
              <a:t>t</a:t>
            </a:r>
            <a:r>
              <a:rPr lang="en-US" sz="2200">
                <a:latin typeface="Comfortaa Medium"/>
                <a:ea typeface="Comfortaa Medium"/>
                <a:cs typeface="Comfortaa Medium"/>
                <a:sym typeface="Comfortaa Medium"/>
              </a:rPr>
              <a:t> 			- action selected on time step t</a:t>
            </a:r>
            <a:endParaRPr sz="2200">
              <a:latin typeface="Comfortaa Medium"/>
              <a:ea typeface="Comfortaa Medium"/>
              <a:cs typeface="Comfortaa Medium"/>
              <a:sym typeface="Comfortaa Medium"/>
            </a:endParaRPr>
          </a:p>
          <a:p>
            <a:pPr marL="457200" lvl="0" indent="-3683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Comfortaa Medium"/>
              <a:buChar char="•"/>
            </a:pPr>
            <a:r>
              <a:rPr lang="en-US" sz="2200">
                <a:latin typeface="Comfortaa Medium"/>
                <a:ea typeface="Comfortaa Medium"/>
                <a:cs typeface="Comfortaa Medium"/>
                <a:sym typeface="Comfortaa Medium"/>
              </a:rPr>
              <a:t>Q</a:t>
            </a:r>
            <a:r>
              <a:rPr lang="en-US" sz="2200" baseline="-25000">
                <a:latin typeface="Comfortaa Medium"/>
                <a:ea typeface="Comfortaa Medium"/>
                <a:cs typeface="Comfortaa Medium"/>
                <a:sym typeface="Comfortaa Medium"/>
              </a:rPr>
              <a:t>t</a:t>
            </a:r>
            <a:r>
              <a:rPr lang="en-US" sz="2200">
                <a:latin typeface="Comfortaa Medium"/>
                <a:ea typeface="Comfortaa Medium"/>
                <a:cs typeface="Comfortaa Medium"/>
                <a:sym typeface="Comfortaa Medium"/>
              </a:rPr>
              <a:t> (a) 		- estimated value of action a at time step t</a:t>
            </a:r>
            <a:endParaRPr sz="2200">
              <a:latin typeface="Comfortaa Medium"/>
              <a:ea typeface="Comfortaa Medium"/>
              <a:cs typeface="Comfortaa Medium"/>
              <a:sym typeface="Comfortaa Medium"/>
            </a:endParaRPr>
          </a:p>
          <a:p>
            <a:pPr marL="457200" lvl="0" indent="-3683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Comfortaa Medium"/>
              <a:buChar char="•"/>
            </a:pPr>
            <a:r>
              <a:rPr lang="en-US" sz="2200">
                <a:latin typeface="Comfortaa Medium"/>
                <a:ea typeface="Comfortaa Medium"/>
                <a:cs typeface="Comfortaa Medium"/>
                <a:sym typeface="Comfortaa Medium"/>
              </a:rPr>
              <a:t>q</a:t>
            </a:r>
            <a:r>
              <a:rPr lang="en-US" sz="2200" baseline="-25000">
                <a:latin typeface="Comfortaa Medium"/>
                <a:ea typeface="Comfortaa Medium"/>
                <a:cs typeface="Comfortaa Medium"/>
                <a:sym typeface="Comfortaa Medium"/>
              </a:rPr>
              <a:t>*</a:t>
            </a:r>
            <a:r>
              <a:rPr lang="en-US" sz="2200">
                <a:latin typeface="Comfortaa Medium"/>
                <a:ea typeface="Comfortaa Medium"/>
                <a:cs typeface="Comfortaa Medium"/>
                <a:sym typeface="Comfortaa Medium"/>
              </a:rPr>
              <a:t>(a)		- value of an arbitrary action a</a:t>
            </a:r>
            <a:endParaRPr sz="2200">
              <a:latin typeface="Comfortaa Medium"/>
              <a:ea typeface="Comfortaa Medium"/>
              <a:cs typeface="Comfortaa Medium"/>
              <a:sym typeface="Comfortaa Medium"/>
            </a:endParaRPr>
          </a:p>
          <a:p>
            <a:pPr marL="45720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sz="1800"/>
          </a:p>
        </p:txBody>
      </p:sp>
      <p:pic>
        <p:nvPicPr>
          <p:cNvPr id="234" name="Google Shape;234;g24a90fbe9f0_0_5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95975" y="1505450"/>
            <a:ext cx="5695950" cy="116205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g24a90fbe9f0_0_58"/>
          <p:cNvSpPr txBox="1">
            <a:spLocks noGrp="1"/>
          </p:cNvSpPr>
          <p:nvPr>
            <p:ph type="body" idx="1"/>
          </p:nvPr>
        </p:nvSpPr>
        <p:spPr>
          <a:xfrm>
            <a:off x="416275" y="5450350"/>
            <a:ext cx="11239200" cy="90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2200" b="1">
                <a:solidFill>
                  <a:srgbClr val="1155CC"/>
                </a:solidFill>
              </a:rPr>
              <a:t>Note</a:t>
            </a:r>
            <a:r>
              <a:rPr lang="en-US" sz="2200"/>
              <a:t>: If you knew the value of each action, then it would be trivial to solve the k -armed bandit problem: you would always select the action with highest value :-) </a:t>
            </a:r>
            <a:endParaRPr sz="22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24a90fbe9f0_0_8"/>
          <p:cNvSpPr txBox="1">
            <a:spLocks noGrp="1"/>
          </p:cNvSpPr>
          <p:nvPr>
            <p:ph type="title"/>
          </p:nvPr>
        </p:nvSpPr>
        <p:spPr>
          <a:xfrm>
            <a:off x="914400" y="28024"/>
            <a:ext cx="10515600" cy="12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lang="en-US" dirty="0">
                <a:solidFill>
                  <a:schemeClr val="bg1"/>
                </a:solidFill>
              </a:rPr>
              <a:t>K-armed Bandit Problem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241" name="Google Shape;241;g24a90fbe9f0_0_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  <p:sp>
        <p:nvSpPr>
          <p:cNvPr id="242" name="Google Shape;242;g24a90fbe9f0_0_8"/>
          <p:cNvSpPr txBox="1">
            <a:spLocks noGrp="1"/>
          </p:cNvSpPr>
          <p:nvPr>
            <p:ph type="body" idx="1"/>
          </p:nvPr>
        </p:nvSpPr>
        <p:spPr>
          <a:xfrm>
            <a:off x="838200" y="1894114"/>
            <a:ext cx="10515600" cy="418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sz="2100"/>
          </a:p>
          <a:p>
            <a:pPr marL="45720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sz="2100"/>
          </a:p>
        </p:txBody>
      </p:sp>
      <p:pic>
        <p:nvPicPr>
          <p:cNvPr id="243" name="Google Shape;243;g24a90fbe9f0_0_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5263" y="1519238"/>
            <a:ext cx="11801475" cy="3819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g24a90fbe9f0_0_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04888" y="5295900"/>
            <a:ext cx="10334625" cy="533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24a90fbe9f0_0_85"/>
          <p:cNvSpPr txBox="1">
            <a:spLocks noGrp="1"/>
          </p:cNvSpPr>
          <p:nvPr>
            <p:ph type="title"/>
          </p:nvPr>
        </p:nvSpPr>
        <p:spPr>
          <a:xfrm>
            <a:off x="838200" y="-8987"/>
            <a:ext cx="10515600" cy="12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lang="en-US" dirty="0">
                <a:solidFill>
                  <a:schemeClr val="bg1"/>
                </a:solidFill>
              </a:rPr>
              <a:t>K-armed Bandit Problem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250" name="Google Shape;250;g24a90fbe9f0_0_8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  <p:sp>
        <p:nvSpPr>
          <p:cNvPr id="251" name="Google Shape;251;g24a90fbe9f0_0_85"/>
          <p:cNvSpPr txBox="1">
            <a:spLocks noGrp="1"/>
          </p:cNvSpPr>
          <p:nvPr>
            <p:ph type="body" idx="1"/>
          </p:nvPr>
        </p:nvSpPr>
        <p:spPr>
          <a:xfrm>
            <a:off x="838200" y="1894114"/>
            <a:ext cx="10515600" cy="418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sz="2100"/>
          </a:p>
          <a:p>
            <a:pPr marL="45720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sz="2100"/>
          </a:p>
        </p:txBody>
      </p:sp>
      <p:pic>
        <p:nvPicPr>
          <p:cNvPr id="252" name="Google Shape;252;g24a90fbe9f0_0_8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5263" y="1519238"/>
            <a:ext cx="11801475" cy="3819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g24a90fbe9f0_0_8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71900" y="5245650"/>
            <a:ext cx="10281901" cy="828675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g24a90fbe9f0_0_85"/>
          <p:cNvSpPr txBox="1"/>
          <p:nvPr/>
        </p:nvSpPr>
        <p:spPr>
          <a:xfrm>
            <a:off x="718050" y="6074325"/>
            <a:ext cx="109479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1" i="0" u="none" strike="noStrike" cap="none">
                <a:solidFill>
                  <a:srgbClr val="38761D"/>
                </a:solidFill>
                <a:latin typeface="Calibri"/>
                <a:ea typeface="Calibri"/>
                <a:cs typeface="Calibri"/>
                <a:sym typeface="Calibri"/>
              </a:rPr>
              <a:t>Keep pulling the levers;  update the estimate of action values;  </a:t>
            </a:r>
            <a:endParaRPr sz="2200" b="1" i="0" u="none" strike="noStrike" cap="none">
              <a:solidFill>
                <a:srgbClr val="38761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24a90fbe9f0_0_94"/>
          <p:cNvSpPr txBox="1">
            <a:spLocks noGrp="1"/>
          </p:cNvSpPr>
          <p:nvPr>
            <p:ph type="title"/>
          </p:nvPr>
        </p:nvSpPr>
        <p:spPr>
          <a:xfrm>
            <a:off x="838200" y="0"/>
            <a:ext cx="10515600" cy="12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lang="en-US" dirty="0">
                <a:solidFill>
                  <a:schemeClr val="bg1"/>
                </a:solidFill>
              </a:rPr>
              <a:t>K-armed Bandit Problem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260" name="Google Shape;260;g24a90fbe9f0_0_9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  <p:sp>
        <p:nvSpPr>
          <p:cNvPr id="261" name="Google Shape;261;g24a90fbe9f0_0_94"/>
          <p:cNvSpPr txBox="1">
            <a:spLocks noGrp="1"/>
          </p:cNvSpPr>
          <p:nvPr>
            <p:ph type="body" idx="1"/>
          </p:nvPr>
        </p:nvSpPr>
        <p:spPr>
          <a:xfrm>
            <a:off x="838200" y="1894114"/>
            <a:ext cx="10515600" cy="418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sz="2100"/>
          </a:p>
          <a:p>
            <a:pPr marL="45720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sz="2100"/>
          </a:p>
        </p:txBody>
      </p:sp>
      <p:pic>
        <p:nvPicPr>
          <p:cNvPr id="262" name="Google Shape;262;g24a90fbe9f0_0_9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5263" y="1519238"/>
            <a:ext cx="11801475" cy="3819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g24a90fbe9f0_0_9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71900" y="5245650"/>
            <a:ext cx="10281901" cy="828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24a90fbe9f0_0_116"/>
          <p:cNvSpPr txBox="1">
            <a:spLocks noGrp="1"/>
          </p:cNvSpPr>
          <p:nvPr>
            <p:ph type="title"/>
          </p:nvPr>
        </p:nvSpPr>
        <p:spPr>
          <a:xfrm>
            <a:off x="838200" y="0"/>
            <a:ext cx="10515600" cy="12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lang="en-US" dirty="0">
                <a:solidFill>
                  <a:schemeClr val="bg1"/>
                </a:solidFill>
              </a:rPr>
              <a:t>K-armed Bandit Problem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269" name="Google Shape;269;g24a90fbe9f0_0_1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  <p:sp>
        <p:nvSpPr>
          <p:cNvPr id="270" name="Google Shape;270;g24a90fbe9f0_0_116"/>
          <p:cNvSpPr txBox="1">
            <a:spLocks noGrp="1"/>
          </p:cNvSpPr>
          <p:nvPr>
            <p:ph type="body" idx="1"/>
          </p:nvPr>
        </p:nvSpPr>
        <p:spPr>
          <a:xfrm>
            <a:off x="838200" y="1894114"/>
            <a:ext cx="10515600" cy="418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sz="2100"/>
          </a:p>
          <a:p>
            <a:pPr marL="45720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sz="2100"/>
          </a:p>
        </p:txBody>
      </p:sp>
      <p:sp>
        <p:nvSpPr>
          <p:cNvPr id="271" name="Google Shape;271;g24a90fbe9f0_0_116"/>
          <p:cNvSpPr txBox="1">
            <a:spLocks noGrp="1"/>
          </p:cNvSpPr>
          <p:nvPr>
            <p:ph type="body" idx="1"/>
          </p:nvPr>
        </p:nvSpPr>
        <p:spPr>
          <a:xfrm>
            <a:off x="838200" y="1678352"/>
            <a:ext cx="10515600" cy="487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873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AutoNum type="arabicPeriod"/>
            </a:pPr>
            <a:r>
              <a:rPr lang="en-US" sz="2500"/>
              <a:t>How to maintain the estimate of expected rewards for each action?</a:t>
            </a:r>
            <a:endParaRPr sz="2500"/>
          </a:p>
          <a:p>
            <a:pPr marL="914400" lvl="1" indent="-2286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F6000"/>
              </a:buClr>
              <a:buSzPts val="2500"/>
              <a:buNone/>
            </a:pPr>
            <a:r>
              <a:rPr lang="en-US" sz="2500">
                <a:solidFill>
                  <a:srgbClr val="7F6000"/>
                </a:solidFill>
              </a:rPr>
              <a:t>Average the rewards actually received !!!</a:t>
            </a:r>
            <a:endParaRPr sz="2500">
              <a:solidFill>
                <a:srgbClr val="7F6000"/>
              </a:solidFill>
            </a:endParaRPr>
          </a:p>
          <a:p>
            <a:pPr marL="91440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sz="2500">
              <a:solidFill>
                <a:srgbClr val="7F6000"/>
              </a:solidFill>
            </a:endParaRPr>
          </a:p>
          <a:p>
            <a:pPr marL="91440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sz="2500">
              <a:solidFill>
                <a:srgbClr val="7F6000"/>
              </a:solidFill>
            </a:endParaRPr>
          </a:p>
          <a:p>
            <a:pPr marL="91440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sz="2500">
              <a:solidFill>
                <a:srgbClr val="7F6000"/>
              </a:solidFill>
            </a:endParaRPr>
          </a:p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sz="2500"/>
          </a:p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sz="2500"/>
          </a:p>
          <a:p>
            <a:pPr marL="45720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sz="2500"/>
          </a:p>
          <a:p>
            <a:pPr marL="457200" lvl="0" indent="-3873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AutoNum type="arabicPeriod"/>
            </a:pPr>
            <a:r>
              <a:rPr lang="en-US" sz="2500"/>
              <a:t>How to use the estimate in selecting the right action?</a:t>
            </a:r>
            <a:endParaRPr sz="2500"/>
          </a:p>
          <a:p>
            <a:pPr marL="457200" lvl="0" indent="4572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2500" u="sng">
                <a:solidFill>
                  <a:srgbClr val="7F6000"/>
                </a:solidFill>
              </a:rPr>
              <a:t>Greedy Action Selection</a:t>
            </a:r>
            <a:endParaRPr sz="2500" u="sng">
              <a:solidFill>
                <a:srgbClr val="7F6000"/>
              </a:solidFill>
            </a:endParaRPr>
          </a:p>
        </p:txBody>
      </p:sp>
      <p:pic>
        <p:nvPicPr>
          <p:cNvPr id="272" name="Google Shape;272;g24a90fbe9f0_0_1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42700" y="2665950"/>
            <a:ext cx="7660876" cy="1160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3" name="Google Shape;273;g24a90fbe9f0_0_11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882600" y="3738025"/>
            <a:ext cx="3184500" cy="1299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4" name="Google Shape;274;g24a90fbe9f0_0_11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309625" y="5570847"/>
            <a:ext cx="3484026" cy="914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24a90fbe9f0_0_104"/>
          <p:cNvSpPr txBox="1">
            <a:spLocks noGrp="1"/>
          </p:cNvSpPr>
          <p:nvPr>
            <p:ph type="title"/>
          </p:nvPr>
        </p:nvSpPr>
        <p:spPr>
          <a:xfrm>
            <a:off x="896389" y="19498"/>
            <a:ext cx="10515600" cy="12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lang="en-US" dirty="0">
                <a:solidFill>
                  <a:schemeClr val="bg1"/>
                </a:solidFill>
              </a:rPr>
              <a:t>K-armed Bandit Problem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280" name="Google Shape;280;g24a90fbe9f0_0_10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  <p:sp>
        <p:nvSpPr>
          <p:cNvPr id="281" name="Google Shape;281;g24a90fbe9f0_0_104"/>
          <p:cNvSpPr txBox="1">
            <a:spLocks noGrp="1"/>
          </p:cNvSpPr>
          <p:nvPr>
            <p:ph type="body" idx="1"/>
          </p:nvPr>
        </p:nvSpPr>
        <p:spPr>
          <a:xfrm>
            <a:off x="838200" y="1894114"/>
            <a:ext cx="10515600" cy="418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sz="2100"/>
          </a:p>
          <a:p>
            <a:pPr marL="45720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sz="2100"/>
          </a:p>
        </p:txBody>
      </p:sp>
      <p:sp>
        <p:nvSpPr>
          <p:cNvPr id="282" name="Google Shape;282;g24a90fbe9f0_0_104"/>
          <p:cNvSpPr txBox="1">
            <a:spLocks noGrp="1"/>
          </p:cNvSpPr>
          <p:nvPr>
            <p:ph type="body" idx="1"/>
          </p:nvPr>
        </p:nvSpPr>
        <p:spPr>
          <a:xfrm>
            <a:off x="838200" y="1678352"/>
            <a:ext cx="10515600" cy="487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2500"/>
              <a:t>2.    How to use the estimate in selecting the right action?</a:t>
            </a:r>
            <a:endParaRPr sz="2500"/>
          </a:p>
          <a:p>
            <a:pPr marL="457200" lvl="0" indent="4572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2500" u="sng">
                <a:solidFill>
                  <a:srgbClr val="7F6000"/>
                </a:solidFill>
              </a:rPr>
              <a:t>Greedy Action Selection</a:t>
            </a:r>
            <a:endParaRPr sz="2500" u="sng">
              <a:solidFill>
                <a:srgbClr val="7F6000"/>
              </a:solidFill>
            </a:endParaRPr>
          </a:p>
          <a:p>
            <a:pPr marL="457200" lvl="0" indent="4572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sz="2500" u="sng">
              <a:solidFill>
                <a:srgbClr val="7F6000"/>
              </a:solidFill>
            </a:endParaRPr>
          </a:p>
          <a:p>
            <a:pPr marL="457200" lvl="0" indent="4572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sz="2500" u="sng">
              <a:solidFill>
                <a:srgbClr val="7F6000"/>
              </a:solidFill>
            </a:endParaRPr>
          </a:p>
          <a:p>
            <a:pPr marL="457200" lvl="0" indent="4572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sz="2500" u="sng">
              <a:solidFill>
                <a:srgbClr val="7F6000"/>
              </a:solidFill>
            </a:endParaRPr>
          </a:p>
          <a:p>
            <a:pPr marL="457200" lvl="0" indent="4572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sz="2500" u="sng">
              <a:solidFill>
                <a:srgbClr val="7F6000"/>
              </a:solidFill>
            </a:endParaRPr>
          </a:p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2500"/>
              <a:t>3.    Exploration vs. Exploitation?</a:t>
            </a:r>
            <a:endParaRPr sz="2500"/>
          </a:p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2500">
                <a:solidFill>
                  <a:srgbClr val="7F6000"/>
                </a:solidFill>
              </a:rPr>
              <a:t>	</a:t>
            </a:r>
            <a:r>
              <a:rPr lang="en-US" sz="2500" b="1" u="sng">
                <a:solidFill>
                  <a:srgbClr val="7F6000"/>
                </a:solidFill>
              </a:rPr>
              <a:t>ε-</a:t>
            </a:r>
            <a:r>
              <a:rPr lang="en-US" sz="2500" u="sng">
                <a:solidFill>
                  <a:srgbClr val="7F6000"/>
                </a:solidFill>
              </a:rPr>
              <a:t>Greedy Action Selection / near-greedy action selection</a:t>
            </a:r>
            <a:endParaRPr sz="2500" u="sng">
              <a:solidFill>
                <a:srgbClr val="7F6000"/>
              </a:solidFill>
            </a:endParaRPr>
          </a:p>
          <a:p>
            <a:pPr marL="91440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1900"/>
              <a:t>Behave greedily most of the time; Once in a while, with small probability 𝛆 select randomly from among all the actions with equal probability, independently of the action-value estimates</a:t>
            </a:r>
            <a:r>
              <a:rPr lang="en-US" sz="2500">
                <a:solidFill>
                  <a:srgbClr val="7F6000"/>
                </a:solidFill>
              </a:rPr>
              <a:t>.</a:t>
            </a:r>
            <a:endParaRPr sz="2500">
              <a:solidFill>
                <a:srgbClr val="7F6000"/>
              </a:solidFill>
            </a:endParaRPr>
          </a:p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500">
              <a:solidFill>
                <a:srgbClr val="7F6000"/>
              </a:solidFill>
            </a:endParaRPr>
          </a:p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sz="2500" u="sng">
              <a:solidFill>
                <a:srgbClr val="7F6000"/>
              </a:solidFill>
            </a:endParaRPr>
          </a:p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sz="2500" u="sng">
              <a:solidFill>
                <a:srgbClr val="FF0000"/>
              </a:solidFill>
            </a:endParaRPr>
          </a:p>
        </p:txBody>
      </p:sp>
      <p:pic>
        <p:nvPicPr>
          <p:cNvPr id="283" name="Google Shape;283;g24a90fbe9f0_0_10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09750" y="2719422"/>
            <a:ext cx="3484026" cy="914175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g24a90fbe9f0_0_104"/>
          <p:cNvSpPr txBox="1"/>
          <p:nvPr/>
        </p:nvSpPr>
        <p:spPr>
          <a:xfrm>
            <a:off x="1550575" y="3614388"/>
            <a:ext cx="100008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38761D"/>
                </a:solidFill>
                <a:latin typeface="Arial"/>
                <a:ea typeface="Arial"/>
                <a:cs typeface="Arial"/>
                <a:sym typeface="Arial"/>
              </a:rPr>
              <a:t>Actions which are inferior by the value estimate upto time t, could be indeed better than the greedy action at t !!! </a:t>
            </a:r>
            <a:endParaRPr sz="1800" b="1" i="0" u="none" strike="noStrike" cap="none">
              <a:solidFill>
                <a:srgbClr val="38761D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24a90fbe9f0_0_183"/>
          <p:cNvSpPr txBox="1">
            <a:spLocks noGrp="1"/>
          </p:cNvSpPr>
          <p:nvPr>
            <p:ph type="title"/>
          </p:nvPr>
        </p:nvSpPr>
        <p:spPr>
          <a:xfrm>
            <a:off x="838200" y="0"/>
            <a:ext cx="10515600" cy="12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n-US" dirty="0">
                <a:solidFill>
                  <a:schemeClr val="bg1"/>
                </a:solidFill>
              </a:rPr>
              <a:t>K-armed Bandit Problem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291" name="Google Shape;291;g24a90fbe9f0_0_18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  <p:pic>
        <p:nvPicPr>
          <p:cNvPr id="292" name="Google Shape;292;g24a90fbe9f0_0_18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2221412"/>
            <a:ext cx="9604248" cy="444022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D85CAEC-7CED-40CE-1628-5481A362A439}"/>
              </a:ext>
            </a:extLst>
          </p:cNvPr>
          <p:cNvSpPr txBox="1"/>
          <p:nvPr/>
        </p:nvSpPr>
        <p:spPr>
          <a:xfrm>
            <a:off x="232756" y="1320296"/>
            <a:ext cx="60973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 slide shows a </a:t>
            </a:r>
            <a:r>
              <a:rPr lang="en-US" b="1" dirty="0"/>
              <a:t>K-armed bandit with four slot machines</a:t>
            </a:r>
            <a:r>
              <a:rPr lang="en-US" dirty="0"/>
              <a:t>: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19A241C-089C-E944-C62D-BE640FB68045}"/>
                  </a:ext>
                </a:extLst>
              </p:cNvPr>
              <p:cNvSpPr txBox="1"/>
              <p:nvPr/>
            </p:nvSpPr>
            <p:spPr>
              <a:xfrm>
                <a:off x="6330140" y="1043297"/>
                <a:ext cx="6097384" cy="12003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IN" dirty="0"/>
                  <a:t>The notation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ar-AE" i="0">
                            <a:latin typeface="Cambria Math" panose="02040503050406030204" pitchFamily="18" charset="0"/>
                          </a:rPr>
                          <m:t>11</m:t>
                        </m:r>
                      </m:sub>
                    </m:sSub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</m:oMath>
                </a14:m>
                <a:r>
                  <a:rPr lang="en-IN" dirty="0"/>
                  <a:t>means:</a:t>
                </a:r>
              </a:p>
              <a:p>
                <a:pPr>
                  <a:buNone/>
                </a:pPr>
                <a:r>
                  <a:rPr lang="en-IN" dirty="0"/>
                  <a:t>Number of times action </a:t>
                </a:r>
                <a:r>
                  <a:rPr lang="en-IN" b="1" dirty="0"/>
                  <a:t>a</a:t>
                </a:r>
                <a:r>
                  <a:rPr lang="en-IN" dirty="0"/>
                  <a:t> has been selected in the first </a:t>
                </a:r>
                <a:r>
                  <a:rPr lang="en-IN" b="1" dirty="0"/>
                  <a:t>11 steps</a:t>
                </a:r>
                <a:r>
                  <a:rPr lang="en-IN" dirty="0"/>
                  <a:t>.</a:t>
                </a:r>
              </a:p>
              <a:p>
                <a:pPr>
                  <a:buNone/>
                </a:pPr>
                <a:endParaRPr lang="en-IN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19A241C-089C-E944-C62D-BE640FB680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30140" y="1043297"/>
                <a:ext cx="6097384" cy="1200329"/>
              </a:xfrm>
              <a:prstGeom prst="rect">
                <a:avLst/>
              </a:prstGeom>
              <a:blipFill>
                <a:blip r:embed="rId4"/>
                <a:stretch>
                  <a:fillRect l="-799" t="-253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9">
          <a:extLst>
            <a:ext uri="{FF2B5EF4-FFF2-40B4-BE49-F238E27FC236}">
              <a16:creationId xmlns:a16="http://schemas.microsoft.com/office/drawing/2014/main" id="{0290B344-3B8D-3106-F5E0-4BE0F06768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24a90fbe9f0_0_183">
            <a:extLst>
              <a:ext uri="{FF2B5EF4-FFF2-40B4-BE49-F238E27FC236}">
                <a16:creationId xmlns:a16="http://schemas.microsoft.com/office/drawing/2014/main" id="{D04A6A32-9B91-4C08-C3BA-03A49BA5D3F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0"/>
            <a:ext cx="10515600" cy="12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n-US" dirty="0">
                <a:solidFill>
                  <a:schemeClr val="bg1"/>
                </a:solidFill>
              </a:rPr>
              <a:t>K-armed Bandit Problem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291" name="Google Shape;291;g24a90fbe9f0_0_183">
            <a:extLst>
              <a:ext uri="{FF2B5EF4-FFF2-40B4-BE49-F238E27FC236}">
                <a16:creationId xmlns:a16="http://schemas.microsoft.com/office/drawing/2014/main" id="{693269AF-B58E-92EB-9DD3-F4797D79485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  <p:pic>
        <p:nvPicPr>
          <p:cNvPr id="292" name="Google Shape;292;g24a90fbe9f0_0_183">
            <a:extLst>
              <a:ext uri="{FF2B5EF4-FFF2-40B4-BE49-F238E27FC236}">
                <a16:creationId xmlns:a16="http://schemas.microsoft.com/office/drawing/2014/main" id="{CD7B826B-5FF3-4CB8-2E1E-7CD53BB3FAA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2221412"/>
            <a:ext cx="9604248" cy="444022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64D8FDE-7CB1-ED10-CC19-7194224ADCAF}"/>
              </a:ext>
            </a:extLst>
          </p:cNvPr>
          <p:cNvSpPr txBox="1"/>
          <p:nvPr/>
        </p:nvSpPr>
        <p:spPr>
          <a:xfrm>
            <a:off x="232756" y="1320296"/>
            <a:ext cx="60973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 slide shows a </a:t>
            </a:r>
            <a:r>
              <a:rPr lang="en-US" b="1" dirty="0"/>
              <a:t>K-armed bandit with four slot machines</a:t>
            </a:r>
            <a:r>
              <a:rPr lang="en-US" dirty="0"/>
              <a:t>:</a:t>
            </a: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2AB5D72-6DF4-1800-1921-8406CA06289A}"/>
              </a:ext>
            </a:extLst>
          </p:cNvPr>
          <p:cNvSpPr txBox="1"/>
          <p:nvPr/>
        </p:nvSpPr>
        <p:spPr>
          <a:xfrm>
            <a:off x="5981006" y="1131653"/>
            <a:ext cx="609738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dirty="0"/>
              <a:t>q*: true action value or true expected reward of the machine</a:t>
            </a:r>
          </a:p>
        </p:txBody>
      </p:sp>
    </p:spTree>
    <p:extLst>
      <p:ext uri="{BB962C8B-B14F-4D97-AF65-F5344CB8AC3E}">
        <p14:creationId xmlns:p14="http://schemas.microsoft.com/office/powerpoint/2010/main" val="41184429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24a90fbe9f0_0_159"/>
          <p:cNvSpPr txBox="1">
            <a:spLocks noGrp="1"/>
          </p:cNvSpPr>
          <p:nvPr>
            <p:ph type="title"/>
          </p:nvPr>
        </p:nvSpPr>
        <p:spPr>
          <a:xfrm>
            <a:off x="869903" y="30950"/>
            <a:ext cx="10515600" cy="12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n-US" dirty="0">
                <a:solidFill>
                  <a:schemeClr val="bg1"/>
                </a:solidFill>
              </a:rPr>
              <a:t>K-armed Bandit Problem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299" name="Google Shape;299;g24a90fbe9f0_0_15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  <p:pic>
        <p:nvPicPr>
          <p:cNvPr id="300" name="Google Shape;300;g24a90fbe9f0_0_15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71600" y="1763725"/>
            <a:ext cx="9604248" cy="4440225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g24a90fbe9f0_0_159"/>
          <p:cNvSpPr/>
          <p:nvPr/>
        </p:nvSpPr>
        <p:spPr>
          <a:xfrm>
            <a:off x="1654625" y="1799775"/>
            <a:ext cx="2225400" cy="47025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rgbClr val="98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g24a90fbe9f0_0_159"/>
          <p:cNvSpPr txBox="1"/>
          <p:nvPr/>
        </p:nvSpPr>
        <p:spPr>
          <a:xfrm>
            <a:off x="1744125" y="1134525"/>
            <a:ext cx="23418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000000"/>
                </a:solidFill>
                <a:highlight>
                  <a:srgbClr val="FFF2CC"/>
                </a:highlight>
                <a:latin typeface="Calibri"/>
                <a:ea typeface="Calibri"/>
                <a:cs typeface="Calibri"/>
                <a:sym typeface="Calibri"/>
              </a:rPr>
              <a:t>Greedy Action</a:t>
            </a:r>
            <a:endParaRPr sz="2800" b="0" i="0" u="none" strike="noStrike" cap="none">
              <a:solidFill>
                <a:srgbClr val="000000"/>
              </a:solidFill>
              <a:highlight>
                <a:srgbClr val="FFF2CC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3D3981D-5EC1-694B-5EE0-AAEB90E9370E}"/>
              </a:ext>
            </a:extLst>
          </p:cNvPr>
          <p:cNvSpPr txBox="1"/>
          <p:nvPr/>
        </p:nvSpPr>
        <p:spPr>
          <a:xfrm>
            <a:off x="3250276" y="873659"/>
            <a:ext cx="60973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 slide shows a </a:t>
            </a:r>
            <a:r>
              <a:rPr lang="en-US" b="1" dirty="0"/>
              <a:t>K-armed bandit with four slot machines</a:t>
            </a:r>
            <a:r>
              <a:rPr lang="en-US" dirty="0"/>
              <a:t>:</a:t>
            </a:r>
            <a:endParaRPr lang="en-IN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24a90fbe9f0_0_192"/>
          <p:cNvSpPr txBox="1">
            <a:spLocks noGrp="1"/>
          </p:cNvSpPr>
          <p:nvPr>
            <p:ph type="title"/>
          </p:nvPr>
        </p:nvSpPr>
        <p:spPr>
          <a:xfrm>
            <a:off x="838200" y="0"/>
            <a:ext cx="10515600" cy="12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n-US" dirty="0">
                <a:solidFill>
                  <a:schemeClr val="bg1"/>
                </a:solidFill>
              </a:rPr>
              <a:t>K-armed Bandit Problem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309" name="Google Shape;309;g24a90fbe9f0_0_19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  <p:pic>
        <p:nvPicPr>
          <p:cNvPr id="310" name="Google Shape;310;g24a90fbe9f0_0_19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71600" y="1763725"/>
            <a:ext cx="9604248" cy="4440225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g24a90fbe9f0_0_192"/>
          <p:cNvSpPr/>
          <p:nvPr/>
        </p:nvSpPr>
        <p:spPr>
          <a:xfrm>
            <a:off x="8588825" y="1799775"/>
            <a:ext cx="2225400" cy="47025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rgbClr val="98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g24a90fbe9f0_0_192"/>
          <p:cNvSpPr txBox="1"/>
          <p:nvPr/>
        </p:nvSpPr>
        <p:spPr>
          <a:xfrm>
            <a:off x="8409900" y="976350"/>
            <a:ext cx="27432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000000"/>
                </a:solidFill>
                <a:highlight>
                  <a:srgbClr val="FFF2CC"/>
                </a:highlight>
                <a:latin typeface="Calibri"/>
                <a:ea typeface="Calibri"/>
                <a:cs typeface="Calibri"/>
                <a:sym typeface="Calibri"/>
              </a:rPr>
              <a:t>Action to Explore</a:t>
            </a:r>
            <a:endParaRPr sz="2800" b="0" i="0" u="none" strike="noStrike" cap="none">
              <a:solidFill>
                <a:srgbClr val="000000"/>
              </a:solidFill>
              <a:highlight>
                <a:srgbClr val="FFF2CC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3ABC971-3F82-7265-41FE-062715A36CE6}"/>
              </a:ext>
            </a:extLst>
          </p:cNvPr>
          <p:cNvSpPr txBox="1"/>
          <p:nvPr/>
        </p:nvSpPr>
        <p:spPr>
          <a:xfrm>
            <a:off x="1371600" y="1320296"/>
            <a:ext cx="60973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 slide shows a </a:t>
            </a:r>
            <a:r>
              <a:rPr lang="en-US" b="1" dirty="0"/>
              <a:t>K-armed bandit with four slot machines</a:t>
            </a:r>
            <a:r>
              <a:rPr lang="en-US" dirty="0"/>
              <a:t>:</a:t>
            </a:r>
            <a:endParaRPr lang="en-IN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4BCC3E-9694-402C-F9B7-6E6F35C82A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8DE4D0-84A6-C0EE-2AF7-BBD997244E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4662" y="231524"/>
            <a:ext cx="10453163" cy="553998"/>
          </a:xfrm>
        </p:spPr>
        <p:txBody>
          <a:bodyPr/>
          <a:lstStyle/>
          <a:p>
            <a:pPr>
              <a:lnSpc>
                <a:spcPct val="90000"/>
              </a:lnSpc>
              <a:buClr>
                <a:schemeClr val="dk1"/>
              </a:buClr>
              <a:buSzPts val="4000"/>
            </a:pPr>
            <a:r>
              <a:rPr lang="en-US" sz="4000" b="1" kern="1200" dirty="0">
                <a:solidFill>
                  <a:schemeClr val="bg1"/>
                </a:solidFill>
              </a:rPr>
              <a:t>Exploration vs Exploitation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CEB102F-9A30-46A7-7E46-53EC69BFD04A}"/>
              </a:ext>
            </a:extLst>
          </p:cNvPr>
          <p:cNvSpPr>
            <a:spLocks noGrp="1"/>
          </p:cNvSpPr>
          <p:nvPr>
            <p:ph type="ftr" idx="10"/>
          </p:nvPr>
        </p:nvSpPr>
        <p:spPr/>
        <p:txBody>
          <a:bodyPr/>
          <a:lstStyle/>
          <a:p>
            <a:r>
              <a:rPr lang="en-IN"/>
              <a:t>Faculty Development Workshop on Deep Reinforcement Learning - 9 &amp; 10 March,2026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34401C-D137-3AAB-D733-4718336E9A22}"/>
              </a:ext>
            </a:extLst>
          </p:cNvPr>
          <p:cNvSpPr txBox="1"/>
          <p:nvPr/>
        </p:nvSpPr>
        <p:spPr>
          <a:xfrm>
            <a:off x="-77586" y="1204833"/>
            <a:ext cx="12053455" cy="39765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Exploration: Try un-known options and gain knowledge (experience)</a:t>
            </a:r>
            <a:endParaRPr lang="en-US" altLang="en-US" dirty="0">
              <a:latin typeface="Arial" panose="020B0604020202020204" pitchFamily="34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dirty="0">
              <a:latin typeface="Arial" panose="020B0604020202020204" pitchFamily="34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   Exploitation: Choose the best –known action and gain immediate reward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Arial" panose="020B0604020202020204" pitchFamily="34" charset="0"/>
              </a:rPr>
              <a:t>  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   Central Dilemma: Short term reward vs long term learning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dirty="0">
              <a:latin typeface="Arial" panose="020B0604020202020204" pitchFamily="34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   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dirty="0">
              <a:latin typeface="Arial" panose="020B0604020202020204" pitchFamily="34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Arial" panose="020B0604020202020204" pitchFamily="34" charset="0"/>
              </a:rPr>
              <a:t>                                        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dirty="0">
              <a:latin typeface="Arial" panose="020B0604020202020204" pitchFamily="34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Arial" panose="020B0604020202020204" pitchFamily="34" charset="0"/>
              </a:rPr>
              <a:t>                                       Difference between Traditional ML and Bandits  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dirty="0">
              <a:latin typeface="Arial" panose="020B0604020202020204" pitchFamily="34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Arial" panose="020B0604020202020204" pitchFamily="34" charset="0"/>
              </a:rPr>
              <a:t>   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endParaRPr lang="en-I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DB799E1-FEA0-419A-D196-E6E00F1E54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6004235"/>
              </p:ext>
            </p:extLst>
          </p:nvPr>
        </p:nvGraphicFramePr>
        <p:xfrm>
          <a:off x="1885141" y="4333648"/>
          <a:ext cx="8128000" cy="20257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3845301531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96572427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Machine learning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Bandits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70139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800" dirty="0"/>
                        <a:t>Static dataset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Online interaction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68582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800" dirty="0"/>
                        <a:t>Full Feedback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Partial Feedback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91104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800" dirty="0"/>
                        <a:t>Predict Labels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Make Decisions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07982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800" dirty="0" err="1"/>
                        <a:t>Ofline</a:t>
                      </a:r>
                      <a:r>
                        <a:rPr lang="en-IN" sz="1800" dirty="0"/>
                        <a:t> training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Continuous learning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8962955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CF50438E-3FB4-17EA-FC38-1383FF704492}"/>
              </a:ext>
            </a:extLst>
          </p:cNvPr>
          <p:cNvSpPr txBox="1"/>
          <p:nvPr/>
        </p:nvSpPr>
        <p:spPr>
          <a:xfrm>
            <a:off x="264854" y="2740514"/>
            <a:ext cx="616388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Adaptive systems such as</a:t>
            </a: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IN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Advertisement optimization</a:t>
            </a: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IN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Dynamic Pricing</a:t>
            </a:r>
          </a:p>
        </p:txBody>
      </p:sp>
    </p:spTree>
    <p:extLst>
      <p:ext uri="{BB962C8B-B14F-4D97-AF65-F5344CB8AC3E}">
        <p14:creationId xmlns:p14="http://schemas.microsoft.com/office/powerpoint/2010/main" val="31099006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24a90fbe9f0_0_143"/>
          <p:cNvSpPr txBox="1">
            <a:spLocks noGrp="1"/>
          </p:cNvSpPr>
          <p:nvPr>
            <p:ph type="title"/>
          </p:nvPr>
        </p:nvSpPr>
        <p:spPr>
          <a:xfrm>
            <a:off x="838200" y="-20385"/>
            <a:ext cx="10515600" cy="12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lang="en-US" dirty="0">
                <a:solidFill>
                  <a:schemeClr val="bg1"/>
                </a:solidFill>
              </a:rPr>
              <a:t>K-armed Bandit Problem: </a:t>
            </a:r>
            <a:r>
              <a:rPr lang="el-GR" dirty="0">
                <a:solidFill>
                  <a:schemeClr val="bg1"/>
                </a:solidFill>
              </a:rPr>
              <a:t>ε-</a:t>
            </a:r>
            <a:r>
              <a:rPr lang="en-US" dirty="0">
                <a:solidFill>
                  <a:schemeClr val="bg1"/>
                </a:solidFill>
              </a:rPr>
              <a:t>Greedy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318" name="Google Shape;318;g24a90fbe9f0_0_14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  <p:sp>
        <p:nvSpPr>
          <p:cNvPr id="319" name="Google Shape;319;g24a90fbe9f0_0_143"/>
          <p:cNvSpPr txBox="1">
            <a:spLocks noGrp="1"/>
          </p:cNvSpPr>
          <p:nvPr>
            <p:ph type="body" idx="1"/>
          </p:nvPr>
        </p:nvSpPr>
        <p:spPr>
          <a:xfrm>
            <a:off x="838200" y="1894114"/>
            <a:ext cx="10515600" cy="418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sz="2100"/>
          </a:p>
          <a:p>
            <a:pPr marL="45720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sz="2100"/>
          </a:p>
        </p:txBody>
      </p:sp>
      <p:sp>
        <p:nvSpPr>
          <p:cNvPr id="320" name="Google Shape;320;g24a90fbe9f0_0_143"/>
          <p:cNvSpPr txBox="1">
            <a:spLocks noGrp="1"/>
          </p:cNvSpPr>
          <p:nvPr>
            <p:ph type="body" idx="1"/>
          </p:nvPr>
        </p:nvSpPr>
        <p:spPr>
          <a:xfrm>
            <a:off x="838200" y="1678352"/>
            <a:ext cx="10515600" cy="487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2500" u="sng" dirty="0">
                <a:solidFill>
                  <a:srgbClr val="7F6000"/>
                </a:solidFill>
              </a:rPr>
              <a:t>	</a:t>
            </a:r>
            <a:r>
              <a:rPr lang="en-US" sz="2500" dirty="0">
                <a:solidFill>
                  <a:srgbClr val="7F6000"/>
                </a:solidFill>
              </a:rPr>
              <a:t>	</a:t>
            </a:r>
            <a:r>
              <a:rPr lang="en-US" sz="2500" b="1" u="sng" dirty="0">
                <a:solidFill>
                  <a:srgbClr val="7F6000"/>
                </a:solidFill>
              </a:rPr>
              <a:t>ε-</a:t>
            </a:r>
            <a:r>
              <a:rPr lang="en-US" sz="2500" u="sng" dirty="0">
                <a:solidFill>
                  <a:srgbClr val="7F6000"/>
                </a:solidFill>
              </a:rPr>
              <a:t>Greedy Action Selection / near-greedy action selection</a:t>
            </a:r>
            <a:endParaRPr sz="2500" u="sng" dirty="0">
              <a:solidFill>
                <a:srgbClr val="7F6000"/>
              </a:solidFill>
            </a:endParaRPr>
          </a:p>
          <a:p>
            <a:pPr marL="91440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sz="2500" u="sng" dirty="0">
              <a:solidFill>
                <a:srgbClr val="7F6000"/>
              </a:solidFill>
            </a:endParaRPr>
          </a:p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sz="2500" u="sng" dirty="0">
              <a:solidFill>
                <a:srgbClr val="FF0000"/>
              </a:solidFill>
            </a:endParaRPr>
          </a:p>
        </p:txBody>
      </p:sp>
      <p:sp>
        <p:nvSpPr>
          <p:cNvPr id="321" name="Google Shape;321;g24a90fbe9f0_0_143"/>
          <p:cNvSpPr txBox="1"/>
          <p:nvPr/>
        </p:nvSpPr>
        <p:spPr>
          <a:xfrm>
            <a:off x="1852375" y="2551175"/>
            <a:ext cx="8877000" cy="22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n-US" sz="2100" b="0" i="0" u="none" strike="noStrike" cap="none">
                <a:solidFill>
                  <a:srgbClr val="0C343D"/>
                </a:solidFill>
                <a:latin typeface="Courier New"/>
                <a:ea typeface="Courier New"/>
                <a:cs typeface="Courier New"/>
                <a:sym typeface="Courier New"/>
              </a:rPr>
              <a:t>epsilon = 0.05 </a:t>
            </a:r>
            <a:r>
              <a:rPr lang="en-US" sz="2100" b="0" i="0" u="none" strike="noStrike" cap="none">
                <a:solidFill>
                  <a:srgbClr val="783F04"/>
                </a:solidFill>
                <a:latin typeface="Courier New"/>
                <a:ea typeface="Courier New"/>
                <a:cs typeface="Courier New"/>
                <a:sym typeface="Courier New"/>
              </a:rPr>
              <a:t>// small value to control exploration</a:t>
            </a:r>
            <a:endParaRPr sz="2100" b="0" i="0" u="none" strike="noStrike" cap="none">
              <a:solidFill>
                <a:srgbClr val="783F0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n-US" sz="2100" b="0" i="0" u="none" strike="noStrike" cap="none">
                <a:solidFill>
                  <a:srgbClr val="0C343D"/>
                </a:solidFill>
                <a:latin typeface="Courier New"/>
                <a:ea typeface="Courier New"/>
                <a:cs typeface="Courier New"/>
                <a:sym typeface="Courier New"/>
              </a:rPr>
              <a:t>def </a:t>
            </a:r>
            <a:r>
              <a:rPr lang="en-US" sz="2100" b="0" i="0" u="none" strike="noStrike" cap="none">
                <a:solidFill>
                  <a:srgbClr val="CC0000"/>
                </a:solidFill>
                <a:latin typeface="Courier New"/>
                <a:ea typeface="Courier New"/>
                <a:cs typeface="Courier New"/>
                <a:sym typeface="Courier New"/>
              </a:rPr>
              <a:t>get_action()</a:t>
            </a:r>
            <a:r>
              <a:rPr lang="en-US" sz="2100" b="0" i="0" u="none" strike="noStrike" cap="none">
                <a:solidFill>
                  <a:srgbClr val="0C343D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sz="2100" b="0" i="0" u="none" strike="noStrike" cap="none">
              <a:solidFill>
                <a:srgbClr val="0C343D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n-US" sz="2100" b="0" i="0" u="none" strike="noStrike" cap="none">
                <a:solidFill>
                  <a:srgbClr val="0C343D"/>
                </a:solidFill>
                <a:latin typeface="Courier New"/>
                <a:ea typeface="Courier New"/>
                <a:cs typeface="Courier New"/>
                <a:sym typeface="Courier New"/>
              </a:rPr>
              <a:t>    if random.random() &gt; epsilon:</a:t>
            </a:r>
            <a:endParaRPr sz="2100" b="0" i="0" u="none" strike="noStrike" cap="none">
              <a:solidFill>
                <a:srgbClr val="0C343D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n-US" sz="2100" b="0" i="0" u="none" strike="noStrike" cap="none">
                <a:solidFill>
                  <a:srgbClr val="0C343D"/>
                </a:solidFill>
                <a:latin typeface="Courier New"/>
                <a:ea typeface="Courier New"/>
                <a:cs typeface="Courier New"/>
                <a:sym typeface="Courier New"/>
              </a:rPr>
              <a:t>        return </a:t>
            </a:r>
            <a:r>
              <a:rPr lang="en-US" sz="2100" b="0" i="0" u="none" strike="noStrike" cap="none">
                <a:solidFill>
                  <a:srgbClr val="980000"/>
                </a:solidFill>
                <a:latin typeface="Courier New"/>
                <a:ea typeface="Courier New"/>
                <a:cs typeface="Courier New"/>
                <a:sym typeface="Courier New"/>
              </a:rPr>
              <a:t>argmaxa(Q(a))</a:t>
            </a:r>
            <a:endParaRPr sz="2100" b="0" i="0" u="none" strike="noStrike" cap="none">
              <a:solidFill>
                <a:srgbClr val="98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n-US" sz="2100" b="0" i="0" u="none" strike="noStrike" cap="none">
                <a:solidFill>
                  <a:srgbClr val="0C343D"/>
                </a:solidFill>
                <a:latin typeface="Courier New"/>
                <a:ea typeface="Courier New"/>
                <a:cs typeface="Courier New"/>
                <a:sym typeface="Courier New"/>
              </a:rPr>
              <a:t>    else:</a:t>
            </a:r>
            <a:endParaRPr sz="2100" b="0" i="0" u="none" strike="noStrike" cap="none">
              <a:solidFill>
                <a:srgbClr val="0C343D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n-US" sz="2100" b="0" i="0" u="none" strike="noStrike" cap="none">
                <a:solidFill>
                  <a:srgbClr val="0C343D"/>
                </a:solidFill>
                <a:latin typeface="Courier New"/>
                <a:ea typeface="Courier New"/>
                <a:cs typeface="Courier New"/>
                <a:sym typeface="Courier New"/>
              </a:rPr>
              <a:t>        return </a:t>
            </a:r>
            <a:r>
              <a:rPr lang="en-US" sz="2100" b="0" i="0" u="none" strike="noStrike" cap="none">
                <a:solidFill>
                  <a:srgbClr val="980000"/>
                </a:solidFill>
                <a:latin typeface="Courier New"/>
                <a:ea typeface="Courier New"/>
                <a:cs typeface="Courier New"/>
                <a:sym typeface="Courier New"/>
              </a:rPr>
              <a:t>random.choice(A)</a:t>
            </a:r>
            <a:endParaRPr sz="2100" b="0" i="0" u="none" strike="noStrike" cap="none">
              <a:solidFill>
                <a:srgbClr val="98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C343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g24a90fbe9f0_0_143"/>
          <p:cNvSpPr txBox="1"/>
          <p:nvPr/>
        </p:nvSpPr>
        <p:spPr>
          <a:xfrm>
            <a:off x="764425" y="4702450"/>
            <a:ext cx="11088900" cy="11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2000"/>
              <a:buFont typeface="Calibri"/>
              <a:buChar char="●"/>
            </a:pPr>
            <a:r>
              <a:rPr lang="en-US" sz="2000" b="1" i="0" u="none" strike="noStrike" cap="none">
                <a:solidFill>
                  <a:srgbClr val="38761D"/>
                </a:solidFill>
                <a:latin typeface="Calibri"/>
                <a:ea typeface="Calibri"/>
                <a:cs typeface="Calibri"/>
                <a:sym typeface="Calibri"/>
              </a:rPr>
              <a:t>In the limit as the number of steps increases, every action will be sampled by ε-greedy action selection an infinite number of times. This ensures that all the Qt (a) converge to q</a:t>
            </a:r>
            <a:r>
              <a:rPr lang="en-US" sz="2000" b="1" i="0" u="none" strike="noStrike" cap="none" baseline="-25000">
                <a:solidFill>
                  <a:srgbClr val="38761D"/>
                </a:solidFill>
                <a:latin typeface="Calibri"/>
                <a:ea typeface="Calibri"/>
                <a:cs typeface="Calibri"/>
                <a:sym typeface="Calibri"/>
              </a:rPr>
              <a:t>*</a:t>
            </a:r>
            <a:r>
              <a:rPr lang="en-US" sz="2000" b="1" i="0" u="none" strike="noStrike" cap="none">
                <a:solidFill>
                  <a:srgbClr val="38761D"/>
                </a:solidFill>
                <a:latin typeface="Calibri"/>
                <a:ea typeface="Calibri"/>
                <a:cs typeface="Calibri"/>
                <a:sym typeface="Calibri"/>
              </a:rPr>
              <a:t> (a).</a:t>
            </a:r>
            <a:endParaRPr sz="2000" b="1" i="0" u="none" strike="noStrike" cap="none">
              <a:solidFill>
                <a:srgbClr val="38761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2000"/>
              <a:buFont typeface="Calibri"/>
              <a:buChar char="●"/>
            </a:pPr>
            <a:r>
              <a:rPr lang="en-US" sz="2000" b="1" i="0" u="none" strike="noStrike" cap="none">
                <a:solidFill>
                  <a:srgbClr val="38761D"/>
                </a:solidFill>
                <a:latin typeface="Calibri"/>
                <a:ea typeface="Calibri"/>
                <a:cs typeface="Calibri"/>
                <a:sym typeface="Calibri"/>
              </a:rPr>
              <a:t>Easy to implement / optimize for epsilon / yields good results</a:t>
            </a:r>
            <a:endParaRPr sz="2000" b="1" i="0" u="none" strike="noStrike" cap="none">
              <a:solidFill>
                <a:srgbClr val="38761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24a90fbe9f0_0_0"/>
          <p:cNvSpPr txBox="1">
            <a:spLocks noGrp="1"/>
          </p:cNvSpPr>
          <p:nvPr>
            <p:ph type="title"/>
          </p:nvPr>
        </p:nvSpPr>
        <p:spPr>
          <a:xfrm>
            <a:off x="580505" y="1761663"/>
            <a:ext cx="10515600" cy="12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 dirty="0">
                <a:solidFill>
                  <a:srgbClr val="274E13"/>
                </a:solidFill>
                <a:highlight>
                  <a:srgbClr val="FFF2CC"/>
                </a:highlight>
              </a:rPr>
              <a:t>Ex-1:</a:t>
            </a:r>
            <a:r>
              <a:rPr lang="en-US" sz="3000" b="0" dirty="0"/>
              <a:t> In ε-greedy action selection, for the case of two actions and ε = 0.5, what is the probability that </a:t>
            </a:r>
            <a:r>
              <a:rPr lang="en-US" sz="3000" b="0" i="1" dirty="0">
                <a:solidFill>
                  <a:srgbClr val="CC0000"/>
                </a:solidFill>
                <a:highlight>
                  <a:srgbClr val="FFF2CC"/>
                </a:highlight>
              </a:rPr>
              <a:t>the greedy action</a:t>
            </a:r>
            <a:r>
              <a:rPr lang="en-US" sz="3000" b="0" dirty="0"/>
              <a:t> is selected?</a:t>
            </a:r>
            <a:endParaRPr dirty="0"/>
          </a:p>
        </p:txBody>
      </p:sp>
      <p:sp>
        <p:nvSpPr>
          <p:cNvPr id="328" name="Google Shape;328;g24a90fbe9f0_0_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  <p:sp>
        <p:nvSpPr>
          <p:cNvPr id="329" name="Google Shape;329;g24a90fbe9f0_0_0"/>
          <p:cNvSpPr txBox="1">
            <a:spLocks noGrp="1"/>
          </p:cNvSpPr>
          <p:nvPr>
            <p:ph type="body" idx="1"/>
          </p:nvPr>
        </p:nvSpPr>
        <p:spPr>
          <a:xfrm>
            <a:off x="838200" y="1894114"/>
            <a:ext cx="10515600" cy="418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sz="2100" dirty="0"/>
          </a:p>
          <a:p>
            <a:pPr marL="45720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sz="2100" dirty="0"/>
          </a:p>
        </p:txBody>
      </p:sp>
      <p:sp>
        <p:nvSpPr>
          <p:cNvPr id="2" name="Google Shape;317;g24a90fbe9f0_0_143">
            <a:extLst>
              <a:ext uri="{FF2B5EF4-FFF2-40B4-BE49-F238E27FC236}">
                <a16:creationId xmlns:a16="http://schemas.microsoft.com/office/drawing/2014/main" id="{4CB32F3A-572E-7B88-67A7-3987498A8AFA}"/>
              </a:ext>
            </a:extLst>
          </p:cNvPr>
          <p:cNvSpPr txBox="1">
            <a:spLocks/>
          </p:cNvSpPr>
          <p:nvPr/>
        </p:nvSpPr>
        <p:spPr>
          <a:xfrm>
            <a:off x="838200" y="-20385"/>
            <a:ext cx="10515600" cy="12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/>
            <a:r>
              <a:rPr lang="en-US" kern="0" dirty="0">
                <a:solidFill>
                  <a:schemeClr val="bg1"/>
                </a:solidFill>
              </a:rPr>
              <a:t>Example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6">
          <a:extLst>
            <a:ext uri="{FF2B5EF4-FFF2-40B4-BE49-F238E27FC236}">
              <a16:creationId xmlns:a16="http://schemas.microsoft.com/office/drawing/2014/main" id="{67CF1938-5850-9812-2FBA-93351550B2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24a90fbe9f0_0_0">
            <a:extLst>
              <a:ext uri="{FF2B5EF4-FFF2-40B4-BE49-F238E27FC236}">
                <a16:creationId xmlns:a16="http://schemas.microsoft.com/office/drawing/2014/main" id="{8A296217-C683-E913-D391-491F596FB59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80505" y="1761663"/>
            <a:ext cx="10515600" cy="12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 dirty="0">
                <a:solidFill>
                  <a:srgbClr val="274E13"/>
                </a:solidFill>
                <a:highlight>
                  <a:srgbClr val="FFF2CC"/>
                </a:highlight>
              </a:rPr>
              <a:t>Ex-1:</a:t>
            </a:r>
            <a:r>
              <a:rPr lang="en-US" sz="3000" b="0" dirty="0"/>
              <a:t> In ε-greedy action selection, for the case of two actions and ε = 0.5, what is the probability that </a:t>
            </a:r>
            <a:r>
              <a:rPr lang="en-US" sz="3000" b="0" i="1" dirty="0">
                <a:solidFill>
                  <a:srgbClr val="CC0000"/>
                </a:solidFill>
                <a:highlight>
                  <a:srgbClr val="FFF2CC"/>
                </a:highlight>
              </a:rPr>
              <a:t>the greedy action</a:t>
            </a:r>
            <a:r>
              <a:rPr lang="en-US" sz="3000" b="0" dirty="0"/>
              <a:t> is selected?</a:t>
            </a:r>
            <a:endParaRPr dirty="0"/>
          </a:p>
        </p:txBody>
      </p:sp>
      <p:sp>
        <p:nvSpPr>
          <p:cNvPr id="328" name="Google Shape;328;g24a90fbe9f0_0_0">
            <a:extLst>
              <a:ext uri="{FF2B5EF4-FFF2-40B4-BE49-F238E27FC236}">
                <a16:creationId xmlns:a16="http://schemas.microsoft.com/office/drawing/2014/main" id="{E46FAB13-3C2D-ACAC-EAC4-D30A9D023B6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  <p:sp>
        <p:nvSpPr>
          <p:cNvPr id="329" name="Google Shape;329;g24a90fbe9f0_0_0">
            <a:extLst>
              <a:ext uri="{FF2B5EF4-FFF2-40B4-BE49-F238E27FC236}">
                <a16:creationId xmlns:a16="http://schemas.microsoft.com/office/drawing/2014/main" id="{494E66CD-23D8-2AC2-E401-EDB85836079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894114"/>
            <a:ext cx="10515600" cy="418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sz="2100"/>
          </a:p>
          <a:p>
            <a:pPr marL="45720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sz="2100"/>
          </a:p>
        </p:txBody>
      </p:sp>
      <p:sp>
        <p:nvSpPr>
          <p:cNvPr id="2" name="Google Shape;337;g24a90fbe9f0_0_207">
            <a:extLst>
              <a:ext uri="{FF2B5EF4-FFF2-40B4-BE49-F238E27FC236}">
                <a16:creationId xmlns:a16="http://schemas.microsoft.com/office/drawing/2014/main" id="{2EB55AF7-F069-4E89-52CB-0778C45DDF19}"/>
              </a:ext>
            </a:extLst>
          </p:cNvPr>
          <p:cNvSpPr txBox="1"/>
          <p:nvPr/>
        </p:nvSpPr>
        <p:spPr>
          <a:xfrm>
            <a:off x="500752" y="2875600"/>
            <a:ext cx="10936200" cy="366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 (greedy action) </a:t>
            </a:r>
            <a:endParaRPr sz="22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= p (greedy action AND greedy selection ) + </a:t>
            </a:r>
            <a:r>
              <a:rPr lang="en-US" sz="2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 (greedy action AND random selection ) </a:t>
            </a:r>
            <a:endParaRPr sz="2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 p (greedy action | greedy selection ) p ( greedy selection ) </a:t>
            </a:r>
            <a:endParaRPr sz="2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200400" marR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 p (greedy action | random selection ) p (random selection )</a:t>
            </a:r>
            <a:endParaRPr sz="2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  p (greedy action | greedy selection ) (1-𝛆) + p (greedy action | random selection ) (𝛆)</a:t>
            </a:r>
            <a:endParaRPr sz="2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 p (greedy action | greedy selection ) (0.5) + p (greedy action | random selection ) (0.5)</a:t>
            </a:r>
            <a:endParaRPr sz="2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 (1) (0.5) + (0.5) (0.5)</a:t>
            </a:r>
            <a:endParaRPr sz="2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 0.5 + 0.25</a:t>
            </a:r>
            <a:endParaRPr sz="2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 0.75</a:t>
            </a:r>
            <a:endParaRPr sz="2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4575408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2">
          <a:extLst>
            <a:ext uri="{FF2B5EF4-FFF2-40B4-BE49-F238E27FC236}">
              <a16:creationId xmlns:a16="http://schemas.microsoft.com/office/drawing/2014/main" id="{42B8D579-6098-807F-1F81-49EB740D89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24a90fbe9f0_0_214">
            <a:extLst>
              <a:ext uri="{FF2B5EF4-FFF2-40B4-BE49-F238E27FC236}">
                <a16:creationId xmlns:a16="http://schemas.microsoft.com/office/drawing/2014/main" id="{EF1357C1-1D7D-95D0-299E-A1996250A2B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0"/>
            <a:ext cx="10515600" cy="12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n-US" dirty="0">
                <a:solidFill>
                  <a:schemeClr val="bg1"/>
                </a:solidFill>
              </a:rPr>
              <a:t>Action Value Method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344" name="Google Shape;344;g24a90fbe9f0_0_214">
            <a:extLst>
              <a:ext uri="{FF2B5EF4-FFF2-40B4-BE49-F238E27FC236}">
                <a16:creationId xmlns:a16="http://schemas.microsoft.com/office/drawing/2014/main" id="{1AB30B73-008D-E86B-A1FF-8D14E448E40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  <p:sp>
        <p:nvSpPr>
          <p:cNvPr id="345" name="Google Shape;345;g24a90fbe9f0_0_214">
            <a:extLst>
              <a:ext uri="{FF2B5EF4-FFF2-40B4-BE49-F238E27FC236}">
                <a16:creationId xmlns:a16="http://schemas.microsoft.com/office/drawing/2014/main" id="{09652E8F-4910-DF7E-4741-F226F0B0E4C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45075" y="1690500"/>
            <a:ext cx="11384678" cy="48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6957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Char char="•"/>
            </a:pPr>
            <a:r>
              <a:rPr lang="en-US" sz="2400" dirty="0"/>
              <a:t>True value is given by:</a:t>
            </a:r>
          </a:p>
          <a:p>
            <a:pPr marL="457200" lvl="0" indent="-36957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Char char="•"/>
            </a:pPr>
            <a:endParaRPr lang="en-US" sz="24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50601B1-7856-4CAD-D4B0-78BAFB2F7A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2792" y="1530350"/>
            <a:ext cx="3011461" cy="99451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15C104A-81B0-720B-F7DC-FCAABA66F7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28362" y="2809011"/>
            <a:ext cx="6274815" cy="316274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B071627-82EB-6049-98FD-804D12AC9F0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77825" y="2846924"/>
            <a:ext cx="2343477" cy="2353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637289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24a90fbe9f0_0_214"/>
          <p:cNvSpPr txBox="1">
            <a:spLocks noGrp="1"/>
          </p:cNvSpPr>
          <p:nvPr>
            <p:ph type="title"/>
          </p:nvPr>
        </p:nvSpPr>
        <p:spPr>
          <a:xfrm>
            <a:off x="838200" y="0"/>
            <a:ext cx="10515600" cy="12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n-US" dirty="0">
                <a:solidFill>
                  <a:schemeClr val="bg1"/>
                </a:solidFill>
              </a:rPr>
              <a:t>10-armed Testbed 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344" name="Google Shape;344;g24a90fbe9f0_0_2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  <p:sp>
        <p:nvSpPr>
          <p:cNvPr id="345" name="Google Shape;345;g24a90fbe9f0_0_214"/>
          <p:cNvSpPr txBox="1">
            <a:spLocks noGrp="1"/>
          </p:cNvSpPr>
          <p:nvPr>
            <p:ph type="body" idx="1"/>
          </p:nvPr>
        </p:nvSpPr>
        <p:spPr>
          <a:xfrm>
            <a:off x="35168" y="1668100"/>
            <a:ext cx="5605200" cy="48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26126"/>
              <a:buNone/>
            </a:pPr>
            <a:r>
              <a:rPr lang="en-US" sz="2400" b="1" u="sng" dirty="0"/>
              <a:t>Example</a:t>
            </a:r>
            <a:r>
              <a:rPr lang="en-US" sz="2400" dirty="0"/>
              <a:t>: </a:t>
            </a:r>
            <a:endParaRPr sz="2400" dirty="0"/>
          </a:p>
          <a:p>
            <a:pPr marL="457200" lvl="0" indent="-36957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Char char="•"/>
            </a:pPr>
            <a:r>
              <a:rPr lang="en-US" sz="1600" dirty="0"/>
              <a:t>A set of 2000 randomly generated k -armed bandit problems with k = 10</a:t>
            </a:r>
          </a:p>
          <a:p>
            <a:pPr marL="8763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endParaRPr sz="1600" dirty="0"/>
          </a:p>
          <a:p>
            <a:pPr marL="457200" lvl="0" indent="-36957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 sz="1600" dirty="0"/>
              <a:t>Action values were selected according to a normal (Gaussian) distribution with mean 0 and variance 1.</a:t>
            </a:r>
            <a:endParaRPr sz="1600" dirty="0"/>
          </a:p>
          <a:p>
            <a:pPr marL="8763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endParaRPr lang="en-US" sz="1600" dirty="0"/>
          </a:p>
          <a:p>
            <a:pPr marL="457200" lvl="0" indent="-36957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 sz="1600" dirty="0"/>
              <a:t>While selecting action A</a:t>
            </a:r>
            <a:r>
              <a:rPr lang="en-US" sz="1600" baseline="-25000" dirty="0"/>
              <a:t>t</a:t>
            </a:r>
            <a:r>
              <a:rPr lang="en-US" sz="1600" dirty="0"/>
              <a:t> </a:t>
            </a:r>
            <a:r>
              <a:rPr lang="en-US" sz="1600" dirty="0" err="1"/>
              <a:t>at</a:t>
            </a:r>
            <a:r>
              <a:rPr lang="en-US" sz="1600" dirty="0"/>
              <a:t> time step t, the actual reward, R</a:t>
            </a:r>
            <a:r>
              <a:rPr lang="en-US" sz="1600" baseline="-25000" dirty="0"/>
              <a:t>t</a:t>
            </a:r>
            <a:r>
              <a:rPr lang="en-US" sz="1600" dirty="0"/>
              <a:t> , was selected from a normal distribution with mean q</a:t>
            </a:r>
            <a:r>
              <a:rPr lang="en-US" sz="1600" baseline="-25000" dirty="0"/>
              <a:t>*</a:t>
            </a:r>
            <a:r>
              <a:rPr lang="en-US" sz="1600" dirty="0"/>
              <a:t>(At ) and variance 1</a:t>
            </a:r>
            <a:endParaRPr sz="1600" dirty="0"/>
          </a:p>
          <a:p>
            <a:pPr marL="457200" lvl="0" indent="-36957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endParaRPr lang="en-US" sz="1600" dirty="0">
              <a:solidFill>
                <a:srgbClr val="980000"/>
              </a:solidFill>
            </a:endParaRPr>
          </a:p>
          <a:p>
            <a:pPr marL="457200" lvl="0" indent="-36957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 sz="1600" dirty="0">
                <a:solidFill>
                  <a:srgbClr val="980000"/>
                </a:solidFill>
              </a:rPr>
              <a:t>One Run</a:t>
            </a:r>
            <a:r>
              <a:rPr lang="en-US" sz="1600" dirty="0"/>
              <a:t> : Apply a method for 1000 time-steps to one of the bandit problems</a:t>
            </a:r>
            <a:endParaRPr sz="1600" dirty="0"/>
          </a:p>
          <a:p>
            <a:pPr marL="457200" lvl="0" indent="-36957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endParaRPr lang="en-US" sz="1600" dirty="0"/>
          </a:p>
          <a:p>
            <a:pPr marL="457200" lvl="0" indent="-36957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 sz="1600" dirty="0"/>
              <a:t>Perform 2000 runs, each run with a different bandit problem, to get an algorithms average behavior </a:t>
            </a:r>
            <a:endParaRPr sz="1600" dirty="0"/>
          </a:p>
        </p:txBody>
      </p:sp>
      <p:pic>
        <p:nvPicPr>
          <p:cNvPr id="346" name="Google Shape;346;g24a90fbe9f0_0_2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51232" y="1149450"/>
            <a:ext cx="6705600" cy="4433665"/>
          </a:xfrm>
          <a:prstGeom prst="rect">
            <a:avLst/>
          </a:prstGeom>
          <a:noFill/>
          <a:ln>
            <a:noFill/>
          </a:ln>
        </p:spPr>
      </p:pic>
      <p:sp>
        <p:nvSpPr>
          <p:cNvPr id="347" name="Google Shape;347;g24a90fbe9f0_0_214"/>
          <p:cNvSpPr txBox="1"/>
          <p:nvPr/>
        </p:nvSpPr>
        <p:spPr>
          <a:xfrm>
            <a:off x="7031717" y="5769632"/>
            <a:ext cx="48456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 dirty="0">
                <a:solidFill>
                  <a:srgbClr val="990000"/>
                </a:solidFill>
                <a:latin typeface="Arial"/>
                <a:ea typeface="Arial"/>
                <a:cs typeface="Arial"/>
                <a:sym typeface="Arial"/>
              </a:rPr>
              <a:t>An example bandit problem from the 10-armed testbed</a:t>
            </a:r>
            <a:endParaRPr sz="1400" b="1" i="0" u="none" strike="noStrike" cap="none" dirty="0">
              <a:solidFill>
                <a:srgbClr val="99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g24a90fbe9f0_0_229"/>
          <p:cNvSpPr txBox="1">
            <a:spLocks noGrp="1"/>
          </p:cNvSpPr>
          <p:nvPr>
            <p:ph type="title"/>
          </p:nvPr>
        </p:nvSpPr>
        <p:spPr>
          <a:xfrm>
            <a:off x="829888" y="-85045"/>
            <a:ext cx="11182004" cy="12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n-US" sz="3300" b="0" dirty="0">
                <a:solidFill>
                  <a:schemeClr val="bg1"/>
                </a:solidFill>
              </a:rPr>
              <a:t>𝛆-greedy action-value methods on the 10-armed testbed</a:t>
            </a:r>
            <a:endParaRPr sz="3300" b="0" dirty="0">
              <a:solidFill>
                <a:schemeClr val="bg1"/>
              </a:solidFill>
            </a:endParaRPr>
          </a:p>
        </p:txBody>
      </p:sp>
      <p:sp>
        <p:nvSpPr>
          <p:cNvPr id="354" name="Google Shape;354;g24a90fbe9f0_0_2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  <p:pic>
        <p:nvPicPr>
          <p:cNvPr id="355" name="Google Shape;355;g24a90fbe9f0_0_22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71600" y="1587875"/>
            <a:ext cx="9785354" cy="4616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2">
          <a:extLst>
            <a:ext uri="{FF2B5EF4-FFF2-40B4-BE49-F238E27FC236}">
              <a16:creationId xmlns:a16="http://schemas.microsoft.com/office/drawing/2014/main" id="{CC2FD9F2-FA5E-A50C-7AD9-1719BF9104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g24a90fbe9f0_0_229">
            <a:extLst>
              <a:ext uri="{FF2B5EF4-FFF2-40B4-BE49-F238E27FC236}">
                <a16:creationId xmlns:a16="http://schemas.microsoft.com/office/drawing/2014/main" id="{94F2BD53-240D-EA92-A425-C67ED614905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29888" y="-85045"/>
            <a:ext cx="11182004" cy="12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n-US" sz="3300" b="0" dirty="0">
                <a:solidFill>
                  <a:schemeClr val="bg1"/>
                </a:solidFill>
              </a:rPr>
              <a:t>𝛆-greedy action-value methods on the 10-armed testbed</a:t>
            </a:r>
            <a:endParaRPr sz="3300" b="0" dirty="0">
              <a:solidFill>
                <a:schemeClr val="bg1"/>
              </a:solidFill>
            </a:endParaRPr>
          </a:p>
        </p:txBody>
      </p:sp>
      <p:sp>
        <p:nvSpPr>
          <p:cNvPr id="354" name="Google Shape;354;g24a90fbe9f0_0_229">
            <a:extLst>
              <a:ext uri="{FF2B5EF4-FFF2-40B4-BE49-F238E27FC236}">
                <a16:creationId xmlns:a16="http://schemas.microsoft.com/office/drawing/2014/main" id="{DEA407F5-B257-3896-F6C4-052C11882DC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  <p:pic>
        <p:nvPicPr>
          <p:cNvPr id="2" name="Google Shape;363;g24a90fbe9f0_0_240">
            <a:extLst>
              <a:ext uri="{FF2B5EF4-FFF2-40B4-BE49-F238E27FC236}">
                <a16:creationId xmlns:a16="http://schemas.microsoft.com/office/drawing/2014/main" id="{95EF108E-2A1D-26B7-47E8-3E5F56855F9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80650" y="1587875"/>
            <a:ext cx="9830698" cy="46160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0554316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2">
          <a:extLst>
            <a:ext uri="{FF2B5EF4-FFF2-40B4-BE49-F238E27FC236}">
              <a16:creationId xmlns:a16="http://schemas.microsoft.com/office/drawing/2014/main" id="{B53A4BEC-EC6B-2E63-B1E0-3FD74B0DF6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g24a90fbe9f0_0_229">
            <a:extLst>
              <a:ext uri="{FF2B5EF4-FFF2-40B4-BE49-F238E27FC236}">
                <a16:creationId xmlns:a16="http://schemas.microsoft.com/office/drawing/2014/main" id="{4ED21F67-0DFC-5C15-AF1C-53F395CA982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29888" y="-85045"/>
            <a:ext cx="11182004" cy="12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n-US" sz="3300" b="0" dirty="0">
                <a:solidFill>
                  <a:schemeClr val="bg1"/>
                </a:solidFill>
              </a:rPr>
              <a:t>Summary: Greedy vs 𝛆-greedy </a:t>
            </a:r>
            <a:endParaRPr sz="3300" b="0" dirty="0">
              <a:solidFill>
                <a:schemeClr val="bg1"/>
              </a:solidFill>
            </a:endParaRPr>
          </a:p>
        </p:txBody>
      </p:sp>
      <p:sp>
        <p:nvSpPr>
          <p:cNvPr id="354" name="Google Shape;354;g24a90fbe9f0_0_229">
            <a:extLst>
              <a:ext uri="{FF2B5EF4-FFF2-40B4-BE49-F238E27FC236}">
                <a16:creationId xmlns:a16="http://schemas.microsoft.com/office/drawing/2014/main" id="{4A709A3E-116F-5A75-783E-B7483258CB5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US"/>
              <a:t>27</a:t>
            </a:fld>
            <a:endParaRPr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522B51D-D24F-8AB6-DD5C-0BE1A8618E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1265" y="1212413"/>
            <a:ext cx="6044058" cy="5092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491564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g24a90fbe9f0_0_277"/>
          <p:cNvSpPr txBox="1">
            <a:spLocks noGrp="1"/>
          </p:cNvSpPr>
          <p:nvPr>
            <p:ph type="title"/>
          </p:nvPr>
        </p:nvSpPr>
        <p:spPr>
          <a:xfrm>
            <a:off x="718575" y="32106"/>
            <a:ext cx="10200000" cy="102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3300" dirty="0">
                <a:solidFill>
                  <a:schemeClr val="bg1"/>
                </a:solidFill>
              </a:rPr>
              <a:t>Incremental Implementation</a:t>
            </a:r>
            <a:endParaRPr sz="3000" b="1" dirty="0">
              <a:solidFill>
                <a:schemeClr val="bg1"/>
              </a:solidFill>
              <a:highlight>
                <a:srgbClr val="FFF2CC"/>
              </a:highlight>
            </a:endParaRPr>
          </a:p>
        </p:txBody>
      </p:sp>
      <p:sp>
        <p:nvSpPr>
          <p:cNvPr id="386" name="Google Shape;386;g24a90fbe9f0_0_27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US"/>
              <a:t>28</a:t>
            </a:fld>
            <a:endParaRPr/>
          </a:p>
        </p:txBody>
      </p:sp>
      <p:sp>
        <p:nvSpPr>
          <p:cNvPr id="387" name="Google Shape;387;g24a90fbe9f0_0_277"/>
          <p:cNvSpPr txBox="1">
            <a:spLocks noGrp="1"/>
          </p:cNvSpPr>
          <p:nvPr>
            <p:ph type="body" idx="1"/>
          </p:nvPr>
        </p:nvSpPr>
        <p:spPr>
          <a:xfrm>
            <a:off x="361458" y="1702750"/>
            <a:ext cx="7437319" cy="465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746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300"/>
              <a:buChar char="•"/>
            </a:pPr>
            <a:r>
              <a:rPr lang="en-US" sz="2400" dirty="0"/>
              <a:t>Efficient approach to compute the estimate of action-value; </a:t>
            </a: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endParaRPr sz="2400" dirty="0"/>
          </a:p>
          <a:p>
            <a:pPr marL="457200" lvl="0" indent="-3746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300"/>
              <a:buChar char="•"/>
            </a:pPr>
            <a:r>
              <a:rPr lang="en-US" sz="2400" dirty="0"/>
              <a:t>Given Qn and the nth reward, Rn , the new average of all n rewards can be computed as follows</a:t>
            </a:r>
            <a:endParaRPr sz="2400" dirty="0"/>
          </a:p>
        </p:txBody>
      </p:sp>
      <p:pic>
        <p:nvPicPr>
          <p:cNvPr id="388" name="Google Shape;388;g24a90fbe9f0_0_27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7035" y="2785752"/>
            <a:ext cx="4124325" cy="904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9" name="Google Shape;389;g24a90fbe9f0_0_27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40514" y="1059906"/>
            <a:ext cx="4551485" cy="45495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g24a90fbe9f0_0_288"/>
          <p:cNvSpPr txBox="1">
            <a:spLocks noGrp="1"/>
          </p:cNvSpPr>
          <p:nvPr>
            <p:ph type="title"/>
          </p:nvPr>
        </p:nvSpPr>
        <p:spPr>
          <a:xfrm>
            <a:off x="862026" y="99326"/>
            <a:ext cx="10200000" cy="102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3300" dirty="0">
                <a:solidFill>
                  <a:schemeClr val="bg1"/>
                </a:solidFill>
              </a:rPr>
              <a:t>Incremental Implementation</a:t>
            </a:r>
            <a:endParaRPr sz="3000" b="1" dirty="0">
              <a:solidFill>
                <a:schemeClr val="bg1"/>
              </a:solidFill>
              <a:highlight>
                <a:srgbClr val="FFF2CC"/>
              </a:highlight>
            </a:endParaRPr>
          </a:p>
        </p:txBody>
      </p:sp>
      <p:sp>
        <p:nvSpPr>
          <p:cNvPr id="396" name="Google Shape;396;g24a90fbe9f0_0_28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US"/>
              <a:t>29</a:t>
            </a:fld>
            <a:endParaRPr/>
          </a:p>
        </p:txBody>
      </p:sp>
      <p:pic>
        <p:nvPicPr>
          <p:cNvPr id="397" name="Google Shape;397;g24a90fbe9f0_0_28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89273" y="1571105"/>
            <a:ext cx="4023360" cy="371579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8" name="Google Shape;398;g24a90fbe9f0_0_28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29700" y="5458094"/>
            <a:ext cx="8963025" cy="876300"/>
          </a:xfrm>
          <a:prstGeom prst="rect">
            <a:avLst/>
          </a:prstGeom>
          <a:noFill/>
          <a:ln>
            <a:noFill/>
          </a:ln>
        </p:spPr>
      </p:pic>
      <p:sp>
        <p:nvSpPr>
          <p:cNvPr id="399" name="Google Shape;399;g24a90fbe9f0_0_288"/>
          <p:cNvSpPr txBox="1"/>
          <p:nvPr/>
        </p:nvSpPr>
        <p:spPr>
          <a:xfrm>
            <a:off x="329700" y="1736475"/>
            <a:ext cx="5374200" cy="2954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n-US" sz="2000" b="1" i="0" u="none" strike="noStrike" cap="none" dirty="0">
                <a:solidFill>
                  <a:srgbClr val="1C4587"/>
                </a:solidFill>
                <a:latin typeface="Calibri"/>
                <a:ea typeface="Calibri"/>
                <a:cs typeface="Calibri"/>
                <a:sym typeface="Calibri"/>
              </a:rPr>
              <a:t>Note: </a:t>
            </a:r>
            <a:endParaRPr sz="2000" b="1" i="0" u="none" strike="noStrike" cap="none" dirty="0">
              <a:solidFill>
                <a:srgbClr val="1C458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Char char="●"/>
            </a:pPr>
            <a:r>
              <a:rPr lang="en-US" sz="2000" b="0" i="0" u="none" strike="noStrike" cap="none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StepSize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decreases with each update</a:t>
            </a:r>
          </a:p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Char char="●"/>
            </a:pPr>
            <a:endParaRPr sz="20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Char char="●"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We use 𝛂 or 𝛂</a:t>
            </a:r>
            <a:r>
              <a:rPr lang="en-US" sz="2000" b="0" i="0" u="none" strike="noStrike" cap="none" baseline="-250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(a) to denote step size (constant / varies with each step)</a:t>
            </a:r>
            <a:endParaRPr sz="20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20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20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 dirty="0">
                <a:solidFill>
                  <a:srgbClr val="660000"/>
                </a:solidFill>
                <a:latin typeface="Calibri"/>
                <a:ea typeface="Calibri"/>
                <a:cs typeface="Calibri"/>
                <a:sym typeface="Calibri"/>
              </a:rPr>
              <a:t>Discussion: </a:t>
            </a:r>
            <a:endParaRPr sz="2000" b="1" i="0" u="none" strike="noStrike" cap="none" dirty="0">
              <a:solidFill>
                <a:srgbClr val="66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Const vs. Variable step size?</a:t>
            </a:r>
            <a:endParaRPr sz="20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g24a90fbe9f0_0_300"/>
          <p:cNvSpPr txBox="1">
            <a:spLocks noGrp="1"/>
          </p:cNvSpPr>
          <p:nvPr>
            <p:ph type="title"/>
          </p:nvPr>
        </p:nvSpPr>
        <p:spPr>
          <a:xfrm>
            <a:off x="888077" y="45519"/>
            <a:ext cx="10200000" cy="102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3300" dirty="0"/>
              <a:t> </a:t>
            </a:r>
            <a:r>
              <a:rPr lang="en-US" sz="3300" dirty="0">
                <a:solidFill>
                  <a:schemeClr val="bg1"/>
                </a:solidFill>
              </a:rPr>
              <a:t>Incremental Update/ 𝛆-greedy selection</a:t>
            </a:r>
            <a:endParaRPr sz="3000" b="1" dirty="0">
              <a:solidFill>
                <a:schemeClr val="bg1"/>
              </a:solidFill>
              <a:highlight>
                <a:srgbClr val="FFF2CC"/>
              </a:highlight>
            </a:endParaRPr>
          </a:p>
        </p:txBody>
      </p:sp>
      <p:sp>
        <p:nvSpPr>
          <p:cNvPr id="406" name="Google Shape;406;g24a90fbe9f0_0_30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US"/>
              <a:t>30</a:t>
            </a:fld>
            <a:endParaRPr/>
          </a:p>
        </p:txBody>
      </p:sp>
      <p:pic>
        <p:nvPicPr>
          <p:cNvPr id="407" name="Google Shape;407;g24a90fbe9f0_0_30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" y="1850126"/>
            <a:ext cx="11887197" cy="3980410"/>
          </a:xfrm>
          <a:prstGeom prst="rect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g24a90fbe9f0_0_310"/>
          <p:cNvSpPr txBox="1">
            <a:spLocks noGrp="1"/>
          </p:cNvSpPr>
          <p:nvPr>
            <p:ph type="title"/>
          </p:nvPr>
        </p:nvSpPr>
        <p:spPr>
          <a:xfrm>
            <a:off x="838200" y="71862"/>
            <a:ext cx="10200000" cy="102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3300" dirty="0">
                <a:solidFill>
                  <a:schemeClr val="bg1"/>
                </a:solidFill>
              </a:rPr>
              <a:t>Non-stationary Problem</a:t>
            </a:r>
            <a:endParaRPr sz="3000" b="1" dirty="0">
              <a:solidFill>
                <a:schemeClr val="bg1"/>
              </a:solidFill>
              <a:highlight>
                <a:srgbClr val="FFF2CC"/>
              </a:highlight>
            </a:endParaRPr>
          </a:p>
        </p:txBody>
      </p:sp>
      <p:sp>
        <p:nvSpPr>
          <p:cNvPr id="421" name="Google Shape;421;g24a90fbe9f0_0_3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en-US"/>
              <a:t>31</a:t>
            </a:fld>
            <a:endParaRPr/>
          </a:p>
        </p:txBody>
      </p:sp>
      <p:sp>
        <p:nvSpPr>
          <p:cNvPr id="422" name="Google Shape;422;g24a90fbe9f0_0_310"/>
          <p:cNvSpPr txBox="1">
            <a:spLocks noGrp="1"/>
          </p:cNvSpPr>
          <p:nvPr>
            <p:ph type="body" idx="1"/>
          </p:nvPr>
        </p:nvSpPr>
        <p:spPr>
          <a:xfrm>
            <a:off x="838200" y="1632858"/>
            <a:ext cx="10515600" cy="444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4064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en-US" sz="2400" dirty="0"/>
              <a:t>Most RL problems are non-stationary !</a:t>
            </a:r>
            <a:endParaRPr sz="2400" dirty="0"/>
          </a:p>
          <a:p>
            <a:pPr marL="457200" lvl="0" indent="-406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endParaRPr lang="en-US" sz="2400" dirty="0"/>
          </a:p>
          <a:p>
            <a:pPr marL="457200" lvl="0" indent="-406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 sz="2400" dirty="0"/>
              <a:t>Give more weight to recent rewards than to long-past rewards !!!</a:t>
            </a: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endParaRPr dirty="0"/>
          </a:p>
        </p:txBody>
      </p:sp>
      <p:pic>
        <p:nvPicPr>
          <p:cNvPr id="423" name="Google Shape;423;g24a90fbe9f0_0_3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13259" y="4123124"/>
            <a:ext cx="3963224" cy="803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g24a90fbe9f0_0_332"/>
          <p:cNvSpPr txBox="1">
            <a:spLocks noGrp="1"/>
          </p:cNvSpPr>
          <p:nvPr>
            <p:ph type="title"/>
          </p:nvPr>
        </p:nvSpPr>
        <p:spPr>
          <a:xfrm>
            <a:off x="763385" y="71862"/>
            <a:ext cx="10200000" cy="102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3300" dirty="0">
                <a:solidFill>
                  <a:schemeClr val="bg1"/>
                </a:solidFill>
              </a:rPr>
              <a:t>Non-stationary Problem</a:t>
            </a:r>
            <a:endParaRPr sz="3000" b="1" dirty="0">
              <a:solidFill>
                <a:schemeClr val="bg1"/>
              </a:solidFill>
              <a:highlight>
                <a:srgbClr val="FFF2CC"/>
              </a:highlight>
            </a:endParaRPr>
          </a:p>
        </p:txBody>
      </p:sp>
      <p:sp>
        <p:nvSpPr>
          <p:cNvPr id="430" name="Google Shape;430;g24a90fbe9f0_0_3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US"/>
              <a:t>32</a:t>
            </a:fld>
            <a:endParaRPr/>
          </a:p>
        </p:txBody>
      </p:sp>
      <p:sp>
        <p:nvSpPr>
          <p:cNvPr id="431" name="Google Shape;431;g24a90fbe9f0_0_332"/>
          <p:cNvSpPr txBox="1">
            <a:spLocks noGrp="1"/>
          </p:cNvSpPr>
          <p:nvPr>
            <p:ph type="body" idx="1"/>
          </p:nvPr>
        </p:nvSpPr>
        <p:spPr>
          <a:xfrm>
            <a:off x="254825" y="1099662"/>
            <a:ext cx="10515600" cy="444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4064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en-US" sz="2000" dirty="0"/>
              <a:t>Most RL problems are non-stationary !</a:t>
            </a:r>
          </a:p>
          <a:p>
            <a:pPr marL="457200" lvl="0" indent="-4064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endParaRPr sz="2000" dirty="0"/>
          </a:p>
          <a:p>
            <a:pPr marL="457200" lvl="0" indent="-406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 sz="2000" dirty="0"/>
              <a:t>Give more weight to recent rewards than to long-past rewards !!!</a:t>
            </a:r>
          </a:p>
          <a:p>
            <a:pPr marL="457200" lvl="0" indent="-406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endParaRPr lang="en-US" sz="2000" dirty="0"/>
          </a:p>
          <a:p>
            <a:pPr marL="508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dirty="0"/>
              <a:t>Examples:</a:t>
            </a:r>
          </a:p>
          <a:p>
            <a:pPr marL="457200" lvl="0" indent="-406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 sz="2000" dirty="0"/>
              <a:t>Seasonality, Market conditions over time</a:t>
            </a:r>
          </a:p>
          <a:p>
            <a:pPr marL="457200" lvl="0" indent="-406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 sz="2000" dirty="0"/>
              <a:t>Shift of customer preferences over time</a:t>
            </a:r>
            <a:endParaRPr sz="2000" dirty="0"/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endParaRPr dirty="0"/>
          </a:p>
        </p:txBody>
      </p:sp>
      <p:pic>
        <p:nvPicPr>
          <p:cNvPr id="433" name="Google Shape;433;g24a90fbe9f0_0_33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33579" y="2546306"/>
            <a:ext cx="4297241" cy="3402450"/>
          </a:xfrm>
          <a:prstGeom prst="rect">
            <a:avLst/>
          </a:prstGeom>
          <a:noFill/>
          <a:ln>
            <a:noFill/>
          </a:ln>
        </p:spPr>
      </p:pic>
      <p:sp>
        <p:nvSpPr>
          <p:cNvPr id="434" name="Google Shape;434;g24a90fbe9f0_0_332"/>
          <p:cNvSpPr txBox="1"/>
          <p:nvPr/>
        </p:nvSpPr>
        <p:spPr>
          <a:xfrm>
            <a:off x="763385" y="4016681"/>
            <a:ext cx="4422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 dirty="0">
                <a:solidFill>
                  <a:srgbClr val="134F5C"/>
                </a:solidFill>
                <a:latin typeface="Arial"/>
                <a:ea typeface="Arial"/>
                <a:cs typeface="Arial"/>
                <a:sym typeface="Arial"/>
              </a:rPr>
              <a:t>Exponential recency-weighted average</a:t>
            </a:r>
            <a:endParaRPr sz="1800" b="1" i="0" u="none" strike="noStrike" cap="none" dirty="0">
              <a:solidFill>
                <a:srgbClr val="134F5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F62368C-27A8-257E-6C79-E6477E8CE3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181" y="4617108"/>
            <a:ext cx="6373114" cy="1848108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g24a90fbe9f0_0_347"/>
          <p:cNvSpPr txBox="1">
            <a:spLocks noGrp="1"/>
          </p:cNvSpPr>
          <p:nvPr>
            <p:ph type="title"/>
          </p:nvPr>
        </p:nvSpPr>
        <p:spPr>
          <a:xfrm>
            <a:off x="896389" y="136550"/>
            <a:ext cx="10200000" cy="102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3300" dirty="0">
                <a:solidFill>
                  <a:schemeClr val="bg1"/>
                </a:solidFill>
              </a:rPr>
              <a:t>Optimistic Initial Values </a:t>
            </a:r>
            <a:endParaRPr sz="3000" b="1" dirty="0">
              <a:solidFill>
                <a:schemeClr val="bg1"/>
              </a:solidFill>
              <a:highlight>
                <a:srgbClr val="FFF2CC"/>
              </a:highlight>
            </a:endParaRPr>
          </a:p>
        </p:txBody>
      </p:sp>
      <p:sp>
        <p:nvSpPr>
          <p:cNvPr id="441" name="Google Shape;441;g24a90fbe9f0_0_34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US"/>
              <a:t>33</a:t>
            </a:fld>
            <a:endParaRPr/>
          </a:p>
        </p:txBody>
      </p:sp>
      <p:sp>
        <p:nvSpPr>
          <p:cNvPr id="442" name="Google Shape;442;g24a90fbe9f0_0_347"/>
          <p:cNvSpPr txBox="1">
            <a:spLocks noGrp="1"/>
          </p:cNvSpPr>
          <p:nvPr>
            <p:ph type="body" idx="1"/>
          </p:nvPr>
        </p:nvSpPr>
        <p:spPr>
          <a:xfrm>
            <a:off x="580789" y="1009403"/>
            <a:ext cx="11480978" cy="52002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683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200"/>
              <a:buChar char="•"/>
            </a:pPr>
            <a:r>
              <a:rPr lang="en-US" sz="2200" dirty="0">
                <a:solidFill>
                  <a:srgbClr val="000000"/>
                </a:solidFill>
              </a:rPr>
              <a:t>All the above discussed ﻿methods are </a:t>
            </a:r>
            <a:r>
              <a:rPr lang="en-US" sz="2200" b="1" i="1" dirty="0">
                <a:solidFill>
                  <a:srgbClr val="000000"/>
                </a:solidFill>
              </a:rPr>
              <a:t>biased</a:t>
            </a:r>
            <a:r>
              <a:rPr lang="en-US" sz="2200" dirty="0">
                <a:solidFill>
                  <a:srgbClr val="000000"/>
                </a:solidFill>
              </a:rPr>
              <a:t> by their initial estimates</a:t>
            </a:r>
            <a:endParaRPr sz="2200" dirty="0">
              <a:solidFill>
                <a:srgbClr val="000000"/>
              </a:solidFill>
            </a:endParaRPr>
          </a:p>
          <a:p>
            <a:pPr marL="457200" lvl="0" indent="-3683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200"/>
              <a:buChar char="•"/>
            </a:pPr>
            <a:r>
              <a:rPr lang="en-US" sz="2200" dirty="0">
                <a:solidFill>
                  <a:srgbClr val="000000"/>
                </a:solidFill>
              </a:rPr>
              <a:t>For sample average method ﻿the bias disappears once all actions have been selected at least once</a:t>
            </a:r>
          </a:p>
          <a:p>
            <a:pPr marL="457200" lvl="0" indent="-3683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200"/>
              <a:buChar char="•"/>
            </a:pPr>
            <a:endParaRPr lang="en-US" sz="2200" dirty="0">
              <a:solidFill>
                <a:srgbClr val="000000"/>
              </a:solidFill>
            </a:endParaRPr>
          </a:p>
          <a:p>
            <a:pPr marL="457200" lvl="0" indent="-3683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200"/>
              <a:buChar char="•"/>
            </a:pPr>
            <a:endParaRPr sz="2200" dirty="0">
              <a:solidFill>
                <a:srgbClr val="000000"/>
              </a:solidFill>
            </a:endParaRPr>
          </a:p>
          <a:p>
            <a:pPr marL="457200" lvl="0" indent="-3683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200"/>
              <a:buChar char="•"/>
            </a:pPr>
            <a:endParaRPr lang="en-US" sz="2200" dirty="0">
              <a:solidFill>
                <a:srgbClr val="000000"/>
              </a:solidFill>
            </a:endParaRPr>
          </a:p>
          <a:p>
            <a:pPr marL="457200" lvl="0" indent="-3683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200"/>
              <a:buChar char="•"/>
            </a:pPr>
            <a:endParaRPr lang="en-US" sz="2200" dirty="0">
              <a:solidFill>
                <a:srgbClr val="000000"/>
              </a:solidFill>
            </a:endParaRPr>
          </a:p>
          <a:p>
            <a:pPr marL="457200" lvl="0" indent="-3683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200"/>
              <a:buChar char="•"/>
            </a:pPr>
            <a:r>
              <a:rPr lang="en-US" sz="2200" dirty="0">
                <a:solidFill>
                  <a:srgbClr val="000000"/>
                </a:solidFill>
              </a:rPr>
              <a:t>For methods with constant α, the bias is permanent, though decreasing over time</a:t>
            </a:r>
            <a:endParaRPr sz="2200" dirty="0">
              <a:solidFill>
                <a:srgbClr val="000000"/>
              </a:solidFill>
            </a:endParaRPr>
          </a:p>
          <a:p>
            <a:pPr marL="457200" lvl="0" indent="-3683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200"/>
              <a:buChar char="•"/>
            </a:pPr>
            <a:r>
              <a:rPr lang="en-US" sz="2200" dirty="0">
                <a:solidFill>
                  <a:srgbClr val="000000"/>
                </a:solidFill>
              </a:rPr>
              <a:t>﻿Initial action values can also be used as a simple way of encouraging exploration.</a:t>
            </a:r>
            <a:endParaRPr sz="2200" dirty="0">
              <a:solidFill>
                <a:srgbClr val="000000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E6354C9-EB7A-0978-793D-0389CC3C22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1466" y="2314166"/>
            <a:ext cx="7899320" cy="2229668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g24a90fbe9f0_0_358"/>
          <p:cNvSpPr txBox="1">
            <a:spLocks noGrp="1"/>
          </p:cNvSpPr>
          <p:nvPr>
            <p:ph type="title"/>
          </p:nvPr>
        </p:nvSpPr>
        <p:spPr>
          <a:xfrm>
            <a:off x="846513" y="136550"/>
            <a:ext cx="10200000" cy="102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3300" dirty="0">
                <a:solidFill>
                  <a:schemeClr val="bg1"/>
                </a:solidFill>
              </a:rPr>
              <a:t>Optimistic Initial Values </a:t>
            </a:r>
            <a:endParaRPr sz="3000" b="1" dirty="0">
              <a:solidFill>
                <a:schemeClr val="bg1"/>
              </a:solidFill>
              <a:highlight>
                <a:srgbClr val="FFF2CC"/>
              </a:highlight>
            </a:endParaRPr>
          </a:p>
        </p:txBody>
      </p:sp>
      <p:sp>
        <p:nvSpPr>
          <p:cNvPr id="449" name="Google Shape;449;g24a90fbe9f0_0_35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US"/>
              <a:t>34</a:t>
            </a:fld>
            <a:endParaRPr/>
          </a:p>
        </p:txBody>
      </p:sp>
      <p:pic>
        <p:nvPicPr>
          <p:cNvPr id="450" name="Google Shape;450;g24a90fbe9f0_0_35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5500" y="1628913"/>
            <a:ext cx="8849452" cy="3991912"/>
          </a:xfrm>
          <a:prstGeom prst="rect">
            <a:avLst/>
          </a:prstGeom>
          <a:noFill/>
          <a:ln>
            <a:noFill/>
          </a:ln>
        </p:spPr>
      </p:pic>
      <p:sp>
        <p:nvSpPr>
          <p:cNvPr id="451" name="Google Shape;451;g24a90fbe9f0_0_358"/>
          <p:cNvSpPr txBox="1"/>
          <p:nvPr/>
        </p:nvSpPr>
        <p:spPr>
          <a:xfrm>
            <a:off x="385500" y="5747500"/>
            <a:ext cx="116451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900" b="0" i="0" u="none" strike="noStrike" cap="none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rPr>
              <a:t>The effect of optimistic initial action-value estimates on the 10-armed testbed. </a:t>
            </a:r>
            <a:endParaRPr sz="1900" b="0" i="0" u="none" strike="noStrike" cap="none">
              <a:solidFill>
                <a:srgbClr val="07376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900" b="0" i="0" u="none" strike="noStrike" cap="none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rPr>
              <a:t>Both methods used a constant step-size parameter, 𝛂 = 0.1</a:t>
            </a:r>
            <a:endParaRPr sz="1900" b="0" i="0" u="none" strike="noStrike" cap="none">
              <a:solidFill>
                <a:srgbClr val="07376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g24a90fbe9f0_0_358"/>
          <p:cNvSpPr txBox="1"/>
          <p:nvPr/>
        </p:nvSpPr>
        <p:spPr>
          <a:xfrm>
            <a:off x="9069325" y="2513300"/>
            <a:ext cx="3146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g24a90fbe9f0_0_358"/>
          <p:cNvSpPr txBox="1"/>
          <p:nvPr/>
        </p:nvSpPr>
        <p:spPr>
          <a:xfrm>
            <a:off x="9298225" y="2006750"/>
            <a:ext cx="2688600" cy="32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sng" strike="noStrike" cap="none">
                <a:solidFill>
                  <a:srgbClr val="CC4125"/>
                </a:solidFill>
                <a:latin typeface="Arial"/>
                <a:ea typeface="Arial"/>
                <a:cs typeface="Arial"/>
                <a:sym typeface="Arial"/>
              </a:rPr>
              <a:t>Caution: </a:t>
            </a:r>
            <a:endParaRPr sz="1400" b="1" i="0" u="sng" strike="noStrike" cap="none">
              <a:solidFill>
                <a:srgbClr val="CC4125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CC4125"/>
                </a:solidFill>
                <a:latin typeface="Arial"/>
                <a:ea typeface="Arial"/>
                <a:cs typeface="Arial"/>
                <a:sym typeface="Arial"/>
              </a:rPr>
              <a:t>Optimistic Initial Values can only be considered as a simple trick that can be quite effective on stationary problems, but it is far from being a generally useful approach to encouraging exploration.</a:t>
            </a:r>
            <a:endParaRPr sz="1400" b="0" i="0" u="none" strike="noStrike" cap="none">
              <a:solidFill>
                <a:srgbClr val="CC4125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CC4125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sng" strike="noStrike" cap="none">
                <a:solidFill>
                  <a:srgbClr val="CC4125"/>
                </a:solidFill>
                <a:latin typeface="Arial"/>
                <a:ea typeface="Arial"/>
                <a:cs typeface="Arial"/>
                <a:sym typeface="Arial"/>
              </a:rPr>
              <a:t>Question: </a:t>
            </a:r>
            <a:endParaRPr sz="1400" b="1" i="0" u="sng" strike="noStrike" cap="none">
              <a:solidFill>
                <a:srgbClr val="CC4125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CC4125"/>
                </a:solidFill>
                <a:latin typeface="Arial"/>
                <a:ea typeface="Arial"/>
                <a:cs typeface="Arial"/>
                <a:sym typeface="Arial"/>
              </a:rPr>
              <a:t>Explain how in the non-stationary scenario the  optimistic initial values will fail (to explore adequately).  </a:t>
            </a:r>
            <a:endParaRPr sz="1400" b="0" i="0" u="none" strike="noStrike" cap="none">
              <a:solidFill>
                <a:srgbClr val="CC4125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g24a90fbe9f0_0_372"/>
          <p:cNvSpPr txBox="1">
            <a:spLocks noGrp="1"/>
          </p:cNvSpPr>
          <p:nvPr>
            <p:ph type="title"/>
          </p:nvPr>
        </p:nvSpPr>
        <p:spPr>
          <a:xfrm>
            <a:off x="913014" y="0"/>
            <a:ext cx="10200000" cy="102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3300" dirty="0">
                <a:solidFill>
                  <a:schemeClr val="bg1"/>
                </a:solidFill>
              </a:rPr>
              <a:t>Upper-Confidence-Bound Action Selection</a:t>
            </a:r>
            <a:endParaRPr sz="3000" b="1" dirty="0">
              <a:solidFill>
                <a:schemeClr val="bg1"/>
              </a:solidFill>
              <a:highlight>
                <a:srgbClr val="FFF2CC"/>
              </a:highlight>
            </a:endParaRPr>
          </a:p>
        </p:txBody>
      </p:sp>
      <p:sp>
        <p:nvSpPr>
          <p:cNvPr id="460" name="Google Shape;460;g24a90fbe9f0_0_37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en-US"/>
              <a:t>35</a:t>
            </a:fld>
            <a:endParaRPr/>
          </a:p>
        </p:txBody>
      </p:sp>
      <p:sp>
        <p:nvSpPr>
          <p:cNvPr id="461" name="Google Shape;461;g24a90fbe9f0_0_372"/>
          <p:cNvSpPr txBox="1">
            <a:spLocks noGrp="1"/>
          </p:cNvSpPr>
          <p:nvPr>
            <p:ph type="body" idx="1"/>
          </p:nvPr>
        </p:nvSpPr>
        <p:spPr>
          <a:xfrm>
            <a:off x="755214" y="1222350"/>
            <a:ext cx="10515600" cy="441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4064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en-US" sz="2000" dirty="0"/>
              <a:t>𝛆-greedy action selection forces the non-greedy actions to be tried, </a:t>
            </a:r>
          </a:p>
          <a:p>
            <a:pPr marL="457200" lvl="0" indent="-4064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endParaRPr sz="2000" dirty="0"/>
          </a:p>
          <a:p>
            <a:pPr marL="914400" lvl="1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000"/>
              <a:buNone/>
            </a:pPr>
            <a:r>
              <a:rPr lang="en-US" dirty="0">
                <a:solidFill>
                  <a:srgbClr val="434343"/>
                </a:solidFill>
              </a:rPr>
              <a:t>Indiscriminately, with no preference for those that are nearly greedy or particularly uncertain</a:t>
            </a:r>
            <a:endParaRPr dirty="0">
              <a:solidFill>
                <a:srgbClr val="434343"/>
              </a:solidFill>
            </a:endParaRPr>
          </a:p>
          <a:p>
            <a:pPr marL="457200" lvl="0" indent="-406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endParaRPr lang="en-US" sz="2000" dirty="0"/>
          </a:p>
          <a:p>
            <a:pPr marL="457200" lvl="0" indent="-406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 sz="2000" dirty="0"/>
              <a:t>It would be better to select among the non-greedy actions according to their potential for actually being optimal</a:t>
            </a:r>
            <a:endParaRPr sz="2000" dirty="0"/>
          </a:p>
          <a:p>
            <a:pPr marL="914400" lvl="1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endParaRPr lang="en-US" dirty="0">
              <a:solidFill>
                <a:srgbClr val="434343"/>
              </a:solidFill>
            </a:endParaRPr>
          </a:p>
          <a:p>
            <a:pPr marL="914400" lvl="1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 dirty="0">
                <a:solidFill>
                  <a:srgbClr val="434343"/>
                </a:solidFill>
              </a:rPr>
              <a:t>Take into account both how close their estimates are to being maximal and the uncertainties</a:t>
            </a:r>
          </a:p>
          <a:p>
            <a:pPr marL="914400" lvl="1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 dirty="0">
                <a:solidFill>
                  <a:srgbClr val="434343"/>
                </a:solidFill>
              </a:rPr>
              <a:t>in those estimates.</a:t>
            </a:r>
            <a:endParaRPr dirty="0">
              <a:solidFill>
                <a:srgbClr val="434343"/>
              </a:solidFill>
            </a:endParaRPr>
          </a:p>
          <a:p>
            <a:pPr marL="45720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endParaRPr dirty="0"/>
          </a:p>
        </p:txBody>
      </p:sp>
      <p:pic>
        <p:nvPicPr>
          <p:cNvPr id="462" name="Google Shape;462;g24a90fbe9f0_0_37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323900" y="4654375"/>
            <a:ext cx="6101624" cy="1419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24a90fbe9f0_0_395"/>
          <p:cNvSpPr txBox="1">
            <a:spLocks noGrp="1"/>
          </p:cNvSpPr>
          <p:nvPr>
            <p:ph type="title"/>
          </p:nvPr>
        </p:nvSpPr>
        <p:spPr>
          <a:xfrm>
            <a:off x="838200" y="72813"/>
            <a:ext cx="10200000" cy="102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3300" dirty="0">
                <a:solidFill>
                  <a:schemeClr val="bg1"/>
                </a:solidFill>
              </a:rPr>
              <a:t>Upper-Confidence-Bound Action Selection</a:t>
            </a:r>
            <a:endParaRPr sz="3000" b="1" dirty="0">
              <a:solidFill>
                <a:schemeClr val="bg1"/>
              </a:solidFill>
              <a:highlight>
                <a:srgbClr val="FFF2CC"/>
              </a:highlight>
            </a:endParaRPr>
          </a:p>
        </p:txBody>
      </p:sp>
      <p:sp>
        <p:nvSpPr>
          <p:cNvPr id="469" name="Google Shape;469;g24a90fbe9f0_0_39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US"/>
              <a:t>36</a:t>
            </a:fld>
            <a:endParaRPr/>
          </a:p>
        </p:txBody>
      </p:sp>
      <p:pic>
        <p:nvPicPr>
          <p:cNvPr id="470" name="Google Shape;470;g24a90fbe9f0_0_39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323900" y="4654375"/>
            <a:ext cx="6101624" cy="1419675"/>
          </a:xfrm>
          <a:prstGeom prst="rect">
            <a:avLst/>
          </a:prstGeom>
          <a:noFill/>
          <a:ln>
            <a:noFill/>
          </a:ln>
        </p:spPr>
      </p:pic>
      <p:sp>
        <p:nvSpPr>
          <p:cNvPr id="471" name="Google Shape;471;g24a90fbe9f0_0_395"/>
          <p:cNvSpPr/>
          <p:nvPr/>
        </p:nvSpPr>
        <p:spPr>
          <a:xfrm>
            <a:off x="6702125" y="4604325"/>
            <a:ext cx="1539300" cy="1519800"/>
          </a:xfrm>
          <a:prstGeom prst="rect">
            <a:avLst/>
          </a:prstGeom>
          <a:noFill/>
          <a:ln w="38100" cap="flat" cmpd="sng">
            <a:solidFill>
              <a:srgbClr val="85200C"/>
            </a:solidFill>
            <a:prstDash val="lg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2" name="Google Shape;472;g24a90fbe9f0_0_395"/>
          <p:cNvSpPr txBox="1"/>
          <p:nvPr/>
        </p:nvSpPr>
        <p:spPr>
          <a:xfrm>
            <a:off x="6361175" y="3555650"/>
            <a:ext cx="27432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-US" sz="1700" b="1" i="0" u="none" strike="noStrike" cap="none">
                <a:solidFill>
                  <a:srgbClr val="1C4587"/>
                </a:solidFill>
                <a:latin typeface="Calibri"/>
                <a:ea typeface="Calibri"/>
                <a:cs typeface="Calibri"/>
                <a:sym typeface="Calibri"/>
              </a:rPr>
              <a:t>Measure of Uncertainty</a:t>
            </a:r>
            <a:endParaRPr sz="1700" b="1" i="0" u="none" strike="noStrike" cap="none">
              <a:solidFill>
                <a:srgbClr val="1C458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73" name="Google Shape;473;g24a90fbe9f0_0_395"/>
          <p:cNvCxnSpPr>
            <a:stCxn id="472" idx="2"/>
            <a:endCxn id="471" idx="0"/>
          </p:cNvCxnSpPr>
          <p:nvPr/>
        </p:nvCxnSpPr>
        <p:spPr>
          <a:xfrm flipH="1">
            <a:off x="7471775" y="4002050"/>
            <a:ext cx="261000" cy="6024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474" name="Google Shape;474;g24a90fbe9f0_0_395"/>
          <p:cNvSpPr txBox="1"/>
          <p:nvPr/>
        </p:nvSpPr>
        <p:spPr>
          <a:xfrm>
            <a:off x="3617975" y="2717450"/>
            <a:ext cx="27432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-US" sz="1700" b="1" i="0" u="none" strike="noStrike" cap="none">
                <a:solidFill>
                  <a:srgbClr val="1C4587"/>
                </a:solidFill>
                <a:latin typeface="Calibri"/>
                <a:ea typeface="Calibri"/>
                <a:cs typeface="Calibri"/>
                <a:sym typeface="Calibri"/>
              </a:rPr>
              <a:t>Confidence Level</a:t>
            </a:r>
            <a:endParaRPr sz="1700" b="1" i="0" u="none" strike="noStrike" cap="none">
              <a:solidFill>
                <a:srgbClr val="1C458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75" name="Google Shape;475;g24a90fbe9f0_0_395"/>
          <p:cNvCxnSpPr/>
          <p:nvPr/>
        </p:nvCxnSpPr>
        <p:spPr>
          <a:xfrm>
            <a:off x="4426975" y="3127800"/>
            <a:ext cx="2099700" cy="21327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476" name="Google Shape;476;g24a90fbe9f0_0_395"/>
          <p:cNvSpPr txBox="1"/>
          <p:nvPr/>
        </p:nvSpPr>
        <p:spPr>
          <a:xfrm>
            <a:off x="798575" y="2869850"/>
            <a:ext cx="27432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-US" sz="1700" b="1" i="0" u="none" strike="noStrike" cap="none">
                <a:solidFill>
                  <a:srgbClr val="1C4587"/>
                </a:solidFill>
                <a:latin typeface="Calibri"/>
                <a:ea typeface="Calibri"/>
                <a:cs typeface="Calibri"/>
                <a:sym typeface="Calibri"/>
              </a:rPr>
              <a:t>Action Value at time t for a</a:t>
            </a:r>
            <a:endParaRPr sz="1700" b="1" i="0" u="none" strike="noStrike" cap="none">
              <a:solidFill>
                <a:srgbClr val="1C458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77" name="Google Shape;477;g24a90fbe9f0_0_395"/>
          <p:cNvCxnSpPr/>
          <p:nvPr/>
        </p:nvCxnSpPr>
        <p:spPr>
          <a:xfrm>
            <a:off x="2445775" y="3127800"/>
            <a:ext cx="2873100" cy="20256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478" name="Google Shape;478;g24a90fbe9f0_0_395"/>
          <p:cNvSpPr txBox="1"/>
          <p:nvPr/>
        </p:nvSpPr>
        <p:spPr>
          <a:xfrm>
            <a:off x="205350" y="1012482"/>
            <a:ext cx="11465700" cy="17235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336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73763"/>
              </a:buClr>
              <a:buSzPts val="1700"/>
              <a:buFont typeface="Calibri"/>
              <a:buChar char="●"/>
            </a:pPr>
            <a:r>
              <a:rPr lang="en-US" sz="2000" b="0" i="0" u="none" strike="noStrike" cap="none" dirty="0">
                <a:latin typeface="Calibri"/>
                <a:ea typeface="Calibri"/>
                <a:cs typeface="Calibri"/>
                <a:sym typeface="Calibri"/>
              </a:rPr>
              <a:t>Each time a is selected the uncertainty is presumably reduced</a:t>
            </a:r>
            <a:endParaRPr sz="2000" b="0" i="0" u="none" strike="noStrike" cap="none" dirty="0"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36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73763"/>
              </a:buClr>
              <a:buSzPts val="1700"/>
              <a:buFont typeface="Calibri"/>
              <a:buChar char="●"/>
            </a:pPr>
            <a:r>
              <a:rPr lang="en-US" sz="2000" b="0" i="0" u="none" strike="noStrike" cap="none" dirty="0">
                <a:latin typeface="Calibri"/>
                <a:ea typeface="Calibri"/>
                <a:cs typeface="Calibri"/>
                <a:sym typeface="Calibri"/>
              </a:rPr>
              <a:t>Each time an action other than a is selected, t increases but </a:t>
            </a:r>
            <a:r>
              <a:rPr lang="en-US" sz="2000" b="0" i="0" u="none" strike="noStrike" cap="none" dirty="0" err="1"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lang="en-US" sz="2000" b="0" i="0" u="none" strike="noStrike" cap="none" baseline="-25000" dirty="0" err="1"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lang="en-US" sz="2000" b="0" i="0" u="none" strike="noStrike" cap="none" dirty="0">
                <a:latin typeface="Calibri"/>
                <a:ea typeface="Calibri"/>
                <a:cs typeface="Calibri"/>
                <a:sym typeface="Calibri"/>
              </a:rPr>
              <a:t>(a) does not; because t appears in the numerator, the uncertainty estimate increases.</a:t>
            </a:r>
            <a:endParaRPr sz="2000" b="0" i="0" u="none" strike="noStrike" cap="none" dirty="0"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36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4F5C"/>
              </a:buClr>
              <a:buSzPts val="1700"/>
              <a:buFont typeface="Calibri"/>
              <a:buChar char="●"/>
            </a:pPr>
            <a:r>
              <a:rPr lang="en-US" sz="2000" b="0" i="0" u="none" strike="noStrike" cap="none" dirty="0">
                <a:latin typeface="Calibri"/>
                <a:ea typeface="Calibri"/>
                <a:cs typeface="Calibri"/>
                <a:sym typeface="Calibri"/>
              </a:rPr>
              <a:t>Actions with lower value estimates, or that have already been selected frequently, will be selected with decreasing frequency over time</a:t>
            </a:r>
            <a:endParaRPr sz="2000" b="0" i="0" u="none" strike="noStrike" cap="none" dirty="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7">
          <a:extLst>
            <a:ext uri="{FF2B5EF4-FFF2-40B4-BE49-F238E27FC236}">
              <a16:creationId xmlns:a16="http://schemas.microsoft.com/office/drawing/2014/main" id="{250756B2-C6A2-519D-5202-DB1C28A4EE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24a90fbe9f0_0_395">
            <a:extLst>
              <a:ext uri="{FF2B5EF4-FFF2-40B4-BE49-F238E27FC236}">
                <a16:creationId xmlns:a16="http://schemas.microsoft.com/office/drawing/2014/main" id="{241DEFF9-9A9C-6B87-EA90-F94E92E0AC8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72813"/>
            <a:ext cx="10200000" cy="102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3300" dirty="0">
                <a:solidFill>
                  <a:schemeClr val="bg1"/>
                </a:solidFill>
              </a:rPr>
              <a:t>Upper-Confidence-Bound Action Selection</a:t>
            </a:r>
            <a:endParaRPr sz="3000" b="1" dirty="0">
              <a:solidFill>
                <a:schemeClr val="bg1"/>
              </a:solidFill>
              <a:highlight>
                <a:srgbClr val="FFF2CC"/>
              </a:highlight>
            </a:endParaRPr>
          </a:p>
        </p:txBody>
      </p:sp>
      <p:sp>
        <p:nvSpPr>
          <p:cNvPr id="469" name="Google Shape;469;g24a90fbe9f0_0_395">
            <a:extLst>
              <a:ext uri="{FF2B5EF4-FFF2-40B4-BE49-F238E27FC236}">
                <a16:creationId xmlns:a16="http://schemas.microsoft.com/office/drawing/2014/main" id="{52164543-BBD9-7271-3888-C270EAB0E41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US"/>
              <a:t>37</a:t>
            </a:fld>
            <a:endParaRPr/>
          </a:p>
        </p:txBody>
      </p:sp>
      <p:sp>
        <p:nvSpPr>
          <p:cNvPr id="474" name="Google Shape;474;g24a90fbe9f0_0_395">
            <a:extLst>
              <a:ext uri="{FF2B5EF4-FFF2-40B4-BE49-F238E27FC236}">
                <a16:creationId xmlns:a16="http://schemas.microsoft.com/office/drawing/2014/main" id="{11866664-CE65-2724-EDB2-F0A6562FC8BB}"/>
              </a:ext>
            </a:extLst>
          </p:cNvPr>
          <p:cNvSpPr txBox="1"/>
          <p:nvPr/>
        </p:nvSpPr>
        <p:spPr>
          <a:xfrm>
            <a:off x="3617975" y="2717450"/>
            <a:ext cx="27432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-US" sz="1700" b="1" i="0" u="none" strike="noStrike" cap="none">
                <a:solidFill>
                  <a:srgbClr val="1C4587"/>
                </a:solidFill>
                <a:latin typeface="Calibri"/>
                <a:ea typeface="Calibri"/>
                <a:cs typeface="Calibri"/>
                <a:sym typeface="Calibri"/>
              </a:rPr>
              <a:t>Confidence Level</a:t>
            </a:r>
            <a:endParaRPr sz="1700" b="1" i="0" u="none" strike="noStrike" cap="none">
              <a:solidFill>
                <a:srgbClr val="1C458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D551080-A39E-675D-E4E3-8927331EBF5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044" y="1326111"/>
            <a:ext cx="8861315" cy="406053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4935239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3">
          <a:extLst>
            <a:ext uri="{FF2B5EF4-FFF2-40B4-BE49-F238E27FC236}">
              <a16:creationId xmlns:a16="http://schemas.microsoft.com/office/drawing/2014/main" id="{FF697D55-94A0-8B6E-E914-D25741F1BA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g24a90fbe9f0_0_414">
            <a:extLst>
              <a:ext uri="{FF2B5EF4-FFF2-40B4-BE49-F238E27FC236}">
                <a16:creationId xmlns:a16="http://schemas.microsoft.com/office/drawing/2014/main" id="{FFA97D8E-4307-7C7A-94DF-B672657B480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0"/>
            <a:ext cx="10200000" cy="102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3300" dirty="0">
                <a:solidFill>
                  <a:schemeClr val="bg1"/>
                </a:solidFill>
              </a:rPr>
              <a:t>Upper-Confidence-Bound Action Selection</a:t>
            </a:r>
            <a:endParaRPr sz="3000" b="1" dirty="0">
              <a:solidFill>
                <a:schemeClr val="bg1"/>
              </a:solidFill>
              <a:highlight>
                <a:srgbClr val="FFF2CC"/>
              </a:highlight>
            </a:endParaRPr>
          </a:p>
        </p:txBody>
      </p:sp>
      <p:pic>
        <p:nvPicPr>
          <p:cNvPr id="485" name="Google Shape;485;g24a90fbe9f0_0_414">
            <a:extLst>
              <a:ext uri="{FF2B5EF4-FFF2-40B4-BE49-F238E27FC236}">
                <a16:creationId xmlns:a16="http://schemas.microsoft.com/office/drawing/2014/main" id="{9A83A4D1-EEB1-F2ED-E8BE-9930A685567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79825" y="1557288"/>
            <a:ext cx="8751301" cy="4041275"/>
          </a:xfrm>
          <a:prstGeom prst="rect">
            <a:avLst/>
          </a:prstGeom>
          <a:noFill/>
          <a:ln>
            <a:noFill/>
          </a:ln>
        </p:spPr>
      </p:pic>
      <p:sp>
        <p:nvSpPr>
          <p:cNvPr id="486" name="Google Shape;486;g24a90fbe9f0_0_414">
            <a:extLst>
              <a:ext uri="{FF2B5EF4-FFF2-40B4-BE49-F238E27FC236}">
                <a16:creationId xmlns:a16="http://schemas.microsoft.com/office/drawing/2014/main" id="{B7040683-F0EB-5AE4-30F6-DD26DE32DCF5}"/>
              </a:ext>
            </a:extLst>
          </p:cNvPr>
          <p:cNvSpPr txBox="1"/>
          <p:nvPr/>
        </p:nvSpPr>
        <p:spPr>
          <a:xfrm>
            <a:off x="175350" y="5542900"/>
            <a:ext cx="106377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0C343D"/>
                </a:solidFill>
                <a:latin typeface="Arial"/>
                <a:ea typeface="Arial"/>
                <a:cs typeface="Arial"/>
                <a:sym typeface="Arial"/>
              </a:rPr>
              <a:t>UCB often performs well, as shown here, but is more difficult than "-greedy to extend beyond bandits to the more general reinforcement learning settings</a:t>
            </a:r>
            <a:endParaRPr sz="1600" b="0" i="0" u="none" strike="noStrike" cap="none">
              <a:solidFill>
                <a:srgbClr val="0C343D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3568862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g24a90fbe9f0_0_414"/>
          <p:cNvSpPr txBox="1">
            <a:spLocks noGrp="1"/>
          </p:cNvSpPr>
          <p:nvPr>
            <p:ph type="title"/>
          </p:nvPr>
        </p:nvSpPr>
        <p:spPr>
          <a:xfrm>
            <a:off x="838200" y="0"/>
            <a:ext cx="10200000" cy="102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3300" dirty="0">
                <a:solidFill>
                  <a:schemeClr val="bg1"/>
                </a:solidFill>
              </a:rPr>
              <a:t>Upper-Confidence-Bound Example</a:t>
            </a:r>
            <a:endParaRPr sz="3000" b="1" dirty="0">
              <a:solidFill>
                <a:schemeClr val="bg1"/>
              </a:solidFill>
              <a:highlight>
                <a:srgbClr val="FFF2CC"/>
              </a:highlight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0BD1ED6-CF43-5CB4-BCF7-2421D22AB1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309" y="1228793"/>
            <a:ext cx="7388160" cy="5418192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3">
          <a:extLst>
            <a:ext uri="{FF2B5EF4-FFF2-40B4-BE49-F238E27FC236}">
              <a16:creationId xmlns:a16="http://schemas.microsoft.com/office/drawing/2014/main" id="{BB3A0914-BC19-A547-0725-9352C969C4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g24a90fbe9f0_0_414">
            <a:extLst>
              <a:ext uri="{FF2B5EF4-FFF2-40B4-BE49-F238E27FC236}">
                <a16:creationId xmlns:a16="http://schemas.microsoft.com/office/drawing/2014/main" id="{8DC3E2E5-036B-30E3-0DF3-4041E80C272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0"/>
            <a:ext cx="10200000" cy="102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3300" dirty="0">
                <a:solidFill>
                  <a:schemeClr val="bg1"/>
                </a:solidFill>
              </a:rPr>
              <a:t>Upper-Confidence-Bound Example</a:t>
            </a:r>
            <a:endParaRPr sz="3000" b="1" dirty="0">
              <a:solidFill>
                <a:schemeClr val="bg1"/>
              </a:solidFill>
              <a:highlight>
                <a:srgbClr val="FFF2CC"/>
              </a:highlight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038DBB5-6ABE-2543-1D4A-B7C79F63D7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580" y="2619041"/>
            <a:ext cx="6392167" cy="128794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CF98057-3F45-60C7-D0BE-5EF20B18CF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9257" y="5167445"/>
            <a:ext cx="6458851" cy="140920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6AE15CE-E336-F1C2-727E-425EBF3A486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2580" y="4015579"/>
            <a:ext cx="6115904" cy="122802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CA4D9F6-C2C6-ABF7-FBEB-DDB8091855B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2580" y="951933"/>
            <a:ext cx="6011114" cy="1667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976018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3">
          <a:extLst>
            <a:ext uri="{FF2B5EF4-FFF2-40B4-BE49-F238E27FC236}">
              <a16:creationId xmlns:a16="http://schemas.microsoft.com/office/drawing/2014/main" id="{476DF540-A0E4-8A37-A264-0FAFDD219C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g24a90fbe9f0_0_414">
            <a:extLst>
              <a:ext uri="{FF2B5EF4-FFF2-40B4-BE49-F238E27FC236}">
                <a16:creationId xmlns:a16="http://schemas.microsoft.com/office/drawing/2014/main" id="{E8E42904-5599-5C9D-EAA4-F5A97BCA7A8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0"/>
            <a:ext cx="10200000" cy="102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3300" dirty="0">
                <a:solidFill>
                  <a:schemeClr val="bg1"/>
                </a:solidFill>
              </a:rPr>
              <a:t>Upper-Confidence-Bound Example</a:t>
            </a:r>
            <a:endParaRPr sz="3000" b="1" dirty="0">
              <a:solidFill>
                <a:schemeClr val="bg1"/>
              </a:solidFill>
              <a:highlight>
                <a:srgbClr val="FFF2CC"/>
              </a:highlight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99CB083-392F-6B23-13F0-807A3DA42C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766" y="1142999"/>
            <a:ext cx="6000149" cy="503070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161649C-76BF-0770-7F22-082F1CE7D3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8915" y="1678825"/>
            <a:ext cx="5597769" cy="4610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594338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5B2341-7AF9-281C-927E-564D1B4D6B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596956-72DC-88B5-1CF4-70C388B182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4662" y="231524"/>
            <a:ext cx="10453163" cy="553998"/>
          </a:xfrm>
        </p:spPr>
        <p:txBody>
          <a:bodyPr/>
          <a:lstStyle/>
          <a:p>
            <a:pPr>
              <a:lnSpc>
                <a:spcPct val="90000"/>
              </a:lnSpc>
              <a:buClr>
                <a:schemeClr val="dk1"/>
              </a:buClr>
              <a:buSzPts val="4000"/>
            </a:pPr>
            <a:r>
              <a:rPr lang="en-US" sz="4000" b="1" kern="1200" dirty="0">
                <a:solidFill>
                  <a:schemeClr val="bg1"/>
                </a:solidFill>
              </a:rPr>
              <a:t>Contextual Bandits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5B342F1-B712-C6A6-0785-0548B538CC42}"/>
              </a:ext>
            </a:extLst>
          </p:cNvPr>
          <p:cNvSpPr>
            <a:spLocks noGrp="1"/>
          </p:cNvSpPr>
          <p:nvPr>
            <p:ph type="ftr" idx="10"/>
          </p:nvPr>
        </p:nvSpPr>
        <p:spPr/>
        <p:txBody>
          <a:bodyPr/>
          <a:lstStyle/>
          <a:p>
            <a:r>
              <a:rPr lang="en-IN"/>
              <a:t>Faculty Development Workshop on Deep Reinforcement Learning - 9 &amp; 10 March,2026</a:t>
            </a:r>
            <a:endParaRPr lang="en-IN" dirty="0"/>
          </a:p>
        </p:txBody>
      </p:sp>
      <p:sp>
        <p:nvSpPr>
          <p:cNvPr id="6" name="Google Shape;196;g24a90fbe9f0_0_21">
            <a:extLst>
              <a:ext uri="{FF2B5EF4-FFF2-40B4-BE49-F238E27FC236}">
                <a16:creationId xmlns:a16="http://schemas.microsoft.com/office/drawing/2014/main" id="{DC64EF4D-6F15-DBCB-1D73-EC0872769B0C}"/>
              </a:ext>
            </a:extLst>
          </p:cNvPr>
          <p:cNvSpPr txBox="1">
            <a:spLocks/>
          </p:cNvSpPr>
          <p:nvPr/>
        </p:nvSpPr>
        <p:spPr>
          <a:xfrm>
            <a:off x="372687" y="1254390"/>
            <a:ext cx="10515600" cy="418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95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95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95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95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95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95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95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95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95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just">
              <a:lnSpc>
                <a:spcPct val="115000"/>
              </a:lnSpc>
              <a:buSzPts val="2800"/>
            </a:pPr>
            <a:endParaRPr lang="en-US" sz="2100" b="1" kern="0" dirty="0">
              <a:solidFill>
                <a:srgbClr val="A61C00"/>
              </a:solidFill>
            </a:endParaRPr>
          </a:p>
          <a:p>
            <a:pPr marL="457200" indent="-361950" algn="just">
              <a:lnSpc>
                <a:spcPct val="115000"/>
              </a:lnSpc>
              <a:buSzPts val="2100"/>
              <a:buFont typeface="Arial"/>
              <a:buChar char="•"/>
            </a:pPr>
            <a:r>
              <a:rPr lang="en-US" sz="2100" kern="0" dirty="0"/>
              <a:t>Agent observes additional information before choosing an action</a:t>
            </a:r>
          </a:p>
          <a:p>
            <a:pPr marL="457200" indent="-361950" algn="just">
              <a:lnSpc>
                <a:spcPct val="115000"/>
              </a:lnSpc>
              <a:buSzPts val="2100"/>
              <a:buFont typeface="Arial"/>
              <a:buChar char="•"/>
            </a:pPr>
            <a:endParaRPr lang="en-US" sz="2100" kern="0" dirty="0"/>
          </a:p>
          <a:p>
            <a:pPr marL="457200" indent="-361950" algn="just">
              <a:lnSpc>
                <a:spcPct val="115000"/>
              </a:lnSpc>
              <a:buSzPts val="2100"/>
              <a:buFont typeface="Arial"/>
              <a:buChar char="•"/>
            </a:pPr>
            <a:r>
              <a:rPr lang="en-US" sz="2100" kern="0" dirty="0"/>
              <a:t>At each time step t, the agent</a:t>
            </a:r>
          </a:p>
          <a:p>
            <a:pPr marL="1371600" lvl="2" indent="-361950" algn="just">
              <a:lnSpc>
                <a:spcPct val="115000"/>
              </a:lnSpc>
              <a:buSzPts val="2100"/>
              <a:buFont typeface="Arial"/>
              <a:buChar char="•"/>
            </a:pPr>
            <a:r>
              <a:rPr lang="en-US" sz="2100" kern="0" dirty="0"/>
              <a:t>Observes the context </a:t>
            </a:r>
            <a:r>
              <a:rPr lang="en-US" sz="2100" i="1" kern="0" dirty="0" err="1"/>
              <a:t>xt</a:t>
            </a:r>
            <a:endParaRPr lang="en-US" sz="2100" i="1" kern="0" dirty="0"/>
          </a:p>
          <a:p>
            <a:pPr marL="1371600" lvl="2" indent="-361950" algn="just">
              <a:lnSpc>
                <a:spcPct val="115000"/>
              </a:lnSpc>
              <a:buSzPts val="2100"/>
              <a:buFont typeface="Arial"/>
              <a:buChar char="•"/>
            </a:pPr>
            <a:r>
              <a:rPr lang="en-US" sz="2100" kern="0" dirty="0"/>
              <a:t>Choose action at</a:t>
            </a:r>
          </a:p>
          <a:p>
            <a:pPr marL="1371600" lvl="2" indent="-361950" algn="just">
              <a:lnSpc>
                <a:spcPct val="115000"/>
              </a:lnSpc>
              <a:buSzPts val="2100"/>
              <a:buFont typeface="Arial"/>
              <a:buChar char="•"/>
            </a:pPr>
            <a:r>
              <a:rPr lang="en-US" sz="2100" kern="0" dirty="0"/>
              <a:t>Receive the reward Rt</a:t>
            </a:r>
          </a:p>
          <a:p>
            <a:pPr marL="1371600" lvl="2" indent="-361950" algn="just">
              <a:lnSpc>
                <a:spcPct val="115000"/>
              </a:lnSpc>
              <a:buSzPts val="2100"/>
              <a:buFont typeface="Arial"/>
              <a:buChar char="•"/>
            </a:pPr>
            <a:r>
              <a:rPr lang="en-US" sz="2100" kern="0" dirty="0"/>
              <a:t>Goal is to maximize the cumulative reward</a:t>
            </a:r>
          </a:p>
        </p:txBody>
      </p:sp>
    </p:spTree>
    <p:extLst>
      <p:ext uri="{BB962C8B-B14F-4D97-AF65-F5344CB8AC3E}">
        <p14:creationId xmlns:p14="http://schemas.microsoft.com/office/powerpoint/2010/main" val="283604877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A85461-A57D-06F3-71B9-32F6D644A7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194B47-A319-CD54-0B9B-EFF8DA8133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4662" y="231524"/>
            <a:ext cx="10453163" cy="553998"/>
          </a:xfrm>
        </p:spPr>
        <p:txBody>
          <a:bodyPr/>
          <a:lstStyle/>
          <a:p>
            <a:pPr>
              <a:lnSpc>
                <a:spcPct val="90000"/>
              </a:lnSpc>
              <a:buClr>
                <a:schemeClr val="dk1"/>
              </a:buClr>
              <a:buSzPts val="4000"/>
            </a:pPr>
            <a:r>
              <a:rPr lang="en-US" sz="4000" b="1" kern="1200" dirty="0">
                <a:solidFill>
                  <a:schemeClr val="bg1"/>
                </a:solidFill>
              </a:rPr>
              <a:t>Contextual Bandits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3FCBA5D-2234-3EAA-6904-3805A951EEB2}"/>
              </a:ext>
            </a:extLst>
          </p:cNvPr>
          <p:cNvSpPr>
            <a:spLocks noGrp="1"/>
          </p:cNvSpPr>
          <p:nvPr>
            <p:ph type="ftr" idx="10"/>
          </p:nvPr>
        </p:nvSpPr>
        <p:spPr/>
        <p:txBody>
          <a:bodyPr/>
          <a:lstStyle/>
          <a:p>
            <a:r>
              <a:rPr lang="en-IN"/>
              <a:t>Faculty Development Workshop on Deep Reinforcement Learning - 9 &amp; 10 March,2026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FC2B92F-5DFA-2A22-E435-DEEC1D41789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55616" y="1331056"/>
            <a:ext cx="6079967" cy="3167136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6DD4E7E-BAD7-E1F4-8EAA-F40FBCB3E5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872" y="1227157"/>
            <a:ext cx="5391902" cy="146705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9D5701D-8FCD-5332-F87F-4D77147427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1872" y="2814472"/>
            <a:ext cx="5153744" cy="237205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9BB4392-F435-9A1D-C09F-60D94A95A92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30723" y="4498192"/>
            <a:ext cx="8173591" cy="1857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065883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787070-E2EC-E459-1033-C6AD2A147D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6E8924B-51E9-32E3-35E9-021067478C88}"/>
              </a:ext>
            </a:extLst>
          </p:cNvPr>
          <p:cNvSpPr>
            <a:spLocks noGrp="1"/>
          </p:cNvSpPr>
          <p:nvPr>
            <p:ph type="ftr" idx="10"/>
          </p:nvPr>
        </p:nvSpPr>
        <p:spPr/>
        <p:txBody>
          <a:bodyPr/>
          <a:lstStyle/>
          <a:p>
            <a:r>
              <a:rPr lang="en-IN"/>
              <a:t>Faculty Development Workshop on Deep Reinforcement Learning - 9 &amp; 10 March,2026</a:t>
            </a:r>
            <a:endParaRPr lang="en-IN" dirty="0"/>
          </a:p>
        </p:txBody>
      </p:sp>
      <p:sp>
        <p:nvSpPr>
          <p:cNvPr id="6" name="Google Shape;196;g24a90fbe9f0_0_21">
            <a:extLst>
              <a:ext uri="{FF2B5EF4-FFF2-40B4-BE49-F238E27FC236}">
                <a16:creationId xmlns:a16="http://schemas.microsoft.com/office/drawing/2014/main" id="{413E937F-87E1-35CB-2910-1665A3CE659E}"/>
              </a:ext>
            </a:extLst>
          </p:cNvPr>
          <p:cNvSpPr txBox="1">
            <a:spLocks/>
          </p:cNvSpPr>
          <p:nvPr/>
        </p:nvSpPr>
        <p:spPr>
          <a:xfrm>
            <a:off x="372687" y="1254390"/>
            <a:ext cx="10515600" cy="418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95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95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95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95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95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95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95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95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95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95250" algn="just">
              <a:lnSpc>
                <a:spcPct val="115000"/>
              </a:lnSpc>
              <a:buSzPts val="2100"/>
            </a:pPr>
            <a:endParaRPr lang="en-US" sz="2100" b="1" kern="0" dirty="0">
              <a:solidFill>
                <a:srgbClr val="A61C00"/>
              </a:solidFill>
            </a:endParaRPr>
          </a:p>
          <a:p>
            <a:pPr marL="95250" algn="just">
              <a:lnSpc>
                <a:spcPct val="115000"/>
              </a:lnSpc>
              <a:buSzPts val="2100"/>
            </a:pPr>
            <a:endParaRPr lang="en-US" sz="2100" b="1" kern="0" dirty="0">
              <a:solidFill>
                <a:srgbClr val="A61C00"/>
              </a:solidFill>
            </a:endParaRPr>
          </a:p>
          <a:p>
            <a:pPr marL="95250" algn="just">
              <a:lnSpc>
                <a:spcPct val="115000"/>
              </a:lnSpc>
              <a:buSzPts val="2100"/>
            </a:pPr>
            <a:endParaRPr lang="en-US" sz="2100" b="1" kern="0" dirty="0">
              <a:solidFill>
                <a:srgbClr val="A61C00"/>
              </a:solidFill>
            </a:endParaRPr>
          </a:p>
          <a:p>
            <a:pPr marL="95250" algn="just">
              <a:lnSpc>
                <a:spcPct val="115000"/>
              </a:lnSpc>
              <a:buSzPts val="2100"/>
            </a:pPr>
            <a:endParaRPr lang="en-US" sz="2100" b="1" kern="0" dirty="0">
              <a:solidFill>
                <a:srgbClr val="A61C00"/>
              </a:solidFill>
            </a:endParaRPr>
          </a:p>
          <a:p>
            <a:pPr marL="95250" algn="just">
              <a:lnSpc>
                <a:spcPct val="115000"/>
              </a:lnSpc>
              <a:buSzPts val="2100"/>
            </a:pPr>
            <a:r>
              <a:rPr lang="en-US" sz="5400" kern="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285340150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Custom 2">
      <a:dk1>
        <a:srgbClr val="000000"/>
      </a:dk1>
      <a:lt1>
        <a:srgbClr val="FFFFFF"/>
      </a:lt1>
      <a:dk2>
        <a:srgbClr val="373545"/>
      </a:dk2>
      <a:lt2>
        <a:srgbClr val="DCD8DC"/>
      </a:lt2>
      <a:accent1>
        <a:srgbClr val="AD84C6"/>
      </a:accent1>
      <a:accent2>
        <a:srgbClr val="8784C7"/>
      </a:accent2>
      <a:accent3>
        <a:srgbClr val="5D739A"/>
      </a:accent3>
      <a:accent4>
        <a:srgbClr val="6997AF"/>
      </a:accent4>
      <a:accent5>
        <a:srgbClr val="84ACB6"/>
      </a:accent5>
      <a:accent6>
        <a:srgbClr val="6F8183"/>
      </a:accent6>
      <a:hlink>
        <a:srgbClr val="69A020"/>
      </a:hlink>
      <a:folHlink>
        <a:srgbClr val="8C8C8C"/>
      </a:folHlink>
    </a:clrScheme>
    <a:fontScheme name="Candara">
      <a:majorFont>
        <a:latin typeface="Candara" panose="020E0502030303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ndara" panose="020E0502030303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415</TotalTime>
  <Words>1988</Words>
  <Application>Microsoft Office PowerPoint</Application>
  <PresentationFormat>Widescreen</PresentationFormat>
  <Paragraphs>333</Paragraphs>
  <Slides>43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43</vt:i4>
      </vt:variant>
    </vt:vector>
  </HeadingPairs>
  <TitlesOfParts>
    <vt:vector size="53" baseType="lpstr">
      <vt:lpstr>Aptos</vt:lpstr>
      <vt:lpstr>Aptos Display</vt:lpstr>
      <vt:lpstr>Arial</vt:lpstr>
      <vt:lpstr>Calibri</vt:lpstr>
      <vt:lpstr>Cambria</vt:lpstr>
      <vt:lpstr>Cambria Math</vt:lpstr>
      <vt:lpstr>Comfortaa Medium</vt:lpstr>
      <vt:lpstr>Courier New</vt:lpstr>
      <vt:lpstr>1_Office Theme</vt:lpstr>
      <vt:lpstr>Custom Design</vt:lpstr>
      <vt:lpstr>PowerPoint Presentation</vt:lpstr>
      <vt:lpstr>Agenda</vt:lpstr>
      <vt:lpstr>Motivation</vt:lpstr>
      <vt:lpstr>K-arm Bandit Problem</vt:lpstr>
      <vt:lpstr>K-arm Bandit Problem</vt:lpstr>
      <vt:lpstr>K-arm Bandit Problem</vt:lpstr>
      <vt:lpstr>K-arm Bandit Problem</vt:lpstr>
      <vt:lpstr>K-armed Bandit Problem</vt:lpstr>
      <vt:lpstr>K-armed Bandit Problem</vt:lpstr>
      <vt:lpstr>K-armed Bandit Problem</vt:lpstr>
      <vt:lpstr>K-armed Bandit Problem</vt:lpstr>
      <vt:lpstr>K-armed Bandit Problem</vt:lpstr>
      <vt:lpstr>K-armed Bandit Problem</vt:lpstr>
      <vt:lpstr>K-armed Bandit Problem</vt:lpstr>
      <vt:lpstr>K-armed Bandit Problem</vt:lpstr>
      <vt:lpstr>K-armed Bandit Problem</vt:lpstr>
      <vt:lpstr>K-armed Bandit Problem</vt:lpstr>
      <vt:lpstr>Exploration vs Exploitation</vt:lpstr>
      <vt:lpstr>K-armed Bandit Problem: ε-Greedy</vt:lpstr>
      <vt:lpstr>Ex-1: In ε-greedy action selection, for the case of two actions and ε = 0.5, what is the probability that the greedy action is selected?</vt:lpstr>
      <vt:lpstr>Ex-1: In ε-greedy action selection, for the case of two actions and ε = 0.5, what is the probability that the greedy action is selected?</vt:lpstr>
      <vt:lpstr>Action Value Method</vt:lpstr>
      <vt:lpstr>10-armed Testbed </vt:lpstr>
      <vt:lpstr>𝛆-greedy action-value methods on the 10-armed testbed</vt:lpstr>
      <vt:lpstr>𝛆-greedy action-value methods on the 10-armed testbed</vt:lpstr>
      <vt:lpstr>Summary: Greedy vs 𝛆-greedy </vt:lpstr>
      <vt:lpstr>Incremental Implementation</vt:lpstr>
      <vt:lpstr>Incremental Implementation</vt:lpstr>
      <vt:lpstr> Incremental Update/ 𝛆-greedy selection</vt:lpstr>
      <vt:lpstr>Non-stationary Problem</vt:lpstr>
      <vt:lpstr>Non-stationary Problem</vt:lpstr>
      <vt:lpstr>Optimistic Initial Values </vt:lpstr>
      <vt:lpstr>Optimistic Initial Values </vt:lpstr>
      <vt:lpstr>Upper-Confidence-Bound Action Selection</vt:lpstr>
      <vt:lpstr>Upper-Confidence-Bound Action Selection</vt:lpstr>
      <vt:lpstr>Upper-Confidence-Bound Action Selection</vt:lpstr>
      <vt:lpstr>Upper-Confidence-Bound Action Selection</vt:lpstr>
      <vt:lpstr>Upper-Confidence-Bound Example</vt:lpstr>
      <vt:lpstr>Upper-Confidence-Bound Example</vt:lpstr>
      <vt:lpstr>Upper-Confidence-Bound Example</vt:lpstr>
      <vt:lpstr>Contextual Bandits</vt:lpstr>
      <vt:lpstr>Contextual Bandits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Sangeetha Viswanathan</dc:creator>
  <cp:lastModifiedBy>Prakash G</cp:lastModifiedBy>
  <cp:revision>9</cp:revision>
  <dcterms:created xsi:type="dcterms:W3CDTF">2026-03-05T04:42:54Z</dcterms:created>
  <dcterms:modified xsi:type="dcterms:W3CDTF">2026-03-09T00:46:40Z</dcterms:modified>
</cp:coreProperties>
</file>
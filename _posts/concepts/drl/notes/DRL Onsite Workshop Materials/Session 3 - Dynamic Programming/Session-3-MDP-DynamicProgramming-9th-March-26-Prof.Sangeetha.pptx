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2" showSpecialPlsOnTitleSld="0" saveSubsetFonts="1" autoCompressPictures="0">
  <p:sldMasterIdLst>
    <p:sldMasterId id="2147483660" r:id="rId1"/>
    <p:sldMasterId id="2147483667" r:id="rId2"/>
  </p:sldMasterIdLst>
  <p:notesMasterIdLst>
    <p:notesMasterId r:id="rId45"/>
  </p:notesMasterIdLst>
  <p:handoutMasterIdLst>
    <p:handoutMasterId r:id="rId46"/>
  </p:handoutMasterIdLst>
  <p:sldIdLst>
    <p:sldId id="256" r:id="rId3"/>
    <p:sldId id="296" r:id="rId4"/>
    <p:sldId id="258" r:id="rId5"/>
    <p:sldId id="259" r:id="rId6"/>
    <p:sldId id="260" r:id="rId7"/>
    <p:sldId id="261" r:id="rId8"/>
    <p:sldId id="271" r:id="rId9"/>
    <p:sldId id="272" r:id="rId10"/>
    <p:sldId id="262" r:id="rId11"/>
    <p:sldId id="263" r:id="rId12"/>
    <p:sldId id="273" r:id="rId13"/>
    <p:sldId id="264" r:id="rId14"/>
    <p:sldId id="265" r:id="rId15"/>
    <p:sldId id="274" r:id="rId16"/>
    <p:sldId id="275" r:id="rId17"/>
    <p:sldId id="268" r:id="rId18"/>
    <p:sldId id="276" r:id="rId19"/>
    <p:sldId id="278" r:id="rId20"/>
    <p:sldId id="279" r:id="rId21"/>
    <p:sldId id="280" r:id="rId22"/>
    <p:sldId id="281" r:id="rId23"/>
    <p:sldId id="282" r:id="rId24"/>
    <p:sldId id="283" r:id="rId25"/>
    <p:sldId id="284" r:id="rId26"/>
    <p:sldId id="285" r:id="rId27"/>
    <p:sldId id="286" r:id="rId28"/>
    <p:sldId id="287" r:id="rId29"/>
    <p:sldId id="266" r:id="rId30"/>
    <p:sldId id="267" r:id="rId31"/>
    <p:sldId id="288" r:id="rId32"/>
    <p:sldId id="289" r:id="rId33"/>
    <p:sldId id="290" r:id="rId34"/>
    <p:sldId id="291" r:id="rId35"/>
    <p:sldId id="292" r:id="rId36"/>
    <p:sldId id="293" r:id="rId37"/>
    <p:sldId id="294" r:id="rId38"/>
    <p:sldId id="295" r:id="rId39"/>
    <p:sldId id="269" r:id="rId40"/>
    <p:sldId id="270" r:id="rId41"/>
    <p:sldId id="297" r:id="rId42"/>
    <p:sldId id="298" r:id="rId43"/>
    <p:sldId id="29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025"/>
    <p:restoredTop sz="94677"/>
  </p:normalViewPr>
  <p:slideViewPr>
    <p:cSldViewPr snapToGrid="0">
      <p:cViewPr varScale="1">
        <p:scale>
          <a:sx n="96" d="100"/>
          <a:sy n="96" d="100"/>
        </p:scale>
        <p:origin x="1448" y="176"/>
      </p:cViewPr>
      <p:guideLst/>
    </p:cSldViewPr>
  </p:slideViewPr>
  <p:notesTextViewPr>
    <p:cViewPr>
      <p:scale>
        <a:sx n="1" d="1"/>
        <a:sy n="1" d="1"/>
      </p:scale>
      <p:origin x="0" y="0"/>
    </p:cViewPr>
  </p:notesTextViewPr>
  <p:notesViewPr>
    <p:cSldViewPr snapToGrid="0">
      <p:cViewPr varScale="1">
        <p:scale>
          <a:sx n="96" d="100"/>
          <a:sy n="96" d="100"/>
        </p:scale>
        <p:origin x="4328"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462071-6DCE-F8B9-5FD7-C21C6AA6961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AF76832-477F-1A75-18B2-ADA503EFF9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3F48769-8EBE-2743-A7CE-2741C4A06A28}" type="datetimeFigureOut">
              <a:rPr lang="en-US" smtClean="0"/>
              <a:t>3/9/26</a:t>
            </a:fld>
            <a:endParaRPr lang="en-US"/>
          </a:p>
        </p:txBody>
      </p:sp>
      <p:sp>
        <p:nvSpPr>
          <p:cNvPr id="4" name="Footer Placeholder 3">
            <a:extLst>
              <a:ext uri="{FF2B5EF4-FFF2-40B4-BE49-F238E27FC236}">
                <a16:creationId xmlns:a16="http://schemas.microsoft.com/office/drawing/2014/main" id="{99CD8A14-069E-6BD5-2937-CDCB9AA92D2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Faculty Development Workshop on Deep Reinforcement Learning - 9 &amp; 10 March,2026</a:t>
            </a:r>
          </a:p>
        </p:txBody>
      </p:sp>
      <p:sp>
        <p:nvSpPr>
          <p:cNvPr id="5" name="Slide Number Placeholder 4">
            <a:extLst>
              <a:ext uri="{FF2B5EF4-FFF2-40B4-BE49-F238E27FC236}">
                <a16:creationId xmlns:a16="http://schemas.microsoft.com/office/drawing/2014/main" id="{B180AC71-93AF-BF69-0FD6-DCF3DEB1637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79DA32A-1991-C742-89A3-22E8860108D6}" type="slidenum">
              <a:rPr lang="en-US" smtClean="0"/>
              <a:t>‹#›</a:t>
            </a:fld>
            <a:endParaRPr lang="en-US"/>
          </a:p>
        </p:txBody>
      </p:sp>
    </p:spTree>
    <p:extLst>
      <p:ext uri="{BB962C8B-B14F-4D97-AF65-F5344CB8AC3E}">
        <p14:creationId xmlns:p14="http://schemas.microsoft.com/office/powerpoint/2010/main" val="1430941592"/>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761802-59AE-A046-80C1-97E5C23B0E02}" type="datetimeFigureOut">
              <a:rPr lang="en-US" smtClean="0"/>
              <a:t>3/9/26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Faculty Development Workshop on Deep Reinforcement Learning - 9 &amp; 10 March,2026</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5F7881-6536-994A-A65D-E25A2CAF27AC}" type="slidenum">
              <a:rPr lang="en-US" smtClean="0"/>
              <a:t>‹#›</a:t>
            </a:fld>
            <a:endParaRPr lang="en-US"/>
          </a:p>
        </p:txBody>
      </p:sp>
    </p:spTree>
    <p:extLst>
      <p:ext uri="{BB962C8B-B14F-4D97-AF65-F5344CB8AC3E}">
        <p14:creationId xmlns:p14="http://schemas.microsoft.com/office/powerpoint/2010/main" val="207489811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1: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 name="Google Shape;36;p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 name="Footer Placeholder 1">
            <a:extLst>
              <a:ext uri="{FF2B5EF4-FFF2-40B4-BE49-F238E27FC236}">
                <a16:creationId xmlns:a16="http://schemas.microsoft.com/office/drawing/2014/main" id="{9D79C721-36AE-718C-4020-D7BC0022BC74}"/>
              </a:ext>
            </a:extLst>
          </p:cNvPr>
          <p:cNvSpPr>
            <a:spLocks noGrp="1"/>
          </p:cNvSpPr>
          <p:nvPr>
            <p:ph type="ftr" sz="quarter" idx="4"/>
          </p:nvPr>
        </p:nvSpPr>
        <p:spPr/>
        <p:txBody>
          <a:bodyPr/>
          <a:lstStyle/>
          <a:p>
            <a:r>
              <a:rPr lang="en-US"/>
              <a:t>Faculty Development Workshop on Deep Reinforcement Learning - 9 &amp; 10 March,2026</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1: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 name="Google Shape;36;p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 name="Footer Placeholder 1">
            <a:extLst>
              <a:ext uri="{FF2B5EF4-FFF2-40B4-BE49-F238E27FC236}">
                <a16:creationId xmlns:a16="http://schemas.microsoft.com/office/drawing/2014/main" id="{9D79C721-36AE-718C-4020-D7BC0022BC74}"/>
              </a:ext>
            </a:extLst>
          </p:cNvPr>
          <p:cNvSpPr>
            <a:spLocks noGrp="1"/>
          </p:cNvSpPr>
          <p:nvPr>
            <p:ph type="ftr" sz="quarter" idx="4"/>
          </p:nvPr>
        </p:nvSpPr>
        <p:spPr/>
        <p:txBody>
          <a:bodyPr/>
          <a:lstStyle/>
          <a:p>
            <a:r>
              <a:rPr lang="en-US"/>
              <a:t>Faculty Development Workshop on Deep Reinforcement Learning - 9 &amp; 10 March,2026</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p4: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 name="Google Shape;78;p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4539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5: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p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974738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7: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6" name="Google Shape;156;p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8: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5" name="Google Shape;175;p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5" name="Google Shape;205;p9:notes"/>
          <p:cNvSpPr>
            <a:spLocks noGrp="1" noRot="1" noChangeAspect="1"/>
          </p:cNvSpPr>
          <p:nvPr>
            <p:ph type="sldImg" idx="2"/>
          </p:nvPr>
        </p:nvSpPr>
        <p:spPr>
          <a:xfrm>
            <a:off x="1800225" y="242888"/>
            <a:ext cx="2165350"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1: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63" name="Google Shape;263;p1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2: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4" name="Google Shape;314;p1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13: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0" name="Google Shape;370;p1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14: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7" name="Google Shape;427;p1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15: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4" name="Google Shape;484;p1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16: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0" name="Google Shape;540;p1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4"/>
        <p:cNvGrpSpPr/>
        <p:nvPr/>
      </p:nvGrpSpPr>
      <p:grpSpPr>
        <a:xfrm>
          <a:off x="0" y="0"/>
          <a:ext cx="0" cy="0"/>
          <a:chOff x="0" y="0"/>
          <a:chExt cx="0" cy="0"/>
        </a:xfrm>
      </p:grpSpPr>
      <p:sp>
        <p:nvSpPr>
          <p:cNvPr id="595" name="Google Shape;595;p17: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6" name="Google Shape;596;p1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18: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3" name="Google Shape;653;p1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19:notes"/>
          <p:cNvSpPr txBox="1">
            <a:spLocks noGrp="1"/>
          </p:cNvSpPr>
          <p:nvPr>
            <p:ph type="body" idx="1"/>
          </p:nvPr>
        </p:nvSpPr>
        <p:spPr>
          <a:xfrm>
            <a:off x="576575" y="1541300"/>
            <a:ext cx="4612625" cy="1460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12" name="Google Shape;712;p19:notes"/>
          <p:cNvSpPr>
            <a:spLocks noGrp="1" noRot="1" noChangeAspect="1"/>
          </p:cNvSpPr>
          <p:nvPr>
            <p:ph type="sldImg" idx="2"/>
          </p:nvPr>
        </p:nvSpPr>
        <p:spPr>
          <a:xfrm>
            <a:off x="1800225" y="242888"/>
            <a:ext cx="2165350" cy="121761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p20: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20" name="Google Shape;720;p20: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p21: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53" name="Google Shape;753;p2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p22: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06" name="Google Shape;806;p22: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p23: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3" name="Google Shape;863;p23: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p24: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20" name="Google Shape;920;p24: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p25: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80" name="Google Shape;980;p25: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8"/>
        <p:cNvGrpSpPr/>
        <p:nvPr/>
      </p:nvGrpSpPr>
      <p:grpSpPr>
        <a:xfrm>
          <a:off x="0" y="0"/>
          <a:ext cx="0" cy="0"/>
          <a:chOff x="0" y="0"/>
          <a:chExt cx="0" cy="0"/>
        </a:xfrm>
      </p:grpSpPr>
      <p:sp>
        <p:nvSpPr>
          <p:cNvPr id="1039" name="Google Shape;1039;p26: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40" name="Google Shape;1040;p26: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p27: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00" name="Google Shape;1100;p27: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p28: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4" name="Google Shape;1154;p28: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p1:notes"/>
          <p:cNvSpPr txBox="1">
            <a:spLocks noGrp="1"/>
          </p:cNvSpPr>
          <p:nvPr>
            <p:ph type="body" idx="1"/>
          </p:nvPr>
        </p:nvSpPr>
        <p:spPr>
          <a:xfrm>
            <a:off x="576575" y="1541300"/>
            <a:ext cx="4612625" cy="146017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 name="Google Shape;36;p1:notes"/>
          <p:cNvSpPr>
            <a:spLocks noGrp="1" noRot="1" noChangeAspect="1"/>
          </p:cNvSpPr>
          <p:nvPr>
            <p:ph type="sldImg" idx="2"/>
          </p:nvPr>
        </p:nvSpPr>
        <p:spPr>
          <a:xfrm>
            <a:off x="1801813" y="242888"/>
            <a:ext cx="2162175" cy="1217612"/>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 name="Footer Placeholder 1">
            <a:extLst>
              <a:ext uri="{FF2B5EF4-FFF2-40B4-BE49-F238E27FC236}">
                <a16:creationId xmlns:a16="http://schemas.microsoft.com/office/drawing/2014/main" id="{9D79C721-36AE-718C-4020-D7BC0022BC74}"/>
              </a:ext>
            </a:extLst>
          </p:cNvPr>
          <p:cNvSpPr>
            <a:spLocks noGrp="1"/>
          </p:cNvSpPr>
          <p:nvPr>
            <p:ph type="ftr" sz="quarter" idx="4"/>
          </p:nvPr>
        </p:nvSpPr>
        <p:spPr/>
        <p:txBody>
          <a:bodyPr/>
          <a:lstStyle/>
          <a:p>
            <a:r>
              <a:rPr lang="en-US"/>
              <a:t>Faculty Development Workshop on Deep Reinforcement Learning - 9 &amp; 10 March,2026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obj">
  <p:cSld name="Blank">
    <p:spTree>
      <p:nvGrpSpPr>
        <p:cNvPr id="1" name="Shape 12"/>
        <p:cNvGrpSpPr/>
        <p:nvPr/>
      </p:nvGrpSpPr>
      <p:grpSpPr>
        <a:xfrm>
          <a:off x="0" y="0"/>
          <a:ext cx="0" cy="0"/>
          <a:chOff x="0" y="0"/>
          <a:chExt cx="0" cy="0"/>
        </a:xfrm>
      </p:grpSpPr>
      <p:sp>
        <p:nvSpPr>
          <p:cNvPr id="13" name="Google Shape;13;p33"/>
          <p:cNvSpPr txBox="1">
            <a:spLocks noGrp="1"/>
          </p:cNvSpPr>
          <p:nvPr>
            <p:ph type="ftr" idx="11"/>
          </p:nvPr>
        </p:nvSpPr>
        <p:spPr>
          <a:xfrm>
            <a:off x="1209773" y="6631479"/>
            <a:ext cx="1554883" cy="19511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68"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Faculty Development Workshop on Deep Reinforcement Learning - 9 &amp; 10 March,2026</a:t>
            </a:r>
            <a:endParaRPr/>
          </a:p>
        </p:txBody>
      </p:sp>
      <p:sp>
        <p:nvSpPr>
          <p:cNvPr id="15" name="Google Shape;15;p33"/>
          <p:cNvSpPr txBox="1">
            <a:spLocks noGrp="1"/>
          </p:cNvSpPr>
          <p:nvPr>
            <p:ph type="sldNum" idx="12"/>
          </p:nvPr>
        </p:nvSpPr>
        <p:spPr>
          <a:xfrm>
            <a:off x="9830163" y="6631479"/>
            <a:ext cx="672863" cy="218521"/>
          </a:xfrm>
          <a:prstGeom prst="rect">
            <a:avLst/>
          </a:prstGeom>
          <a:noFill/>
          <a:ln>
            <a:noFill/>
          </a:ln>
        </p:spPr>
        <p:txBody>
          <a:bodyPr spcFirstLastPara="1" wrap="square" lIns="0" tIns="0" rIns="0" bIns="0" anchor="t" anchorCtr="0">
            <a:spAutoFit/>
          </a:bodyPr>
          <a:lstStyle>
            <a:lvl1pPr marL="124813" marR="0" lvl="0" indent="0" algn="l">
              <a:lnSpc>
                <a:spcPct val="111666"/>
              </a:lnSpc>
              <a:spcBef>
                <a:spcPts val="0"/>
              </a:spcBef>
              <a:spcAft>
                <a:spcPts val="0"/>
              </a:spcAft>
              <a:buClr>
                <a:srgbClr val="000000"/>
              </a:buClr>
              <a:buSzPts val="600"/>
              <a:buFont typeface="Arial"/>
              <a:buNone/>
              <a:defRPr sz="1268" b="0" i="0" u="none" strike="noStrike" cap="none">
                <a:solidFill>
                  <a:schemeClr val="dk1"/>
                </a:solidFill>
                <a:latin typeface="Calibri"/>
                <a:ea typeface="Calibri"/>
                <a:cs typeface="Calibri"/>
                <a:sym typeface="Calibri"/>
              </a:defRPr>
            </a:lvl1pPr>
            <a:lvl2pPr marL="124813" marR="0" lvl="1" indent="0" algn="l">
              <a:lnSpc>
                <a:spcPct val="111666"/>
              </a:lnSpc>
              <a:spcBef>
                <a:spcPts val="0"/>
              </a:spcBef>
              <a:spcAft>
                <a:spcPts val="0"/>
              </a:spcAft>
              <a:buClr>
                <a:srgbClr val="000000"/>
              </a:buClr>
              <a:buSzPts val="600"/>
              <a:buFont typeface="Arial"/>
              <a:buNone/>
              <a:defRPr sz="1268" b="0" i="0" u="none" strike="noStrike" cap="none">
                <a:solidFill>
                  <a:schemeClr val="dk1"/>
                </a:solidFill>
                <a:latin typeface="Calibri"/>
                <a:ea typeface="Calibri"/>
                <a:cs typeface="Calibri"/>
                <a:sym typeface="Calibri"/>
              </a:defRPr>
            </a:lvl2pPr>
            <a:lvl3pPr marL="124813" marR="0" lvl="2" indent="0" algn="l">
              <a:lnSpc>
                <a:spcPct val="111666"/>
              </a:lnSpc>
              <a:spcBef>
                <a:spcPts val="0"/>
              </a:spcBef>
              <a:spcAft>
                <a:spcPts val="0"/>
              </a:spcAft>
              <a:buClr>
                <a:srgbClr val="000000"/>
              </a:buClr>
              <a:buSzPts val="600"/>
              <a:buFont typeface="Arial"/>
              <a:buNone/>
              <a:defRPr sz="1268" b="0" i="0" u="none" strike="noStrike" cap="none">
                <a:solidFill>
                  <a:schemeClr val="dk1"/>
                </a:solidFill>
                <a:latin typeface="Calibri"/>
                <a:ea typeface="Calibri"/>
                <a:cs typeface="Calibri"/>
                <a:sym typeface="Calibri"/>
              </a:defRPr>
            </a:lvl3pPr>
            <a:lvl4pPr marL="124813" marR="0" lvl="3" indent="0" algn="l">
              <a:lnSpc>
                <a:spcPct val="111666"/>
              </a:lnSpc>
              <a:spcBef>
                <a:spcPts val="0"/>
              </a:spcBef>
              <a:spcAft>
                <a:spcPts val="0"/>
              </a:spcAft>
              <a:buClr>
                <a:srgbClr val="000000"/>
              </a:buClr>
              <a:buSzPts val="600"/>
              <a:buFont typeface="Arial"/>
              <a:buNone/>
              <a:defRPr sz="1268" b="0" i="0" u="none" strike="noStrike" cap="none">
                <a:solidFill>
                  <a:schemeClr val="dk1"/>
                </a:solidFill>
                <a:latin typeface="Calibri"/>
                <a:ea typeface="Calibri"/>
                <a:cs typeface="Calibri"/>
                <a:sym typeface="Calibri"/>
              </a:defRPr>
            </a:lvl4pPr>
            <a:lvl5pPr marL="124813" marR="0" lvl="4" indent="0" algn="l">
              <a:lnSpc>
                <a:spcPct val="111666"/>
              </a:lnSpc>
              <a:spcBef>
                <a:spcPts val="0"/>
              </a:spcBef>
              <a:spcAft>
                <a:spcPts val="0"/>
              </a:spcAft>
              <a:buClr>
                <a:srgbClr val="000000"/>
              </a:buClr>
              <a:buSzPts val="600"/>
              <a:buFont typeface="Arial"/>
              <a:buNone/>
              <a:defRPr sz="1268" b="0" i="0" u="none" strike="noStrike" cap="none">
                <a:solidFill>
                  <a:schemeClr val="dk1"/>
                </a:solidFill>
                <a:latin typeface="Calibri"/>
                <a:ea typeface="Calibri"/>
                <a:cs typeface="Calibri"/>
                <a:sym typeface="Calibri"/>
              </a:defRPr>
            </a:lvl5pPr>
            <a:lvl6pPr marL="124813" marR="0" lvl="5" indent="0" algn="l">
              <a:lnSpc>
                <a:spcPct val="111666"/>
              </a:lnSpc>
              <a:spcBef>
                <a:spcPts val="0"/>
              </a:spcBef>
              <a:spcAft>
                <a:spcPts val="0"/>
              </a:spcAft>
              <a:buClr>
                <a:srgbClr val="000000"/>
              </a:buClr>
              <a:buSzPts val="600"/>
              <a:buFont typeface="Arial"/>
              <a:buNone/>
              <a:defRPr sz="1268" b="0" i="0" u="none" strike="noStrike" cap="none">
                <a:solidFill>
                  <a:schemeClr val="dk1"/>
                </a:solidFill>
                <a:latin typeface="Calibri"/>
                <a:ea typeface="Calibri"/>
                <a:cs typeface="Calibri"/>
                <a:sym typeface="Calibri"/>
              </a:defRPr>
            </a:lvl6pPr>
            <a:lvl7pPr marL="124813" marR="0" lvl="6" indent="0" algn="l">
              <a:lnSpc>
                <a:spcPct val="111666"/>
              </a:lnSpc>
              <a:spcBef>
                <a:spcPts val="0"/>
              </a:spcBef>
              <a:spcAft>
                <a:spcPts val="0"/>
              </a:spcAft>
              <a:buClr>
                <a:srgbClr val="000000"/>
              </a:buClr>
              <a:buSzPts val="600"/>
              <a:buFont typeface="Arial"/>
              <a:buNone/>
              <a:defRPr sz="1268" b="0" i="0" u="none" strike="noStrike" cap="none">
                <a:solidFill>
                  <a:schemeClr val="dk1"/>
                </a:solidFill>
                <a:latin typeface="Calibri"/>
                <a:ea typeface="Calibri"/>
                <a:cs typeface="Calibri"/>
                <a:sym typeface="Calibri"/>
              </a:defRPr>
            </a:lvl7pPr>
            <a:lvl8pPr marL="124813" marR="0" lvl="7" indent="0" algn="l">
              <a:lnSpc>
                <a:spcPct val="111666"/>
              </a:lnSpc>
              <a:spcBef>
                <a:spcPts val="0"/>
              </a:spcBef>
              <a:spcAft>
                <a:spcPts val="0"/>
              </a:spcAft>
              <a:buClr>
                <a:srgbClr val="000000"/>
              </a:buClr>
              <a:buSzPts val="600"/>
              <a:buFont typeface="Arial"/>
              <a:buNone/>
              <a:defRPr sz="1268" b="0" i="0" u="none" strike="noStrike" cap="none">
                <a:solidFill>
                  <a:schemeClr val="dk1"/>
                </a:solidFill>
                <a:latin typeface="Calibri"/>
                <a:ea typeface="Calibri"/>
                <a:cs typeface="Calibri"/>
                <a:sym typeface="Calibri"/>
              </a:defRPr>
            </a:lvl8pPr>
            <a:lvl9pPr marL="124813" marR="0" lvl="8" indent="0" algn="l">
              <a:lnSpc>
                <a:spcPct val="111666"/>
              </a:lnSpc>
              <a:spcBef>
                <a:spcPts val="0"/>
              </a:spcBef>
              <a:spcAft>
                <a:spcPts val="0"/>
              </a:spcAft>
              <a:buClr>
                <a:srgbClr val="000000"/>
              </a:buClr>
              <a:buSzPts val="600"/>
              <a:buFont typeface="Arial"/>
              <a:buNone/>
              <a:defRPr sz="1268" b="0" i="0" u="none" strike="noStrike" cap="none">
                <a:solidFill>
                  <a:schemeClr val="dk1"/>
                </a:solidFill>
                <a:latin typeface="Calibri"/>
                <a:ea typeface="Calibri"/>
                <a:cs typeface="Calibri"/>
                <a:sym typeface="Calibri"/>
              </a:defRPr>
            </a:lvl9pPr>
          </a:lstStyle>
          <a:p>
            <a:fld id="{00000000-1234-1234-1234-123412341234}" type="slidenum">
              <a:rPr lang="en-US" smtClean="0"/>
              <a:pPr/>
              <a:t>‹#›</a:t>
            </a:fld>
            <a:r>
              <a:rPr lang="en-US"/>
              <a:t> / 46</a:t>
            </a:r>
          </a:p>
        </p:txBody>
      </p:sp>
      <p:sp>
        <p:nvSpPr>
          <p:cNvPr id="2" name="Google Shape;9;p32">
            <a:extLst>
              <a:ext uri="{FF2B5EF4-FFF2-40B4-BE49-F238E27FC236}">
                <a16:creationId xmlns:a16="http://schemas.microsoft.com/office/drawing/2014/main" id="{63DF31E0-A0D1-73B6-6B22-14377E225714}"/>
              </a:ext>
            </a:extLst>
          </p:cNvPr>
          <p:cNvSpPr txBox="1">
            <a:spLocks/>
          </p:cNvSpPr>
          <p:nvPr userDrawn="1"/>
        </p:nvSpPr>
        <p:spPr>
          <a:xfrm>
            <a:off x="994016" y="6431358"/>
            <a:ext cx="7985597" cy="195118"/>
          </a:xfrm>
          <a:prstGeom prst="rect">
            <a:avLst/>
          </a:prstGeom>
          <a:noFill/>
          <a:ln>
            <a:noFill/>
          </a:ln>
        </p:spPr>
        <p:txBody>
          <a:bodyPr spcFirstLastPara="1" wrap="square" lIns="0" tIns="0" rIns="0" bIns="0" anchor="t" anchorCtr="0">
            <a:spAutoFit/>
          </a:bodyPr>
          <a:lstStyle>
            <a:defPPr>
              <a:defRPr lang="en-US"/>
            </a:defPPr>
            <a:lvl1pPr marL="0" marR="0" lvl="0" algn="l" defTabSz="914400" rtl="0" eaLnBrk="1" latinLnBrk="0" hangingPunct="1">
              <a:lnSpc>
                <a:spcPct val="100000"/>
              </a:lnSpc>
              <a:spcBef>
                <a:spcPts val="0"/>
              </a:spcBef>
              <a:spcAft>
                <a:spcPts val="0"/>
              </a:spcAft>
              <a:buClr>
                <a:srgbClr val="000000"/>
              </a:buClr>
              <a:buSzPts val="1400"/>
              <a:buFont typeface="Arial"/>
              <a:buNone/>
              <a:defRPr sz="1268" b="0" i="0" u="none" strike="noStrike" kern="1200" cap="none">
                <a:solidFill>
                  <a:schemeClr val="dk1"/>
                </a:solidFill>
                <a:latin typeface="Calibri"/>
                <a:ea typeface="Calibri"/>
                <a:cs typeface="Calibri"/>
                <a:sym typeface="Calibri"/>
              </a:defRPr>
            </a:lvl1pPr>
            <a:lvl2pPr marL="457200" marR="0" lvl="1" algn="l" defTabSz="914400" rtl="0" eaLnBrk="1" latinLnBrk="0" hangingPunct="1">
              <a:lnSpc>
                <a:spcPct val="100000"/>
              </a:lnSpc>
              <a:spcBef>
                <a:spcPts val="0"/>
              </a:spcBef>
              <a:spcAft>
                <a:spcPts val="0"/>
              </a:spcAft>
              <a:buClr>
                <a:srgbClr val="000000"/>
              </a:buClr>
              <a:buSzPts val="1400"/>
              <a:buFont typeface="Arial"/>
              <a:buNone/>
              <a:defRPr sz="3804" b="0" i="0" u="none" strike="noStrike" kern="1200" cap="none">
                <a:solidFill>
                  <a:srgbClr val="000000"/>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SzPts val="1400"/>
              <a:buFont typeface="Arial"/>
              <a:buNone/>
              <a:defRPr sz="3804" b="0" i="0" u="none" strike="noStrike" kern="1200" cap="none">
                <a:solidFill>
                  <a:srgbClr val="000000"/>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SzPts val="1400"/>
              <a:buFont typeface="Arial"/>
              <a:buNone/>
              <a:defRPr sz="3804" b="0" i="0" u="none" strike="noStrike" kern="1200" cap="none">
                <a:solidFill>
                  <a:srgbClr val="000000"/>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SzPts val="1400"/>
              <a:buFont typeface="Arial"/>
              <a:buNone/>
              <a:defRPr sz="3804" b="0" i="0" u="none" strike="noStrike" kern="1200" cap="none">
                <a:solidFill>
                  <a:srgbClr val="000000"/>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SzPts val="1400"/>
              <a:buFont typeface="Arial"/>
              <a:buNone/>
              <a:defRPr sz="3804" b="0" i="0" u="none" strike="noStrike" kern="1200" cap="none">
                <a:solidFill>
                  <a:srgbClr val="000000"/>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SzPts val="1400"/>
              <a:buFont typeface="Arial"/>
              <a:buNone/>
              <a:defRPr sz="3804" b="0" i="0" u="none" strike="noStrike" kern="1200" cap="none">
                <a:solidFill>
                  <a:srgbClr val="000000"/>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SzPts val="1400"/>
              <a:buFont typeface="Arial"/>
              <a:buNone/>
              <a:defRPr sz="3804" b="0" i="0" u="none" strike="noStrike" kern="1200" cap="none">
                <a:solidFill>
                  <a:srgbClr val="000000"/>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SzPts val="1400"/>
              <a:buFont typeface="Arial"/>
              <a:buNone/>
              <a:defRPr sz="3804" b="0" i="0" u="none" strike="noStrike" kern="1200" cap="none">
                <a:solidFill>
                  <a:srgbClr val="000000"/>
                </a:solidFill>
                <a:latin typeface="Arial"/>
                <a:ea typeface="Arial"/>
                <a:cs typeface="Arial"/>
                <a:sym typeface="Arial"/>
              </a:defRPr>
            </a:lvl9pPr>
          </a:lstStyle>
          <a:p>
            <a:r>
              <a:rPr lang="en-US"/>
              <a:t>Faculty Development Workshop on Deep Reinforcement Learning - 9 &amp; 10 March , 2026</a:t>
            </a:r>
            <a:endParaRPr lang="en-US" dirty="0"/>
          </a:p>
        </p:txBody>
      </p:sp>
    </p:spTree>
    <p:extLst>
      <p:ext uri="{BB962C8B-B14F-4D97-AF65-F5344CB8AC3E}">
        <p14:creationId xmlns:p14="http://schemas.microsoft.com/office/powerpoint/2010/main" val="730771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22273-F2E3-E5EC-42CC-1B48E640A9E0}"/>
              </a:ext>
            </a:extLst>
          </p:cNvPr>
          <p:cNvSpPr>
            <a:spLocks noGrp="1"/>
          </p:cNvSpPr>
          <p:nvPr>
            <p:ph type="title"/>
          </p:nvPr>
        </p:nvSpPr>
        <p:spPr/>
        <p:txBody>
          <a:bodyPr/>
          <a:lstStyle/>
          <a:p>
            <a:r>
              <a:rPr lang="en-GB"/>
              <a:t>Click to edit Master title style</a:t>
            </a:r>
            <a:endParaRPr lang="en-US"/>
          </a:p>
        </p:txBody>
      </p:sp>
      <p:sp>
        <p:nvSpPr>
          <p:cNvPr id="3" name="Footer Placeholder 2">
            <a:extLst>
              <a:ext uri="{FF2B5EF4-FFF2-40B4-BE49-F238E27FC236}">
                <a16:creationId xmlns:a16="http://schemas.microsoft.com/office/drawing/2014/main" id="{B25E7444-89E2-84D5-5911-966E318F287D}"/>
              </a:ext>
            </a:extLst>
          </p:cNvPr>
          <p:cNvSpPr>
            <a:spLocks noGrp="1"/>
          </p:cNvSpPr>
          <p:nvPr>
            <p:ph type="ftr" idx="10"/>
          </p:nvPr>
        </p:nvSpPr>
        <p:spPr>
          <a:xfrm>
            <a:off x="3346797" y="6507925"/>
            <a:ext cx="8057517" cy="975588"/>
          </a:xfrm>
        </p:spPr>
        <p:txBody>
          <a:bodyPr/>
          <a:lstStyle/>
          <a:p>
            <a:r>
              <a:rPr lang="en-IN"/>
              <a:t>Faculty Development Workshop on Deep Reinforcement Learning - 9 &amp; 10 March,2026</a:t>
            </a:r>
            <a:endParaRPr lang="en-IN" dirty="0"/>
          </a:p>
        </p:txBody>
      </p:sp>
    </p:spTree>
    <p:extLst>
      <p:ext uri="{BB962C8B-B14F-4D97-AF65-F5344CB8AC3E}">
        <p14:creationId xmlns:p14="http://schemas.microsoft.com/office/powerpoint/2010/main" val="3358545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17" name="Google Shape;17;p34"/>
          <p:cNvSpPr txBox="1">
            <a:spLocks noGrp="1"/>
          </p:cNvSpPr>
          <p:nvPr>
            <p:ph type="title"/>
          </p:nvPr>
        </p:nvSpPr>
        <p:spPr>
          <a:xfrm>
            <a:off x="174662" y="231524"/>
            <a:ext cx="10453163" cy="55290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593" b="0" i="0">
                <a:solidFill>
                  <a:srgbClr val="1B147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34"/>
          <p:cNvSpPr txBox="1">
            <a:spLocks noGrp="1"/>
          </p:cNvSpPr>
          <p:nvPr>
            <p:ph type="body" idx="1"/>
          </p:nvPr>
        </p:nvSpPr>
        <p:spPr>
          <a:xfrm>
            <a:off x="680657" y="3165995"/>
            <a:ext cx="8061759" cy="341504"/>
          </a:xfrm>
          <a:prstGeom prst="rect">
            <a:avLst/>
          </a:prstGeom>
          <a:noFill/>
          <a:ln>
            <a:noFill/>
          </a:ln>
        </p:spPr>
        <p:txBody>
          <a:bodyPr spcFirstLastPara="1" wrap="square" lIns="0" tIns="0" rIns="0" bIns="0" anchor="t" anchorCtr="0">
            <a:spAutoFit/>
          </a:bodyPr>
          <a:lstStyle>
            <a:lvl1pPr marL="966292" lvl="0" indent="-483146" algn="l">
              <a:lnSpc>
                <a:spcPct val="100000"/>
              </a:lnSpc>
              <a:spcBef>
                <a:spcPts val="0"/>
              </a:spcBef>
              <a:spcAft>
                <a:spcPts val="0"/>
              </a:spcAft>
              <a:buSzPts val="1400"/>
              <a:buNone/>
              <a:defRPr sz="2219" b="0" i="0">
                <a:solidFill>
                  <a:srgbClr val="1B1472"/>
                </a:solidFill>
                <a:latin typeface="Arial"/>
                <a:ea typeface="Arial"/>
                <a:cs typeface="Arial"/>
                <a:sym typeface="Arial"/>
              </a:defRPr>
            </a:lvl1pPr>
            <a:lvl2pPr marL="1932584" lvl="1" indent="-483146" algn="l">
              <a:lnSpc>
                <a:spcPct val="100000"/>
              </a:lnSpc>
              <a:spcBef>
                <a:spcPts val="0"/>
              </a:spcBef>
              <a:spcAft>
                <a:spcPts val="0"/>
              </a:spcAft>
              <a:buSzPts val="1400"/>
              <a:buNone/>
              <a:defRPr/>
            </a:lvl2pPr>
            <a:lvl3pPr marL="2898877" lvl="2" indent="-483146" algn="l">
              <a:lnSpc>
                <a:spcPct val="100000"/>
              </a:lnSpc>
              <a:spcBef>
                <a:spcPts val="0"/>
              </a:spcBef>
              <a:spcAft>
                <a:spcPts val="0"/>
              </a:spcAft>
              <a:buSzPts val="1400"/>
              <a:buNone/>
              <a:defRPr/>
            </a:lvl3pPr>
            <a:lvl4pPr marL="3865169" lvl="3" indent="-483146" algn="l">
              <a:lnSpc>
                <a:spcPct val="100000"/>
              </a:lnSpc>
              <a:spcBef>
                <a:spcPts val="0"/>
              </a:spcBef>
              <a:spcAft>
                <a:spcPts val="0"/>
              </a:spcAft>
              <a:buSzPts val="1400"/>
              <a:buNone/>
              <a:defRPr/>
            </a:lvl4pPr>
            <a:lvl5pPr marL="4831461" lvl="4" indent="-483146" algn="l">
              <a:lnSpc>
                <a:spcPct val="100000"/>
              </a:lnSpc>
              <a:spcBef>
                <a:spcPts val="0"/>
              </a:spcBef>
              <a:spcAft>
                <a:spcPts val="0"/>
              </a:spcAft>
              <a:buSzPts val="1400"/>
              <a:buNone/>
              <a:defRPr/>
            </a:lvl5pPr>
            <a:lvl6pPr marL="5797753" lvl="5" indent="-483146" algn="l">
              <a:lnSpc>
                <a:spcPct val="100000"/>
              </a:lnSpc>
              <a:spcBef>
                <a:spcPts val="0"/>
              </a:spcBef>
              <a:spcAft>
                <a:spcPts val="0"/>
              </a:spcAft>
              <a:buSzPts val="1400"/>
              <a:buNone/>
              <a:defRPr/>
            </a:lvl6pPr>
            <a:lvl7pPr marL="6764045" lvl="6" indent="-483146" algn="l">
              <a:lnSpc>
                <a:spcPct val="100000"/>
              </a:lnSpc>
              <a:spcBef>
                <a:spcPts val="0"/>
              </a:spcBef>
              <a:spcAft>
                <a:spcPts val="0"/>
              </a:spcAft>
              <a:buSzPts val="1400"/>
              <a:buNone/>
              <a:defRPr/>
            </a:lvl7pPr>
            <a:lvl8pPr marL="7730338" lvl="7" indent="-483146" algn="l">
              <a:lnSpc>
                <a:spcPct val="100000"/>
              </a:lnSpc>
              <a:spcBef>
                <a:spcPts val="0"/>
              </a:spcBef>
              <a:spcAft>
                <a:spcPts val="0"/>
              </a:spcAft>
              <a:buSzPts val="1400"/>
              <a:buNone/>
              <a:defRPr/>
            </a:lvl8pPr>
            <a:lvl9pPr marL="8696630" lvl="8" indent="-483146" algn="l">
              <a:lnSpc>
                <a:spcPct val="100000"/>
              </a:lnSpc>
              <a:spcBef>
                <a:spcPts val="0"/>
              </a:spcBef>
              <a:spcAft>
                <a:spcPts val="0"/>
              </a:spcAft>
              <a:buSzPts val="1400"/>
              <a:buNone/>
              <a:defRPr/>
            </a:lvl9pPr>
          </a:lstStyle>
          <a:p>
            <a:endParaRPr/>
          </a:p>
        </p:txBody>
      </p:sp>
      <p:sp>
        <p:nvSpPr>
          <p:cNvPr id="19" name="Google Shape;19;p34"/>
          <p:cNvSpPr txBox="1">
            <a:spLocks noGrp="1"/>
          </p:cNvSpPr>
          <p:nvPr>
            <p:ph type="ftr" idx="11"/>
          </p:nvPr>
        </p:nvSpPr>
        <p:spPr>
          <a:xfrm>
            <a:off x="1209773" y="6631479"/>
            <a:ext cx="1554883" cy="19511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68"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Faculty Development Workshop on Deep Reinforcement Learning - 9 &amp; 10 March,2026</a:t>
            </a:r>
            <a:endParaRPr/>
          </a:p>
        </p:txBody>
      </p:sp>
      <p:sp>
        <p:nvSpPr>
          <p:cNvPr id="20" name="Google Shape;20;p34"/>
          <p:cNvSpPr txBox="1">
            <a:spLocks noGrp="1"/>
          </p:cNvSpPr>
          <p:nvPr>
            <p:ph type="dt" idx="10"/>
          </p:nvPr>
        </p:nvSpPr>
        <p:spPr>
          <a:xfrm>
            <a:off x="609600" y="6377939"/>
            <a:ext cx="2804160" cy="58541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3017523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2"/>
        <p:cNvGrpSpPr/>
        <p:nvPr/>
      </p:nvGrpSpPr>
      <p:grpSpPr>
        <a:xfrm>
          <a:off x="0" y="0"/>
          <a:ext cx="0" cy="0"/>
          <a:chOff x="0" y="0"/>
          <a:chExt cx="0" cy="0"/>
        </a:xfrm>
      </p:grpSpPr>
      <p:sp>
        <p:nvSpPr>
          <p:cNvPr id="23" name="Google Shape;23;p35"/>
          <p:cNvSpPr txBox="1">
            <a:spLocks noGrp="1"/>
          </p:cNvSpPr>
          <p:nvPr>
            <p:ph type="title"/>
          </p:nvPr>
        </p:nvSpPr>
        <p:spPr>
          <a:xfrm>
            <a:off x="174662" y="231524"/>
            <a:ext cx="10453163" cy="55290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593" b="0" i="0">
                <a:solidFill>
                  <a:srgbClr val="1B147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5"/>
          <p:cNvSpPr txBox="1">
            <a:spLocks noGrp="1"/>
          </p:cNvSpPr>
          <p:nvPr>
            <p:ph type="body" idx="1"/>
          </p:nvPr>
        </p:nvSpPr>
        <p:spPr>
          <a:xfrm>
            <a:off x="609601" y="1577340"/>
            <a:ext cx="5303520" cy="161583"/>
          </a:xfrm>
          <a:prstGeom prst="rect">
            <a:avLst/>
          </a:prstGeom>
          <a:noFill/>
          <a:ln>
            <a:noFill/>
          </a:ln>
        </p:spPr>
        <p:txBody>
          <a:bodyPr spcFirstLastPara="1" wrap="square" lIns="0" tIns="0" rIns="0" bIns="0" anchor="t" anchorCtr="0">
            <a:spAutoFit/>
          </a:bodyPr>
          <a:lstStyle>
            <a:lvl1pPr marL="966292" lvl="0" indent="-483146" algn="l">
              <a:lnSpc>
                <a:spcPct val="100000"/>
              </a:lnSpc>
              <a:spcBef>
                <a:spcPts val="0"/>
              </a:spcBef>
              <a:spcAft>
                <a:spcPts val="0"/>
              </a:spcAft>
              <a:buSzPts val="1400"/>
              <a:buNone/>
              <a:defRPr/>
            </a:lvl1pPr>
            <a:lvl2pPr marL="1932584" lvl="1" indent="-483146" algn="l">
              <a:lnSpc>
                <a:spcPct val="100000"/>
              </a:lnSpc>
              <a:spcBef>
                <a:spcPts val="0"/>
              </a:spcBef>
              <a:spcAft>
                <a:spcPts val="0"/>
              </a:spcAft>
              <a:buSzPts val="1400"/>
              <a:buNone/>
              <a:defRPr/>
            </a:lvl2pPr>
            <a:lvl3pPr marL="2898877" lvl="2" indent="-483146" algn="l">
              <a:lnSpc>
                <a:spcPct val="100000"/>
              </a:lnSpc>
              <a:spcBef>
                <a:spcPts val="0"/>
              </a:spcBef>
              <a:spcAft>
                <a:spcPts val="0"/>
              </a:spcAft>
              <a:buSzPts val="1400"/>
              <a:buNone/>
              <a:defRPr/>
            </a:lvl3pPr>
            <a:lvl4pPr marL="3865169" lvl="3" indent="-483146" algn="l">
              <a:lnSpc>
                <a:spcPct val="100000"/>
              </a:lnSpc>
              <a:spcBef>
                <a:spcPts val="0"/>
              </a:spcBef>
              <a:spcAft>
                <a:spcPts val="0"/>
              </a:spcAft>
              <a:buSzPts val="1400"/>
              <a:buNone/>
              <a:defRPr/>
            </a:lvl4pPr>
            <a:lvl5pPr marL="4831461" lvl="4" indent="-483146" algn="l">
              <a:lnSpc>
                <a:spcPct val="100000"/>
              </a:lnSpc>
              <a:spcBef>
                <a:spcPts val="0"/>
              </a:spcBef>
              <a:spcAft>
                <a:spcPts val="0"/>
              </a:spcAft>
              <a:buSzPts val="1400"/>
              <a:buNone/>
              <a:defRPr/>
            </a:lvl5pPr>
            <a:lvl6pPr marL="5797753" lvl="5" indent="-483146" algn="l">
              <a:lnSpc>
                <a:spcPct val="100000"/>
              </a:lnSpc>
              <a:spcBef>
                <a:spcPts val="0"/>
              </a:spcBef>
              <a:spcAft>
                <a:spcPts val="0"/>
              </a:spcAft>
              <a:buSzPts val="1400"/>
              <a:buNone/>
              <a:defRPr/>
            </a:lvl6pPr>
            <a:lvl7pPr marL="6764045" lvl="6" indent="-483146" algn="l">
              <a:lnSpc>
                <a:spcPct val="100000"/>
              </a:lnSpc>
              <a:spcBef>
                <a:spcPts val="0"/>
              </a:spcBef>
              <a:spcAft>
                <a:spcPts val="0"/>
              </a:spcAft>
              <a:buSzPts val="1400"/>
              <a:buNone/>
              <a:defRPr/>
            </a:lvl7pPr>
            <a:lvl8pPr marL="7730338" lvl="7" indent="-483146" algn="l">
              <a:lnSpc>
                <a:spcPct val="100000"/>
              </a:lnSpc>
              <a:spcBef>
                <a:spcPts val="0"/>
              </a:spcBef>
              <a:spcAft>
                <a:spcPts val="0"/>
              </a:spcAft>
              <a:buSzPts val="1400"/>
              <a:buNone/>
              <a:defRPr/>
            </a:lvl8pPr>
            <a:lvl9pPr marL="8696630" lvl="8" indent="-483146" algn="l">
              <a:lnSpc>
                <a:spcPct val="100000"/>
              </a:lnSpc>
              <a:spcBef>
                <a:spcPts val="0"/>
              </a:spcBef>
              <a:spcAft>
                <a:spcPts val="0"/>
              </a:spcAft>
              <a:buSzPts val="1400"/>
              <a:buNone/>
              <a:defRPr/>
            </a:lvl9pPr>
          </a:lstStyle>
          <a:p>
            <a:endParaRPr/>
          </a:p>
        </p:txBody>
      </p:sp>
      <p:sp>
        <p:nvSpPr>
          <p:cNvPr id="25" name="Google Shape;25;p35"/>
          <p:cNvSpPr txBox="1">
            <a:spLocks noGrp="1"/>
          </p:cNvSpPr>
          <p:nvPr>
            <p:ph type="body" idx="2"/>
          </p:nvPr>
        </p:nvSpPr>
        <p:spPr>
          <a:xfrm>
            <a:off x="6278881" y="1577340"/>
            <a:ext cx="5303520" cy="161583"/>
          </a:xfrm>
          <a:prstGeom prst="rect">
            <a:avLst/>
          </a:prstGeom>
          <a:noFill/>
          <a:ln>
            <a:noFill/>
          </a:ln>
        </p:spPr>
        <p:txBody>
          <a:bodyPr spcFirstLastPara="1" wrap="square" lIns="0" tIns="0" rIns="0" bIns="0" anchor="t" anchorCtr="0">
            <a:spAutoFit/>
          </a:bodyPr>
          <a:lstStyle>
            <a:lvl1pPr marL="966292" lvl="0" indent="-483146" algn="l">
              <a:lnSpc>
                <a:spcPct val="100000"/>
              </a:lnSpc>
              <a:spcBef>
                <a:spcPts val="0"/>
              </a:spcBef>
              <a:spcAft>
                <a:spcPts val="0"/>
              </a:spcAft>
              <a:buSzPts val="1400"/>
              <a:buNone/>
              <a:defRPr/>
            </a:lvl1pPr>
            <a:lvl2pPr marL="1932584" lvl="1" indent="-483146" algn="l">
              <a:lnSpc>
                <a:spcPct val="100000"/>
              </a:lnSpc>
              <a:spcBef>
                <a:spcPts val="0"/>
              </a:spcBef>
              <a:spcAft>
                <a:spcPts val="0"/>
              </a:spcAft>
              <a:buSzPts val="1400"/>
              <a:buNone/>
              <a:defRPr/>
            </a:lvl2pPr>
            <a:lvl3pPr marL="2898877" lvl="2" indent="-483146" algn="l">
              <a:lnSpc>
                <a:spcPct val="100000"/>
              </a:lnSpc>
              <a:spcBef>
                <a:spcPts val="0"/>
              </a:spcBef>
              <a:spcAft>
                <a:spcPts val="0"/>
              </a:spcAft>
              <a:buSzPts val="1400"/>
              <a:buNone/>
              <a:defRPr/>
            </a:lvl3pPr>
            <a:lvl4pPr marL="3865169" lvl="3" indent="-483146" algn="l">
              <a:lnSpc>
                <a:spcPct val="100000"/>
              </a:lnSpc>
              <a:spcBef>
                <a:spcPts val="0"/>
              </a:spcBef>
              <a:spcAft>
                <a:spcPts val="0"/>
              </a:spcAft>
              <a:buSzPts val="1400"/>
              <a:buNone/>
              <a:defRPr/>
            </a:lvl4pPr>
            <a:lvl5pPr marL="4831461" lvl="4" indent="-483146" algn="l">
              <a:lnSpc>
                <a:spcPct val="100000"/>
              </a:lnSpc>
              <a:spcBef>
                <a:spcPts val="0"/>
              </a:spcBef>
              <a:spcAft>
                <a:spcPts val="0"/>
              </a:spcAft>
              <a:buSzPts val="1400"/>
              <a:buNone/>
              <a:defRPr/>
            </a:lvl5pPr>
            <a:lvl6pPr marL="5797753" lvl="5" indent="-483146" algn="l">
              <a:lnSpc>
                <a:spcPct val="100000"/>
              </a:lnSpc>
              <a:spcBef>
                <a:spcPts val="0"/>
              </a:spcBef>
              <a:spcAft>
                <a:spcPts val="0"/>
              </a:spcAft>
              <a:buSzPts val="1400"/>
              <a:buNone/>
              <a:defRPr/>
            </a:lvl6pPr>
            <a:lvl7pPr marL="6764045" lvl="6" indent="-483146" algn="l">
              <a:lnSpc>
                <a:spcPct val="100000"/>
              </a:lnSpc>
              <a:spcBef>
                <a:spcPts val="0"/>
              </a:spcBef>
              <a:spcAft>
                <a:spcPts val="0"/>
              </a:spcAft>
              <a:buSzPts val="1400"/>
              <a:buNone/>
              <a:defRPr/>
            </a:lvl7pPr>
            <a:lvl8pPr marL="7730338" lvl="7" indent="-483146" algn="l">
              <a:lnSpc>
                <a:spcPct val="100000"/>
              </a:lnSpc>
              <a:spcBef>
                <a:spcPts val="0"/>
              </a:spcBef>
              <a:spcAft>
                <a:spcPts val="0"/>
              </a:spcAft>
              <a:buSzPts val="1400"/>
              <a:buNone/>
              <a:defRPr/>
            </a:lvl8pPr>
            <a:lvl9pPr marL="8696630" lvl="8" indent="-483146" algn="l">
              <a:lnSpc>
                <a:spcPct val="100000"/>
              </a:lnSpc>
              <a:spcBef>
                <a:spcPts val="0"/>
              </a:spcBef>
              <a:spcAft>
                <a:spcPts val="0"/>
              </a:spcAft>
              <a:buSzPts val="1400"/>
              <a:buNone/>
              <a:defRPr/>
            </a:lvl9pPr>
          </a:lstStyle>
          <a:p>
            <a:endParaRPr/>
          </a:p>
        </p:txBody>
      </p:sp>
      <p:sp>
        <p:nvSpPr>
          <p:cNvPr id="26" name="Google Shape;26;p35"/>
          <p:cNvSpPr txBox="1">
            <a:spLocks noGrp="1"/>
          </p:cNvSpPr>
          <p:nvPr>
            <p:ph type="ftr" idx="11"/>
          </p:nvPr>
        </p:nvSpPr>
        <p:spPr>
          <a:xfrm>
            <a:off x="1209773" y="6631479"/>
            <a:ext cx="1554883" cy="19511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68"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Faculty Development Workshop on Deep Reinforcement Learning - 9 &amp; 10 March,2026</a:t>
            </a:r>
            <a:endParaRPr/>
          </a:p>
        </p:txBody>
      </p:sp>
      <p:sp>
        <p:nvSpPr>
          <p:cNvPr id="27" name="Google Shape;27;p35"/>
          <p:cNvSpPr txBox="1">
            <a:spLocks noGrp="1"/>
          </p:cNvSpPr>
          <p:nvPr>
            <p:ph type="dt" idx="10"/>
          </p:nvPr>
        </p:nvSpPr>
        <p:spPr>
          <a:xfrm>
            <a:off x="609600" y="6377939"/>
            <a:ext cx="2804160" cy="58541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737188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9"/>
        <p:cNvGrpSpPr/>
        <p:nvPr/>
      </p:nvGrpSpPr>
      <p:grpSpPr>
        <a:xfrm>
          <a:off x="0" y="0"/>
          <a:ext cx="0" cy="0"/>
          <a:chOff x="0" y="0"/>
          <a:chExt cx="0" cy="0"/>
        </a:xfrm>
      </p:grpSpPr>
      <p:sp>
        <p:nvSpPr>
          <p:cNvPr id="30" name="Google Shape;30;p36"/>
          <p:cNvSpPr txBox="1">
            <a:spLocks noGrp="1"/>
          </p:cNvSpPr>
          <p:nvPr>
            <p:ph type="title"/>
          </p:nvPr>
        </p:nvSpPr>
        <p:spPr>
          <a:xfrm>
            <a:off x="174662" y="231524"/>
            <a:ext cx="10453163" cy="55290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3593" b="0" i="0">
                <a:solidFill>
                  <a:srgbClr val="1B147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36"/>
          <p:cNvSpPr txBox="1">
            <a:spLocks noGrp="1"/>
          </p:cNvSpPr>
          <p:nvPr>
            <p:ph type="ftr" idx="11"/>
          </p:nvPr>
        </p:nvSpPr>
        <p:spPr>
          <a:xfrm>
            <a:off x="1209773" y="6631479"/>
            <a:ext cx="1554883" cy="195118"/>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268" b="0" i="0">
                <a:solidFill>
                  <a:schemeClr val="dk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IN"/>
              <a:t>Faculty Development Workshop on Deep Reinforcement Learning - 9 &amp; 10 March,2026</a:t>
            </a:r>
            <a:endParaRPr/>
          </a:p>
        </p:txBody>
      </p:sp>
      <p:sp>
        <p:nvSpPr>
          <p:cNvPr id="32" name="Google Shape;32;p36"/>
          <p:cNvSpPr txBox="1">
            <a:spLocks noGrp="1"/>
          </p:cNvSpPr>
          <p:nvPr>
            <p:ph type="dt" idx="10"/>
          </p:nvPr>
        </p:nvSpPr>
        <p:spPr>
          <a:xfrm>
            <a:off x="609600" y="6377939"/>
            <a:ext cx="2804160" cy="585417"/>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extLst>
      <p:ext uri="{BB962C8B-B14F-4D97-AF65-F5344CB8AC3E}">
        <p14:creationId xmlns:p14="http://schemas.microsoft.com/office/powerpoint/2010/main" val="1453485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C4AC9-B7CE-0B8D-E4B8-7D9E3BF9F28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CBDED586-33F5-7A80-594D-47FAE79F60B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953EE5B-AC57-CEEA-AE03-E938C8F614FF}"/>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6004AE9-1624-B857-97A0-096CE61D7BCE}"/>
              </a:ext>
            </a:extLst>
          </p:cNvPr>
          <p:cNvSpPr>
            <a:spLocks noGrp="1"/>
          </p:cNvSpPr>
          <p:nvPr>
            <p:ph type="ftr" sz="quarter" idx="11"/>
          </p:nvPr>
        </p:nvSpPr>
        <p:spPr/>
        <p:txBody>
          <a:bodyPr/>
          <a:lstStyle/>
          <a:p>
            <a:r>
              <a:rPr lang="en-US"/>
              <a:t>Faculty Development Workshop on Deep Reinforcement Learning - 9 &amp; 10 March,2026</a:t>
            </a:r>
          </a:p>
        </p:txBody>
      </p:sp>
      <p:sp>
        <p:nvSpPr>
          <p:cNvPr id="6" name="Slide Number Placeholder 5">
            <a:extLst>
              <a:ext uri="{FF2B5EF4-FFF2-40B4-BE49-F238E27FC236}">
                <a16:creationId xmlns:a16="http://schemas.microsoft.com/office/drawing/2014/main" id="{6C05F7B6-D2FA-8C8A-6BBA-B6E71970040A}"/>
              </a:ext>
            </a:extLst>
          </p:cNvPr>
          <p:cNvSpPr>
            <a:spLocks noGrp="1"/>
          </p:cNvSpPr>
          <p:nvPr>
            <p:ph type="sldNum" sz="quarter" idx="12"/>
          </p:nvPr>
        </p:nvSpPr>
        <p:spPr/>
        <p:txBody>
          <a:bodyPr/>
          <a:lstStyle/>
          <a:p>
            <a:fld id="{6612452E-E194-7743-A088-CC2C83C48BF4}" type="slidenum">
              <a:rPr lang="en-US" smtClean="0"/>
              <a:t>‹#›</a:t>
            </a:fld>
            <a:endParaRPr lang="en-US"/>
          </a:p>
        </p:txBody>
      </p:sp>
    </p:spTree>
    <p:extLst>
      <p:ext uri="{BB962C8B-B14F-4D97-AF65-F5344CB8AC3E}">
        <p14:creationId xmlns:p14="http://schemas.microsoft.com/office/powerpoint/2010/main" val="466637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57DD7-3E00-BBEE-DEE7-CA865EE94CB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C40A91C4-A51F-02E5-9E21-E22F572F92C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14A6779-B824-83CB-5ECF-334A3AC2BBE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E0DB89F-2F35-511B-C20E-BE1951F79E44}"/>
              </a:ext>
            </a:extLst>
          </p:cNvPr>
          <p:cNvSpPr>
            <a:spLocks noGrp="1"/>
          </p:cNvSpPr>
          <p:nvPr>
            <p:ph type="ftr" sz="quarter" idx="11"/>
          </p:nvPr>
        </p:nvSpPr>
        <p:spPr/>
        <p:txBody>
          <a:bodyPr/>
          <a:lstStyle/>
          <a:p>
            <a:r>
              <a:rPr lang="en-US"/>
              <a:t>Faculty Development Workshop on Deep Reinforcement Learning - 9 &amp; 10 March,2026</a:t>
            </a:r>
          </a:p>
        </p:txBody>
      </p:sp>
      <p:sp>
        <p:nvSpPr>
          <p:cNvPr id="6" name="Slide Number Placeholder 5">
            <a:extLst>
              <a:ext uri="{FF2B5EF4-FFF2-40B4-BE49-F238E27FC236}">
                <a16:creationId xmlns:a16="http://schemas.microsoft.com/office/drawing/2014/main" id="{62F15B5A-443C-0BEA-74EC-C16BC01B1C13}"/>
              </a:ext>
            </a:extLst>
          </p:cNvPr>
          <p:cNvSpPr>
            <a:spLocks noGrp="1"/>
          </p:cNvSpPr>
          <p:nvPr>
            <p:ph type="sldNum" sz="quarter" idx="12"/>
          </p:nvPr>
        </p:nvSpPr>
        <p:spPr/>
        <p:txBody>
          <a:bodyPr/>
          <a:lstStyle/>
          <a:p>
            <a:fld id="{6612452E-E194-7743-A088-CC2C83C48BF4}" type="slidenum">
              <a:rPr lang="en-US" smtClean="0"/>
              <a:t>‹#›</a:t>
            </a:fld>
            <a:endParaRPr lang="en-US"/>
          </a:p>
        </p:txBody>
      </p:sp>
    </p:spTree>
    <p:extLst>
      <p:ext uri="{BB962C8B-B14F-4D97-AF65-F5344CB8AC3E}">
        <p14:creationId xmlns:p14="http://schemas.microsoft.com/office/powerpoint/2010/main" val="1129926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E7EA6-998C-9393-7E02-06466C20D1E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59EC880-3630-0131-ED7D-6700B012A2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3302281-35AB-11FF-9C61-94992DC49B0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0AEB17D6-7A90-AE65-AB6A-179E2CF110F2}"/>
              </a:ext>
            </a:extLst>
          </p:cNvPr>
          <p:cNvSpPr>
            <a:spLocks noGrp="1"/>
          </p:cNvSpPr>
          <p:nvPr>
            <p:ph type="ftr" sz="quarter" idx="11"/>
          </p:nvPr>
        </p:nvSpPr>
        <p:spPr/>
        <p:txBody>
          <a:bodyPr/>
          <a:lstStyle/>
          <a:p>
            <a:r>
              <a:rPr lang="en-US"/>
              <a:t>Faculty Development Workshop on Deep Reinforcement Learning - 9 &amp; 10 March,2026</a:t>
            </a:r>
          </a:p>
        </p:txBody>
      </p:sp>
      <p:sp>
        <p:nvSpPr>
          <p:cNvPr id="6" name="Slide Number Placeholder 5">
            <a:extLst>
              <a:ext uri="{FF2B5EF4-FFF2-40B4-BE49-F238E27FC236}">
                <a16:creationId xmlns:a16="http://schemas.microsoft.com/office/drawing/2014/main" id="{BAB910C6-141E-9B8A-28EB-B6D4003B3238}"/>
              </a:ext>
            </a:extLst>
          </p:cNvPr>
          <p:cNvSpPr>
            <a:spLocks noGrp="1"/>
          </p:cNvSpPr>
          <p:nvPr>
            <p:ph type="sldNum" sz="quarter" idx="12"/>
          </p:nvPr>
        </p:nvSpPr>
        <p:spPr/>
        <p:txBody>
          <a:bodyPr/>
          <a:lstStyle/>
          <a:p>
            <a:fld id="{6612452E-E194-7743-A088-CC2C83C48BF4}" type="slidenum">
              <a:rPr lang="en-US" smtClean="0"/>
              <a:t>‹#›</a:t>
            </a:fld>
            <a:endParaRPr lang="en-US"/>
          </a:p>
        </p:txBody>
      </p:sp>
    </p:spTree>
    <p:extLst>
      <p:ext uri="{BB962C8B-B14F-4D97-AF65-F5344CB8AC3E}">
        <p14:creationId xmlns:p14="http://schemas.microsoft.com/office/powerpoint/2010/main" val="10674297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EAEFA-F090-A1AD-B432-331F287CA77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8157862-7E51-7560-474B-1DCD6216737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F364FC0-2D16-D51D-3B45-628722DC208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DDC3D4A-1D12-C8D8-DAC8-822AB6B6952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221C25CF-05AB-CCF1-1CB2-95A716320F13}"/>
              </a:ext>
            </a:extLst>
          </p:cNvPr>
          <p:cNvSpPr>
            <a:spLocks noGrp="1"/>
          </p:cNvSpPr>
          <p:nvPr>
            <p:ph type="ftr" sz="quarter" idx="11"/>
          </p:nvPr>
        </p:nvSpPr>
        <p:spPr/>
        <p:txBody>
          <a:bodyPr/>
          <a:lstStyle/>
          <a:p>
            <a:r>
              <a:rPr lang="en-US"/>
              <a:t>Faculty Development Workshop on Deep Reinforcement Learning - 9 &amp; 10 March,2026</a:t>
            </a:r>
          </a:p>
        </p:txBody>
      </p:sp>
      <p:sp>
        <p:nvSpPr>
          <p:cNvPr id="7" name="Slide Number Placeholder 6">
            <a:extLst>
              <a:ext uri="{FF2B5EF4-FFF2-40B4-BE49-F238E27FC236}">
                <a16:creationId xmlns:a16="http://schemas.microsoft.com/office/drawing/2014/main" id="{849AD5B2-86BC-5D3C-FE4F-3ACEE1EF9AA6}"/>
              </a:ext>
            </a:extLst>
          </p:cNvPr>
          <p:cNvSpPr>
            <a:spLocks noGrp="1"/>
          </p:cNvSpPr>
          <p:nvPr>
            <p:ph type="sldNum" sz="quarter" idx="12"/>
          </p:nvPr>
        </p:nvSpPr>
        <p:spPr/>
        <p:txBody>
          <a:bodyPr/>
          <a:lstStyle/>
          <a:p>
            <a:fld id="{6612452E-E194-7743-A088-CC2C83C48BF4}" type="slidenum">
              <a:rPr lang="en-US" smtClean="0"/>
              <a:t>‹#›</a:t>
            </a:fld>
            <a:endParaRPr lang="en-US"/>
          </a:p>
        </p:txBody>
      </p:sp>
    </p:spTree>
    <p:extLst>
      <p:ext uri="{BB962C8B-B14F-4D97-AF65-F5344CB8AC3E}">
        <p14:creationId xmlns:p14="http://schemas.microsoft.com/office/powerpoint/2010/main" val="3206709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7EE76-EA4F-27A7-A9BD-1FC56B01D716}"/>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416F1AF-4B46-9E1C-8666-07AA94046D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23AAF24-4C2C-9DCB-61D6-E44723C8905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81BC6A2-3354-8FB0-5B48-9C84C34FB2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D425BE2-5568-6817-5FCF-4F49D8C41B6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168F015-6ECA-0156-D520-BA1A4DE39FE1}"/>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268852B6-7F81-DD99-AA84-8928852151F9}"/>
              </a:ext>
            </a:extLst>
          </p:cNvPr>
          <p:cNvSpPr>
            <a:spLocks noGrp="1"/>
          </p:cNvSpPr>
          <p:nvPr>
            <p:ph type="ftr" sz="quarter" idx="11"/>
          </p:nvPr>
        </p:nvSpPr>
        <p:spPr/>
        <p:txBody>
          <a:bodyPr/>
          <a:lstStyle/>
          <a:p>
            <a:r>
              <a:rPr lang="en-US"/>
              <a:t>Faculty Development Workshop on Deep Reinforcement Learning - 9 &amp; 10 March,2026</a:t>
            </a:r>
          </a:p>
        </p:txBody>
      </p:sp>
      <p:sp>
        <p:nvSpPr>
          <p:cNvPr id="9" name="Slide Number Placeholder 8">
            <a:extLst>
              <a:ext uri="{FF2B5EF4-FFF2-40B4-BE49-F238E27FC236}">
                <a16:creationId xmlns:a16="http://schemas.microsoft.com/office/drawing/2014/main" id="{E98DCDEC-10D6-7139-CB36-35EBB45F9A64}"/>
              </a:ext>
            </a:extLst>
          </p:cNvPr>
          <p:cNvSpPr>
            <a:spLocks noGrp="1"/>
          </p:cNvSpPr>
          <p:nvPr>
            <p:ph type="sldNum" sz="quarter" idx="12"/>
          </p:nvPr>
        </p:nvSpPr>
        <p:spPr/>
        <p:txBody>
          <a:bodyPr/>
          <a:lstStyle/>
          <a:p>
            <a:fld id="{6612452E-E194-7743-A088-CC2C83C48BF4}" type="slidenum">
              <a:rPr lang="en-US" smtClean="0"/>
              <a:t>‹#›</a:t>
            </a:fld>
            <a:endParaRPr lang="en-US"/>
          </a:p>
        </p:txBody>
      </p:sp>
    </p:spTree>
    <p:extLst>
      <p:ext uri="{BB962C8B-B14F-4D97-AF65-F5344CB8AC3E}">
        <p14:creationId xmlns:p14="http://schemas.microsoft.com/office/powerpoint/2010/main" val="14384784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F46F2-E53B-1080-40CB-EA216BE6381F}"/>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EA08C54-B7CB-3FD4-3AB3-B1CC746DCB47}"/>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94EF8D28-DACF-E77A-0E59-14734E46D352}"/>
              </a:ext>
            </a:extLst>
          </p:cNvPr>
          <p:cNvSpPr>
            <a:spLocks noGrp="1"/>
          </p:cNvSpPr>
          <p:nvPr>
            <p:ph type="ftr" sz="quarter" idx="11"/>
          </p:nvPr>
        </p:nvSpPr>
        <p:spPr/>
        <p:txBody>
          <a:bodyPr/>
          <a:lstStyle/>
          <a:p>
            <a:r>
              <a:rPr lang="en-US"/>
              <a:t>Faculty Development Workshop on Deep Reinforcement Learning - 9 &amp; 10 March,2026</a:t>
            </a:r>
          </a:p>
        </p:txBody>
      </p:sp>
      <p:sp>
        <p:nvSpPr>
          <p:cNvPr id="5" name="Slide Number Placeholder 4">
            <a:extLst>
              <a:ext uri="{FF2B5EF4-FFF2-40B4-BE49-F238E27FC236}">
                <a16:creationId xmlns:a16="http://schemas.microsoft.com/office/drawing/2014/main" id="{304364E5-7CAD-21BE-2678-3C4713E2A85E}"/>
              </a:ext>
            </a:extLst>
          </p:cNvPr>
          <p:cNvSpPr>
            <a:spLocks noGrp="1"/>
          </p:cNvSpPr>
          <p:nvPr>
            <p:ph type="sldNum" sz="quarter" idx="12"/>
          </p:nvPr>
        </p:nvSpPr>
        <p:spPr/>
        <p:txBody>
          <a:bodyPr/>
          <a:lstStyle/>
          <a:p>
            <a:fld id="{6612452E-E194-7743-A088-CC2C83C48BF4}" type="slidenum">
              <a:rPr lang="en-US" smtClean="0"/>
              <a:t>‹#›</a:t>
            </a:fld>
            <a:endParaRPr lang="en-US"/>
          </a:p>
        </p:txBody>
      </p:sp>
    </p:spTree>
    <p:extLst>
      <p:ext uri="{BB962C8B-B14F-4D97-AF65-F5344CB8AC3E}">
        <p14:creationId xmlns:p14="http://schemas.microsoft.com/office/powerpoint/2010/main" val="20096690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D2E3E5-C443-9165-9EBD-032FAE609EBF}"/>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D4DB461A-EED4-5331-00A6-B31B6EF37B4A}"/>
              </a:ext>
            </a:extLst>
          </p:cNvPr>
          <p:cNvSpPr>
            <a:spLocks noGrp="1"/>
          </p:cNvSpPr>
          <p:nvPr>
            <p:ph type="ftr" sz="quarter" idx="11"/>
          </p:nvPr>
        </p:nvSpPr>
        <p:spPr/>
        <p:txBody>
          <a:bodyPr/>
          <a:lstStyle/>
          <a:p>
            <a:r>
              <a:rPr lang="en-US"/>
              <a:t>Faculty Development Workshop on Deep Reinforcement Learning - 9 &amp; 10 March,2026</a:t>
            </a:r>
          </a:p>
        </p:txBody>
      </p:sp>
      <p:sp>
        <p:nvSpPr>
          <p:cNvPr id="4" name="Slide Number Placeholder 3">
            <a:extLst>
              <a:ext uri="{FF2B5EF4-FFF2-40B4-BE49-F238E27FC236}">
                <a16:creationId xmlns:a16="http://schemas.microsoft.com/office/drawing/2014/main" id="{E8C00245-8F05-7D70-CEA3-C17CD70E6E80}"/>
              </a:ext>
            </a:extLst>
          </p:cNvPr>
          <p:cNvSpPr>
            <a:spLocks noGrp="1"/>
          </p:cNvSpPr>
          <p:nvPr>
            <p:ph type="sldNum" sz="quarter" idx="12"/>
          </p:nvPr>
        </p:nvSpPr>
        <p:spPr/>
        <p:txBody>
          <a:bodyPr/>
          <a:lstStyle/>
          <a:p>
            <a:fld id="{6612452E-E194-7743-A088-CC2C83C48BF4}" type="slidenum">
              <a:rPr lang="en-US" smtClean="0"/>
              <a:t>‹#›</a:t>
            </a:fld>
            <a:endParaRPr lang="en-US"/>
          </a:p>
        </p:txBody>
      </p:sp>
    </p:spTree>
    <p:extLst>
      <p:ext uri="{BB962C8B-B14F-4D97-AF65-F5344CB8AC3E}">
        <p14:creationId xmlns:p14="http://schemas.microsoft.com/office/powerpoint/2010/main" val="42329838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91155-FBBA-7B21-6138-59C9CC60894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BDF3F17-280A-7F2C-70AC-694498C7512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5452921-9E1A-D159-39BB-38CFB12C8E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8537681-968E-8ABF-88C1-DEA8EB212A94}"/>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D3D1D2F3-34ED-25C5-4D6E-EB6C320CFD74}"/>
              </a:ext>
            </a:extLst>
          </p:cNvPr>
          <p:cNvSpPr>
            <a:spLocks noGrp="1"/>
          </p:cNvSpPr>
          <p:nvPr>
            <p:ph type="ftr" sz="quarter" idx="11"/>
          </p:nvPr>
        </p:nvSpPr>
        <p:spPr/>
        <p:txBody>
          <a:bodyPr/>
          <a:lstStyle/>
          <a:p>
            <a:r>
              <a:rPr lang="en-US"/>
              <a:t>Faculty Development Workshop on Deep Reinforcement Learning - 9 &amp; 10 March,2026</a:t>
            </a:r>
          </a:p>
        </p:txBody>
      </p:sp>
      <p:sp>
        <p:nvSpPr>
          <p:cNvPr id="7" name="Slide Number Placeholder 6">
            <a:extLst>
              <a:ext uri="{FF2B5EF4-FFF2-40B4-BE49-F238E27FC236}">
                <a16:creationId xmlns:a16="http://schemas.microsoft.com/office/drawing/2014/main" id="{B36ABCBF-61E2-AA46-7876-7BF92C8E19A3}"/>
              </a:ext>
            </a:extLst>
          </p:cNvPr>
          <p:cNvSpPr>
            <a:spLocks noGrp="1"/>
          </p:cNvSpPr>
          <p:nvPr>
            <p:ph type="sldNum" sz="quarter" idx="12"/>
          </p:nvPr>
        </p:nvSpPr>
        <p:spPr/>
        <p:txBody>
          <a:bodyPr/>
          <a:lstStyle/>
          <a:p>
            <a:fld id="{6612452E-E194-7743-A088-CC2C83C48BF4}" type="slidenum">
              <a:rPr lang="en-US" smtClean="0"/>
              <a:t>‹#›</a:t>
            </a:fld>
            <a:endParaRPr lang="en-US"/>
          </a:p>
        </p:txBody>
      </p:sp>
    </p:spTree>
    <p:extLst>
      <p:ext uri="{BB962C8B-B14F-4D97-AF65-F5344CB8AC3E}">
        <p14:creationId xmlns:p14="http://schemas.microsoft.com/office/powerpoint/2010/main" val="3856451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5C7E9-917C-1817-8CCF-8918A7A333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1E88AA94-57A3-EEFE-ACE5-2766DE38FC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0AFADAC-6365-02BD-A8C5-C62A405686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7DDBAF7-62BF-DD64-20F6-E17A90AD537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7E65EE86-C897-994B-8585-BF988DAB002B}"/>
              </a:ext>
            </a:extLst>
          </p:cNvPr>
          <p:cNvSpPr>
            <a:spLocks noGrp="1"/>
          </p:cNvSpPr>
          <p:nvPr>
            <p:ph type="ftr" sz="quarter" idx="11"/>
          </p:nvPr>
        </p:nvSpPr>
        <p:spPr/>
        <p:txBody>
          <a:bodyPr/>
          <a:lstStyle/>
          <a:p>
            <a:r>
              <a:rPr lang="en-US"/>
              <a:t>Faculty Development Workshop on Deep Reinforcement Learning - 9 &amp; 10 March,2026</a:t>
            </a:r>
          </a:p>
        </p:txBody>
      </p:sp>
      <p:sp>
        <p:nvSpPr>
          <p:cNvPr id="7" name="Slide Number Placeholder 6">
            <a:extLst>
              <a:ext uri="{FF2B5EF4-FFF2-40B4-BE49-F238E27FC236}">
                <a16:creationId xmlns:a16="http://schemas.microsoft.com/office/drawing/2014/main" id="{33DC30F8-EA20-CB9B-CBC2-C37782B3C4AE}"/>
              </a:ext>
            </a:extLst>
          </p:cNvPr>
          <p:cNvSpPr>
            <a:spLocks noGrp="1"/>
          </p:cNvSpPr>
          <p:nvPr>
            <p:ph type="sldNum" sz="quarter" idx="12"/>
          </p:nvPr>
        </p:nvSpPr>
        <p:spPr/>
        <p:txBody>
          <a:bodyPr/>
          <a:lstStyle/>
          <a:p>
            <a:fld id="{6612452E-E194-7743-A088-CC2C83C48BF4}" type="slidenum">
              <a:rPr lang="en-US" smtClean="0"/>
              <a:t>‹#›</a:t>
            </a:fld>
            <a:endParaRPr lang="en-US"/>
          </a:p>
        </p:txBody>
      </p:sp>
    </p:spTree>
    <p:extLst>
      <p:ext uri="{BB962C8B-B14F-4D97-AF65-F5344CB8AC3E}">
        <p14:creationId xmlns:p14="http://schemas.microsoft.com/office/powerpoint/2010/main" val="42870981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5DD48-E0E1-ED70-B332-89A9464D5B2B}"/>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CD9C79A-9A07-E290-B7FA-93E21CCE6A4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CD78606-EC16-41E3-4AD9-50DFE4776C0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6CECAC0-E8A4-25D7-06CF-750DFD0902F2}"/>
              </a:ext>
            </a:extLst>
          </p:cNvPr>
          <p:cNvSpPr>
            <a:spLocks noGrp="1"/>
          </p:cNvSpPr>
          <p:nvPr>
            <p:ph type="ftr" sz="quarter" idx="11"/>
          </p:nvPr>
        </p:nvSpPr>
        <p:spPr/>
        <p:txBody>
          <a:bodyPr/>
          <a:lstStyle/>
          <a:p>
            <a:r>
              <a:rPr lang="en-US"/>
              <a:t>Faculty Development Workshop on Deep Reinforcement Learning - 9 &amp; 10 March,2026</a:t>
            </a:r>
          </a:p>
        </p:txBody>
      </p:sp>
      <p:sp>
        <p:nvSpPr>
          <p:cNvPr id="6" name="Slide Number Placeholder 5">
            <a:extLst>
              <a:ext uri="{FF2B5EF4-FFF2-40B4-BE49-F238E27FC236}">
                <a16:creationId xmlns:a16="http://schemas.microsoft.com/office/drawing/2014/main" id="{9D87E28A-F4BE-315A-C249-90305C77BC7C}"/>
              </a:ext>
            </a:extLst>
          </p:cNvPr>
          <p:cNvSpPr>
            <a:spLocks noGrp="1"/>
          </p:cNvSpPr>
          <p:nvPr>
            <p:ph type="sldNum" sz="quarter" idx="12"/>
          </p:nvPr>
        </p:nvSpPr>
        <p:spPr/>
        <p:txBody>
          <a:bodyPr/>
          <a:lstStyle/>
          <a:p>
            <a:fld id="{6612452E-E194-7743-A088-CC2C83C48BF4}" type="slidenum">
              <a:rPr lang="en-US" smtClean="0"/>
              <a:t>‹#›</a:t>
            </a:fld>
            <a:endParaRPr lang="en-US"/>
          </a:p>
        </p:txBody>
      </p:sp>
    </p:spTree>
    <p:extLst>
      <p:ext uri="{BB962C8B-B14F-4D97-AF65-F5344CB8AC3E}">
        <p14:creationId xmlns:p14="http://schemas.microsoft.com/office/powerpoint/2010/main" val="10218898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885AA4-5800-CD5F-4E5D-2B084340F33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7767F15-D908-6B67-E35E-919763E7729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CB9F90AC-BEF3-9D75-23E8-96249D211A5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C447DFD-D6C3-025B-6C17-9762FC764553}"/>
              </a:ext>
            </a:extLst>
          </p:cNvPr>
          <p:cNvSpPr>
            <a:spLocks noGrp="1"/>
          </p:cNvSpPr>
          <p:nvPr>
            <p:ph type="ftr" sz="quarter" idx="11"/>
          </p:nvPr>
        </p:nvSpPr>
        <p:spPr/>
        <p:txBody>
          <a:bodyPr/>
          <a:lstStyle/>
          <a:p>
            <a:r>
              <a:rPr lang="en-US"/>
              <a:t>Faculty Development Workshop on Deep Reinforcement Learning - 9 &amp; 10 March,2026</a:t>
            </a:r>
          </a:p>
        </p:txBody>
      </p:sp>
      <p:sp>
        <p:nvSpPr>
          <p:cNvPr id="6" name="Slide Number Placeholder 5">
            <a:extLst>
              <a:ext uri="{FF2B5EF4-FFF2-40B4-BE49-F238E27FC236}">
                <a16:creationId xmlns:a16="http://schemas.microsoft.com/office/drawing/2014/main" id="{7FA4DE05-3BA2-BBBA-FF83-4B738DBA692D}"/>
              </a:ext>
            </a:extLst>
          </p:cNvPr>
          <p:cNvSpPr>
            <a:spLocks noGrp="1"/>
          </p:cNvSpPr>
          <p:nvPr>
            <p:ph type="sldNum" sz="quarter" idx="12"/>
          </p:nvPr>
        </p:nvSpPr>
        <p:spPr/>
        <p:txBody>
          <a:bodyPr/>
          <a:lstStyle/>
          <a:p>
            <a:fld id="{6612452E-E194-7743-A088-CC2C83C48BF4}" type="slidenum">
              <a:rPr lang="en-US" smtClean="0"/>
              <a:t>‹#›</a:t>
            </a:fld>
            <a:endParaRPr lang="en-US"/>
          </a:p>
        </p:txBody>
      </p:sp>
    </p:spTree>
    <p:extLst>
      <p:ext uri="{BB962C8B-B14F-4D97-AF65-F5344CB8AC3E}">
        <p14:creationId xmlns:p14="http://schemas.microsoft.com/office/powerpoint/2010/main" val="34970119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FB43B-DE69-0B57-605A-EC70976CD94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E152365F-32B0-5909-6E91-54CFBBE17D85}"/>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2BFCDA3E-940A-80F6-4DEA-BCC6A02AB79E}"/>
              </a:ext>
            </a:extLst>
          </p:cNvPr>
          <p:cNvSpPr>
            <a:spLocks noGrp="1"/>
          </p:cNvSpPr>
          <p:nvPr>
            <p:ph type="ftr" sz="quarter" idx="11"/>
          </p:nvPr>
        </p:nvSpPr>
        <p:spPr/>
        <p:txBody>
          <a:bodyPr/>
          <a:lstStyle/>
          <a:p>
            <a:r>
              <a:rPr lang="en-US"/>
              <a:t>Faculty Development Workshop on Deep Reinforcement Learning - 9 &amp; 10 March,2026</a:t>
            </a:r>
            <a:endParaRPr lang="en-US" dirty="0"/>
          </a:p>
        </p:txBody>
      </p:sp>
      <p:sp>
        <p:nvSpPr>
          <p:cNvPr id="5" name="Slide Number Placeholder 4">
            <a:extLst>
              <a:ext uri="{FF2B5EF4-FFF2-40B4-BE49-F238E27FC236}">
                <a16:creationId xmlns:a16="http://schemas.microsoft.com/office/drawing/2014/main" id="{2A5C0630-0FEE-980A-322F-7FC9589E09BA}"/>
              </a:ext>
            </a:extLst>
          </p:cNvPr>
          <p:cNvSpPr>
            <a:spLocks noGrp="1"/>
          </p:cNvSpPr>
          <p:nvPr>
            <p:ph type="sldNum" sz="quarter" idx="12"/>
          </p:nvPr>
        </p:nvSpPr>
        <p:spPr/>
        <p:txBody>
          <a:bodyPr/>
          <a:lstStyle/>
          <a:p>
            <a:fld id="{6612452E-E194-7743-A088-CC2C83C48BF4}" type="slidenum">
              <a:rPr lang="en-US" smtClean="0"/>
              <a:t>‹#›</a:t>
            </a:fld>
            <a:endParaRPr lang="en-US"/>
          </a:p>
        </p:txBody>
      </p:sp>
    </p:spTree>
    <p:extLst>
      <p:ext uri="{BB962C8B-B14F-4D97-AF65-F5344CB8AC3E}">
        <p14:creationId xmlns:p14="http://schemas.microsoft.com/office/powerpoint/2010/main" val="39863045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theme" Target="../theme/theme2.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5"/>
        <p:cNvGrpSpPr/>
        <p:nvPr/>
      </p:nvGrpSpPr>
      <p:grpSpPr>
        <a:xfrm>
          <a:off x="0" y="0"/>
          <a:ext cx="0" cy="0"/>
          <a:chOff x="0" y="0"/>
          <a:chExt cx="0" cy="0"/>
        </a:xfrm>
      </p:grpSpPr>
      <p:pic>
        <p:nvPicPr>
          <p:cNvPr id="6" name="Google Shape;6;p32"/>
          <p:cNvPicPr preferRelativeResize="0"/>
          <p:nvPr/>
        </p:nvPicPr>
        <p:blipFill rotWithShape="1">
          <a:blip r:embed="rId7">
            <a:alphaModFix/>
          </a:blip>
          <a:srcRect/>
          <a:stretch/>
        </p:blipFill>
        <p:spPr>
          <a:xfrm>
            <a:off x="267" y="169608"/>
            <a:ext cx="12179452" cy="6678137"/>
          </a:xfrm>
          <a:prstGeom prst="rect">
            <a:avLst/>
          </a:prstGeom>
          <a:noFill/>
          <a:ln>
            <a:noFill/>
          </a:ln>
        </p:spPr>
      </p:pic>
      <p:sp>
        <p:nvSpPr>
          <p:cNvPr id="7" name="Google Shape;7;p32"/>
          <p:cNvSpPr txBox="1">
            <a:spLocks noGrp="1"/>
          </p:cNvSpPr>
          <p:nvPr>
            <p:ph type="title"/>
          </p:nvPr>
        </p:nvSpPr>
        <p:spPr>
          <a:xfrm>
            <a:off x="174662" y="231524"/>
            <a:ext cx="10453163" cy="26161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700" b="0" i="0" u="none" strike="noStrike" cap="none">
                <a:solidFill>
                  <a:srgbClr val="1B1472"/>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32"/>
          <p:cNvSpPr txBox="1">
            <a:spLocks noGrp="1"/>
          </p:cNvSpPr>
          <p:nvPr>
            <p:ph type="body" idx="1"/>
          </p:nvPr>
        </p:nvSpPr>
        <p:spPr>
          <a:xfrm>
            <a:off x="680657" y="3165995"/>
            <a:ext cx="8061759" cy="161583"/>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1050" b="0" i="0" u="none" strike="noStrike" cap="none">
                <a:solidFill>
                  <a:srgbClr val="1B1472"/>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9" name="Google Shape;9;p32"/>
          <p:cNvSpPr txBox="1">
            <a:spLocks noGrp="1"/>
          </p:cNvSpPr>
          <p:nvPr>
            <p:ph type="ftr" idx="11"/>
          </p:nvPr>
        </p:nvSpPr>
        <p:spPr>
          <a:xfrm>
            <a:off x="994016" y="6431358"/>
            <a:ext cx="7985597" cy="195118"/>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268"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380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380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380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380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380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380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380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3804" b="0" i="0" u="none" strike="noStrike" cap="none">
                <a:solidFill>
                  <a:srgbClr val="000000"/>
                </a:solidFill>
                <a:latin typeface="Arial"/>
                <a:ea typeface="Arial"/>
                <a:cs typeface="Arial"/>
                <a:sym typeface="Arial"/>
              </a:defRPr>
            </a:lvl9pPr>
          </a:lstStyle>
          <a:p>
            <a:r>
              <a:rPr lang="en-US"/>
              <a:t>Faculty Development Workshop on Deep Reinforcement Learning - 9 &amp; 10 March,2026</a:t>
            </a:r>
            <a:endParaRPr dirty="0"/>
          </a:p>
        </p:txBody>
      </p:sp>
    </p:spTree>
    <p:extLst>
      <p:ext uri="{BB962C8B-B14F-4D97-AF65-F5344CB8AC3E}">
        <p14:creationId xmlns:p14="http://schemas.microsoft.com/office/powerpoint/2010/main" val="1978963245"/>
      </p:ext>
    </p:extLst>
  </p:cSld>
  <p:clrMap bg1="lt1" tx1="dk1" bg2="dk2" tx2="lt2" accent1="accent1" accent2="accent2" accent3="accent3" accent4="accent4" accent5="accent5" accent6="accent6" hlink="hlink" folHlink="folHlink"/>
  <p:sldLayoutIdLst>
    <p:sldLayoutId id="2147483661" r:id="rId1"/>
    <p:sldLayoutId id="2147483666" r:id="rId2"/>
    <p:sldLayoutId id="2147483662" r:id="rId3"/>
    <p:sldLayoutId id="2147483663" r:id="rId4"/>
    <p:sldLayoutId id="2147483664" r:id="rId5"/>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2959"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EF9BC0-1A5E-8BD3-716B-F6CE81E484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8F003DC-5B15-B9AF-0346-C093FE49AA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D961706-4907-1FF2-4D7D-2E5A0FC42E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06727992-23B1-2B59-AD5D-F6FED5E8A2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Faculty Development Workshop on Deep Reinforcement Learning - 9 &amp; 10 March,2026</a:t>
            </a:r>
            <a:endParaRPr lang="en-US" dirty="0"/>
          </a:p>
        </p:txBody>
      </p:sp>
      <p:sp>
        <p:nvSpPr>
          <p:cNvPr id="6" name="Slide Number Placeholder 5">
            <a:extLst>
              <a:ext uri="{FF2B5EF4-FFF2-40B4-BE49-F238E27FC236}">
                <a16:creationId xmlns:a16="http://schemas.microsoft.com/office/drawing/2014/main" id="{711BDB04-688F-7A8C-693C-E93B5E74F5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612452E-E194-7743-A088-CC2C83C48BF4}" type="slidenum">
              <a:rPr lang="en-US" smtClean="0"/>
              <a:t>‹#›</a:t>
            </a:fld>
            <a:endParaRPr lang="en-US"/>
          </a:p>
        </p:txBody>
      </p:sp>
      <p:sp>
        <p:nvSpPr>
          <p:cNvPr id="7" name="Google Shape;9;p32">
            <a:extLst>
              <a:ext uri="{FF2B5EF4-FFF2-40B4-BE49-F238E27FC236}">
                <a16:creationId xmlns:a16="http://schemas.microsoft.com/office/drawing/2014/main" id="{5B2BC610-4E12-4B37-85FF-14B1DB50CC3F}"/>
              </a:ext>
            </a:extLst>
          </p:cNvPr>
          <p:cNvSpPr txBox="1">
            <a:spLocks/>
          </p:cNvSpPr>
          <p:nvPr userDrawn="1"/>
        </p:nvSpPr>
        <p:spPr>
          <a:xfrm>
            <a:off x="994016" y="6431358"/>
            <a:ext cx="7985597" cy="195118"/>
          </a:xfrm>
          <a:prstGeom prst="rect">
            <a:avLst/>
          </a:prstGeom>
          <a:noFill/>
          <a:ln>
            <a:noFill/>
          </a:ln>
        </p:spPr>
        <p:txBody>
          <a:bodyPr spcFirstLastPara="1" wrap="square" lIns="0" tIns="0" rIns="0" bIns="0" anchor="t" anchorCtr="0">
            <a:spAutoFit/>
          </a:bodyPr>
          <a:lstStyle>
            <a:defPPr>
              <a:defRPr lang="en-US"/>
            </a:defPPr>
            <a:lvl1pPr marL="0" marR="0" lvl="0" algn="l" defTabSz="914400" rtl="0" eaLnBrk="1" latinLnBrk="0" hangingPunct="1">
              <a:lnSpc>
                <a:spcPct val="100000"/>
              </a:lnSpc>
              <a:spcBef>
                <a:spcPts val="0"/>
              </a:spcBef>
              <a:spcAft>
                <a:spcPts val="0"/>
              </a:spcAft>
              <a:buClr>
                <a:srgbClr val="000000"/>
              </a:buClr>
              <a:buSzPts val="1400"/>
              <a:buFont typeface="Arial"/>
              <a:buNone/>
              <a:defRPr sz="1268" b="0" i="0" u="none" strike="noStrike" kern="1200" cap="none">
                <a:solidFill>
                  <a:schemeClr val="dk1"/>
                </a:solidFill>
                <a:latin typeface="Calibri"/>
                <a:ea typeface="Calibri"/>
                <a:cs typeface="Calibri"/>
                <a:sym typeface="Calibri"/>
              </a:defRPr>
            </a:lvl1pPr>
            <a:lvl2pPr marL="457200" marR="0" lvl="1" algn="l" defTabSz="914400" rtl="0" eaLnBrk="1" latinLnBrk="0" hangingPunct="1">
              <a:lnSpc>
                <a:spcPct val="100000"/>
              </a:lnSpc>
              <a:spcBef>
                <a:spcPts val="0"/>
              </a:spcBef>
              <a:spcAft>
                <a:spcPts val="0"/>
              </a:spcAft>
              <a:buClr>
                <a:srgbClr val="000000"/>
              </a:buClr>
              <a:buSzPts val="1400"/>
              <a:buFont typeface="Arial"/>
              <a:buNone/>
              <a:defRPr sz="3804" b="0" i="0" u="none" strike="noStrike" kern="1200" cap="none">
                <a:solidFill>
                  <a:srgbClr val="000000"/>
                </a:solidFill>
                <a:latin typeface="Arial"/>
                <a:ea typeface="Arial"/>
                <a:cs typeface="Arial"/>
                <a:sym typeface="Arial"/>
              </a:defRPr>
            </a:lvl2pPr>
            <a:lvl3pPr marL="914400" marR="0" lvl="2" algn="l" defTabSz="914400" rtl="0" eaLnBrk="1" latinLnBrk="0" hangingPunct="1">
              <a:lnSpc>
                <a:spcPct val="100000"/>
              </a:lnSpc>
              <a:spcBef>
                <a:spcPts val="0"/>
              </a:spcBef>
              <a:spcAft>
                <a:spcPts val="0"/>
              </a:spcAft>
              <a:buClr>
                <a:srgbClr val="000000"/>
              </a:buClr>
              <a:buSzPts val="1400"/>
              <a:buFont typeface="Arial"/>
              <a:buNone/>
              <a:defRPr sz="3804" b="0" i="0" u="none" strike="noStrike" kern="1200" cap="none">
                <a:solidFill>
                  <a:srgbClr val="000000"/>
                </a:solidFill>
                <a:latin typeface="Arial"/>
                <a:ea typeface="Arial"/>
                <a:cs typeface="Arial"/>
                <a:sym typeface="Arial"/>
              </a:defRPr>
            </a:lvl3pPr>
            <a:lvl4pPr marL="1371600" marR="0" lvl="3" algn="l" defTabSz="914400" rtl="0" eaLnBrk="1" latinLnBrk="0" hangingPunct="1">
              <a:lnSpc>
                <a:spcPct val="100000"/>
              </a:lnSpc>
              <a:spcBef>
                <a:spcPts val="0"/>
              </a:spcBef>
              <a:spcAft>
                <a:spcPts val="0"/>
              </a:spcAft>
              <a:buClr>
                <a:srgbClr val="000000"/>
              </a:buClr>
              <a:buSzPts val="1400"/>
              <a:buFont typeface="Arial"/>
              <a:buNone/>
              <a:defRPr sz="3804" b="0" i="0" u="none" strike="noStrike" kern="1200" cap="none">
                <a:solidFill>
                  <a:srgbClr val="000000"/>
                </a:solidFill>
                <a:latin typeface="Arial"/>
                <a:ea typeface="Arial"/>
                <a:cs typeface="Arial"/>
                <a:sym typeface="Arial"/>
              </a:defRPr>
            </a:lvl4pPr>
            <a:lvl5pPr marL="1828800" marR="0" lvl="4" algn="l" defTabSz="914400" rtl="0" eaLnBrk="1" latinLnBrk="0" hangingPunct="1">
              <a:lnSpc>
                <a:spcPct val="100000"/>
              </a:lnSpc>
              <a:spcBef>
                <a:spcPts val="0"/>
              </a:spcBef>
              <a:spcAft>
                <a:spcPts val="0"/>
              </a:spcAft>
              <a:buClr>
                <a:srgbClr val="000000"/>
              </a:buClr>
              <a:buSzPts val="1400"/>
              <a:buFont typeface="Arial"/>
              <a:buNone/>
              <a:defRPr sz="3804" b="0" i="0" u="none" strike="noStrike" kern="1200" cap="none">
                <a:solidFill>
                  <a:srgbClr val="000000"/>
                </a:solidFill>
                <a:latin typeface="Arial"/>
                <a:ea typeface="Arial"/>
                <a:cs typeface="Arial"/>
                <a:sym typeface="Arial"/>
              </a:defRPr>
            </a:lvl5pPr>
            <a:lvl6pPr marL="2286000" marR="0" lvl="5" algn="l" defTabSz="914400" rtl="0" eaLnBrk="1" latinLnBrk="0" hangingPunct="1">
              <a:lnSpc>
                <a:spcPct val="100000"/>
              </a:lnSpc>
              <a:spcBef>
                <a:spcPts val="0"/>
              </a:spcBef>
              <a:spcAft>
                <a:spcPts val="0"/>
              </a:spcAft>
              <a:buClr>
                <a:srgbClr val="000000"/>
              </a:buClr>
              <a:buSzPts val="1400"/>
              <a:buFont typeface="Arial"/>
              <a:buNone/>
              <a:defRPr sz="3804" b="0" i="0" u="none" strike="noStrike" kern="1200" cap="none">
                <a:solidFill>
                  <a:srgbClr val="000000"/>
                </a:solidFill>
                <a:latin typeface="Arial"/>
                <a:ea typeface="Arial"/>
                <a:cs typeface="Arial"/>
                <a:sym typeface="Arial"/>
              </a:defRPr>
            </a:lvl6pPr>
            <a:lvl7pPr marL="2743200" marR="0" lvl="6" algn="l" defTabSz="914400" rtl="0" eaLnBrk="1" latinLnBrk="0" hangingPunct="1">
              <a:lnSpc>
                <a:spcPct val="100000"/>
              </a:lnSpc>
              <a:spcBef>
                <a:spcPts val="0"/>
              </a:spcBef>
              <a:spcAft>
                <a:spcPts val="0"/>
              </a:spcAft>
              <a:buClr>
                <a:srgbClr val="000000"/>
              </a:buClr>
              <a:buSzPts val="1400"/>
              <a:buFont typeface="Arial"/>
              <a:buNone/>
              <a:defRPr sz="3804" b="0" i="0" u="none" strike="noStrike" kern="1200" cap="none">
                <a:solidFill>
                  <a:srgbClr val="000000"/>
                </a:solidFill>
                <a:latin typeface="Arial"/>
                <a:ea typeface="Arial"/>
                <a:cs typeface="Arial"/>
                <a:sym typeface="Arial"/>
              </a:defRPr>
            </a:lvl7pPr>
            <a:lvl8pPr marL="3200400" marR="0" lvl="7" algn="l" defTabSz="914400" rtl="0" eaLnBrk="1" latinLnBrk="0" hangingPunct="1">
              <a:lnSpc>
                <a:spcPct val="100000"/>
              </a:lnSpc>
              <a:spcBef>
                <a:spcPts val="0"/>
              </a:spcBef>
              <a:spcAft>
                <a:spcPts val="0"/>
              </a:spcAft>
              <a:buClr>
                <a:srgbClr val="000000"/>
              </a:buClr>
              <a:buSzPts val="1400"/>
              <a:buFont typeface="Arial"/>
              <a:buNone/>
              <a:defRPr sz="3804" b="0" i="0" u="none" strike="noStrike" kern="1200" cap="none">
                <a:solidFill>
                  <a:srgbClr val="000000"/>
                </a:solidFill>
                <a:latin typeface="Arial"/>
                <a:ea typeface="Arial"/>
                <a:cs typeface="Arial"/>
                <a:sym typeface="Arial"/>
              </a:defRPr>
            </a:lvl8pPr>
            <a:lvl9pPr marL="3657600" marR="0" lvl="8" algn="l" defTabSz="914400" rtl="0" eaLnBrk="1" latinLnBrk="0" hangingPunct="1">
              <a:lnSpc>
                <a:spcPct val="100000"/>
              </a:lnSpc>
              <a:spcBef>
                <a:spcPts val="0"/>
              </a:spcBef>
              <a:spcAft>
                <a:spcPts val="0"/>
              </a:spcAft>
              <a:buClr>
                <a:srgbClr val="000000"/>
              </a:buClr>
              <a:buSzPts val="1400"/>
              <a:buFont typeface="Arial"/>
              <a:buNone/>
              <a:defRPr sz="3804" b="0" i="0" u="none" strike="noStrike" kern="1200" cap="none">
                <a:solidFill>
                  <a:srgbClr val="000000"/>
                </a:solidFill>
                <a:latin typeface="Arial"/>
                <a:ea typeface="Arial"/>
                <a:cs typeface="Arial"/>
                <a:sym typeface="Arial"/>
              </a:defRPr>
            </a:lvl9pPr>
          </a:lstStyle>
          <a:p>
            <a:r>
              <a:rPr lang="en-US"/>
              <a:t>Faculty Development Workshop on Deep Reinforcement Learning - 9 &amp; 10 March , 2026</a:t>
            </a:r>
            <a:endParaRPr lang="en-US" dirty="0"/>
          </a:p>
        </p:txBody>
      </p:sp>
    </p:spTree>
    <p:extLst>
      <p:ext uri="{BB962C8B-B14F-4D97-AF65-F5344CB8AC3E}">
        <p14:creationId xmlns:p14="http://schemas.microsoft.com/office/powerpoint/2010/main" val="980285286"/>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5.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8.xml"/><Relationship Id="rId16"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png"/><Relationship Id="rId15" Type="http://schemas.openxmlformats.org/officeDocument/2006/relationships/image" Target="../media/image27.png"/><Relationship Id="rId10" Type="http://schemas.openxmlformats.org/officeDocument/2006/relationships/image" Target="../media/image8.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6.png"/></Relationships>
</file>

<file path=ppt/slides/_rels/slide19.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9.xml"/><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png"/><Relationship Id="rId15" Type="http://schemas.openxmlformats.org/officeDocument/2006/relationships/image" Target="../media/image27.png"/><Relationship Id="rId10" Type="http://schemas.openxmlformats.org/officeDocument/2006/relationships/image" Target="../media/image8.png"/><Relationship Id="rId19"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6.png"/></Relationships>
</file>

<file path=ppt/slides/_rels/slide20.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5.png"/><Relationship Id="rId18" Type="http://schemas.openxmlformats.org/officeDocument/2006/relationships/image" Target="../media/image33.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10.xml"/><Relationship Id="rId16" Type="http://schemas.openxmlformats.org/officeDocument/2006/relationships/image" Target="../media/image28.png"/><Relationship Id="rId20" Type="http://schemas.openxmlformats.org/officeDocument/2006/relationships/image" Target="../media/image34.png"/><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png"/><Relationship Id="rId15" Type="http://schemas.openxmlformats.org/officeDocument/2006/relationships/image" Target="../media/image27.png"/><Relationship Id="rId10" Type="http://schemas.openxmlformats.org/officeDocument/2006/relationships/image" Target="../media/image8.png"/><Relationship Id="rId19"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6.png"/></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5.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11.xml"/><Relationship Id="rId16"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png"/><Relationship Id="rId15" Type="http://schemas.openxmlformats.org/officeDocument/2006/relationships/image" Target="../media/image27.png"/><Relationship Id="rId10" Type="http://schemas.openxmlformats.org/officeDocument/2006/relationships/image" Target="../media/image8.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6.png"/></Relationships>
</file>

<file path=ppt/slides/_rels/slide22.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12.xml"/><Relationship Id="rId16" Type="http://schemas.openxmlformats.org/officeDocument/2006/relationships/image" Target="../media/image28.png"/><Relationship Id="rId20" Type="http://schemas.openxmlformats.org/officeDocument/2006/relationships/image" Target="../media/image32.png"/><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png"/><Relationship Id="rId15" Type="http://schemas.openxmlformats.org/officeDocument/2006/relationships/image" Target="../media/image27.png"/><Relationship Id="rId10" Type="http://schemas.openxmlformats.org/officeDocument/2006/relationships/image" Target="../media/image8.png"/><Relationship Id="rId19"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6.png"/></Relationships>
</file>

<file path=ppt/slides/_rels/slide23.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5.png"/><Relationship Id="rId18" Type="http://schemas.openxmlformats.org/officeDocument/2006/relationships/image" Target="../media/image35.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13.xml"/><Relationship Id="rId16" Type="http://schemas.openxmlformats.org/officeDocument/2006/relationships/image" Target="../media/image28.png"/><Relationship Id="rId20" Type="http://schemas.openxmlformats.org/officeDocument/2006/relationships/image" Target="../media/image37.png"/><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png"/><Relationship Id="rId15" Type="http://schemas.openxmlformats.org/officeDocument/2006/relationships/image" Target="../media/image27.png"/><Relationship Id="rId10" Type="http://schemas.openxmlformats.org/officeDocument/2006/relationships/image" Target="../media/image8.png"/><Relationship Id="rId19" Type="http://schemas.openxmlformats.org/officeDocument/2006/relationships/image" Target="../media/image36.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6.png"/></Relationships>
</file>

<file path=ppt/slides/_rels/slide24.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5.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14.xml"/><Relationship Id="rId16"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png"/><Relationship Id="rId15" Type="http://schemas.openxmlformats.org/officeDocument/2006/relationships/image" Target="../media/image27.png"/><Relationship Id="rId10" Type="http://schemas.openxmlformats.org/officeDocument/2006/relationships/image" Target="../media/image8.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6.png"/></Relationships>
</file>

<file path=ppt/slides/_rels/slide25.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5.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4.png"/><Relationship Id="rId17" Type="http://schemas.openxmlformats.org/officeDocument/2006/relationships/image" Target="../media/image29.png"/><Relationship Id="rId2" Type="http://schemas.openxmlformats.org/officeDocument/2006/relationships/notesSlide" Target="../notesSlides/notesSlide15.xml"/><Relationship Id="rId16" Type="http://schemas.openxmlformats.org/officeDocument/2006/relationships/image" Target="../media/image28.png"/><Relationship Id="rId1" Type="http://schemas.openxmlformats.org/officeDocument/2006/relationships/slideLayout" Target="../slideLayouts/slideLayout3.xml"/><Relationship Id="rId6" Type="http://schemas.openxmlformats.org/officeDocument/2006/relationships/image" Target="../media/image19.png"/><Relationship Id="rId11" Type="http://schemas.openxmlformats.org/officeDocument/2006/relationships/image" Target="../media/image23.png"/><Relationship Id="rId5" Type="http://schemas.openxmlformats.org/officeDocument/2006/relationships/image" Target="../media/image18.png"/><Relationship Id="rId15" Type="http://schemas.openxmlformats.org/officeDocument/2006/relationships/image" Target="../media/image27.png"/><Relationship Id="rId10" Type="http://schemas.openxmlformats.org/officeDocument/2006/relationships/image" Target="../media/image8.png"/><Relationship Id="rId4" Type="http://schemas.openxmlformats.org/officeDocument/2006/relationships/image" Target="../media/image17.png"/><Relationship Id="rId9" Type="http://schemas.openxmlformats.org/officeDocument/2006/relationships/image" Target="../media/image22.png"/><Relationship Id="rId1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23.png"/><Relationship Id="rId2" Type="http://schemas.openxmlformats.org/officeDocument/2006/relationships/notesSlide" Target="../notesSlides/notesSlide18.xml"/><Relationship Id="rId16" Type="http://schemas.openxmlformats.org/officeDocument/2006/relationships/image" Target="../media/image39.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8.png"/><Relationship Id="rId14" Type="http://schemas.openxmlformats.org/officeDocument/2006/relationships/image" Target="../media/image28.png"/></Relationships>
</file>

<file path=ppt/slides/_rels/slide31.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4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41.png"/><Relationship Id="rId2" Type="http://schemas.openxmlformats.org/officeDocument/2006/relationships/notesSlide" Target="../notesSlides/notesSlide19.xml"/><Relationship Id="rId16" Type="http://schemas.openxmlformats.org/officeDocument/2006/relationships/image" Target="../media/image40.png"/><Relationship Id="rId20" Type="http://schemas.openxmlformats.org/officeDocument/2006/relationships/image" Target="../media/image23.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19" Type="http://schemas.openxmlformats.org/officeDocument/2006/relationships/image" Target="../media/image39.png"/><Relationship Id="rId4" Type="http://schemas.openxmlformats.org/officeDocument/2006/relationships/image" Target="../media/image18.png"/><Relationship Id="rId9" Type="http://schemas.openxmlformats.org/officeDocument/2006/relationships/image" Target="../media/image8.png"/><Relationship Id="rId14" Type="http://schemas.openxmlformats.org/officeDocument/2006/relationships/image" Target="../media/image28.png"/></Relationships>
</file>

<file path=ppt/slides/_rels/slide32.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23.png"/><Relationship Id="rId2" Type="http://schemas.openxmlformats.org/officeDocument/2006/relationships/notesSlide" Target="../notesSlides/notesSlide20.xml"/><Relationship Id="rId16" Type="http://schemas.openxmlformats.org/officeDocument/2006/relationships/image" Target="../media/image39.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8.png"/><Relationship Id="rId14" Type="http://schemas.openxmlformats.org/officeDocument/2006/relationships/image" Target="../media/image28.png"/></Relationships>
</file>

<file path=ppt/slides/_rels/slide33.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31.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23.png"/><Relationship Id="rId2" Type="http://schemas.openxmlformats.org/officeDocument/2006/relationships/notesSlide" Target="../notesSlides/notesSlide21.xml"/><Relationship Id="rId16" Type="http://schemas.openxmlformats.org/officeDocument/2006/relationships/image" Target="../media/image39.png"/><Relationship Id="rId20" Type="http://schemas.openxmlformats.org/officeDocument/2006/relationships/image" Target="../media/image44.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19" Type="http://schemas.openxmlformats.org/officeDocument/2006/relationships/image" Target="../media/image43.png"/><Relationship Id="rId4" Type="http://schemas.openxmlformats.org/officeDocument/2006/relationships/image" Target="../media/image18.png"/><Relationship Id="rId9" Type="http://schemas.openxmlformats.org/officeDocument/2006/relationships/image" Target="../media/image8.png"/><Relationship Id="rId14" Type="http://schemas.openxmlformats.org/officeDocument/2006/relationships/image" Target="../media/image28.png"/></Relationships>
</file>

<file path=ppt/slides/_rels/slide34.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45.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23.png"/><Relationship Id="rId2" Type="http://schemas.openxmlformats.org/officeDocument/2006/relationships/notesSlide" Target="../notesSlides/notesSlide22.xml"/><Relationship Id="rId16" Type="http://schemas.openxmlformats.org/officeDocument/2006/relationships/image" Target="../media/image39.png"/><Relationship Id="rId20" Type="http://schemas.openxmlformats.org/officeDocument/2006/relationships/image" Target="../media/image47.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19" Type="http://schemas.openxmlformats.org/officeDocument/2006/relationships/image" Target="../media/image46.png"/><Relationship Id="rId4" Type="http://schemas.openxmlformats.org/officeDocument/2006/relationships/image" Target="../media/image18.png"/><Relationship Id="rId9" Type="http://schemas.openxmlformats.org/officeDocument/2006/relationships/image" Target="../media/image8.png"/><Relationship Id="rId14" Type="http://schemas.openxmlformats.org/officeDocument/2006/relationships/image" Target="../media/image28.png"/></Relationships>
</file>

<file path=ppt/slides/_rels/slide35.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18" Type="http://schemas.openxmlformats.org/officeDocument/2006/relationships/image" Target="../media/image45.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23.png"/><Relationship Id="rId2" Type="http://schemas.openxmlformats.org/officeDocument/2006/relationships/notesSlide" Target="../notesSlides/notesSlide23.xml"/><Relationship Id="rId16" Type="http://schemas.openxmlformats.org/officeDocument/2006/relationships/image" Target="../media/image39.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19" Type="http://schemas.openxmlformats.org/officeDocument/2006/relationships/image" Target="../media/image48.png"/><Relationship Id="rId4" Type="http://schemas.openxmlformats.org/officeDocument/2006/relationships/image" Target="../media/image18.png"/><Relationship Id="rId9" Type="http://schemas.openxmlformats.org/officeDocument/2006/relationships/image" Target="../media/image8.png"/><Relationship Id="rId14" Type="http://schemas.openxmlformats.org/officeDocument/2006/relationships/image" Target="../media/image28.png"/></Relationships>
</file>

<file path=ppt/slides/_rels/slide3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27.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17" Type="http://schemas.openxmlformats.org/officeDocument/2006/relationships/image" Target="../media/image23.png"/><Relationship Id="rId2" Type="http://schemas.openxmlformats.org/officeDocument/2006/relationships/notesSlide" Target="../notesSlides/notesSlide24.xml"/><Relationship Id="rId16" Type="http://schemas.openxmlformats.org/officeDocument/2006/relationships/image" Target="../media/image39.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5" Type="http://schemas.openxmlformats.org/officeDocument/2006/relationships/image" Target="../media/image2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8.png"/><Relationship Id="rId14" Type="http://schemas.openxmlformats.org/officeDocument/2006/relationships/image" Target="../media/image28.png"/></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grpSp>
        <p:nvGrpSpPr>
          <p:cNvPr id="38" name="Google Shape;38;p1"/>
          <p:cNvGrpSpPr/>
          <p:nvPr/>
        </p:nvGrpSpPr>
        <p:grpSpPr>
          <a:xfrm>
            <a:off x="0" y="132537"/>
            <a:ext cx="12173494" cy="6847542"/>
            <a:chOff x="0" y="7"/>
            <a:chExt cx="5759866" cy="3239902"/>
          </a:xfrm>
        </p:grpSpPr>
        <p:pic>
          <p:nvPicPr>
            <p:cNvPr id="39" name="Google Shape;39;p1"/>
            <p:cNvPicPr preferRelativeResize="0"/>
            <p:nvPr/>
          </p:nvPicPr>
          <p:blipFill rotWithShape="1">
            <a:blip r:embed="rId3">
              <a:alphaModFix/>
            </a:blip>
            <a:srcRect/>
            <a:stretch/>
          </p:blipFill>
          <p:spPr>
            <a:xfrm>
              <a:off x="0" y="7"/>
              <a:ext cx="5759866" cy="3239902"/>
            </a:xfrm>
            <a:prstGeom prst="rect">
              <a:avLst/>
            </a:prstGeom>
            <a:noFill/>
            <a:ln>
              <a:noFill/>
            </a:ln>
          </p:spPr>
        </p:pic>
        <p:sp>
          <p:nvSpPr>
            <p:cNvPr id="40" name="Google Shape;40;p1"/>
            <p:cNvSpPr/>
            <p:nvPr/>
          </p:nvSpPr>
          <p:spPr>
            <a:xfrm>
              <a:off x="1982523" y="1293502"/>
              <a:ext cx="3325495" cy="721995"/>
            </a:xfrm>
            <a:custGeom>
              <a:avLst/>
              <a:gdLst/>
              <a:ahLst/>
              <a:cxnLst/>
              <a:rect l="l" t="t" r="r" b="b"/>
              <a:pathLst>
                <a:path w="3325495" h="721994" extrusionOk="0">
                  <a:moveTo>
                    <a:pt x="0" y="721869"/>
                  </a:moveTo>
                  <a:lnTo>
                    <a:pt x="0" y="0"/>
                  </a:lnTo>
                  <a:lnTo>
                    <a:pt x="3324982" y="0"/>
                  </a:lnTo>
                  <a:lnTo>
                    <a:pt x="3324982" y="721869"/>
                  </a:lnTo>
                  <a:lnTo>
                    <a:pt x="0" y="72186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41" name="Google Shape;41;p1"/>
          <p:cNvSpPr txBox="1"/>
          <p:nvPr/>
        </p:nvSpPr>
        <p:spPr>
          <a:xfrm>
            <a:off x="3952068" y="2733820"/>
            <a:ext cx="7997848" cy="1707017"/>
          </a:xfrm>
          <a:prstGeom prst="rect">
            <a:avLst/>
          </a:prstGeom>
          <a:solidFill>
            <a:srgbClr val="FFFFFF">
              <a:alpha val="79215"/>
            </a:srgbClr>
          </a:solidFill>
          <a:ln w="12650" cap="flat" cmpd="sng">
            <a:solidFill>
              <a:srgbClr val="000000"/>
            </a:solidFill>
            <a:prstDash val="solid"/>
            <a:round/>
            <a:headEnd type="none" w="sm" len="sm"/>
            <a:tailEnd type="none" w="sm" len="sm"/>
          </a:ln>
        </p:spPr>
        <p:txBody>
          <a:bodyPr spcFirstLastPara="1" wrap="square" lIns="0" tIns="212037" rIns="0" bIns="0" anchor="t" anchorCtr="0">
            <a:spAutoFit/>
          </a:bodyPr>
          <a:lstStyle/>
          <a:p>
            <a:pPr marL="908581" marR="892478" indent="-1340" algn="ctr">
              <a:lnSpc>
                <a:spcPct val="84500"/>
              </a:lnSpc>
            </a:pPr>
            <a:r>
              <a:rPr lang="en-US" sz="3804" dirty="0">
                <a:solidFill>
                  <a:srgbClr val="000000"/>
                </a:solidFill>
                <a:latin typeface="Cambria"/>
                <a:ea typeface="Cambria"/>
                <a:cs typeface="Cambria"/>
                <a:sym typeface="Cambria"/>
              </a:rPr>
              <a:t>Session 3: Markov Decision Processes &amp; Dynamic Programming</a:t>
            </a:r>
          </a:p>
        </p:txBody>
      </p:sp>
      <p:sp>
        <p:nvSpPr>
          <p:cNvPr id="42" name="Google Shape;42;p1"/>
          <p:cNvSpPr txBox="1"/>
          <p:nvPr/>
        </p:nvSpPr>
        <p:spPr>
          <a:xfrm>
            <a:off x="7458419" y="4914479"/>
            <a:ext cx="3984888" cy="1252924"/>
          </a:xfrm>
          <a:prstGeom prst="rect">
            <a:avLst/>
          </a:prstGeom>
          <a:noFill/>
          <a:ln>
            <a:noFill/>
          </a:ln>
        </p:spPr>
        <p:txBody>
          <a:bodyPr spcFirstLastPara="1" wrap="square" lIns="0" tIns="24147" rIns="0" bIns="0" anchor="t" anchorCtr="0">
            <a:spAutoFit/>
          </a:bodyPr>
          <a:lstStyle/>
          <a:p>
            <a:pPr marL="657616" marR="10737" indent="-632116">
              <a:lnSpc>
                <a:spcPct val="126699"/>
              </a:lnSpc>
              <a:buClr>
                <a:srgbClr val="000000"/>
              </a:buClr>
              <a:buSzPts val="950"/>
            </a:pPr>
            <a:r>
              <a:rPr lang="en-US" sz="2008" dirty="0">
                <a:solidFill>
                  <a:srgbClr val="1B1472"/>
                </a:solidFill>
                <a:latin typeface="Arial"/>
                <a:ea typeface="Arial"/>
                <a:cs typeface="Arial"/>
                <a:sym typeface="Arial"/>
              </a:rPr>
              <a:t>Dr. Sangeetha Viswanathan</a:t>
            </a:r>
            <a:endParaRPr sz="2008" dirty="0">
              <a:solidFill>
                <a:srgbClr val="000000"/>
              </a:solidFill>
              <a:latin typeface="Arial"/>
              <a:ea typeface="Arial"/>
              <a:cs typeface="Arial"/>
              <a:sym typeface="Arial"/>
            </a:endParaRPr>
          </a:p>
          <a:p>
            <a:pPr marL="657616" marR="10737" indent="-632116">
              <a:lnSpc>
                <a:spcPct val="126699"/>
              </a:lnSpc>
              <a:spcBef>
                <a:spcPts val="190"/>
              </a:spcBef>
              <a:buClr>
                <a:srgbClr val="000000"/>
              </a:buClr>
              <a:buSzPts val="950"/>
            </a:pPr>
            <a:r>
              <a:rPr lang="en-US" sz="2008" dirty="0">
                <a:solidFill>
                  <a:srgbClr val="1B1472"/>
                </a:solidFill>
                <a:latin typeface="Arial"/>
                <a:ea typeface="Arial"/>
                <a:cs typeface="Arial"/>
                <a:sym typeface="Arial"/>
              </a:rPr>
              <a:t>Assistant Professor, CSIS</a:t>
            </a:r>
          </a:p>
          <a:p>
            <a:pPr marL="657616" marR="10737" indent="-632116">
              <a:lnSpc>
                <a:spcPct val="126699"/>
              </a:lnSpc>
              <a:spcBef>
                <a:spcPts val="190"/>
              </a:spcBef>
              <a:buClr>
                <a:srgbClr val="000000"/>
              </a:buClr>
              <a:buSzPts val="950"/>
            </a:pPr>
            <a:r>
              <a:rPr lang="en-US" sz="2008" dirty="0">
                <a:solidFill>
                  <a:srgbClr val="1B1472"/>
                </a:solidFill>
                <a:latin typeface="Arial"/>
                <a:ea typeface="Arial"/>
                <a:cs typeface="Arial"/>
                <a:sym typeface="Arial"/>
              </a:rPr>
              <a:t>BITS Pilani WILP</a:t>
            </a:r>
            <a:endParaRPr sz="2959" dirty="0">
              <a:solidFill>
                <a:srgbClr val="000000"/>
              </a:solidFill>
              <a:latin typeface="Arial"/>
              <a:ea typeface="Arial"/>
              <a:cs typeface="Arial"/>
              <a:sym typeface="Arial"/>
            </a:endParaRPr>
          </a:p>
        </p:txBody>
      </p:sp>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HeaderBar"/>
          <p:cNvSpPr txBox="1"/>
          <p:nvPr/>
        </p:nvSpPr>
        <p:spPr>
          <a:xfrm>
            <a:off x="0" y="323850"/>
            <a:ext cx="9770533" cy="571500"/>
          </a:xfrm>
          <a:prstGeom prst="rect">
            <a:avLst/>
          </a:prstGeom>
          <a:solidFill>
            <a:srgbClr val="1B1472"/>
          </a:solidFill>
          <a:ln>
            <a:noFill/>
          </a:ln>
        </p:spPr>
        <p:txBody>
          <a:bodyPr wrap="square" lIns="228600" tIns="91440" rIns="228600" bIns="91440" anchor="ctr"/>
          <a:lstStyle/>
          <a:p>
            <a:pPr algn="l"/>
            <a:r>
              <a:rPr lang="en-US" sz="2800" b="1" dirty="0">
                <a:solidFill>
                  <a:srgbClr val="FFFFFF"/>
                </a:solidFill>
                <a:latin typeface="Calibri"/>
              </a:rPr>
              <a:t>Session Overview</a:t>
            </a:r>
          </a:p>
        </p:txBody>
      </p:sp>
      <p:sp>
        <p:nvSpPr>
          <p:cNvPr id="200" name="Bar1"/>
          <p:cNvSpPr/>
          <p:nvPr/>
        </p:nvSpPr>
        <p:spPr>
          <a:xfrm>
            <a:off x="457200" y="952500"/>
            <a:ext cx="7086600" cy="533400"/>
          </a:xfrm>
          <a:prstGeom prst="rect">
            <a:avLst/>
          </a:prstGeom>
          <a:solidFill>
            <a:srgbClr val="1B1472"/>
          </a:solidFill>
          <a:ln>
            <a:noFill/>
          </a:ln>
        </p:spPr>
        <p:txBody>
          <a:bodyPr/>
          <a:lstStyle/>
          <a:p>
            <a:endParaRPr/>
          </a:p>
        </p:txBody>
      </p:sp>
      <p:sp>
        <p:nvSpPr>
          <p:cNvPr id="201" name="Num1"/>
          <p:cNvSpPr txBox="1"/>
          <p:nvPr/>
        </p:nvSpPr>
        <p:spPr>
          <a:xfrm>
            <a:off x="571500" y="952500"/>
            <a:ext cx="457200" cy="533400"/>
          </a:xfrm>
          <a:prstGeom prst="rect">
            <a:avLst/>
          </a:prstGeom>
          <a:noFill/>
          <a:ln>
            <a:noFill/>
          </a:ln>
        </p:spPr>
        <p:txBody>
          <a:bodyPr wrap="square" lIns="0" tIns="0" rIns="0" bIns="0" anchor="ctr"/>
          <a:lstStyle/>
          <a:p>
            <a:pPr algn="ctr"/>
            <a:r>
              <a:rPr lang="en-US" sz="1600" b="1" dirty="0">
                <a:solidFill>
                  <a:srgbClr val="FFFFFF"/>
                </a:solidFill>
                <a:latin typeface="Calibri"/>
              </a:rPr>
              <a:t>1</a:t>
            </a:r>
          </a:p>
        </p:txBody>
      </p:sp>
      <p:sp>
        <p:nvSpPr>
          <p:cNvPr id="202" name="Label1"/>
          <p:cNvSpPr txBox="1"/>
          <p:nvPr/>
        </p:nvSpPr>
        <p:spPr>
          <a:xfrm>
            <a:off x="1143000" y="952500"/>
            <a:ext cx="6286500" cy="533400"/>
          </a:xfrm>
          <a:prstGeom prst="rect">
            <a:avLst/>
          </a:prstGeom>
          <a:noFill/>
          <a:ln>
            <a:noFill/>
          </a:ln>
        </p:spPr>
        <p:txBody>
          <a:bodyPr wrap="square" lIns="0" tIns="0" rIns="0" bIns="0" anchor="ctr"/>
          <a:lstStyle/>
          <a:p>
            <a:pPr algn="l"/>
            <a:r>
              <a:rPr lang="en-US" sz="1600" b="1" dirty="0">
                <a:solidFill>
                  <a:srgbClr val="FFFFFF"/>
                </a:solidFill>
                <a:latin typeface="Calibri"/>
              </a:rPr>
              <a:t>What is MDP?  </a:t>
            </a:r>
            <a:r>
              <a:rPr lang="en-US" sz="1200" b="0" dirty="0">
                <a:solidFill>
                  <a:srgbClr val="D6EAF8"/>
                </a:solidFill>
                <a:latin typeface="Calibri"/>
              </a:rPr>
              <a:t>Formal definition, Markov Property</a:t>
            </a:r>
          </a:p>
        </p:txBody>
      </p:sp>
      <p:sp>
        <p:nvSpPr>
          <p:cNvPr id="203" name="Bar2"/>
          <p:cNvSpPr/>
          <p:nvPr/>
        </p:nvSpPr>
        <p:spPr>
          <a:xfrm>
            <a:off x="457200" y="1543050"/>
            <a:ext cx="7086600" cy="533400"/>
          </a:xfrm>
          <a:prstGeom prst="rect">
            <a:avLst/>
          </a:prstGeom>
          <a:solidFill>
            <a:srgbClr val="1E2A8A"/>
          </a:solidFill>
          <a:ln>
            <a:noFill/>
          </a:ln>
        </p:spPr>
        <p:txBody>
          <a:bodyPr/>
          <a:lstStyle/>
          <a:p>
            <a:endParaRPr/>
          </a:p>
        </p:txBody>
      </p:sp>
      <p:sp>
        <p:nvSpPr>
          <p:cNvPr id="204" name="Num2"/>
          <p:cNvSpPr txBox="1"/>
          <p:nvPr/>
        </p:nvSpPr>
        <p:spPr>
          <a:xfrm>
            <a:off x="571500" y="1543050"/>
            <a:ext cx="457200" cy="533400"/>
          </a:xfrm>
          <a:prstGeom prst="rect">
            <a:avLst/>
          </a:prstGeom>
          <a:noFill/>
          <a:ln>
            <a:noFill/>
          </a:ln>
        </p:spPr>
        <p:txBody>
          <a:bodyPr wrap="square" lIns="0" tIns="0" rIns="0" bIns="0" anchor="ctr"/>
          <a:lstStyle/>
          <a:p>
            <a:pPr algn="ctr"/>
            <a:r>
              <a:rPr lang="en-US" sz="1600" b="1" dirty="0">
                <a:solidFill>
                  <a:srgbClr val="FFFFFF"/>
                </a:solidFill>
                <a:latin typeface="Calibri"/>
              </a:rPr>
              <a:t>2</a:t>
            </a:r>
          </a:p>
        </p:txBody>
      </p:sp>
      <p:sp>
        <p:nvSpPr>
          <p:cNvPr id="205" name="Label2"/>
          <p:cNvSpPr txBox="1"/>
          <p:nvPr/>
        </p:nvSpPr>
        <p:spPr>
          <a:xfrm>
            <a:off x="1143000" y="1543050"/>
            <a:ext cx="6286500" cy="533400"/>
          </a:xfrm>
          <a:prstGeom prst="rect">
            <a:avLst/>
          </a:prstGeom>
          <a:noFill/>
          <a:ln>
            <a:noFill/>
          </a:ln>
        </p:spPr>
        <p:txBody>
          <a:bodyPr wrap="square" lIns="0" tIns="0" rIns="0" bIns="0" anchor="ctr"/>
          <a:lstStyle/>
          <a:p>
            <a:pPr algn="l"/>
            <a:r>
              <a:rPr lang="en-US" sz="1600" b="1" dirty="0">
                <a:solidFill>
                  <a:srgbClr val="FFFFFF"/>
                </a:solidFill>
                <a:latin typeface="Calibri"/>
              </a:rPr>
              <a:t>MDP &amp; RL Problem  </a:t>
            </a:r>
            <a:r>
              <a:rPr lang="en-US" sz="1200" b="0" dirty="0">
                <a:solidFill>
                  <a:srgbClr val="D6EAF8"/>
                </a:solidFill>
                <a:latin typeface="Calibri"/>
              </a:rPr>
              <a:t>Agent-environment loop</a:t>
            </a:r>
          </a:p>
        </p:txBody>
      </p:sp>
      <p:sp>
        <p:nvSpPr>
          <p:cNvPr id="206" name="Bar3"/>
          <p:cNvSpPr/>
          <p:nvPr/>
        </p:nvSpPr>
        <p:spPr>
          <a:xfrm>
            <a:off x="457200" y="2133600"/>
            <a:ext cx="7086600" cy="533400"/>
          </a:xfrm>
          <a:prstGeom prst="rect">
            <a:avLst/>
          </a:prstGeom>
          <a:solidFill>
            <a:srgbClr val="1E3A99"/>
          </a:solidFill>
          <a:ln>
            <a:noFill/>
          </a:ln>
        </p:spPr>
        <p:txBody>
          <a:bodyPr/>
          <a:lstStyle/>
          <a:p>
            <a:endParaRPr/>
          </a:p>
        </p:txBody>
      </p:sp>
      <p:sp>
        <p:nvSpPr>
          <p:cNvPr id="207" name="Num3"/>
          <p:cNvSpPr txBox="1"/>
          <p:nvPr/>
        </p:nvSpPr>
        <p:spPr>
          <a:xfrm>
            <a:off x="571500" y="2133600"/>
            <a:ext cx="457200" cy="533400"/>
          </a:xfrm>
          <a:prstGeom prst="rect">
            <a:avLst/>
          </a:prstGeom>
          <a:noFill/>
          <a:ln>
            <a:noFill/>
          </a:ln>
        </p:spPr>
        <p:txBody>
          <a:bodyPr wrap="square" lIns="0" tIns="0" rIns="0" bIns="0" anchor="ctr"/>
          <a:lstStyle/>
          <a:p>
            <a:pPr algn="ctr"/>
            <a:r>
              <a:rPr lang="en-US" sz="1600" b="1" dirty="0">
                <a:solidFill>
                  <a:srgbClr val="FFFFFF"/>
                </a:solidFill>
                <a:latin typeface="Calibri"/>
              </a:rPr>
              <a:t>3</a:t>
            </a:r>
          </a:p>
        </p:txBody>
      </p:sp>
      <p:sp>
        <p:nvSpPr>
          <p:cNvPr id="208" name="Label3"/>
          <p:cNvSpPr txBox="1"/>
          <p:nvPr/>
        </p:nvSpPr>
        <p:spPr>
          <a:xfrm>
            <a:off x="1143000" y="2133600"/>
            <a:ext cx="6286500" cy="533400"/>
          </a:xfrm>
          <a:prstGeom prst="rect">
            <a:avLst/>
          </a:prstGeom>
          <a:noFill/>
          <a:ln>
            <a:noFill/>
          </a:ln>
        </p:spPr>
        <p:txBody>
          <a:bodyPr wrap="square" lIns="0" tIns="0" rIns="0" bIns="0" anchor="ctr"/>
          <a:lstStyle/>
          <a:p>
            <a:pPr algn="l"/>
            <a:r>
              <a:rPr lang="en-US" sz="1600" b="1" dirty="0">
                <a:solidFill>
                  <a:srgbClr val="FFFFFF"/>
                </a:solidFill>
                <a:latin typeface="Calibri"/>
              </a:rPr>
              <a:t>MDP Formulation  </a:t>
            </a:r>
            <a:r>
              <a:rPr lang="en-US" sz="1200" b="0" dirty="0">
                <a:solidFill>
                  <a:srgbClr val="D6EAF8"/>
                </a:solidFill>
                <a:latin typeface="Calibri"/>
              </a:rPr>
              <a:t>(S, A, P, R, γ) tuple</a:t>
            </a:r>
          </a:p>
        </p:txBody>
      </p:sp>
      <p:sp>
        <p:nvSpPr>
          <p:cNvPr id="209" name="Bar4"/>
          <p:cNvSpPr/>
          <p:nvPr/>
        </p:nvSpPr>
        <p:spPr>
          <a:xfrm>
            <a:off x="457200" y="2724150"/>
            <a:ext cx="7086600" cy="533400"/>
          </a:xfrm>
          <a:prstGeom prst="rect">
            <a:avLst/>
          </a:prstGeom>
          <a:solidFill>
            <a:srgbClr val="1A5276"/>
          </a:solidFill>
          <a:ln>
            <a:noFill/>
          </a:ln>
        </p:spPr>
        <p:txBody>
          <a:bodyPr/>
          <a:lstStyle/>
          <a:p>
            <a:endParaRPr/>
          </a:p>
        </p:txBody>
      </p:sp>
      <p:sp>
        <p:nvSpPr>
          <p:cNvPr id="210" name="Num4"/>
          <p:cNvSpPr txBox="1"/>
          <p:nvPr/>
        </p:nvSpPr>
        <p:spPr>
          <a:xfrm>
            <a:off x="571500" y="2724150"/>
            <a:ext cx="457200" cy="533400"/>
          </a:xfrm>
          <a:prstGeom prst="rect">
            <a:avLst/>
          </a:prstGeom>
          <a:noFill/>
          <a:ln>
            <a:noFill/>
          </a:ln>
        </p:spPr>
        <p:txBody>
          <a:bodyPr wrap="square" lIns="0" tIns="0" rIns="0" bIns="0" anchor="ctr"/>
          <a:lstStyle/>
          <a:p>
            <a:pPr algn="ctr"/>
            <a:r>
              <a:rPr lang="en-US" sz="1600" b="1" dirty="0">
                <a:solidFill>
                  <a:srgbClr val="FFFFFF"/>
                </a:solidFill>
                <a:latin typeface="Calibri"/>
              </a:rPr>
              <a:t>4</a:t>
            </a:r>
          </a:p>
        </p:txBody>
      </p:sp>
      <p:sp>
        <p:nvSpPr>
          <p:cNvPr id="211" name="Label4"/>
          <p:cNvSpPr txBox="1"/>
          <p:nvPr/>
        </p:nvSpPr>
        <p:spPr>
          <a:xfrm>
            <a:off x="1143000" y="2724150"/>
            <a:ext cx="6286500" cy="533400"/>
          </a:xfrm>
          <a:prstGeom prst="rect">
            <a:avLst/>
          </a:prstGeom>
          <a:noFill/>
          <a:ln>
            <a:noFill/>
          </a:ln>
        </p:spPr>
        <p:txBody>
          <a:bodyPr wrap="square" lIns="0" tIns="0" rIns="0" bIns="0" anchor="ctr"/>
          <a:lstStyle/>
          <a:p>
            <a:pPr algn="l"/>
            <a:r>
              <a:rPr lang="en-US" sz="1600" b="1" dirty="0">
                <a:solidFill>
                  <a:srgbClr val="FFFFFF"/>
                </a:solidFill>
                <a:latin typeface="Calibri"/>
              </a:rPr>
              <a:t>Returns &amp; Rewards  </a:t>
            </a:r>
            <a:r>
              <a:rPr lang="en-US" sz="1200" b="0" dirty="0">
                <a:solidFill>
                  <a:srgbClr val="D6EAF8"/>
                </a:solidFill>
                <a:latin typeface="Calibri"/>
              </a:rPr>
              <a:t>Episodic vs. continuing</a:t>
            </a:r>
          </a:p>
        </p:txBody>
      </p:sp>
      <p:sp>
        <p:nvSpPr>
          <p:cNvPr id="212" name="Bar5"/>
          <p:cNvSpPr/>
          <p:nvPr/>
        </p:nvSpPr>
        <p:spPr>
          <a:xfrm>
            <a:off x="457200" y="3314700"/>
            <a:ext cx="7086600" cy="533400"/>
          </a:xfrm>
          <a:prstGeom prst="rect">
            <a:avLst/>
          </a:prstGeom>
          <a:solidFill>
            <a:srgbClr val="1F618D"/>
          </a:solidFill>
          <a:ln>
            <a:noFill/>
          </a:ln>
        </p:spPr>
        <p:txBody>
          <a:bodyPr/>
          <a:lstStyle/>
          <a:p>
            <a:endParaRPr/>
          </a:p>
        </p:txBody>
      </p:sp>
      <p:sp>
        <p:nvSpPr>
          <p:cNvPr id="213" name="Num5"/>
          <p:cNvSpPr txBox="1"/>
          <p:nvPr/>
        </p:nvSpPr>
        <p:spPr>
          <a:xfrm>
            <a:off x="571500" y="3314700"/>
            <a:ext cx="457200" cy="533400"/>
          </a:xfrm>
          <a:prstGeom prst="rect">
            <a:avLst/>
          </a:prstGeom>
          <a:noFill/>
          <a:ln>
            <a:noFill/>
          </a:ln>
        </p:spPr>
        <p:txBody>
          <a:bodyPr wrap="square" lIns="0" tIns="0" rIns="0" bIns="0" anchor="ctr"/>
          <a:lstStyle/>
          <a:p>
            <a:pPr algn="ctr"/>
            <a:r>
              <a:rPr lang="en-US" sz="1600" b="1" dirty="0">
                <a:solidFill>
                  <a:srgbClr val="FFFFFF"/>
                </a:solidFill>
                <a:latin typeface="Calibri"/>
              </a:rPr>
              <a:t>5</a:t>
            </a:r>
          </a:p>
        </p:txBody>
      </p:sp>
      <p:sp>
        <p:nvSpPr>
          <p:cNvPr id="214" name="Label5"/>
          <p:cNvSpPr txBox="1"/>
          <p:nvPr/>
        </p:nvSpPr>
        <p:spPr>
          <a:xfrm>
            <a:off x="1143000" y="3314700"/>
            <a:ext cx="6286500" cy="533400"/>
          </a:xfrm>
          <a:prstGeom prst="rect">
            <a:avLst/>
          </a:prstGeom>
          <a:noFill/>
          <a:ln>
            <a:noFill/>
          </a:ln>
        </p:spPr>
        <p:txBody>
          <a:bodyPr wrap="square" lIns="0" tIns="0" rIns="0" bIns="0" anchor="ctr"/>
          <a:lstStyle/>
          <a:p>
            <a:pPr algn="l"/>
            <a:r>
              <a:rPr lang="en-US" sz="1600" b="1" dirty="0">
                <a:solidFill>
                  <a:srgbClr val="FFFFFF"/>
                </a:solidFill>
                <a:latin typeface="Calibri"/>
              </a:rPr>
              <a:t>Value Functions  </a:t>
            </a:r>
            <a:r>
              <a:rPr lang="en-US" sz="1200" b="0" dirty="0">
                <a:solidFill>
                  <a:srgbClr val="D6EAF8"/>
                </a:solidFill>
                <a:latin typeface="Calibri"/>
              </a:rPr>
              <a:t>V(s), Q(s,a), returns</a:t>
            </a:r>
          </a:p>
        </p:txBody>
      </p:sp>
      <p:sp>
        <p:nvSpPr>
          <p:cNvPr id="215" name="Bar6"/>
          <p:cNvSpPr/>
          <p:nvPr/>
        </p:nvSpPr>
        <p:spPr>
          <a:xfrm>
            <a:off x="457200" y="3905250"/>
            <a:ext cx="7086600" cy="533400"/>
          </a:xfrm>
          <a:prstGeom prst="rect">
            <a:avLst/>
          </a:prstGeom>
          <a:solidFill>
            <a:srgbClr val="2471A3"/>
          </a:solidFill>
          <a:ln>
            <a:noFill/>
          </a:ln>
        </p:spPr>
        <p:txBody>
          <a:bodyPr/>
          <a:lstStyle/>
          <a:p>
            <a:endParaRPr/>
          </a:p>
        </p:txBody>
      </p:sp>
      <p:sp>
        <p:nvSpPr>
          <p:cNvPr id="216" name="Num6"/>
          <p:cNvSpPr txBox="1"/>
          <p:nvPr/>
        </p:nvSpPr>
        <p:spPr>
          <a:xfrm>
            <a:off x="571500" y="3905250"/>
            <a:ext cx="457200" cy="533400"/>
          </a:xfrm>
          <a:prstGeom prst="rect">
            <a:avLst/>
          </a:prstGeom>
          <a:noFill/>
          <a:ln>
            <a:noFill/>
          </a:ln>
        </p:spPr>
        <p:txBody>
          <a:bodyPr wrap="square" lIns="0" tIns="0" rIns="0" bIns="0" anchor="ctr"/>
          <a:lstStyle/>
          <a:p>
            <a:pPr algn="ctr"/>
            <a:r>
              <a:rPr lang="en-US" sz="1600" b="1" dirty="0">
                <a:solidFill>
                  <a:srgbClr val="FFFFFF"/>
                </a:solidFill>
                <a:latin typeface="Calibri"/>
              </a:rPr>
              <a:t>6</a:t>
            </a:r>
          </a:p>
        </p:txBody>
      </p:sp>
      <p:sp>
        <p:nvSpPr>
          <p:cNvPr id="217" name="Label6"/>
          <p:cNvSpPr txBox="1"/>
          <p:nvPr/>
        </p:nvSpPr>
        <p:spPr>
          <a:xfrm>
            <a:off x="1143000" y="3905250"/>
            <a:ext cx="6286500" cy="533400"/>
          </a:xfrm>
          <a:prstGeom prst="rect">
            <a:avLst/>
          </a:prstGeom>
          <a:noFill/>
          <a:ln>
            <a:noFill/>
          </a:ln>
        </p:spPr>
        <p:txBody>
          <a:bodyPr wrap="square" lIns="0" tIns="0" rIns="0" bIns="0" anchor="ctr"/>
          <a:lstStyle/>
          <a:p>
            <a:pPr algn="l"/>
            <a:r>
              <a:rPr lang="en-US" sz="1600" b="1" dirty="0">
                <a:solidFill>
                  <a:srgbClr val="FFFFFF"/>
                </a:solidFill>
                <a:latin typeface="Calibri"/>
              </a:rPr>
              <a:t>Bellman Equations  </a:t>
            </a:r>
            <a:r>
              <a:rPr lang="en-US" sz="1200" b="0" dirty="0">
                <a:solidFill>
                  <a:srgbClr val="D6EAF8"/>
                </a:solidFill>
                <a:latin typeface="Calibri"/>
              </a:rPr>
              <a:t>Expectation &amp; optimality</a:t>
            </a:r>
          </a:p>
        </p:txBody>
      </p:sp>
      <p:sp>
        <p:nvSpPr>
          <p:cNvPr id="218" name="Bar7"/>
          <p:cNvSpPr/>
          <p:nvPr/>
        </p:nvSpPr>
        <p:spPr>
          <a:xfrm>
            <a:off x="457200" y="4495800"/>
            <a:ext cx="7086600" cy="533400"/>
          </a:xfrm>
          <a:prstGeom prst="rect">
            <a:avLst/>
          </a:prstGeom>
          <a:solidFill>
            <a:srgbClr val="2E86C1"/>
          </a:solidFill>
          <a:ln>
            <a:noFill/>
          </a:ln>
        </p:spPr>
        <p:txBody>
          <a:bodyPr/>
          <a:lstStyle/>
          <a:p>
            <a:endParaRPr/>
          </a:p>
        </p:txBody>
      </p:sp>
      <p:sp>
        <p:nvSpPr>
          <p:cNvPr id="219" name="Num7"/>
          <p:cNvSpPr txBox="1"/>
          <p:nvPr/>
        </p:nvSpPr>
        <p:spPr>
          <a:xfrm>
            <a:off x="571500" y="4495800"/>
            <a:ext cx="457200" cy="533400"/>
          </a:xfrm>
          <a:prstGeom prst="rect">
            <a:avLst/>
          </a:prstGeom>
          <a:noFill/>
          <a:ln>
            <a:noFill/>
          </a:ln>
        </p:spPr>
        <p:txBody>
          <a:bodyPr wrap="square" lIns="0" tIns="0" rIns="0" bIns="0" anchor="ctr"/>
          <a:lstStyle/>
          <a:p>
            <a:pPr algn="ctr"/>
            <a:r>
              <a:rPr lang="en-US" sz="1600" b="1" dirty="0">
                <a:solidFill>
                  <a:srgbClr val="FFFFFF"/>
                </a:solidFill>
                <a:latin typeface="Calibri"/>
              </a:rPr>
              <a:t>7</a:t>
            </a:r>
          </a:p>
        </p:txBody>
      </p:sp>
      <p:sp>
        <p:nvSpPr>
          <p:cNvPr id="220" name="Label7"/>
          <p:cNvSpPr txBox="1"/>
          <p:nvPr/>
        </p:nvSpPr>
        <p:spPr>
          <a:xfrm>
            <a:off x="1143000" y="4495800"/>
            <a:ext cx="6286500" cy="533400"/>
          </a:xfrm>
          <a:prstGeom prst="rect">
            <a:avLst/>
          </a:prstGeom>
          <a:noFill/>
          <a:ln>
            <a:noFill/>
          </a:ln>
        </p:spPr>
        <p:txBody>
          <a:bodyPr wrap="square" lIns="0" tIns="0" rIns="0" bIns="0" anchor="ctr"/>
          <a:lstStyle/>
          <a:p>
            <a:pPr algn="l"/>
            <a:r>
              <a:rPr lang="en-US" sz="1600" b="1" dirty="0">
                <a:solidFill>
                  <a:srgbClr val="FFFFFF"/>
                </a:solidFill>
                <a:latin typeface="Calibri"/>
              </a:rPr>
              <a:t>Dynamic Programming  </a:t>
            </a:r>
            <a:r>
              <a:rPr lang="en-US" sz="1200" b="0" dirty="0">
                <a:solidFill>
                  <a:srgbClr val="D6EAF8"/>
                </a:solidFill>
                <a:latin typeface="Calibri"/>
              </a:rPr>
              <a:t>Policy eval &amp; improvement</a:t>
            </a:r>
          </a:p>
        </p:txBody>
      </p:sp>
      <p:sp>
        <p:nvSpPr>
          <p:cNvPr id="221" name="Bar8"/>
          <p:cNvSpPr/>
          <p:nvPr/>
        </p:nvSpPr>
        <p:spPr>
          <a:xfrm>
            <a:off x="457200" y="5086350"/>
            <a:ext cx="7086600" cy="533400"/>
          </a:xfrm>
          <a:prstGeom prst="rect">
            <a:avLst/>
          </a:prstGeom>
          <a:solidFill>
            <a:srgbClr val="2980B9"/>
          </a:solidFill>
          <a:ln>
            <a:noFill/>
          </a:ln>
        </p:spPr>
        <p:txBody>
          <a:bodyPr/>
          <a:lstStyle/>
          <a:p>
            <a:endParaRPr/>
          </a:p>
        </p:txBody>
      </p:sp>
      <p:sp>
        <p:nvSpPr>
          <p:cNvPr id="222" name="Num8"/>
          <p:cNvSpPr txBox="1"/>
          <p:nvPr/>
        </p:nvSpPr>
        <p:spPr>
          <a:xfrm>
            <a:off x="571500" y="5086350"/>
            <a:ext cx="457200" cy="533400"/>
          </a:xfrm>
          <a:prstGeom prst="rect">
            <a:avLst/>
          </a:prstGeom>
          <a:noFill/>
          <a:ln>
            <a:noFill/>
          </a:ln>
        </p:spPr>
        <p:txBody>
          <a:bodyPr wrap="square" lIns="0" tIns="0" rIns="0" bIns="0" anchor="ctr"/>
          <a:lstStyle/>
          <a:p>
            <a:pPr algn="ctr"/>
            <a:r>
              <a:rPr lang="en-US" sz="1600" b="1" dirty="0">
                <a:solidFill>
                  <a:srgbClr val="FFFFFF"/>
                </a:solidFill>
                <a:latin typeface="Calibri"/>
              </a:rPr>
              <a:t>8</a:t>
            </a:r>
          </a:p>
        </p:txBody>
      </p:sp>
      <p:sp>
        <p:nvSpPr>
          <p:cNvPr id="223" name="Label8"/>
          <p:cNvSpPr txBox="1"/>
          <p:nvPr/>
        </p:nvSpPr>
        <p:spPr>
          <a:xfrm>
            <a:off x="1143000" y="5086350"/>
            <a:ext cx="6286500" cy="533400"/>
          </a:xfrm>
          <a:prstGeom prst="rect">
            <a:avLst/>
          </a:prstGeom>
          <a:noFill/>
          <a:ln>
            <a:noFill/>
          </a:ln>
        </p:spPr>
        <p:txBody>
          <a:bodyPr wrap="square" lIns="0" tIns="0" rIns="0" bIns="0" anchor="ctr"/>
          <a:lstStyle/>
          <a:p>
            <a:pPr algn="l"/>
            <a:r>
              <a:rPr lang="en-US" sz="1600" b="1" dirty="0">
                <a:solidFill>
                  <a:srgbClr val="FFFFFF"/>
                </a:solidFill>
                <a:latin typeface="Calibri"/>
              </a:rPr>
              <a:t>Value Iteration  </a:t>
            </a:r>
            <a:r>
              <a:rPr lang="en-US" sz="1200" b="0" dirty="0">
                <a:solidFill>
                  <a:srgbClr val="D6EAF8"/>
                </a:solidFill>
                <a:latin typeface="Calibri"/>
              </a:rPr>
              <a:t>Full algorithm walkthrough</a:t>
            </a:r>
          </a:p>
        </p:txBody>
      </p:sp>
      <p:sp>
        <p:nvSpPr>
          <p:cNvPr id="224" name="Bar9"/>
          <p:cNvSpPr/>
          <p:nvPr/>
        </p:nvSpPr>
        <p:spPr>
          <a:xfrm>
            <a:off x="457200" y="5676900"/>
            <a:ext cx="7086600" cy="533400"/>
          </a:xfrm>
          <a:prstGeom prst="rect">
            <a:avLst/>
          </a:prstGeom>
          <a:solidFill>
            <a:srgbClr val="5DADE2"/>
          </a:solidFill>
          <a:ln>
            <a:noFill/>
          </a:ln>
        </p:spPr>
        <p:txBody>
          <a:bodyPr/>
          <a:lstStyle/>
          <a:p>
            <a:endParaRPr/>
          </a:p>
        </p:txBody>
      </p:sp>
      <p:sp>
        <p:nvSpPr>
          <p:cNvPr id="225" name="Num9"/>
          <p:cNvSpPr txBox="1"/>
          <p:nvPr/>
        </p:nvSpPr>
        <p:spPr>
          <a:xfrm>
            <a:off x="571500" y="5676900"/>
            <a:ext cx="457200" cy="533400"/>
          </a:xfrm>
          <a:prstGeom prst="rect">
            <a:avLst/>
          </a:prstGeom>
          <a:noFill/>
          <a:ln>
            <a:noFill/>
          </a:ln>
        </p:spPr>
        <p:txBody>
          <a:bodyPr wrap="square" lIns="0" tIns="0" rIns="0" bIns="0" anchor="ctr"/>
          <a:lstStyle/>
          <a:p>
            <a:pPr algn="ctr"/>
            <a:r>
              <a:rPr lang="en-US" sz="1600" b="1" dirty="0">
                <a:solidFill>
                  <a:srgbClr val="FFFFFF"/>
                </a:solidFill>
                <a:latin typeface="Calibri"/>
              </a:rPr>
              <a:t>9</a:t>
            </a:r>
          </a:p>
        </p:txBody>
      </p:sp>
      <p:sp>
        <p:nvSpPr>
          <p:cNvPr id="226" name="Label9"/>
          <p:cNvSpPr txBox="1"/>
          <p:nvPr/>
        </p:nvSpPr>
        <p:spPr>
          <a:xfrm>
            <a:off x="1143000" y="5676900"/>
            <a:ext cx="6286500" cy="533400"/>
          </a:xfrm>
          <a:prstGeom prst="rect">
            <a:avLst/>
          </a:prstGeom>
          <a:noFill/>
          <a:ln>
            <a:noFill/>
          </a:ln>
        </p:spPr>
        <p:txBody>
          <a:bodyPr wrap="square" lIns="0" tIns="0" rIns="0" bIns="0" anchor="ctr"/>
          <a:lstStyle/>
          <a:p>
            <a:pPr algn="l"/>
            <a:r>
              <a:rPr lang="en-US" sz="1600" b="1" dirty="0">
                <a:solidFill>
                  <a:srgbClr val="FFFFFF"/>
                </a:solidFill>
                <a:latin typeface="Calibri"/>
              </a:rPr>
              <a:t>GPI  </a:t>
            </a:r>
            <a:r>
              <a:rPr lang="en-US" sz="1200" b="0" dirty="0">
                <a:solidFill>
                  <a:srgbClr val="D6EAF8"/>
                </a:solidFill>
                <a:latin typeface="Calibri"/>
              </a:rPr>
              <a:t>Policy eval + improvement loop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74662" y="231524"/>
            <a:ext cx="10453163" cy="430887"/>
          </a:xfrm>
        </p:spPr>
        <p:txBody>
          <a:bodyPr/>
          <a:lstStyle/>
          <a:p>
            <a:r>
              <a:rPr lang="en-US" sz="2800" dirty="0">
                <a:solidFill>
                  <a:schemeClr val="bg1"/>
                </a:solidFill>
              </a:rPr>
              <a:t>What is a Markov Decision Process (MDP)?</a:t>
            </a:r>
          </a:p>
        </p:txBody>
      </p:sp>
      <p:sp>
        <p:nvSpPr>
          <p:cNvPr id="10" name="CardBg10"/>
          <p:cNvSpPr>
            <a:spLocks noGrp="1"/>
          </p:cNvSpPr>
          <p:nvPr/>
        </p:nvSpPr>
        <p:spPr>
          <a:xfrm>
            <a:off x="457200" y="1080000"/>
            <a:ext cx="5400000" cy="1476933"/>
          </a:xfrm>
          <a:prstGeom prst="roundRect">
            <a:avLst>
              <a:gd name="adj" fmla="val 16667"/>
            </a:avLst>
          </a:prstGeom>
          <a:solidFill>
            <a:srgbClr val="EEF0FB"/>
          </a:solidFill>
          <a:ln>
            <a:noFill/>
          </a:ln>
        </p:spPr>
        <p:txBody>
          <a:bodyPr/>
          <a:lstStyle/>
          <a:p>
            <a:endParaRPr/>
          </a:p>
        </p:txBody>
      </p:sp>
      <p:sp>
        <p:nvSpPr>
          <p:cNvPr id="11" name="CardLbl11"/>
          <p:cNvSpPr txBox="1"/>
          <p:nvPr/>
        </p:nvSpPr>
        <p:spPr>
          <a:xfrm>
            <a:off x="457200" y="1080000"/>
            <a:ext cx="5400000" cy="400000"/>
          </a:xfrm>
          <a:prstGeom prst="rect">
            <a:avLst/>
          </a:prstGeom>
          <a:solidFill>
            <a:srgbClr val="1B1472"/>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Definition</a:t>
            </a:r>
          </a:p>
        </p:txBody>
      </p:sp>
      <p:sp>
        <p:nvSpPr>
          <p:cNvPr id="12" name="CardTxt12"/>
          <p:cNvSpPr txBox="1"/>
          <p:nvPr/>
        </p:nvSpPr>
        <p:spPr>
          <a:xfrm>
            <a:off x="548640" y="1520000"/>
            <a:ext cx="5217120" cy="818357"/>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An MDP is a mathematical framework for sequential decision-making under uncertainty.</a:t>
            </a:r>
          </a:p>
          <a:p>
            <a:pPr>
              <a:lnSpc>
                <a:spcPts val="2000"/>
              </a:lnSpc>
            </a:pPr>
            <a:r>
              <a:rPr lang="en-US" sz="1600" dirty="0">
                <a:solidFill>
                  <a:srgbClr val="1E1E2E"/>
                </a:solidFill>
                <a:latin typeface="Calibri"/>
              </a:rPr>
              <a:t>Formalises the agent-environment interaction</a:t>
            </a:r>
          </a:p>
        </p:txBody>
      </p:sp>
      <p:sp>
        <p:nvSpPr>
          <p:cNvPr id="20" name="CardBg20"/>
          <p:cNvSpPr>
            <a:spLocks noGrp="1"/>
          </p:cNvSpPr>
          <p:nvPr/>
        </p:nvSpPr>
        <p:spPr>
          <a:xfrm>
            <a:off x="6200000" y="1080000"/>
            <a:ext cx="5535000" cy="1514838"/>
          </a:xfrm>
          <a:prstGeom prst="roundRect">
            <a:avLst>
              <a:gd name="adj" fmla="val 16667"/>
            </a:avLst>
          </a:prstGeom>
          <a:solidFill>
            <a:srgbClr val="EEF0FB"/>
          </a:solidFill>
          <a:ln>
            <a:noFill/>
          </a:ln>
        </p:spPr>
        <p:txBody>
          <a:bodyPr/>
          <a:lstStyle/>
          <a:p>
            <a:endParaRPr/>
          </a:p>
        </p:txBody>
      </p:sp>
      <p:sp>
        <p:nvSpPr>
          <p:cNvPr id="21" name="CardLbl21"/>
          <p:cNvSpPr txBox="1"/>
          <p:nvPr/>
        </p:nvSpPr>
        <p:spPr>
          <a:xfrm>
            <a:off x="6200000" y="1080000"/>
            <a:ext cx="5535000" cy="400000"/>
          </a:xfrm>
          <a:prstGeom prst="rect">
            <a:avLst/>
          </a:prstGeom>
          <a:solidFill>
            <a:srgbClr val="2D3091"/>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Why MDPs?</a:t>
            </a:r>
          </a:p>
        </p:txBody>
      </p:sp>
      <p:sp>
        <p:nvSpPr>
          <p:cNvPr id="22" name="CardTxt22"/>
          <p:cNvSpPr txBox="1"/>
          <p:nvPr/>
        </p:nvSpPr>
        <p:spPr>
          <a:xfrm>
            <a:off x="6291440" y="1520000"/>
            <a:ext cx="5352120" cy="1074838"/>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Backbone of almost all RL algorithms.</a:t>
            </a:r>
          </a:p>
          <a:p>
            <a:pPr>
              <a:lnSpc>
                <a:spcPts val="2000"/>
              </a:lnSpc>
            </a:pPr>
            <a:r>
              <a:rPr lang="en-US" sz="1600" dirty="0">
                <a:solidFill>
                  <a:srgbClr val="1E1E2E"/>
                </a:solidFill>
                <a:latin typeface="Calibri"/>
              </a:rPr>
              <a:t>Enables rigorous optimality, value, and policy definitions.</a:t>
            </a:r>
          </a:p>
          <a:p>
            <a:pPr>
              <a:lnSpc>
                <a:spcPts val="2000"/>
              </a:lnSpc>
            </a:pPr>
            <a:r>
              <a:rPr lang="en-US" sz="1600" dirty="0">
                <a:solidFill>
                  <a:srgbClr val="1E1E2E"/>
                </a:solidFill>
                <a:latin typeface="Calibri"/>
              </a:rPr>
              <a:t>Applies to robotics, games, scheduling, finance.</a:t>
            </a:r>
          </a:p>
          <a:p>
            <a:pPr>
              <a:lnSpc>
                <a:spcPts val="2000"/>
              </a:lnSpc>
            </a:pPr>
            <a:endParaRPr lang="en-US" sz="1600" dirty="0">
              <a:solidFill>
                <a:srgbClr val="1E1E2E"/>
              </a:solidFill>
              <a:latin typeface="Calibri"/>
            </a:endParaRPr>
          </a:p>
        </p:txBody>
      </p:sp>
      <p:sp>
        <p:nvSpPr>
          <p:cNvPr id="30" name="MrkBg"/>
          <p:cNvSpPr>
            <a:spLocks noGrp="1"/>
          </p:cNvSpPr>
          <p:nvPr/>
        </p:nvSpPr>
        <p:spPr>
          <a:xfrm>
            <a:off x="457200" y="3720000"/>
            <a:ext cx="11277600" cy="1514838"/>
          </a:xfrm>
          <a:prstGeom prst="roundRect">
            <a:avLst>
              <a:gd name="adj" fmla="val 16667"/>
            </a:avLst>
          </a:prstGeom>
          <a:solidFill>
            <a:srgbClr val="1B1472"/>
          </a:solidFill>
          <a:ln>
            <a:noFill/>
          </a:ln>
        </p:spPr>
        <p:txBody>
          <a:bodyPr/>
          <a:lstStyle/>
          <a:p>
            <a:endParaRPr/>
          </a:p>
        </p:txBody>
      </p:sp>
      <p:sp>
        <p:nvSpPr>
          <p:cNvPr id="31" name="MrkTitle"/>
          <p:cNvSpPr txBox="1"/>
          <p:nvPr/>
        </p:nvSpPr>
        <p:spPr>
          <a:xfrm>
            <a:off x="700000" y="3780000"/>
            <a:ext cx="10800000" cy="348813"/>
          </a:xfrm>
          <a:prstGeom prst="rect">
            <a:avLst/>
          </a:prstGeom>
          <a:noFill/>
          <a:ln>
            <a:noFill/>
          </a:ln>
        </p:spPr>
        <p:txBody>
          <a:bodyPr wrap="square" lIns="91440" tIns="45720" rIns="91440" bIns="45720" anchor="t">
            <a:spAutoFit/>
          </a:bodyPr>
          <a:lstStyle/>
          <a:p>
            <a:pPr>
              <a:lnSpc>
                <a:spcPts val="2000"/>
              </a:lnSpc>
            </a:pPr>
            <a:r>
              <a:rPr lang="en-US" b="1" dirty="0">
                <a:solidFill>
                  <a:srgbClr val="D4A017"/>
                </a:solidFill>
                <a:latin typeface="Calibri"/>
              </a:rPr>
              <a:t>Markov Property</a:t>
            </a:r>
          </a:p>
        </p:txBody>
      </p:sp>
      <p:sp>
        <p:nvSpPr>
          <p:cNvPr id="32" name="MrkEq"/>
          <p:cNvSpPr txBox="1"/>
          <p:nvPr/>
        </p:nvSpPr>
        <p:spPr>
          <a:xfrm>
            <a:off x="700000" y="4180000"/>
            <a:ext cx="10800000" cy="338811"/>
          </a:xfrm>
          <a:prstGeom prst="rect">
            <a:avLst/>
          </a:prstGeom>
          <a:noFill/>
          <a:ln>
            <a:noFill/>
          </a:ln>
        </p:spPr>
        <p:txBody>
          <a:bodyPr wrap="square" lIns="91440" tIns="45720" rIns="91440" bIns="45720" anchor="t">
            <a:spAutoFit/>
          </a:bodyPr>
          <a:lstStyle/>
          <a:p>
            <a:pPr>
              <a:lnSpc>
                <a:spcPts val="2000"/>
              </a:lnSpc>
            </a:pPr>
            <a:r>
              <a:rPr lang="en-US" sz="1600" b="1" i="1" dirty="0">
                <a:solidFill>
                  <a:srgbClr val="FFFFFF"/>
                </a:solidFill>
                <a:latin typeface="Calibri"/>
              </a:rPr>
              <a:t>P(S₁ | S₀, A₀) = P(S₁ | S₀, A₀, ..., full history)</a:t>
            </a:r>
          </a:p>
        </p:txBody>
      </p:sp>
      <p:sp>
        <p:nvSpPr>
          <p:cNvPr id="33" name="MrkDesc"/>
          <p:cNvSpPr txBox="1"/>
          <p:nvPr/>
        </p:nvSpPr>
        <p:spPr>
          <a:xfrm>
            <a:off x="700000" y="4700000"/>
            <a:ext cx="10800000" cy="338875"/>
          </a:xfrm>
          <a:prstGeom prst="rect">
            <a:avLst/>
          </a:prstGeom>
          <a:noFill/>
          <a:ln>
            <a:noFill/>
          </a:ln>
        </p:spPr>
        <p:txBody>
          <a:bodyPr wrap="square" lIns="91440" tIns="45720" rIns="91440" bIns="45720" anchor="t">
            <a:spAutoFit/>
          </a:bodyPr>
          <a:lstStyle/>
          <a:p>
            <a:pPr>
              <a:lnSpc>
                <a:spcPts val="2000"/>
              </a:lnSpc>
            </a:pPr>
            <a:r>
              <a:rPr lang="en-US" sz="1600" dirty="0">
                <a:solidFill>
                  <a:srgbClr val="C5CAE9"/>
                </a:solidFill>
                <a:latin typeface="Calibri"/>
              </a:rPr>
              <a:t>The current state captures all relevant history — no need to remember the full trajectory.</a:t>
            </a:r>
          </a:p>
        </p:txBody>
      </p:sp>
      <p:sp>
        <p:nvSpPr>
          <p:cNvPr id="3" name="Footer"/>
          <p:cNvSpPr>
            <a:spLocks noGrp="1"/>
          </p:cNvSpPr>
          <p:nvPr>
            <p:ph type="ftr" idx="10"/>
          </p:nvPr>
        </p:nvSpPr>
        <p:spPr/>
        <p:txBody>
          <a:bodyPr/>
          <a:lstStyle/>
          <a:p>
            <a:r>
              <a:rPr lang="en-IN"/>
              <a:t>Faculty Development Workshop on Deep Reinforcement Learning - 9 &amp; 10 March,2026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74662" y="231524"/>
            <a:ext cx="10453163" cy="430887"/>
          </a:xfrm>
        </p:spPr>
        <p:txBody>
          <a:bodyPr/>
          <a:lstStyle/>
          <a:p>
            <a:r>
              <a:rPr lang="en-US" sz="2800" dirty="0">
                <a:solidFill>
                  <a:schemeClr val="bg1"/>
                </a:solidFill>
              </a:rPr>
              <a:t>How Does MDP Relate to the RL Problem?</a:t>
            </a:r>
          </a:p>
        </p:txBody>
      </p:sp>
      <p:sp>
        <p:nvSpPr>
          <p:cNvPr id="60" name="CardBg60"/>
          <p:cNvSpPr>
            <a:spLocks noGrp="1"/>
          </p:cNvSpPr>
          <p:nvPr/>
        </p:nvSpPr>
        <p:spPr>
          <a:xfrm>
            <a:off x="365760" y="1223068"/>
            <a:ext cx="5400000" cy="2889067"/>
          </a:xfrm>
          <a:prstGeom prst="roundRect">
            <a:avLst>
              <a:gd name="adj" fmla="val 16667"/>
            </a:avLst>
          </a:prstGeom>
          <a:solidFill>
            <a:srgbClr val="EEF0FB"/>
          </a:solidFill>
          <a:ln>
            <a:noFill/>
          </a:ln>
        </p:spPr>
        <p:txBody>
          <a:bodyPr/>
          <a:lstStyle/>
          <a:p>
            <a:endParaRPr/>
          </a:p>
        </p:txBody>
      </p:sp>
      <p:sp>
        <p:nvSpPr>
          <p:cNvPr id="61" name="CardLbl61"/>
          <p:cNvSpPr txBox="1"/>
          <p:nvPr/>
        </p:nvSpPr>
        <p:spPr>
          <a:xfrm>
            <a:off x="365760" y="1223068"/>
            <a:ext cx="5400000" cy="420000"/>
          </a:xfrm>
          <a:prstGeom prst="rect">
            <a:avLst/>
          </a:prstGeom>
          <a:solidFill>
            <a:srgbClr val="1B1472"/>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MDP as the RL Formalism</a:t>
            </a:r>
          </a:p>
        </p:txBody>
      </p:sp>
      <p:sp>
        <p:nvSpPr>
          <p:cNvPr id="62" name="CardTxt62"/>
          <p:cNvSpPr txBox="1"/>
          <p:nvPr/>
        </p:nvSpPr>
        <p:spPr>
          <a:xfrm>
            <a:off x="548440" y="1903064"/>
            <a:ext cx="5217120" cy="1846011"/>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RL assumes the environment IS an MDP (or close to one).</a:t>
            </a:r>
          </a:p>
          <a:p>
            <a:pPr>
              <a:lnSpc>
                <a:spcPts val="2000"/>
              </a:lnSpc>
            </a:pPr>
            <a:r>
              <a:rPr lang="en-US" sz="1600" dirty="0">
                <a:solidFill>
                  <a:srgbClr val="1E1E2E"/>
                </a:solidFill>
                <a:latin typeface="Calibri"/>
              </a:rPr>
              <a:t>Agent does NOT know dynamics p(s’,r|s,a) — learns from interaction.</a:t>
            </a:r>
          </a:p>
          <a:p>
            <a:pPr>
              <a:lnSpc>
                <a:spcPts val="2000"/>
              </a:lnSpc>
            </a:pPr>
            <a:r>
              <a:rPr lang="en-US" sz="1600" dirty="0">
                <a:solidFill>
                  <a:srgbClr val="1E1E2E"/>
                </a:solidFill>
                <a:latin typeface="Calibri"/>
              </a:rPr>
              <a:t>DP (this session) assumes FULL model knowledge — a planning setting.</a:t>
            </a:r>
          </a:p>
          <a:p>
            <a:pPr>
              <a:lnSpc>
                <a:spcPts val="2000"/>
              </a:lnSpc>
            </a:pPr>
            <a:r>
              <a:rPr lang="en-US" sz="1600" dirty="0">
                <a:solidFill>
                  <a:srgbClr val="1E1E2E"/>
                </a:solidFill>
                <a:latin typeface="Calibri"/>
              </a:rPr>
              <a:t>Model-free RL (TD, Q-learning) removes the model requirement.</a:t>
            </a:r>
          </a:p>
        </p:txBody>
      </p:sp>
      <p:sp>
        <p:nvSpPr>
          <p:cNvPr id="70" name="CardBg70"/>
          <p:cNvSpPr>
            <a:spLocks noGrp="1"/>
          </p:cNvSpPr>
          <p:nvPr/>
        </p:nvSpPr>
        <p:spPr>
          <a:xfrm>
            <a:off x="395880" y="4167099"/>
            <a:ext cx="5535000" cy="2133494"/>
          </a:xfrm>
          <a:prstGeom prst="roundRect">
            <a:avLst>
              <a:gd name="adj" fmla="val 16667"/>
            </a:avLst>
          </a:prstGeom>
          <a:solidFill>
            <a:srgbClr val="EEF0FB"/>
          </a:solidFill>
          <a:ln>
            <a:noFill/>
          </a:ln>
        </p:spPr>
        <p:txBody>
          <a:bodyPr/>
          <a:lstStyle/>
          <a:p>
            <a:endParaRPr/>
          </a:p>
        </p:txBody>
      </p:sp>
      <p:sp>
        <p:nvSpPr>
          <p:cNvPr id="71" name="CardLbl71"/>
          <p:cNvSpPr txBox="1"/>
          <p:nvPr/>
        </p:nvSpPr>
        <p:spPr>
          <a:xfrm>
            <a:off x="389500" y="4123735"/>
            <a:ext cx="5535000" cy="420000"/>
          </a:xfrm>
          <a:prstGeom prst="rect">
            <a:avLst/>
          </a:prstGeom>
          <a:solidFill>
            <a:srgbClr val="2D3091"/>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Key Insight  </a:t>
            </a:r>
          </a:p>
        </p:txBody>
      </p:sp>
      <p:sp>
        <p:nvSpPr>
          <p:cNvPr id="72" name="CardTxt72"/>
          <p:cNvSpPr txBox="1"/>
          <p:nvPr/>
        </p:nvSpPr>
        <p:spPr>
          <a:xfrm>
            <a:off x="548440" y="4500371"/>
            <a:ext cx="5352120" cy="1589531"/>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The agent-environment boundary is NOT physical — it is where the agent loses control.</a:t>
            </a:r>
          </a:p>
          <a:p>
            <a:pPr>
              <a:lnSpc>
                <a:spcPts val="2000"/>
              </a:lnSpc>
            </a:pPr>
            <a:r>
              <a:rPr lang="en-US" sz="1600" dirty="0">
                <a:solidFill>
                  <a:srgbClr val="1E1E2E"/>
                </a:solidFill>
                <a:latin typeface="Calibri"/>
              </a:rPr>
              <a:t>Rewards always come FROM the environment; the agent cannot modify the reward signal.</a:t>
            </a:r>
          </a:p>
          <a:p>
            <a:pPr>
              <a:lnSpc>
                <a:spcPts val="2000"/>
              </a:lnSpc>
            </a:pPr>
            <a:r>
              <a:rPr lang="en-US" sz="1600" dirty="0">
                <a:solidFill>
                  <a:srgbClr val="1E1E2E"/>
                </a:solidFill>
                <a:latin typeface="Calibri"/>
              </a:rPr>
              <a:t>Everything inside the agent (policy, value estimates) is under agent control.</a:t>
            </a:r>
          </a:p>
        </p:txBody>
      </p:sp>
      <p:sp>
        <p:nvSpPr>
          <p:cNvPr id="3" name="Footer"/>
          <p:cNvSpPr>
            <a:spLocks noGrp="1"/>
          </p:cNvSpPr>
          <p:nvPr>
            <p:ph type="ftr" idx="10"/>
          </p:nvPr>
        </p:nvSpPr>
        <p:spPr/>
        <p:txBody>
          <a:bodyPr/>
          <a:lstStyle/>
          <a:p>
            <a:r>
              <a:rPr lang="en-IN"/>
              <a:t>Faculty Development Workshop on Deep Reinforcement Learning - 9 &amp; 10 March,2026</a:t>
            </a:r>
          </a:p>
        </p:txBody>
      </p:sp>
      <p:pic>
        <p:nvPicPr>
          <p:cNvPr id="4" name="Google Shape;270;g2217600a579_0_17">
            <a:extLst>
              <a:ext uri="{FF2B5EF4-FFF2-40B4-BE49-F238E27FC236}">
                <a16:creationId xmlns:a16="http://schemas.microsoft.com/office/drawing/2014/main" id="{01492F34-2643-2AD3-AD86-0B903E6BCB0B}"/>
              </a:ext>
            </a:extLst>
          </p:cNvPr>
          <p:cNvPicPr preferRelativeResize="0"/>
          <p:nvPr/>
        </p:nvPicPr>
        <p:blipFill rotWithShape="1">
          <a:blip r:embed="rId2">
            <a:alphaModFix/>
          </a:blip>
          <a:srcRect/>
          <a:stretch/>
        </p:blipFill>
        <p:spPr>
          <a:xfrm>
            <a:off x="6621504" y="1532502"/>
            <a:ext cx="5022056" cy="1764506"/>
          </a:xfrm>
          <a:prstGeom prst="rect">
            <a:avLst/>
          </a:prstGeom>
          <a:noFill/>
          <a:ln>
            <a:noFill/>
          </a:ln>
        </p:spPr>
      </p:pic>
      <p:sp>
        <p:nvSpPr>
          <p:cNvPr id="5" name="Google Shape;271;g2217600a579_0_17">
            <a:extLst>
              <a:ext uri="{FF2B5EF4-FFF2-40B4-BE49-F238E27FC236}">
                <a16:creationId xmlns:a16="http://schemas.microsoft.com/office/drawing/2014/main" id="{A75C1512-69D7-AAFD-53CA-4E1D502B81D8}"/>
              </a:ext>
            </a:extLst>
          </p:cNvPr>
          <p:cNvSpPr txBox="1"/>
          <p:nvPr/>
        </p:nvSpPr>
        <p:spPr>
          <a:xfrm>
            <a:off x="7114394" y="3901653"/>
            <a:ext cx="4036275" cy="530892"/>
          </a:xfrm>
          <a:prstGeom prst="rect">
            <a:avLst/>
          </a:prstGeom>
          <a:noFill/>
          <a:ln>
            <a:noFill/>
          </a:ln>
        </p:spPr>
        <p:txBody>
          <a:bodyPr spcFirstLastPara="1" wrap="square" lIns="68569" tIns="68569" rIns="68569" bIns="68569" anchor="t" anchorCtr="0">
            <a:spAutoFit/>
          </a:bodyPr>
          <a:lstStyle/>
          <a:p>
            <a:pPr>
              <a:buSzPts val="1700"/>
            </a:pPr>
            <a:r>
              <a:rPr lang="en-US" sz="1275" b="1" dirty="0">
                <a:solidFill>
                  <a:srgbClr val="38761D"/>
                </a:solidFill>
                <a:latin typeface="Calibri"/>
                <a:ea typeface="Calibri"/>
                <a:cs typeface="Calibri"/>
                <a:sym typeface="Calibri"/>
              </a:rPr>
              <a:t>Note</a:t>
            </a:r>
            <a:r>
              <a:rPr lang="en-US" sz="1275" dirty="0">
                <a:latin typeface="Calibri"/>
                <a:ea typeface="Calibri"/>
                <a:cs typeface="Calibri"/>
                <a:sym typeface="Calibri"/>
              </a:rPr>
              <a:t>: </a:t>
            </a:r>
            <a:endParaRPr sz="1275" dirty="0">
              <a:latin typeface="Calibri"/>
              <a:ea typeface="Calibri"/>
              <a:cs typeface="Calibri"/>
              <a:sym typeface="Calibri"/>
            </a:endParaRPr>
          </a:p>
          <a:p>
            <a:pPr marL="342900" indent="-252413">
              <a:buSzPts val="1700"/>
              <a:buFont typeface="Calibri"/>
              <a:buChar char="●"/>
            </a:pPr>
            <a:r>
              <a:rPr lang="en-US" sz="1275" dirty="0">
                <a:latin typeface="Calibri"/>
                <a:ea typeface="Calibri"/>
                <a:cs typeface="Calibri"/>
                <a:sym typeface="Calibri"/>
              </a:rPr>
              <a:t>Interaction occurs in discrete time steps</a:t>
            </a:r>
            <a:endParaRPr sz="1275" dirty="0">
              <a:latin typeface="Calibri"/>
              <a:ea typeface="Calibri"/>
              <a:cs typeface="Calibri"/>
              <a:sym typeface="Calibri"/>
            </a:endParaRPr>
          </a:p>
        </p:txBody>
      </p:sp>
      <p:pic>
        <p:nvPicPr>
          <p:cNvPr id="6" name="Google Shape;272;g2217600a579_0_17">
            <a:extLst>
              <a:ext uri="{FF2B5EF4-FFF2-40B4-BE49-F238E27FC236}">
                <a16:creationId xmlns:a16="http://schemas.microsoft.com/office/drawing/2014/main" id="{C2573AE1-A825-308A-ECFF-EAE18C567351}"/>
              </a:ext>
            </a:extLst>
          </p:cNvPr>
          <p:cNvPicPr preferRelativeResize="0"/>
          <p:nvPr/>
        </p:nvPicPr>
        <p:blipFill rotWithShape="1">
          <a:blip r:embed="rId3">
            <a:alphaModFix/>
          </a:blip>
          <a:srcRect/>
          <a:stretch/>
        </p:blipFill>
        <p:spPr>
          <a:xfrm>
            <a:off x="7960734" y="4387731"/>
            <a:ext cx="2788247" cy="36567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74662" y="231524"/>
            <a:ext cx="10453163" cy="430887"/>
          </a:xfrm>
        </p:spPr>
        <p:txBody>
          <a:bodyPr/>
          <a:lstStyle/>
          <a:p>
            <a:r>
              <a:rPr lang="en-US" sz="2800" dirty="0">
                <a:solidFill>
                  <a:schemeClr val="bg1"/>
                </a:solidFill>
              </a:rPr>
              <a:t>MDP Formulation</a:t>
            </a:r>
          </a:p>
        </p:txBody>
      </p:sp>
      <p:sp>
        <p:nvSpPr>
          <p:cNvPr id="10" name="TupleBg"/>
          <p:cNvSpPr>
            <a:spLocks noGrp="1"/>
          </p:cNvSpPr>
          <p:nvPr/>
        </p:nvSpPr>
        <p:spPr>
          <a:xfrm>
            <a:off x="491066" y="1080000"/>
            <a:ext cx="5000000" cy="4421059"/>
          </a:xfrm>
          <a:prstGeom prst="roundRect">
            <a:avLst>
              <a:gd name="adj" fmla="val 16667"/>
            </a:avLst>
          </a:prstGeom>
          <a:solidFill>
            <a:srgbClr val="EEF0FB"/>
          </a:solidFill>
          <a:ln>
            <a:noFill/>
          </a:ln>
        </p:spPr>
        <p:txBody>
          <a:bodyPr/>
          <a:lstStyle/>
          <a:p>
            <a:endParaRPr/>
          </a:p>
        </p:txBody>
      </p:sp>
      <p:sp>
        <p:nvSpPr>
          <p:cNvPr id="11" name="TupleLbl"/>
          <p:cNvSpPr txBox="1"/>
          <p:nvPr/>
        </p:nvSpPr>
        <p:spPr>
          <a:xfrm>
            <a:off x="457200" y="1080000"/>
            <a:ext cx="5000000" cy="440000"/>
          </a:xfrm>
          <a:prstGeom prst="rect">
            <a:avLst/>
          </a:prstGeom>
          <a:solidFill>
            <a:srgbClr val="1B1472"/>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Formal Tuple: (S, A, P, R, γ)</a:t>
            </a:r>
          </a:p>
        </p:txBody>
      </p:sp>
      <p:sp>
        <p:nvSpPr>
          <p:cNvPr id="20" name="SymBg20"/>
          <p:cNvSpPr>
            <a:spLocks noGrp="1"/>
          </p:cNvSpPr>
          <p:nvPr/>
        </p:nvSpPr>
        <p:spPr>
          <a:xfrm>
            <a:off x="560000" y="1600000"/>
            <a:ext cx="608400" cy="560000"/>
          </a:xfrm>
          <a:prstGeom prst="roundRect">
            <a:avLst>
              <a:gd name="adj" fmla="val 12000"/>
            </a:avLst>
          </a:prstGeom>
          <a:solidFill>
            <a:srgbClr val="1B1472"/>
          </a:solidFill>
          <a:ln>
            <a:noFill/>
          </a:ln>
        </p:spPr>
        <p:txBody>
          <a:bodyPr/>
          <a:lstStyle/>
          <a:p>
            <a:endParaRPr/>
          </a:p>
        </p:txBody>
      </p:sp>
      <p:sp>
        <p:nvSpPr>
          <p:cNvPr id="21" name="SymTxt21"/>
          <p:cNvSpPr txBox="1"/>
          <p:nvPr/>
        </p:nvSpPr>
        <p:spPr>
          <a:xfrm>
            <a:off x="650000" y="1732302"/>
            <a:ext cx="1100000" cy="230832"/>
          </a:xfrm>
          <a:prstGeom prst="rect">
            <a:avLst/>
          </a:prstGeom>
          <a:noFill/>
          <a:ln>
            <a:noFill/>
          </a:ln>
        </p:spPr>
        <p:txBody>
          <a:bodyPr wrap="square" lIns="0" tIns="0" rIns="0" bIns="0" anchor="ctr">
            <a:spAutoFit/>
          </a:bodyPr>
          <a:lstStyle/>
          <a:p>
            <a:pPr>
              <a:lnSpc>
                <a:spcPts val="1800"/>
              </a:lnSpc>
            </a:pPr>
            <a:r>
              <a:rPr lang="en-US" sz="1600" b="1" dirty="0">
                <a:solidFill>
                  <a:srgbClr val="FFFFFF"/>
                </a:solidFill>
                <a:latin typeface="Calibri"/>
              </a:rPr>
              <a:t>    S</a:t>
            </a:r>
          </a:p>
        </p:txBody>
      </p:sp>
      <p:sp>
        <p:nvSpPr>
          <p:cNvPr id="22" name="DescTxt22"/>
          <p:cNvSpPr txBox="1"/>
          <p:nvPr/>
        </p:nvSpPr>
        <p:spPr>
          <a:xfrm>
            <a:off x="1750000" y="1660000"/>
            <a:ext cx="3600000" cy="297194"/>
          </a:xfrm>
          <a:prstGeom prst="rect">
            <a:avLst/>
          </a:prstGeom>
          <a:noFill/>
          <a:ln>
            <a:noFill/>
          </a:ln>
        </p:spPr>
        <p:txBody>
          <a:bodyPr wrap="square" lIns="60000" tIns="20000" rIns="91440" bIns="45720" anchor="t">
            <a:spAutoFit/>
          </a:bodyPr>
          <a:lstStyle/>
          <a:p>
            <a:pPr>
              <a:lnSpc>
                <a:spcPts val="1800"/>
              </a:lnSpc>
            </a:pPr>
            <a:r>
              <a:rPr lang="en-US" sz="1600" dirty="0">
                <a:solidFill>
                  <a:srgbClr val="1E1E2E"/>
                </a:solidFill>
                <a:latin typeface="Calibri"/>
              </a:rPr>
              <a:t>Set of all states (state space)</a:t>
            </a:r>
          </a:p>
        </p:txBody>
      </p:sp>
      <p:sp>
        <p:nvSpPr>
          <p:cNvPr id="23" name="SymBg23"/>
          <p:cNvSpPr>
            <a:spLocks noGrp="1"/>
          </p:cNvSpPr>
          <p:nvPr/>
        </p:nvSpPr>
        <p:spPr>
          <a:xfrm>
            <a:off x="560000" y="2300000"/>
            <a:ext cx="608400" cy="560000"/>
          </a:xfrm>
          <a:prstGeom prst="roundRect">
            <a:avLst>
              <a:gd name="adj" fmla="val 12000"/>
            </a:avLst>
          </a:prstGeom>
          <a:solidFill>
            <a:srgbClr val="1B1472"/>
          </a:solidFill>
          <a:ln>
            <a:noFill/>
          </a:ln>
        </p:spPr>
        <p:txBody>
          <a:bodyPr/>
          <a:lstStyle/>
          <a:p>
            <a:endParaRPr/>
          </a:p>
        </p:txBody>
      </p:sp>
      <p:sp>
        <p:nvSpPr>
          <p:cNvPr id="24" name="SymTxt24"/>
          <p:cNvSpPr txBox="1"/>
          <p:nvPr/>
        </p:nvSpPr>
        <p:spPr>
          <a:xfrm>
            <a:off x="560000" y="2480725"/>
            <a:ext cx="608400" cy="230832"/>
          </a:xfrm>
          <a:prstGeom prst="rect">
            <a:avLst/>
          </a:prstGeom>
          <a:noFill/>
          <a:ln>
            <a:noFill/>
          </a:ln>
        </p:spPr>
        <p:txBody>
          <a:bodyPr wrap="square" lIns="0" tIns="0" rIns="0" bIns="0" anchor="ctr">
            <a:spAutoFit/>
          </a:bodyPr>
          <a:lstStyle/>
          <a:p>
            <a:pPr>
              <a:lnSpc>
                <a:spcPts val="1800"/>
              </a:lnSpc>
            </a:pPr>
            <a:r>
              <a:rPr lang="en-US" sz="1600" b="1" dirty="0">
                <a:solidFill>
                  <a:srgbClr val="FFFFFF"/>
                </a:solidFill>
                <a:latin typeface="Calibri"/>
              </a:rPr>
              <a:t>    A</a:t>
            </a:r>
          </a:p>
        </p:txBody>
      </p:sp>
      <p:sp>
        <p:nvSpPr>
          <p:cNvPr id="25" name="DescTxt25"/>
          <p:cNvSpPr txBox="1"/>
          <p:nvPr/>
        </p:nvSpPr>
        <p:spPr>
          <a:xfrm>
            <a:off x="1750000" y="2360000"/>
            <a:ext cx="3600000" cy="297194"/>
          </a:xfrm>
          <a:prstGeom prst="rect">
            <a:avLst/>
          </a:prstGeom>
          <a:noFill/>
          <a:ln>
            <a:noFill/>
          </a:ln>
        </p:spPr>
        <p:txBody>
          <a:bodyPr wrap="square" lIns="60000" tIns="20000" rIns="91440" bIns="45720" anchor="t">
            <a:spAutoFit/>
          </a:bodyPr>
          <a:lstStyle/>
          <a:p>
            <a:pPr>
              <a:lnSpc>
                <a:spcPts val="1800"/>
              </a:lnSpc>
            </a:pPr>
            <a:r>
              <a:rPr lang="en-US" sz="1600" dirty="0">
                <a:solidFill>
                  <a:srgbClr val="1E1E2E"/>
                </a:solidFill>
                <a:latin typeface="Calibri"/>
              </a:rPr>
              <a:t>Set of all actions (action space)</a:t>
            </a:r>
          </a:p>
        </p:txBody>
      </p:sp>
      <p:sp>
        <p:nvSpPr>
          <p:cNvPr id="26" name="SymBg26"/>
          <p:cNvSpPr>
            <a:spLocks noGrp="1"/>
          </p:cNvSpPr>
          <p:nvPr/>
        </p:nvSpPr>
        <p:spPr>
          <a:xfrm>
            <a:off x="560000" y="3000000"/>
            <a:ext cx="794667" cy="560000"/>
          </a:xfrm>
          <a:prstGeom prst="roundRect">
            <a:avLst>
              <a:gd name="adj" fmla="val 12000"/>
            </a:avLst>
          </a:prstGeom>
          <a:solidFill>
            <a:srgbClr val="1B1472"/>
          </a:solidFill>
          <a:ln>
            <a:noFill/>
          </a:ln>
        </p:spPr>
        <p:txBody>
          <a:bodyPr/>
          <a:lstStyle/>
          <a:p>
            <a:endParaRPr/>
          </a:p>
        </p:txBody>
      </p:sp>
      <p:sp>
        <p:nvSpPr>
          <p:cNvPr id="27" name="SymTxt27"/>
          <p:cNvSpPr txBox="1"/>
          <p:nvPr/>
        </p:nvSpPr>
        <p:spPr>
          <a:xfrm>
            <a:off x="560000" y="3164584"/>
            <a:ext cx="794667" cy="230832"/>
          </a:xfrm>
          <a:prstGeom prst="rect">
            <a:avLst/>
          </a:prstGeom>
          <a:noFill/>
          <a:ln>
            <a:noFill/>
          </a:ln>
        </p:spPr>
        <p:txBody>
          <a:bodyPr wrap="square" lIns="0" tIns="0" rIns="0" bIns="0" anchor="ctr">
            <a:spAutoFit/>
          </a:bodyPr>
          <a:lstStyle/>
          <a:p>
            <a:pPr>
              <a:lnSpc>
                <a:spcPts val="1800"/>
              </a:lnSpc>
            </a:pPr>
            <a:r>
              <a:rPr lang="en-US" sz="1500" b="1" dirty="0">
                <a:solidFill>
                  <a:srgbClr val="FFFFFF"/>
                </a:solidFill>
                <a:latin typeface="Calibri"/>
              </a:rPr>
              <a:t>P(s’|s,a)</a:t>
            </a:r>
          </a:p>
        </p:txBody>
      </p:sp>
      <p:sp>
        <p:nvSpPr>
          <p:cNvPr id="28" name="DescTxt28"/>
          <p:cNvSpPr txBox="1"/>
          <p:nvPr/>
        </p:nvSpPr>
        <p:spPr>
          <a:xfrm>
            <a:off x="1750000" y="3060000"/>
            <a:ext cx="3600000" cy="297194"/>
          </a:xfrm>
          <a:prstGeom prst="rect">
            <a:avLst/>
          </a:prstGeom>
          <a:noFill/>
          <a:ln>
            <a:noFill/>
          </a:ln>
        </p:spPr>
        <p:txBody>
          <a:bodyPr wrap="square" lIns="60000" tIns="20000" rIns="91440" bIns="45720" anchor="t">
            <a:spAutoFit/>
          </a:bodyPr>
          <a:lstStyle/>
          <a:p>
            <a:pPr>
              <a:lnSpc>
                <a:spcPts val="1800"/>
              </a:lnSpc>
            </a:pPr>
            <a:r>
              <a:rPr lang="en-US" sz="1600" dirty="0">
                <a:solidFill>
                  <a:srgbClr val="1E1E2E"/>
                </a:solidFill>
                <a:latin typeface="Calibri"/>
              </a:rPr>
              <a:t>Transition probability function</a:t>
            </a:r>
          </a:p>
        </p:txBody>
      </p:sp>
      <p:sp>
        <p:nvSpPr>
          <p:cNvPr id="29" name="SymBg29"/>
          <p:cNvSpPr>
            <a:spLocks noGrp="1"/>
          </p:cNvSpPr>
          <p:nvPr/>
        </p:nvSpPr>
        <p:spPr>
          <a:xfrm>
            <a:off x="560000" y="3700000"/>
            <a:ext cx="947200" cy="560000"/>
          </a:xfrm>
          <a:prstGeom prst="roundRect">
            <a:avLst>
              <a:gd name="adj" fmla="val 12000"/>
            </a:avLst>
          </a:prstGeom>
          <a:solidFill>
            <a:srgbClr val="1B1472"/>
          </a:solidFill>
          <a:ln>
            <a:noFill/>
          </a:ln>
        </p:spPr>
        <p:txBody>
          <a:bodyPr/>
          <a:lstStyle/>
          <a:p>
            <a:endParaRPr/>
          </a:p>
        </p:txBody>
      </p:sp>
      <p:sp>
        <p:nvSpPr>
          <p:cNvPr id="30" name="SymTxt30"/>
          <p:cNvSpPr txBox="1"/>
          <p:nvPr/>
        </p:nvSpPr>
        <p:spPr>
          <a:xfrm>
            <a:off x="560000" y="3864584"/>
            <a:ext cx="794667" cy="230832"/>
          </a:xfrm>
          <a:prstGeom prst="rect">
            <a:avLst/>
          </a:prstGeom>
          <a:noFill/>
          <a:ln>
            <a:noFill/>
          </a:ln>
        </p:spPr>
        <p:txBody>
          <a:bodyPr wrap="square" lIns="0" tIns="0" rIns="0" bIns="0" anchor="ctr">
            <a:spAutoFit/>
          </a:bodyPr>
          <a:lstStyle/>
          <a:p>
            <a:pPr>
              <a:lnSpc>
                <a:spcPts val="1800"/>
              </a:lnSpc>
            </a:pPr>
            <a:r>
              <a:rPr lang="en-US" sz="1600" b="1" dirty="0">
                <a:solidFill>
                  <a:srgbClr val="FFFFFF"/>
                </a:solidFill>
                <a:latin typeface="Calibri"/>
              </a:rPr>
              <a:t>R(s,a,s’)</a:t>
            </a:r>
          </a:p>
        </p:txBody>
      </p:sp>
      <p:sp>
        <p:nvSpPr>
          <p:cNvPr id="31" name="DescTxt31"/>
          <p:cNvSpPr txBox="1"/>
          <p:nvPr/>
        </p:nvSpPr>
        <p:spPr>
          <a:xfrm>
            <a:off x="1750000" y="3760000"/>
            <a:ext cx="3600000" cy="297194"/>
          </a:xfrm>
          <a:prstGeom prst="rect">
            <a:avLst/>
          </a:prstGeom>
          <a:noFill/>
          <a:ln>
            <a:noFill/>
          </a:ln>
        </p:spPr>
        <p:txBody>
          <a:bodyPr wrap="square" lIns="60000" tIns="20000" rIns="91440" bIns="45720" anchor="t">
            <a:spAutoFit/>
          </a:bodyPr>
          <a:lstStyle/>
          <a:p>
            <a:pPr>
              <a:lnSpc>
                <a:spcPts val="1800"/>
              </a:lnSpc>
            </a:pPr>
            <a:r>
              <a:rPr lang="en-US" sz="1600" dirty="0">
                <a:solidFill>
                  <a:srgbClr val="1E1E2E"/>
                </a:solidFill>
                <a:latin typeface="Calibri"/>
              </a:rPr>
              <a:t>Expected reward for transition (s,a)→s’</a:t>
            </a:r>
          </a:p>
        </p:txBody>
      </p:sp>
      <p:sp>
        <p:nvSpPr>
          <p:cNvPr id="32" name="SymBg32"/>
          <p:cNvSpPr>
            <a:spLocks noGrp="1"/>
          </p:cNvSpPr>
          <p:nvPr/>
        </p:nvSpPr>
        <p:spPr>
          <a:xfrm>
            <a:off x="560000" y="4400000"/>
            <a:ext cx="947200" cy="560000"/>
          </a:xfrm>
          <a:prstGeom prst="roundRect">
            <a:avLst>
              <a:gd name="adj" fmla="val 12000"/>
            </a:avLst>
          </a:prstGeom>
          <a:solidFill>
            <a:srgbClr val="1B1472"/>
          </a:solidFill>
          <a:ln>
            <a:noFill/>
          </a:ln>
        </p:spPr>
        <p:txBody>
          <a:bodyPr/>
          <a:lstStyle/>
          <a:p>
            <a:endParaRPr/>
          </a:p>
        </p:txBody>
      </p:sp>
      <p:sp>
        <p:nvSpPr>
          <p:cNvPr id="33" name="SymTxt33"/>
          <p:cNvSpPr txBox="1"/>
          <p:nvPr/>
        </p:nvSpPr>
        <p:spPr>
          <a:xfrm>
            <a:off x="560000" y="4564584"/>
            <a:ext cx="794667" cy="230832"/>
          </a:xfrm>
          <a:prstGeom prst="rect">
            <a:avLst/>
          </a:prstGeom>
          <a:noFill/>
          <a:ln>
            <a:noFill/>
          </a:ln>
        </p:spPr>
        <p:txBody>
          <a:bodyPr wrap="square" lIns="0" tIns="0" rIns="0" bIns="0" anchor="ctr">
            <a:spAutoFit/>
          </a:bodyPr>
          <a:lstStyle/>
          <a:p>
            <a:pPr>
              <a:lnSpc>
                <a:spcPts val="1800"/>
              </a:lnSpc>
            </a:pPr>
            <a:r>
              <a:rPr lang="en-US" sz="1600" b="1" dirty="0">
                <a:solidFill>
                  <a:srgbClr val="FFFFFF"/>
                </a:solidFill>
                <a:latin typeface="Calibri"/>
              </a:rPr>
              <a:t>γ ∈ [0,1]</a:t>
            </a:r>
          </a:p>
        </p:txBody>
      </p:sp>
      <p:sp>
        <p:nvSpPr>
          <p:cNvPr id="34" name="DescTxt34"/>
          <p:cNvSpPr txBox="1"/>
          <p:nvPr/>
        </p:nvSpPr>
        <p:spPr>
          <a:xfrm>
            <a:off x="1750000" y="4460000"/>
            <a:ext cx="3600000" cy="297194"/>
          </a:xfrm>
          <a:prstGeom prst="rect">
            <a:avLst/>
          </a:prstGeom>
          <a:noFill/>
          <a:ln>
            <a:noFill/>
          </a:ln>
        </p:spPr>
        <p:txBody>
          <a:bodyPr wrap="square" lIns="60000" tIns="20000" rIns="91440" bIns="45720" anchor="t">
            <a:spAutoFit/>
          </a:bodyPr>
          <a:lstStyle/>
          <a:p>
            <a:pPr>
              <a:lnSpc>
                <a:spcPts val="1800"/>
              </a:lnSpc>
            </a:pPr>
            <a:r>
              <a:rPr lang="en-US" sz="1600" dirty="0">
                <a:solidFill>
                  <a:srgbClr val="1E1E2E"/>
                </a:solidFill>
                <a:latin typeface="Calibri"/>
              </a:rPr>
              <a:t>Discount factor — weights future reward</a:t>
            </a:r>
          </a:p>
        </p:txBody>
      </p:sp>
      <p:sp>
        <p:nvSpPr>
          <p:cNvPr id="60" name="CardBg60"/>
          <p:cNvSpPr>
            <a:spLocks noGrp="1"/>
          </p:cNvSpPr>
          <p:nvPr/>
        </p:nvSpPr>
        <p:spPr>
          <a:xfrm>
            <a:off x="5700000" y="1080000"/>
            <a:ext cx="5990000" cy="1813134"/>
          </a:xfrm>
          <a:prstGeom prst="roundRect">
            <a:avLst>
              <a:gd name="adj" fmla="val 16667"/>
            </a:avLst>
          </a:prstGeom>
          <a:solidFill>
            <a:srgbClr val="EEF0FB"/>
          </a:solidFill>
          <a:ln>
            <a:noFill/>
          </a:ln>
        </p:spPr>
        <p:txBody>
          <a:bodyPr/>
          <a:lstStyle/>
          <a:p>
            <a:endParaRPr/>
          </a:p>
        </p:txBody>
      </p:sp>
      <p:sp>
        <p:nvSpPr>
          <p:cNvPr id="61" name="CardLbl61"/>
          <p:cNvSpPr txBox="1"/>
          <p:nvPr/>
        </p:nvSpPr>
        <p:spPr>
          <a:xfrm>
            <a:off x="5700000" y="1080000"/>
            <a:ext cx="5990000" cy="420000"/>
          </a:xfrm>
          <a:prstGeom prst="rect">
            <a:avLst/>
          </a:prstGeom>
          <a:solidFill>
            <a:srgbClr val="2D3091"/>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Dynamics Function  (S&amp;B §3.2)</a:t>
            </a:r>
          </a:p>
        </p:txBody>
      </p:sp>
      <p:sp>
        <p:nvSpPr>
          <p:cNvPr id="62" name="CardTxt62"/>
          <p:cNvSpPr txBox="1"/>
          <p:nvPr/>
        </p:nvSpPr>
        <p:spPr>
          <a:xfrm>
            <a:off x="5791440" y="1540000"/>
            <a:ext cx="5807120" cy="1076570"/>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p(s’, r | s, a) = Pr{Sₜ₊₁=s’, Rₜ₊₁=r | Sₜ=s, Aₜ=a}</a:t>
            </a:r>
          </a:p>
          <a:p>
            <a:pPr>
              <a:lnSpc>
                <a:spcPts val="2000"/>
              </a:lnSpc>
            </a:pPr>
            <a:r>
              <a:rPr lang="en-US" sz="1600" dirty="0">
                <a:solidFill>
                  <a:srgbClr val="1E1E2E"/>
                </a:solidFill>
                <a:latin typeface="Calibri"/>
              </a:rPr>
              <a:t>Completely characterises environment dynamics.</a:t>
            </a:r>
          </a:p>
          <a:p>
            <a:pPr>
              <a:lnSpc>
                <a:spcPts val="2000"/>
              </a:lnSpc>
            </a:pPr>
            <a:r>
              <a:rPr lang="en-US" sz="1600" dirty="0">
                <a:solidFill>
                  <a:srgbClr val="1E1E2E"/>
                </a:solidFill>
                <a:latin typeface="Calibri"/>
              </a:rPr>
              <a:t>From p we derive: transition probs, expected rewards, and state-action values.</a:t>
            </a:r>
          </a:p>
        </p:txBody>
      </p:sp>
      <p:sp>
        <p:nvSpPr>
          <p:cNvPr id="70" name="CardBg70"/>
          <p:cNvSpPr>
            <a:spLocks noGrp="1"/>
          </p:cNvSpPr>
          <p:nvPr/>
        </p:nvSpPr>
        <p:spPr>
          <a:xfrm>
            <a:off x="5700000" y="3900000"/>
            <a:ext cx="5990000" cy="2027925"/>
          </a:xfrm>
          <a:prstGeom prst="roundRect">
            <a:avLst>
              <a:gd name="adj" fmla="val 16667"/>
            </a:avLst>
          </a:prstGeom>
          <a:solidFill>
            <a:srgbClr val="EEF0FB"/>
          </a:solidFill>
          <a:ln>
            <a:noFill/>
          </a:ln>
        </p:spPr>
        <p:txBody>
          <a:bodyPr/>
          <a:lstStyle/>
          <a:p>
            <a:endParaRPr/>
          </a:p>
        </p:txBody>
      </p:sp>
      <p:sp>
        <p:nvSpPr>
          <p:cNvPr id="71" name="CardLbl71"/>
          <p:cNvSpPr txBox="1"/>
          <p:nvPr/>
        </p:nvSpPr>
        <p:spPr>
          <a:xfrm>
            <a:off x="5700000" y="3900000"/>
            <a:ext cx="5990000" cy="420000"/>
          </a:xfrm>
          <a:prstGeom prst="rect">
            <a:avLst/>
          </a:prstGeom>
          <a:solidFill>
            <a:srgbClr val="00838F"/>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Policy π</a:t>
            </a:r>
          </a:p>
        </p:txBody>
      </p:sp>
      <p:sp>
        <p:nvSpPr>
          <p:cNvPr id="72" name="CardTxt72"/>
          <p:cNvSpPr txBox="1"/>
          <p:nvPr/>
        </p:nvSpPr>
        <p:spPr>
          <a:xfrm>
            <a:off x="5791440" y="4360000"/>
            <a:ext cx="5807120" cy="1076570"/>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π(a | s) = Pr{Aₜ = a | Sₜ = s}</a:t>
            </a:r>
          </a:p>
          <a:p>
            <a:pPr>
              <a:lnSpc>
                <a:spcPts val="2000"/>
              </a:lnSpc>
            </a:pPr>
            <a:r>
              <a:rPr lang="en-US" sz="1600" dirty="0">
                <a:solidFill>
                  <a:srgbClr val="1E1E2E"/>
                </a:solidFill>
                <a:latin typeface="Calibri"/>
              </a:rPr>
              <a:t>Stochastic: probability distribution over actions given state.</a:t>
            </a:r>
          </a:p>
          <a:p>
            <a:pPr>
              <a:lnSpc>
                <a:spcPts val="2000"/>
              </a:lnSpc>
            </a:pPr>
            <a:r>
              <a:rPr lang="en-US" sz="1600" dirty="0">
                <a:solidFill>
                  <a:srgbClr val="1E1E2E"/>
                </a:solidFill>
                <a:latin typeface="Calibri"/>
              </a:rPr>
              <a:t>Deterministic: π(s) = a  (special case)</a:t>
            </a:r>
          </a:p>
          <a:p>
            <a:pPr>
              <a:lnSpc>
                <a:spcPts val="2000"/>
              </a:lnSpc>
            </a:pPr>
            <a:r>
              <a:rPr lang="en-US" sz="1600" dirty="0">
                <a:solidFill>
                  <a:srgbClr val="1E1E2E"/>
                </a:solidFill>
                <a:latin typeface="Calibri"/>
              </a:rPr>
              <a:t>Goal: find the optimal policy π* that maximises expected return.</a:t>
            </a:r>
          </a:p>
        </p:txBody>
      </p:sp>
      <p:sp>
        <p:nvSpPr>
          <p:cNvPr id="3" name="Footer"/>
          <p:cNvSpPr>
            <a:spLocks noGrp="1"/>
          </p:cNvSpPr>
          <p:nvPr>
            <p:ph type="ftr" idx="10"/>
          </p:nvPr>
        </p:nvSpPr>
        <p:spPr/>
        <p:txBody>
          <a:bodyPr/>
          <a:lstStyle/>
          <a:p>
            <a:r>
              <a:rPr lang="en-IN"/>
              <a:t>Faculty Development Workshop on Deep Reinforcement Learning - 9 &amp; 10 March,2026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74662" y="231524"/>
            <a:ext cx="10453163" cy="430887"/>
          </a:xfrm>
        </p:spPr>
        <p:txBody>
          <a:bodyPr/>
          <a:lstStyle/>
          <a:p>
            <a:r>
              <a:rPr lang="en-US" sz="2800" dirty="0">
                <a:solidFill>
                  <a:schemeClr val="bg1"/>
                </a:solidFill>
              </a:rPr>
              <a:t>Returns and Rewards</a:t>
            </a:r>
          </a:p>
        </p:txBody>
      </p:sp>
      <p:sp>
        <p:nvSpPr>
          <p:cNvPr id="10" name="QuoteBg"/>
          <p:cNvSpPr>
            <a:spLocks noGrp="1"/>
          </p:cNvSpPr>
          <p:nvPr/>
        </p:nvSpPr>
        <p:spPr>
          <a:xfrm>
            <a:off x="457200" y="1080000"/>
            <a:ext cx="11277600" cy="760000"/>
          </a:xfrm>
          <a:prstGeom prst="roundRect">
            <a:avLst>
              <a:gd name="adj" fmla="val 16667"/>
            </a:avLst>
          </a:prstGeom>
          <a:solidFill>
            <a:srgbClr val="1B1472"/>
          </a:solidFill>
          <a:ln>
            <a:noFill/>
          </a:ln>
        </p:spPr>
        <p:txBody>
          <a:bodyPr/>
          <a:lstStyle/>
          <a:p>
            <a:endParaRPr/>
          </a:p>
        </p:txBody>
      </p:sp>
      <p:sp>
        <p:nvSpPr>
          <p:cNvPr id="11" name="QuoteTxt"/>
          <p:cNvSpPr txBox="1"/>
          <p:nvPr/>
        </p:nvSpPr>
        <p:spPr>
          <a:xfrm>
            <a:off x="700000" y="1100000"/>
            <a:ext cx="10800000" cy="612732"/>
          </a:xfrm>
          <a:prstGeom prst="rect">
            <a:avLst/>
          </a:prstGeom>
          <a:noFill/>
          <a:ln>
            <a:noFill/>
          </a:ln>
        </p:spPr>
        <p:txBody>
          <a:bodyPr wrap="square" lIns="91440" tIns="45720" rIns="91440" bIns="45720" anchor="t">
            <a:spAutoFit/>
          </a:bodyPr>
          <a:lstStyle/>
          <a:p>
            <a:pPr>
              <a:lnSpc>
                <a:spcPts val="2100"/>
              </a:lnSpc>
            </a:pPr>
            <a:r>
              <a:rPr lang="en-US" sz="1450" i="1" dirty="0">
                <a:solidFill>
                  <a:srgbClr val="C5CAE9"/>
                </a:solidFill>
                <a:latin typeface="Calibri"/>
              </a:rPr>
              <a:t>“All of what we mean by goals and purposes can be well thought of as the maximisation of the expected value of the cumulative sum of a received scalar signal.”  — Reward Hypothesis (S&amp;B 3.2)</a:t>
            </a:r>
          </a:p>
        </p:txBody>
      </p:sp>
      <p:sp>
        <p:nvSpPr>
          <p:cNvPr id="20" name="CardBg20"/>
          <p:cNvSpPr>
            <a:spLocks noGrp="1"/>
          </p:cNvSpPr>
          <p:nvPr/>
        </p:nvSpPr>
        <p:spPr>
          <a:xfrm>
            <a:off x="457200" y="1950000"/>
            <a:ext cx="3580000" cy="2681059"/>
          </a:xfrm>
          <a:prstGeom prst="roundRect">
            <a:avLst>
              <a:gd name="adj" fmla="val 16667"/>
            </a:avLst>
          </a:prstGeom>
          <a:solidFill>
            <a:srgbClr val="EEF0FB"/>
          </a:solidFill>
          <a:ln>
            <a:noFill/>
          </a:ln>
        </p:spPr>
        <p:txBody>
          <a:bodyPr/>
          <a:lstStyle/>
          <a:p>
            <a:endParaRPr/>
          </a:p>
        </p:txBody>
      </p:sp>
      <p:sp>
        <p:nvSpPr>
          <p:cNvPr id="21" name="CardLbl21"/>
          <p:cNvSpPr txBox="1"/>
          <p:nvPr/>
        </p:nvSpPr>
        <p:spPr>
          <a:xfrm>
            <a:off x="457200" y="1950000"/>
            <a:ext cx="3580000" cy="420000"/>
          </a:xfrm>
          <a:prstGeom prst="rect">
            <a:avLst/>
          </a:prstGeom>
          <a:solidFill>
            <a:srgbClr val="1B1472"/>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Reward Signal  Rₜ</a:t>
            </a:r>
          </a:p>
        </p:txBody>
      </p:sp>
      <p:sp>
        <p:nvSpPr>
          <p:cNvPr id="22" name="CardTxt22"/>
          <p:cNvSpPr txBox="1"/>
          <p:nvPr/>
        </p:nvSpPr>
        <p:spPr>
          <a:xfrm>
            <a:off x="548640" y="2410000"/>
            <a:ext cx="3397120" cy="1589531"/>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Scalar feedback at each time step.</a:t>
            </a:r>
          </a:p>
          <a:p>
            <a:pPr>
              <a:lnSpc>
                <a:spcPts val="2000"/>
              </a:lnSpc>
            </a:pPr>
            <a:r>
              <a:rPr lang="en-US" sz="1600" dirty="0">
                <a:solidFill>
                  <a:srgbClr val="1E1E2E"/>
                </a:solidFill>
                <a:latin typeface="Calibri"/>
              </a:rPr>
              <a:t>Rₜ ∈ ℝ — can be positive or negative.</a:t>
            </a:r>
          </a:p>
          <a:p>
            <a:pPr>
              <a:lnSpc>
                <a:spcPts val="2000"/>
              </a:lnSpc>
            </a:pPr>
            <a:r>
              <a:rPr lang="en-US" sz="1600" dirty="0">
                <a:solidFill>
                  <a:srgbClr val="1E1E2E"/>
                </a:solidFill>
                <a:latin typeface="Calibri"/>
              </a:rPr>
              <a:t>Goal: maximise E[Σ Rₜ] not just immediate reward.</a:t>
            </a:r>
          </a:p>
          <a:p>
            <a:pPr>
              <a:lnSpc>
                <a:spcPts val="2000"/>
              </a:lnSpc>
            </a:pPr>
            <a:r>
              <a:rPr lang="en-US" sz="1600" dirty="0">
                <a:solidFill>
                  <a:srgbClr val="1E1E2E"/>
                </a:solidFill>
                <a:latin typeface="Calibri"/>
              </a:rPr>
              <a:t>Designed by the engineer — specifies WHAT to achieve, not HOW.</a:t>
            </a:r>
          </a:p>
        </p:txBody>
      </p:sp>
      <p:sp>
        <p:nvSpPr>
          <p:cNvPr id="30" name="CardBg30"/>
          <p:cNvSpPr>
            <a:spLocks noGrp="1"/>
          </p:cNvSpPr>
          <p:nvPr/>
        </p:nvSpPr>
        <p:spPr>
          <a:xfrm>
            <a:off x="4214800" y="1950000"/>
            <a:ext cx="3580000" cy="2681059"/>
          </a:xfrm>
          <a:prstGeom prst="roundRect">
            <a:avLst>
              <a:gd name="adj" fmla="val 16667"/>
            </a:avLst>
          </a:prstGeom>
          <a:solidFill>
            <a:srgbClr val="EEF0FB"/>
          </a:solidFill>
          <a:ln>
            <a:noFill/>
          </a:ln>
        </p:spPr>
        <p:txBody>
          <a:bodyPr/>
          <a:lstStyle/>
          <a:p>
            <a:endParaRPr/>
          </a:p>
        </p:txBody>
      </p:sp>
      <p:sp>
        <p:nvSpPr>
          <p:cNvPr id="31" name="CardLbl31"/>
          <p:cNvSpPr txBox="1"/>
          <p:nvPr/>
        </p:nvSpPr>
        <p:spPr>
          <a:xfrm>
            <a:off x="4214800" y="1950000"/>
            <a:ext cx="3580000" cy="420000"/>
          </a:xfrm>
          <a:prstGeom prst="rect">
            <a:avLst/>
          </a:prstGeom>
          <a:solidFill>
            <a:srgbClr val="2D3091"/>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Return  Gₜ</a:t>
            </a:r>
          </a:p>
        </p:txBody>
      </p:sp>
      <p:sp>
        <p:nvSpPr>
          <p:cNvPr id="32" name="CardTxt32"/>
          <p:cNvSpPr txBox="1"/>
          <p:nvPr/>
        </p:nvSpPr>
        <p:spPr>
          <a:xfrm>
            <a:off x="4306240" y="2410000"/>
            <a:ext cx="3397120" cy="1333050"/>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Episodic:  Gₜ = Rₜ₊₁ + Rₜ₊₂ + … + Rₜ₊ₜ</a:t>
            </a:r>
          </a:p>
          <a:p>
            <a:pPr>
              <a:lnSpc>
                <a:spcPts val="2000"/>
              </a:lnSpc>
            </a:pPr>
            <a:r>
              <a:rPr lang="en-US" sz="1600" dirty="0">
                <a:solidFill>
                  <a:srgbClr val="1E1E2E"/>
                </a:solidFill>
                <a:latin typeface="Calibri"/>
              </a:rPr>
              <a:t>Discounted: Gₜ = Σₖ₌₀ γᵏ Rₜ₊ₖ₊₁</a:t>
            </a:r>
          </a:p>
          <a:p>
            <a:pPr>
              <a:lnSpc>
                <a:spcPts val="2000"/>
              </a:lnSpc>
            </a:pPr>
            <a:r>
              <a:rPr lang="en-US" sz="1600" dirty="0">
                <a:solidFill>
                  <a:srgbClr val="1E1E2E"/>
                </a:solidFill>
                <a:latin typeface="Calibri"/>
              </a:rPr>
              <a:t>γ = 0: myopic agent (only next reward).</a:t>
            </a:r>
          </a:p>
          <a:p>
            <a:pPr>
              <a:lnSpc>
                <a:spcPts val="2000"/>
              </a:lnSpc>
            </a:pPr>
            <a:r>
              <a:rPr lang="en-US" sz="1600" dirty="0">
                <a:solidFill>
                  <a:srgbClr val="1E1E2E"/>
                </a:solidFill>
                <a:latin typeface="Calibri"/>
              </a:rPr>
              <a:t>γ → 1: far-sighted (all future equally weighted).</a:t>
            </a:r>
          </a:p>
        </p:txBody>
      </p:sp>
      <p:sp>
        <p:nvSpPr>
          <p:cNvPr id="40" name="CardBg40"/>
          <p:cNvSpPr>
            <a:spLocks noGrp="1"/>
          </p:cNvSpPr>
          <p:nvPr/>
        </p:nvSpPr>
        <p:spPr>
          <a:xfrm>
            <a:off x="7972400" y="1950000"/>
            <a:ext cx="3580000" cy="2681059"/>
          </a:xfrm>
          <a:prstGeom prst="roundRect">
            <a:avLst>
              <a:gd name="adj" fmla="val 16667"/>
            </a:avLst>
          </a:prstGeom>
          <a:solidFill>
            <a:srgbClr val="EEF0FB"/>
          </a:solidFill>
          <a:ln>
            <a:noFill/>
          </a:ln>
        </p:spPr>
        <p:txBody>
          <a:bodyPr/>
          <a:lstStyle/>
          <a:p>
            <a:endParaRPr/>
          </a:p>
        </p:txBody>
      </p:sp>
      <p:sp>
        <p:nvSpPr>
          <p:cNvPr id="41" name="CardLbl41"/>
          <p:cNvSpPr txBox="1"/>
          <p:nvPr/>
        </p:nvSpPr>
        <p:spPr>
          <a:xfrm>
            <a:off x="7972400" y="1950000"/>
            <a:ext cx="3580000" cy="420000"/>
          </a:xfrm>
          <a:prstGeom prst="rect">
            <a:avLst/>
          </a:prstGeom>
          <a:solidFill>
            <a:srgbClr val="00838F"/>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Recursive Relationship</a:t>
            </a:r>
          </a:p>
        </p:txBody>
      </p:sp>
      <p:sp>
        <p:nvSpPr>
          <p:cNvPr id="42" name="CardTxt42"/>
          <p:cNvSpPr txBox="1"/>
          <p:nvPr/>
        </p:nvSpPr>
        <p:spPr>
          <a:xfrm>
            <a:off x="8063840" y="2410000"/>
            <a:ext cx="3397120" cy="1846011"/>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Gₜ = Rₜ₊₁ + γ Gₜ₊₁</a:t>
            </a:r>
          </a:p>
          <a:p>
            <a:pPr>
              <a:lnSpc>
                <a:spcPts val="2000"/>
              </a:lnSpc>
            </a:pPr>
            <a:r>
              <a:rPr lang="en-US" sz="1600" dirty="0">
                <a:solidFill>
                  <a:srgbClr val="1E1E2E"/>
                </a:solidFill>
                <a:latin typeface="Calibri"/>
              </a:rPr>
              <a:t>This one equation is the seed of all Bellman equations.</a:t>
            </a:r>
          </a:p>
          <a:p>
            <a:pPr>
              <a:lnSpc>
                <a:spcPts val="2000"/>
              </a:lnSpc>
            </a:pPr>
            <a:r>
              <a:rPr lang="en-US" sz="1600" dirty="0">
                <a:solidFill>
                  <a:srgbClr val="1E1E2E"/>
                </a:solidFill>
                <a:latin typeface="Calibri"/>
              </a:rPr>
              <a:t>Enables bootstrapping: estimate G from partial returns.</a:t>
            </a:r>
          </a:p>
          <a:p>
            <a:pPr>
              <a:lnSpc>
                <a:spcPts val="2000"/>
              </a:lnSpc>
            </a:pPr>
            <a:r>
              <a:rPr lang="en-US" sz="1600" dirty="0">
                <a:solidFill>
                  <a:srgbClr val="1E1E2E"/>
                </a:solidFill>
                <a:latin typeface="Calibri"/>
              </a:rPr>
              <a:t>Foundation of Dynamic Programming &amp; TD learning.</a:t>
            </a:r>
          </a:p>
        </p:txBody>
      </p:sp>
      <p:sp>
        <p:nvSpPr>
          <p:cNvPr id="3" name="Footer"/>
          <p:cNvSpPr>
            <a:spLocks noGrp="1"/>
          </p:cNvSpPr>
          <p:nvPr>
            <p:ph type="ftr" idx="10"/>
          </p:nvPr>
        </p:nvSpPr>
        <p:spPr/>
        <p:txBody>
          <a:bodyPr/>
          <a:lstStyle/>
          <a:p>
            <a:r>
              <a:rPr lang="en-IN"/>
              <a:t>Faculty Development Workshop on Deep Reinforcement Learning - 9 &amp; 10 March,2026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4"/>
          <p:cNvSpPr txBox="1">
            <a:spLocks noGrp="1"/>
          </p:cNvSpPr>
          <p:nvPr>
            <p:ph type="title"/>
          </p:nvPr>
        </p:nvSpPr>
        <p:spPr>
          <a:xfrm>
            <a:off x="177559" y="231524"/>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Problem Definition</a:t>
            </a:r>
            <a:endParaRPr/>
          </a:p>
        </p:txBody>
      </p:sp>
      <p:sp>
        <p:nvSpPr>
          <p:cNvPr id="81" name="Google Shape;81;p4"/>
          <p:cNvSpPr/>
          <p:nvPr/>
        </p:nvSpPr>
        <p:spPr>
          <a:xfrm>
            <a:off x="175045" y="1004183"/>
            <a:ext cx="11469942" cy="501604"/>
          </a:xfrm>
          <a:custGeom>
            <a:avLst/>
            <a:gdLst/>
            <a:ahLst/>
            <a:cxnLst/>
            <a:rect l="l" t="t" r="r" b="b"/>
            <a:pathLst>
              <a:path w="5142230" h="207009" extrusionOk="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0EAF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pic>
        <p:nvPicPr>
          <p:cNvPr id="82" name="Google Shape;82;p4"/>
          <p:cNvPicPr preferRelativeResize="0"/>
          <p:nvPr/>
        </p:nvPicPr>
        <p:blipFill rotWithShape="1">
          <a:blip r:embed="rId3">
            <a:alphaModFix/>
          </a:blip>
          <a:srcRect/>
          <a:stretch/>
        </p:blipFill>
        <p:spPr>
          <a:xfrm>
            <a:off x="177559" y="1983103"/>
            <a:ext cx="11468685" cy="270674"/>
          </a:xfrm>
          <a:prstGeom prst="rect">
            <a:avLst/>
          </a:prstGeom>
          <a:noFill/>
          <a:ln>
            <a:noFill/>
          </a:ln>
        </p:spPr>
      </p:pic>
      <p:sp>
        <p:nvSpPr>
          <p:cNvPr id="83" name="Google Shape;83;p4"/>
          <p:cNvSpPr/>
          <p:nvPr/>
        </p:nvSpPr>
        <p:spPr>
          <a:xfrm>
            <a:off x="173790" y="1505787"/>
            <a:ext cx="11469942" cy="1689875"/>
          </a:xfrm>
          <a:custGeom>
            <a:avLst/>
            <a:gdLst/>
            <a:ahLst/>
            <a:cxnLst/>
            <a:rect l="l" t="t" r="r" b="b"/>
            <a:pathLst>
              <a:path w="5142230" h="381000" extrusionOk="0">
                <a:moveTo>
                  <a:pt x="5141666" y="0"/>
                </a:moveTo>
                <a:lnTo>
                  <a:pt x="0" y="0"/>
                </a:lnTo>
                <a:lnTo>
                  <a:pt x="0" y="329613"/>
                </a:lnTo>
                <a:lnTo>
                  <a:pt x="4008" y="349338"/>
                </a:lnTo>
                <a:lnTo>
                  <a:pt x="14922" y="365491"/>
                </a:lnTo>
                <a:lnTo>
                  <a:pt x="31075" y="376405"/>
                </a:lnTo>
                <a:lnTo>
                  <a:pt x="50800" y="380414"/>
                </a:lnTo>
                <a:lnTo>
                  <a:pt x="5090865" y="380414"/>
                </a:lnTo>
                <a:lnTo>
                  <a:pt x="5110590" y="376405"/>
                </a:lnTo>
                <a:lnTo>
                  <a:pt x="5126743" y="365491"/>
                </a:lnTo>
                <a:lnTo>
                  <a:pt x="5137657" y="349338"/>
                </a:lnTo>
                <a:lnTo>
                  <a:pt x="5141666" y="329613"/>
                </a:lnTo>
                <a:lnTo>
                  <a:pt x="5141666" y="0"/>
                </a:lnTo>
                <a:close/>
              </a:path>
            </a:pathLst>
          </a:custGeom>
          <a:solidFill>
            <a:srgbClr val="E0F2F7"/>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84" name="Google Shape;84;p4"/>
          <p:cNvSpPr/>
          <p:nvPr/>
        </p:nvSpPr>
        <p:spPr>
          <a:xfrm>
            <a:off x="11646243" y="1509465"/>
            <a:ext cx="0" cy="62186"/>
          </a:xfrm>
          <a:custGeom>
            <a:avLst/>
            <a:gdLst/>
            <a:ahLst/>
            <a:cxnLst/>
            <a:rect l="l" t="t" r="r" b="b"/>
            <a:pathLst>
              <a:path w="120000" h="12700" extrusionOk="0">
                <a:moveTo>
                  <a:pt x="0" y="12699"/>
                </a:moveTo>
                <a:lnTo>
                  <a:pt x="0" y="0"/>
                </a:lnTo>
              </a:path>
            </a:pathLst>
          </a:custGeom>
          <a:noFill/>
          <a:ln w="9525" cap="flat" cmpd="sng">
            <a:solidFill>
              <a:srgbClr val="A8C8D8"/>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85" name="Google Shape;85;p4"/>
          <p:cNvSpPr/>
          <p:nvPr/>
        </p:nvSpPr>
        <p:spPr>
          <a:xfrm>
            <a:off x="11646243" y="1447277"/>
            <a:ext cx="0" cy="62186"/>
          </a:xfrm>
          <a:custGeom>
            <a:avLst/>
            <a:gdLst/>
            <a:ahLst/>
            <a:cxnLst/>
            <a:rect l="l" t="t" r="r" b="b"/>
            <a:pathLst>
              <a:path w="120000" h="12700" extrusionOk="0">
                <a:moveTo>
                  <a:pt x="0" y="12699"/>
                </a:moveTo>
                <a:lnTo>
                  <a:pt x="0" y="0"/>
                </a:lnTo>
              </a:path>
            </a:pathLst>
          </a:custGeom>
          <a:noFill/>
          <a:ln w="9525" cap="flat" cmpd="sng">
            <a:solidFill>
              <a:srgbClr val="B8D8E4"/>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86" name="Google Shape;86;p4"/>
          <p:cNvSpPr/>
          <p:nvPr/>
        </p:nvSpPr>
        <p:spPr>
          <a:xfrm>
            <a:off x="11646243" y="1385091"/>
            <a:ext cx="0" cy="62186"/>
          </a:xfrm>
          <a:custGeom>
            <a:avLst/>
            <a:gdLst/>
            <a:ahLst/>
            <a:cxnLst/>
            <a:rect l="l" t="t" r="r" b="b"/>
            <a:pathLst>
              <a:path w="120000" h="12700" extrusionOk="0">
                <a:moveTo>
                  <a:pt x="0" y="12700"/>
                </a:moveTo>
                <a:lnTo>
                  <a:pt x="0" y="0"/>
                </a:lnTo>
              </a:path>
            </a:pathLst>
          </a:custGeom>
          <a:noFill/>
          <a:ln w="9525" cap="flat" cmpd="sng">
            <a:solidFill>
              <a:srgbClr val="E8F4F8"/>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87" name="Google Shape;87;p4"/>
          <p:cNvSpPr/>
          <p:nvPr/>
        </p:nvSpPr>
        <p:spPr>
          <a:xfrm>
            <a:off x="11646243" y="1291812"/>
            <a:ext cx="0" cy="93279"/>
          </a:xfrm>
          <a:custGeom>
            <a:avLst/>
            <a:gdLst/>
            <a:ahLst/>
            <a:cxnLst/>
            <a:rect l="l" t="t" r="r" b="b"/>
            <a:pathLst>
              <a:path w="120000" h="19050" extrusionOk="0">
                <a:moveTo>
                  <a:pt x="0" y="19050"/>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pic>
        <p:nvPicPr>
          <p:cNvPr id="88" name="Google Shape;88;p4"/>
          <p:cNvPicPr preferRelativeResize="0"/>
          <p:nvPr/>
        </p:nvPicPr>
        <p:blipFill rotWithShape="1">
          <a:blip r:embed="rId4">
            <a:alphaModFix/>
          </a:blip>
          <a:srcRect/>
          <a:stretch/>
        </p:blipFill>
        <p:spPr>
          <a:xfrm>
            <a:off x="601514" y="3896457"/>
            <a:ext cx="206713" cy="173449"/>
          </a:xfrm>
          <a:prstGeom prst="rect">
            <a:avLst/>
          </a:prstGeom>
          <a:noFill/>
          <a:ln>
            <a:noFill/>
          </a:ln>
        </p:spPr>
      </p:pic>
      <p:pic>
        <p:nvPicPr>
          <p:cNvPr id="89" name="Google Shape;89;p4"/>
          <p:cNvPicPr preferRelativeResize="0"/>
          <p:nvPr/>
        </p:nvPicPr>
        <p:blipFill rotWithShape="1">
          <a:blip r:embed="rId5">
            <a:alphaModFix/>
          </a:blip>
          <a:srcRect/>
          <a:stretch/>
        </p:blipFill>
        <p:spPr>
          <a:xfrm>
            <a:off x="601514" y="4670466"/>
            <a:ext cx="206713" cy="173449"/>
          </a:xfrm>
          <a:prstGeom prst="rect">
            <a:avLst/>
          </a:prstGeom>
          <a:noFill/>
          <a:ln>
            <a:noFill/>
          </a:ln>
        </p:spPr>
      </p:pic>
      <p:sp>
        <p:nvSpPr>
          <p:cNvPr id="90" name="Google Shape;90;p4"/>
          <p:cNvSpPr txBox="1"/>
          <p:nvPr/>
        </p:nvSpPr>
        <p:spPr>
          <a:xfrm>
            <a:off x="173789" y="940306"/>
            <a:ext cx="11360290" cy="4709306"/>
          </a:xfrm>
          <a:prstGeom prst="rect">
            <a:avLst/>
          </a:prstGeom>
          <a:noFill/>
          <a:ln>
            <a:noFill/>
          </a:ln>
        </p:spPr>
        <p:txBody>
          <a:bodyPr spcFirstLastPara="1" wrap="square" lIns="0" tIns="111382" rIns="0" bIns="0" anchor="t" anchorCtr="0">
            <a:spAutoFit/>
          </a:bodyPr>
          <a:lstStyle/>
          <a:p>
            <a:pPr marL="107366" algn="just">
              <a:buClr>
                <a:srgbClr val="000000"/>
              </a:buClr>
              <a:buSzPts val="1200"/>
            </a:pPr>
            <a:r>
              <a:rPr lang="en-US" sz="2536">
                <a:solidFill>
                  <a:srgbClr val="3333B2"/>
                </a:solidFill>
                <a:latin typeface="Calibri"/>
                <a:ea typeface="Calibri"/>
                <a:cs typeface="Calibri"/>
                <a:sym typeface="Calibri"/>
              </a:rPr>
              <a:t>Race Car Laps</a:t>
            </a:r>
            <a:endParaRPr sz="2536">
              <a:solidFill>
                <a:srgbClr val="000000"/>
              </a:solidFill>
              <a:latin typeface="Calibri"/>
              <a:ea typeface="Calibri"/>
              <a:cs typeface="Calibri"/>
              <a:sym typeface="Calibri"/>
            </a:endParaRPr>
          </a:p>
          <a:p>
            <a:pPr marL="107366" marR="37578" algn="just">
              <a:lnSpc>
                <a:spcPct val="114700"/>
              </a:lnSpc>
              <a:spcBef>
                <a:spcPts val="127"/>
              </a:spcBef>
            </a:pPr>
            <a:r>
              <a:rPr lang="en-US" sz="1902">
                <a:solidFill>
                  <a:srgbClr val="000000"/>
                </a:solidFill>
                <a:latin typeface="Arial"/>
                <a:ea typeface="Arial"/>
                <a:cs typeface="Arial"/>
                <a:sym typeface="Arial"/>
              </a:rPr>
              <a:t>A race car completes laps while managing engine temperature and speed decisions. Here each step is a segment of a lap in the track where the car learns to trades off lap time against overheating risk. The more the lap the car completes it performance betters. Car shuts down only when its engine get overheated (optional terminal state). 	</a:t>
            </a:r>
            <a:endParaRPr sz="3804"/>
          </a:p>
          <a:p>
            <a:pPr marL="107366" marR="37578" algn="just">
              <a:lnSpc>
                <a:spcPct val="114700"/>
              </a:lnSpc>
              <a:spcBef>
                <a:spcPts val="127"/>
              </a:spcBef>
            </a:pPr>
            <a:endParaRPr sz="1902">
              <a:solidFill>
                <a:srgbClr val="000000"/>
              </a:solidFill>
              <a:latin typeface="Arial"/>
              <a:ea typeface="Arial"/>
              <a:cs typeface="Arial"/>
              <a:sym typeface="Arial"/>
            </a:endParaRPr>
          </a:p>
          <a:p>
            <a:pPr marL="107366" algn="just">
              <a:buClr>
                <a:srgbClr val="000000"/>
              </a:buClr>
              <a:buSzPts val="900"/>
            </a:pPr>
            <a:endParaRPr sz="1902">
              <a:solidFill>
                <a:srgbClr val="1B1472"/>
              </a:solidFill>
              <a:latin typeface="Arial"/>
              <a:ea typeface="Arial"/>
              <a:cs typeface="Arial"/>
              <a:sym typeface="Arial"/>
            </a:endParaRPr>
          </a:p>
          <a:p>
            <a:pPr marL="107366" algn="just">
              <a:buClr>
                <a:srgbClr val="000000"/>
              </a:buClr>
              <a:buSzPts val="900"/>
            </a:pPr>
            <a:r>
              <a:rPr lang="en-US" sz="1902">
                <a:solidFill>
                  <a:srgbClr val="1B1472"/>
                </a:solidFill>
                <a:latin typeface="Arial"/>
                <a:ea typeface="Arial"/>
                <a:cs typeface="Arial"/>
                <a:sym typeface="Arial"/>
              </a:rPr>
              <a:t>Key Characteristics:</a:t>
            </a:r>
            <a:endParaRPr sz="1902">
              <a:solidFill>
                <a:srgbClr val="000000"/>
              </a:solidFill>
              <a:latin typeface="Arial"/>
              <a:ea typeface="Arial"/>
              <a:cs typeface="Arial"/>
              <a:sym typeface="Arial"/>
            </a:endParaRPr>
          </a:p>
          <a:p>
            <a:pPr marL="735456" algn="just">
              <a:spcBef>
                <a:spcPts val="708"/>
              </a:spcBef>
            </a:pPr>
            <a:r>
              <a:rPr lang="en-US" sz="1902">
                <a:solidFill>
                  <a:srgbClr val="000000"/>
                </a:solidFill>
                <a:latin typeface="Arial"/>
                <a:ea typeface="Arial"/>
                <a:cs typeface="Arial"/>
                <a:sym typeface="Arial"/>
              </a:rPr>
              <a:t>The agent must act under </a:t>
            </a:r>
            <a:r>
              <a:rPr lang="en-US" sz="1902" b="1">
                <a:solidFill>
                  <a:srgbClr val="000000"/>
                </a:solidFill>
                <a:latin typeface="Arial"/>
                <a:ea typeface="Arial"/>
                <a:cs typeface="Arial"/>
                <a:sym typeface="Arial"/>
              </a:rPr>
              <a:t>uncertainty</a:t>
            </a:r>
            <a:r>
              <a:rPr lang="en-US" sz="1902">
                <a:solidFill>
                  <a:srgbClr val="000000"/>
                </a:solidFill>
                <a:latin typeface="Arial"/>
                <a:ea typeface="Arial"/>
                <a:cs typeface="Arial"/>
                <a:sym typeface="Arial"/>
              </a:rPr>
              <a:t> — </a:t>
            </a:r>
            <a:endParaRPr sz="1902">
              <a:solidFill>
                <a:srgbClr val="000000"/>
              </a:solidFill>
              <a:latin typeface="Arial"/>
              <a:ea typeface="Arial"/>
              <a:cs typeface="Arial"/>
              <a:sym typeface="Arial"/>
            </a:endParaRPr>
          </a:p>
          <a:p>
            <a:pPr marL="735456" algn="just">
              <a:spcBef>
                <a:spcPts val="708"/>
              </a:spcBef>
            </a:pPr>
            <a:r>
              <a:rPr lang="en-US" sz="1902">
                <a:solidFill>
                  <a:srgbClr val="000000"/>
                </a:solidFill>
                <a:latin typeface="Arial"/>
                <a:ea typeface="Arial"/>
                <a:cs typeface="Arial"/>
                <a:sym typeface="Arial"/>
              </a:rPr>
              <a:t>percepts are local, and the agent must reason about hidden dangers</a:t>
            </a:r>
            <a:endParaRPr sz="3804"/>
          </a:p>
          <a:p>
            <a:pPr marL="735456" algn="just">
              <a:spcBef>
                <a:spcPts val="708"/>
              </a:spcBef>
            </a:pPr>
            <a:r>
              <a:rPr lang="en-US" sz="1902">
                <a:solidFill>
                  <a:srgbClr val="000000"/>
                </a:solidFill>
                <a:latin typeface="Tahoma"/>
                <a:ea typeface="Tahoma"/>
                <a:cs typeface="Tahoma"/>
                <a:sym typeface="Tahoma"/>
              </a:rPr>
              <a:t>Assume there is no fuel constraints or No.of.Laps to complete!</a:t>
            </a:r>
            <a:endParaRPr sz="2219">
              <a:solidFill>
                <a:srgbClr val="000000"/>
              </a:solidFill>
              <a:latin typeface="Tahoma"/>
              <a:ea typeface="Tahoma"/>
              <a:cs typeface="Tahoma"/>
              <a:sym typeface="Tahoma"/>
            </a:endParaRPr>
          </a:p>
          <a:p>
            <a:pPr marL="735456" algn="just">
              <a:spcBef>
                <a:spcPts val="708"/>
              </a:spcBef>
            </a:pPr>
            <a:r>
              <a:rPr lang="en-US" sz="1902">
                <a:solidFill>
                  <a:srgbClr val="000000"/>
                </a:solidFill>
                <a:latin typeface="Arial"/>
                <a:ea typeface="Arial"/>
                <a:cs typeface="Arial"/>
                <a:sym typeface="Arial"/>
              </a:rPr>
              <a:t>At every time step the next potential </a:t>
            </a:r>
            <a:r>
              <a:rPr lang="en-US" sz="1902"/>
              <a:t>engine temperature</a:t>
            </a:r>
            <a:endParaRPr sz="3804"/>
          </a:p>
          <a:p>
            <a:pPr marL="735456" algn="just">
              <a:spcBef>
                <a:spcPts val="708"/>
              </a:spcBef>
            </a:pPr>
            <a:r>
              <a:rPr lang="en-US" sz="1902">
                <a:solidFill>
                  <a:srgbClr val="000000"/>
                </a:solidFill>
                <a:latin typeface="Arial"/>
                <a:ea typeface="Arial"/>
                <a:cs typeface="Arial"/>
                <a:sym typeface="Arial"/>
              </a:rPr>
              <a:t>depends on the current </a:t>
            </a:r>
            <a:r>
              <a:rPr lang="en-US" sz="1902"/>
              <a:t>engine state</a:t>
            </a:r>
            <a:r>
              <a:rPr lang="en-US" sz="1902">
                <a:solidFill>
                  <a:srgbClr val="000000"/>
                </a:solidFill>
                <a:latin typeface="Arial"/>
                <a:ea typeface="Arial"/>
                <a:cs typeface="Arial"/>
                <a:sym typeface="Arial"/>
              </a:rPr>
              <a:t> not the past history</a:t>
            </a:r>
            <a:endParaRPr sz="1902">
              <a:solidFill>
                <a:srgbClr val="000000"/>
              </a:solidFill>
              <a:latin typeface="Arial"/>
              <a:ea typeface="Arial"/>
              <a:cs typeface="Arial"/>
              <a:sym typeface="Arial"/>
            </a:endParaRPr>
          </a:p>
        </p:txBody>
      </p:sp>
      <p:sp>
        <p:nvSpPr>
          <p:cNvPr id="97" name="Google Shape;97;p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124813">
              <a:lnSpc>
                <a:spcPct val="111666"/>
              </a:lnSpc>
              <a:buSzPts val="600"/>
            </a:pPr>
            <a:fld id="{00000000-1234-1234-1234-123412341234}" type="slidenum">
              <a:rPr lang="en-US" smtClean="0"/>
              <a:pPr marL="124813">
                <a:lnSpc>
                  <a:spcPct val="111666"/>
                </a:lnSpc>
                <a:buSzPts val="600"/>
              </a:pPr>
              <a:t>8</a:t>
            </a:fld>
            <a:r>
              <a:rPr lang="en-US"/>
              <a:t> / 46</a:t>
            </a:r>
            <a:endParaRPr/>
          </a:p>
        </p:txBody>
      </p:sp>
      <p:pic>
        <p:nvPicPr>
          <p:cNvPr id="98" name="Google Shape;98;p4"/>
          <p:cNvPicPr preferRelativeResize="0"/>
          <p:nvPr/>
        </p:nvPicPr>
        <p:blipFill rotWithShape="1">
          <a:blip r:embed="rId6">
            <a:alphaModFix/>
          </a:blip>
          <a:srcRect/>
          <a:stretch/>
        </p:blipFill>
        <p:spPr>
          <a:xfrm>
            <a:off x="7217220" y="3254172"/>
            <a:ext cx="4960091" cy="3006946"/>
          </a:xfrm>
          <a:prstGeom prst="rect">
            <a:avLst/>
          </a:prstGeom>
          <a:noFill/>
          <a:ln>
            <a:noFill/>
          </a:ln>
        </p:spPr>
      </p:pic>
      <p:pic>
        <p:nvPicPr>
          <p:cNvPr id="99" name="Google Shape;99;p4"/>
          <p:cNvPicPr preferRelativeResize="0"/>
          <p:nvPr/>
        </p:nvPicPr>
        <p:blipFill rotWithShape="1">
          <a:blip r:embed="rId5">
            <a:alphaModFix/>
          </a:blip>
          <a:srcRect/>
          <a:stretch/>
        </p:blipFill>
        <p:spPr>
          <a:xfrm>
            <a:off x="601514" y="4992564"/>
            <a:ext cx="206713" cy="173449"/>
          </a:xfrm>
          <a:prstGeom prst="rect">
            <a:avLst/>
          </a:prstGeom>
          <a:noFill/>
          <a:ln>
            <a:noFill/>
          </a:ln>
        </p:spPr>
      </p:pic>
      <p:grpSp>
        <p:nvGrpSpPr>
          <p:cNvPr id="91" name="Google Shape;91;p4"/>
          <p:cNvGrpSpPr/>
          <p:nvPr/>
        </p:nvGrpSpPr>
        <p:grpSpPr>
          <a:xfrm>
            <a:off x="2983" y="6571410"/>
            <a:ext cx="12174329" cy="194601"/>
            <a:chOff x="0" y="3109250"/>
            <a:chExt cx="5760261" cy="92075"/>
          </a:xfrm>
        </p:grpSpPr>
        <p:sp>
          <p:nvSpPr>
            <p:cNvPr id="92" name="Google Shape;92;p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93" name="Google Shape;93;p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94" name="Google Shape;94;p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2" name="Footer">
            <a:extLst>
              <a:ext uri="{FF2B5EF4-FFF2-40B4-BE49-F238E27FC236}">
                <a16:creationId xmlns:a16="http://schemas.microsoft.com/office/drawing/2014/main" id="{93BE3C9D-1FD4-7DA4-84B5-9958410691F3}"/>
              </a:ext>
            </a:extLst>
          </p:cNvPr>
          <p:cNvSpPr txBox="1">
            <a:spLocks/>
          </p:cNvSpPr>
          <p:nvPr/>
        </p:nvSpPr>
        <p:spPr>
          <a:xfrm>
            <a:off x="3188461" y="6555714"/>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extLst>
      <p:ext uri="{BB962C8B-B14F-4D97-AF65-F5344CB8AC3E}">
        <p14:creationId xmlns:p14="http://schemas.microsoft.com/office/powerpoint/2010/main" val="535743067"/>
      </p:ext>
    </p:extLst>
  </p:cSld>
  <p:clrMapOvr>
    <a:masterClrMapping/>
  </p:clrMapOvr>
  <p:transition>
    <p:fade thruBlk="1"/>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104" name="Google Shape;104;p5"/>
          <p:cNvPicPr preferRelativeResize="0"/>
          <p:nvPr/>
        </p:nvPicPr>
        <p:blipFill rotWithShape="1">
          <a:blip r:embed="rId3">
            <a:alphaModFix/>
          </a:blip>
          <a:srcRect/>
          <a:stretch/>
        </p:blipFill>
        <p:spPr>
          <a:xfrm>
            <a:off x="7217220" y="3254172"/>
            <a:ext cx="4960091" cy="3006946"/>
          </a:xfrm>
          <a:prstGeom prst="rect">
            <a:avLst/>
          </a:prstGeom>
          <a:noFill/>
          <a:ln>
            <a:noFill/>
          </a:ln>
        </p:spPr>
      </p:pic>
      <p:sp>
        <p:nvSpPr>
          <p:cNvPr id="105" name="Google Shape;105;p5"/>
          <p:cNvSpPr txBox="1">
            <a:spLocks noGrp="1"/>
          </p:cNvSpPr>
          <p:nvPr>
            <p:ph type="title"/>
          </p:nvPr>
        </p:nvSpPr>
        <p:spPr>
          <a:xfrm>
            <a:off x="177558" y="231525"/>
            <a:ext cx="12011460"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MARKOV DECISION PROCESS FORMALIZATION </a:t>
            </a:r>
            <a:r>
              <a:rPr lang="en-US" sz="2536">
                <a:solidFill>
                  <a:srgbClr val="FFFFFF"/>
                </a:solidFill>
              </a:rPr>
              <a:t>(Simplified)</a:t>
            </a:r>
            <a:endParaRPr sz="2536"/>
          </a:p>
        </p:txBody>
      </p:sp>
      <p:pic>
        <p:nvPicPr>
          <p:cNvPr id="106" name="Google Shape;106;p5"/>
          <p:cNvPicPr preferRelativeResize="0"/>
          <p:nvPr/>
        </p:nvPicPr>
        <p:blipFill rotWithShape="1">
          <a:blip r:embed="rId4">
            <a:alphaModFix/>
          </a:blip>
          <a:srcRect/>
          <a:stretch/>
        </p:blipFill>
        <p:spPr>
          <a:xfrm>
            <a:off x="389070" y="1056856"/>
            <a:ext cx="256281" cy="256281"/>
          </a:xfrm>
          <a:prstGeom prst="rect">
            <a:avLst/>
          </a:prstGeom>
          <a:noFill/>
          <a:ln>
            <a:noFill/>
          </a:ln>
        </p:spPr>
      </p:pic>
      <p:sp>
        <p:nvSpPr>
          <p:cNvPr id="107" name="Google Shape;107;p5"/>
          <p:cNvSpPr txBox="1"/>
          <p:nvPr/>
        </p:nvSpPr>
        <p:spPr>
          <a:xfrm>
            <a:off x="446027" y="1036037"/>
            <a:ext cx="142260" cy="220835"/>
          </a:xfrm>
          <a:prstGeom prst="rect">
            <a:avLst/>
          </a:prstGeom>
          <a:noFill/>
          <a:ln>
            <a:noFill/>
          </a:ln>
        </p:spPr>
        <p:txBody>
          <a:bodyPr spcFirstLastPara="1" wrap="square" lIns="0" tIns="25468" rIns="0" bIns="0" anchor="t" anchorCtr="0">
            <a:spAutoFit/>
          </a:bodyPr>
          <a:lstStyle/>
          <a:p>
            <a:pPr marL="26841">
              <a:buClr>
                <a:srgbClr val="000000"/>
              </a:buClr>
              <a:buSzPts val="600"/>
            </a:pPr>
            <a:r>
              <a:rPr lang="en-US" sz="1268">
                <a:solidFill>
                  <a:srgbClr val="FFFFFF"/>
                </a:solidFill>
                <a:latin typeface="Calibri"/>
                <a:ea typeface="Calibri"/>
                <a:cs typeface="Calibri"/>
                <a:sym typeface="Calibri"/>
              </a:rPr>
              <a:t>1</a:t>
            </a:r>
            <a:endParaRPr sz="1268">
              <a:solidFill>
                <a:srgbClr val="000000"/>
              </a:solidFill>
              <a:latin typeface="Calibri"/>
              <a:ea typeface="Calibri"/>
              <a:cs typeface="Calibri"/>
              <a:sym typeface="Calibri"/>
            </a:endParaRPr>
          </a:p>
        </p:txBody>
      </p:sp>
      <p:pic>
        <p:nvPicPr>
          <p:cNvPr id="108" name="Google Shape;108;p5"/>
          <p:cNvPicPr preferRelativeResize="0"/>
          <p:nvPr/>
        </p:nvPicPr>
        <p:blipFill rotWithShape="1">
          <a:blip r:embed="rId5">
            <a:alphaModFix/>
          </a:blip>
          <a:srcRect/>
          <a:stretch/>
        </p:blipFill>
        <p:spPr>
          <a:xfrm>
            <a:off x="389070" y="2281606"/>
            <a:ext cx="256281" cy="256281"/>
          </a:xfrm>
          <a:prstGeom prst="rect">
            <a:avLst/>
          </a:prstGeom>
          <a:noFill/>
          <a:ln>
            <a:noFill/>
          </a:ln>
        </p:spPr>
      </p:pic>
      <p:sp>
        <p:nvSpPr>
          <p:cNvPr id="109" name="Google Shape;109;p5"/>
          <p:cNvSpPr txBox="1"/>
          <p:nvPr/>
        </p:nvSpPr>
        <p:spPr>
          <a:xfrm>
            <a:off x="446027" y="2260789"/>
            <a:ext cx="142260" cy="220835"/>
          </a:xfrm>
          <a:prstGeom prst="rect">
            <a:avLst/>
          </a:prstGeom>
          <a:noFill/>
          <a:ln>
            <a:noFill/>
          </a:ln>
        </p:spPr>
        <p:txBody>
          <a:bodyPr spcFirstLastPara="1" wrap="square" lIns="0" tIns="25468" rIns="0" bIns="0" anchor="t" anchorCtr="0">
            <a:spAutoFit/>
          </a:bodyPr>
          <a:lstStyle/>
          <a:p>
            <a:pPr marL="26841">
              <a:buClr>
                <a:srgbClr val="000000"/>
              </a:buClr>
              <a:buSzPts val="600"/>
            </a:pPr>
            <a:r>
              <a:rPr lang="en-US" sz="1268">
                <a:solidFill>
                  <a:srgbClr val="FFFFFF"/>
                </a:solidFill>
                <a:latin typeface="Calibri"/>
                <a:ea typeface="Calibri"/>
                <a:cs typeface="Calibri"/>
                <a:sym typeface="Calibri"/>
              </a:rPr>
              <a:t>2</a:t>
            </a:r>
            <a:endParaRPr sz="1268">
              <a:solidFill>
                <a:srgbClr val="000000"/>
              </a:solidFill>
              <a:latin typeface="Calibri"/>
              <a:ea typeface="Calibri"/>
              <a:cs typeface="Calibri"/>
              <a:sym typeface="Calibri"/>
            </a:endParaRPr>
          </a:p>
        </p:txBody>
      </p:sp>
      <p:pic>
        <p:nvPicPr>
          <p:cNvPr id="110" name="Google Shape;110;p5"/>
          <p:cNvPicPr preferRelativeResize="0"/>
          <p:nvPr/>
        </p:nvPicPr>
        <p:blipFill rotWithShape="1">
          <a:blip r:embed="rId6">
            <a:alphaModFix/>
          </a:blip>
          <a:srcRect/>
          <a:stretch/>
        </p:blipFill>
        <p:spPr>
          <a:xfrm>
            <a:off x="389070" y="3506358"/>
            <a:ext cx="256281" cy="256281"/>
          </a:xfrm>
          <a:prstGeom prst="rect">
            <a:avLst/>
          </a:prstGeom>
          <a:noFill/>
          <a:ln>
            <a:noFill/>
          </a:ln>
        </p:spPr>
      </p:pic>
      <p:sp>
        <p:nvSpPr>
          <p:cNvPr id="111" name="Google Shape;111;p5"/>
          <p:cNvSpPr txBox="1"/>
          <p:nvPr/>
        </p:nvSpPr>
        <p:spPr>
          <a:xfrm>
            <a:off x="446027" y="3485538"/>
            <a:ext cx="142260" cy="220835"/>
          </a:xfrm>
          <a:prstGeom prst="rect">
            <a:avLst/>
          </a:prstGeom>
          <a:noFill/>
          <a:ln>
            <a:noFill/>
          </a:ln>
        </p:spPr>
        <p:txBody>
          <a:bodyPr spcFirstLastPara="1" wrap="square" lIns="0" tIns="25468" rIns="0" bIns="0" anchor="t" anchorCtr="0">
            <a:spAutoFit/>
          </a:bodyPr>
          <a:lstStyle/>
          <a:p>
            <a:pPr marL="26841">
              <a:buClr>
                <a:srgbClr val="000000"/>
              </a:buClr>
              <a:buSzPts val="600"/>
            </a:pPr>
            <a:r>
              <a:rPr lang="en-US" sz="1268">
                <a:solidFill>
                  <a:srgbClr val="FFFFFF"/>
                </a:solidFill>
                <a:latin typeface="Calibri"/>
                <a:ea typeface="Calibri"/>
                <a:cs typeface="Calibri"/>
                <a:sym typeface="Calibri"/>
              </a:rPr>
              <a:t>3</a:t>
            </a:r>
            <a:endParaRPr sz="1268">
              <a:solidFill>
                <a:srgbClr val="000000"/>
              </a:solidFill>
              <a:latin typeface="Calibri"/>
              <a:ea typeface="Calibri"/>
              <a:cs typeface="Calibri"/>
              <a:sym typeface="Calibri"/>
            </a:endParaRPr>
          </a:p>
        </p:txBody>
      </p:sp>
      <p:sp>
        <p:nvSpPr>
          <p:cNvPr id="112" name="Google Shape;112;p5"/>
          <p:cNvSpPr txBox="1"/>
          <p:nvPr/>
        </p:nvSpPr>
        <p:spPr>
          <a:xfrm>
            <a:off x="702307" y="876999"/>
            <a:ext cx="9285709" cy="5455000"/>
          </a:xfrm>
          <a:prstGeom prst="rect">
            <a:avLst/>
          </a:prstGeom>
          <a:blipFill rotWithShape="1">
            <a:blip r:embed="rId7">
              <a:alphaModFix/>
            </a:blip>
            <a:stretch>
              <a:fillRect l="-1525" b="-56973"/>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grpSp>
        <p:nvGrpSpPr>
          <p:cNvPr id="113" name="Google Shape;113;p5"/>
          <p:cNvGrpSpPr/>
          <p:nvPr/>
        </p:nvGrpSpPr>
        <p:grpSpPr>
          <a:xfrm>
            <a:off x="2983" y="6571410"/>
            <a:ext cx="12174329" cy="194601"/>
            <a:chOff x="0" y="3109250"/>
            <a:chExt cx="5760261" cy="92075"/>
          </a:xfrm>
        </p:grpSpPr>
        <p:sp>
          <p:nvSpPr>
            <p:cNvPr id="114" name="Google Shape;114;p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115" name="Google Shape;115;p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116" name="Google Shape;116;p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118" name="Google Shape;118;p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9</a:t>
            </a:fld>
            <a:r>
              <a:rPr lang="en-US"/>
              <a:t> / 46</a:t>
            </a:r>
            <a:endParaRPr/>
          </a:p>
        </p:txBody>
      </p:sp>
      <p:grpSp>
        <p:nvGrpSpPr>
          <p:cNvPr id="119" name="Google Shape;119;p5"/>
          <p:cNvGrpSpPr/>
          <p:nvPr/>
        </p:nvGrpSpPr>
        <p:grpSpPr>
          <a:xfrm>
            <a:off x="389070" y="4742676"/>
            <a:ext cx="313240" cy="346480"/>
            <a:chOff x="134127" y="2262704"/>
            <a:chExt cx="266997" cy="178837"/>
          </a:xfrm>
        </p:grpSpPr>
        <p:pic>
          <p:nvPicPr>
            <p:cNvPr id="120" name="Google Shape;120;p5"/>
            <p:cNvPicPr preferRelativeResize="0"/>
            <p:nvPr/>
          </p:nvPicPr>
          <p:blipFill rotWithShape="1">
            <a:blip r:embed="rId6">
              <a:alphaModFix/>
            </a:blip>
            <a:srcRect/>
            <a:stretch/>
          </p:blipFill>
          <p:spPr>
            <a:xfrm>
              <a:off x="134127" y="2262704"/>
              <a:ext cx="266997" cy="178837"/>
            </a:xfrm>
            <a:prstGeom prst="rect">
              <a:avLst/>
            </a:prstGeom>
            <a:noFill/>
            <a:ln>
              <a:noFill/>
            </a:ln>
          </p:spPr>
        </p:pic>
        <p:sp>
          <p:nvSpPr>
            <p:cNvPr id="121" name="Google Shape;121;p5"/>
            <p:cNvSpPr txBox="1"/>
            <p:nvPr/>
          </p:nvSpPr>
          <p:spPr>
            <a:xfrm>
              <a:off x="209626" y="2275554"/>
              <a:ext cx="148209" cy="113985"/>
            </a:xfrm>
            <a:prstGeom prst="rect">
              <a:avLst/>
            </a:prstGeom>
            <a:noFill/>
            <a:ln>
              <a:noFill/>
            </a:ln>
          </p:spPr>
          <p:txBody>
            <a:bodyPr spcFirstLastPara="1" wrap="square" lIns="0" tIns="25468" rIns="0" bIns="0" anchor="t" anchorCtr="0">
              <a:spAutoFit/>
            </a:bodyPr>
            <a:lstStyle/>
            <a:p>
              <a:pPr marL="26841">
                <a:buClr>
                  <a:srgbClr val="000000"/>
                </a:buClr>
                <a:buSzPts val="600"/>
              </a:pPr>
              <a:r>
                <a:rPr lang="en-US" sz="1268">
                  <a:solidFill>
                    <a:srgbClr val="FFFFFF"/>
                  </a:solidFill>
                  <a:latin typeface="Calibri"/>
                  <a:ea typeface="Calibri"/>
                  <a:cs typeface="Calibri"/>
                  <a:sym typeface="Calibri"/>
                </a:rPr>
                <a:t>4</a:t>
              </a:r>
              <a:endParaRPr sz="1268">
                <a:solidFill>
                  <a:srgbClr val="000000"/>
                </a:solidFill>
                <a:latin typeface="Calibri"/>
                <a:ea typeface="Calibri"/>
                <a:cs typeface="Calibri"/>
                <a:sym typeface="Calibri"/>
              </a:endParaRPr>
            </a:p>
          </p:txBody>
        </p:sp>
      </p:grpSp>
      <p:sp>
        <p:nvSpPr>
          <p:cNvPr id="132" name="Google Shape;132;p5"/>
          <p:cNvSpPr txBox="1"/>
          <p:nvPr/>
        </p:nvSpPr>
        <p:spPr>
          <a:xfrm>
            <a:off x="4142062" y="2567597"/>
            <a:ext cx="813487" cy="654341"/>
          </a:xfrm>
          <a:prstGeom prst="rect">
            <a:avLst/>
          </a:prstGeom>
          <a:solidFill>
            <a:schemeClr val="lt1"/>
          </a:solidFill>
          <a:ln>
            <a:noFill/>
          </a:ln>
        </p:spPr>
        <p:txBody>
          <a:bodyPr spcFirstLastPara="1" wrap="square" lIns="193227" tIns="193227" rIns="193227" bIns="193227" anchor="t" anchorCtr="0">
            <a:noAutofit/>
          </a:bodyPr>
          <a:lstStyle/>
          <a:p>
            <a:r>
              <a:rPr lang="en-US" sz="1796" b="1">
                <a:solidFill>
                  <a:srgbClr val="1B1472"/>
                </a:solidFill>
              </a:rPr>
              <a:t>(F) }</a:t>
            </a:r>
            <a:endParaRPr sz="1796" b="1">
              <a:solidFill>
                <a:srgbClr val="1B1472"/>
              </a:solidFill>
            </a:endParaRPr>
          </a:p>
        </p:txBody>
      </p:sp>
      <p:sp>
        <p:nvSpPr>
          <p:cNvPr id="2" name="Footer">
            <a:extLst>
              <a:ext uri="{FF2B5EF4-FFF2-40B4-BE49-F238E27FC236}">
                <a16:creationId xmlns:a16="http://schemas.microsoft.com/office/drawing/2014/main" id="{610915C7-F9A2-E66A-BCB4-84C37159F624}"/>
              </a:ext>
            </a:extLst>
          </p:cNvPr>
          <p:cNvSpPr txBox="1">
            <a:spLocks/>
          </p:cNvSpPr>
          <p:nvPr/>
        </p:nvSpPr>
        <p:spPr>
          <a:xfrm>
            <a:off x="3188461" y="6571410"/>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extLst>
      <p:ext uri="{BB962C8B-B14F-4D97-AF65-F5344CB8AC3E}">
        <p14:creationId xmlns:p14="http://schemas.microsoft.com/office/powerpoint/2010/main" val="27239186"/>
      </p:ext>
    </p:extLst>
  </p:cSld>
  <p:clrMapOvr>
    <a:masterClrMapping/>
  </p:clrMapOvr>
  <p:transition>
    <p:fade thruBlk="1"/>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74662" y="231524"/>
            <a:ext cx="10453163" cy="430887"/>
          </a:xfrm>
        </p:spPr>
        <p:txBody>
          <a:bodyPr/>
          <a:lstStyle/>
          <a:p>
            <a:r>
              <a:rPr lang="en-US" sz="2800" dirty="0">
                <a:solidFill>
                  <a:schemeClr val="bg1"/>
                </a:solidFill>
              </a:rPr>
              <a:t>Value Functions — V(s) and Q(s,a)</a:t>
            </a:r>
          </a:p>
        </p:txBody>
      </p:sp>
      <p:sp>
        <p:nvSpPr>
          <p:cNvPr id="10" name="CardBg10"/>
          <p:cNvSpPr>
            <a:spLocks noGrp="1"/>
          </p:cNvSpPr>
          <p:nvPr/>
        </p:nvSpPr>
        <p:spPr>
          <a:xfrm>
            <a:off x="457200" y="1080000"/>
            <a:ext cx="5400000" cy="2550000"/>
          </a:xfrm>
          <a:prstGeom prst="roundRect">
            <a:avLst>
              <a:gd name="adj" fmla="val 16667"/>
            </a:avLst>
          </a:prstGeom>
          <a:solidFill>
            <a:srgbClr val="EEF0FB"/>
          </a:solidFill>
          <a:ln>
            <a:noFill/>
          </a:ln>
        </p:spPr>
        <p:txBody>
          <a:bodyPr/>
          <a:lstStyle/>
          <a:p>
            <a:endParaRPr/>
          </a:p>
        </p:txBody>
      </p:sp>
      <p:sp>
        <p:nvSpPr>
          <p:cNvPr id="11" name="CardLbl11"/>
          <p:cNvSpPr txBox="1"/>
          <p:nvPr/>
        </p:nvSpPr>
        <p:spPr>
          <a:xfrm>
            <a:off x="457200" y="1080000"/>
            <a:ext cx="5400000" cy="430000"/>
          </a:xfrm>
          <a:prstGeom prst="rect">
            <a:avLst/>
          </a:prstGeom>
          <a:solidFill>
            <a:srgbClr val="1B1472"/>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State-Value Function  Vᵄ(s)</a:t>
            </a:r>
          </a:p>
        </p:txBody>
      </p:sp>
      <p:sp>
        <p:nvSpPr>
          <p:cNvPr id="12" name="CardTxt12"/>
          <p:cNvSpPr txBox="1"/>
          <p:nvPr/>
        </p:nvSpPr>
        <p:spPr>
          <a:xfrm>
            <a:off x="548640" y="1550000"/>
            <a:ext cx="5217120" cy="2102492"/>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Vᵄ(s) = Eᵄ [ Gₜ | Sₜ = s ]</a:t>
            </a:r>
          </a:p>
          <a:p>
            <a:pPr>
              <a:lnSpc>
                <a:spcPts val="2000"/>
              </a:lnSpc>
            </a:pPr>
            <a:r>
              <a:rPr lang="en-US" sz="1600" dirty="0">
                <a:solidFill>
                  <a:srgbClr val="1E1E2E"/>
                </a:solidFill>
                <a:latin typeface="Calibri"/>
              </a:rPr>
              <a:t>- Expected return starting in state s, following π thereafter.</a:t>
            </a:r>
          </a:p>
          <a:p>
            <a:pPr>
              <a:lnSpc>
                <a:spcPts val="2000"/>
              </a:lnSpc>
            </a:pPr>
            <a:r>
              <a:rPr lang="en-US" sz="1600" dirty="0">
                <a:solidFill>
                  <a:srgbClr val="1E1E2E"/>
                </a:solidFill>
                <a:latin typeface="Calibri"/>
              </a:rPr>
              <a:t>Answers: “How good is it to BE in this state under π?”</a:t>
            </a:r>
          </a:p>
          <a:p>
            <a:pPr>
              <a:lnSpc>
                <a:spcPts val="2000"/>
              </a:lnSpc>
            </a:pPr>
            <a:r>
              <a:rPr lang="en-US" sz="1600" dirty="0">
                <a:solidFill>
                  <a:srgbClr val="1E1E2E"/>
                </a:solidFill>
                <a:latin typeface="Calibri"/>
              </a:rPr>
              <a:t>Used in policy evaluation and improvement.</a:t>
            </a:r>
          </a:p>
          <a:p>
            <a:pPr>
              <a:lnSpc>
                <a:spcPts val="2000"/>
              </a:lnSpc>
            </a:pPr>
            <a:r>
              <a:rPr lang="en-US" sz="1600" dirty="0">
                <a:solidFill>
                  <a:srgbClr val="1E1E2E"/>
                </a:solidFill>
                <a:latin typeface="Calibri"/>
              </a:rPr>
              <a:t>- Higher V(s) = better position to be in.</a:t>
            </a:r>
          </a:p>
          <a:p>
            <a:pPr>
              <a:lnSpc>
                <a:spcPts val="2000"/>
              </a:lnSpc>
            </a:pPr>
            <a:r>
              <a:rPr lang="en-US" sz="1600" dirty="0">
                <a:solidFill>
                  <a:srgbClr val="1E1E2E"/>
                </a:solidFill>
                <a:latin typeface="Calibri"/>
              </a:rPr>
              <a:t>- V(s) = 0 for terminal states (game over).</a:t>
            </a:r>
          </a:p>
          <a:p>
            <a:pPr>
              <a:lnSpc>
                <a:spcPts val="2000"/>
              </a:lnSpc>
            </a:pPr>
            <a:r>
              <a:rPr lang="en-US" sz="1600" dirty="0">
                <a:solidFill>
                  <a:srgbClr val="1E1E2E"/>
                </a:solidFill>
                <a:latin typeface="Calibri"/>
              </a:rPr>
              <a:t>- V(s) depends on BOTH the state AND the policy.</a:t>
            </a:r>
          </a:p>
          <a:p>
            <a:pPr>
              <a:lnSpc>
                <a:spcPts val="2000"/>
              </a:lnSpc>
            </a:pPr>
            <a:endParaRPr lang="en-US" sz="1600" dirty="0">
              <a:solidFill>
                <a:srgbClr val="1E1E2E"/>
              </a:solidFill>
              <a:latin typeface="Calibri"/>
            </a:endParaRPr>
          </a:p>
        </p:txBody>
      </p:sp>
      <p:sp>
        <p:nvSpPr>
          <p:cNvPr id="20" name="CardBg20"/>
          <p:cNvSpPr>
            <a:spLocks noGrp="1"/>
          </p:cNvSpPr>
          <p:nvPr/>
        </p:nvSpPr>
        <p:spPr>
          <a:xfrm>
            <a:off x="6314400" y="1080000"/>
            <a:ext cx="5400000" cy="2550000"/>
          </a:xfrm>
          <a:prstGeom prst="roundRect">
            <a:avLst>
              <a:gd name="adj" fmla="val 16667"/>
            </a:avLst>
          </a:prstGeom>
          <a:solidFill>
            <a:srgbClr val="EEF0FB"/>
          </a:solidFill>
          <a:ln>
            <a:noFill/>
          </a:ln>
        </p:spPr>
        <p:txBody>
          <a:bodyPr/>
          <a:lstStyle/>
          <a:p>
            <a:endParaRPr/>
          </a:p>
        </p:txBody>
      </p:sp>
      <p:sp>
        <p:nvSpPr>
          <p:cNvPr id="21" name="CardLbl21"/>
          <p:cNvSpPr txBox="1"/>
          <p:nvPr/>
        </p:nvSpPr>
        <p:spPr>
          <a:xfrm>
            <a:off x="6314400" y="1080000"/>
            <a:ext cx="5400000" cy="430000"/>
          </a:xfrm>
          <a:prstGeom prst="rect">
            <a:avLst/>
          </a:prstGeom>
          <a:solidFill>
            <a:srgbClr val="2D3091"/>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Action-Value Function  Qᵄ(s,a)</a:t>
            </a:r>
          </a:p>
        </p:txBody>
      </p:sp>
      <p:sp>
        <p:nvSpPr>
          <p:cNvPr id="22" name="CardTxt22"/>
          <p:cNvSpPr txBox="1"/>
          <p:nvPr/>
        </p:nvSpPr>
        <p:spPr>
          <a:xfrm>
            <a:off x="6405840" y="1550000"/>
            <a:ext cx="5217120" cy="1333050"/>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Qᵄ(s,a) = Eᵄ [ Gₜ | Sₜ = s, Aₜ = a ]</a:t>
            </a:r>
          </a:p>
          <a:p>
            <a:pPr>
              <a:lnSpc>
                <a:spcPts val="2000"/>
              </a:lnSpc>
            </a:pPr>
            <a:r>
              <a:rPr lang="en-US" sz="1600" dirty="0">
                <a:solidFill>
                  <a:srgbClr val="1E1E2E"/>
                </a:solidFill>
                <a:latin typeface="Calibri"/>
              </a:rPr>
              <a:t>Expected return starting from s, taking action a, then following π.</a:t>
            </a:r>
          </a:p>
          <a:p>
            <a:pPr>
              <a:lnSpc>
                <a:spcPts val="2000"/>
              </a:lnSpc>
            </a:pPr>
            <a:r>
              <a:rPr lang="en-US" sz="1600" dirty="0">
                <a:solidFill>
                  <a:srgbClr val="1E1E2E"/>
                </a:solidFill>
                <a:latin typeface="Calibri"/>
              </a:rPr>
              <a:t>Answers: “How good is it to TAKE this action in this state?”</a:t>
            </a:r>
          </a:p>
          <a:p>
            <a:pPr>
              <a:lnSpc>
                <a:spcPts val="2000"/>
              </a:lnSpc>
            </a:pPr>
            <a:r>
              <a:rPr lang="en-US" sz="1600" dirty="0">
                <a:solidFill>
                  <a:srgbClr val="1E1E2E"/>
                </a:solidFill>
                <a:latin typeface="Calibri"/>
              </a:rPr>
              <a:t>Central to Q-learning and actor-critic methods.</a:t>
            </a:r>
          </a:p>
        </p:txBody>
      </p:sp>
      <p:sp>
        <p:nvSpPr>
          <p:cNvPr id="30" name="RelBg"/>
          <p:cNvSpPr>
            <a:spLocks noGrp="1"/>
          </p:cNvSpPr>
          <p:nvPr/>
        </p:nvSpPr>
        <p:spPr>
          <a:xfrm>
            <a:off x="457200" y="3750000"/>
            <a:ext cx="6858000" cy="1900000"/>
          </a:xfrm>
          <a:prstGeom prst="roundRect">
            <a:avLst>
              <a:gd name="adj" fmla="val 16667"/>
            </a:avLst>
          </a:prstGeom>
          <a:solidFill>
            <a:srgbClr val="1B1472"/>
          </a:solidFill>
          <a:ln>
            <a:noFill/>
          </a:ln>
        </p:spPr>
        <p:txBody>
          <a:bodyPr/>
          <a:lstStyle/>
          <a:p>
            <a:endParaRPr/>
          </a:p>
        </p:txBody>
      </p:sp>
      <p:sp>
        <p:nvSpPr>
          <p:cNvPr id="31" name="RelTitle"/>
          <p:cNvSpPr txBox="1"/>
          <p:nvPr/>
        </p:nvSpPr>
        <p:spPr>
          <a:xfrm>
            <a:off x="700000" y="3820000"/>
            <a:ext cx="11000000" cy="364843"/>
          </a:xfrm>
          <a:prstGeom prst="rect">
            <a:avLst/>
          </a:prstGeom>
          <a:noFill/>
          <a:ln>
            <a:noFill/>
          </a:ln>
        </p:spPr>
        <p:txBody>
          <a:bodyPr wrap="square" lIns="91440" tIns="45720" rIns="91440" bIns="45720" anchor="t">
            <a:spAutoFit/>
          </a:bodyPr>
          <a:lstStyle/>
          <a:p>
            <a:pPr>
              <a:lnSpc>
                <a:spcPts val="2200"/>
              </a:lnSpc>
            </a:pPr>
            <a:r>
              <a:rPr lang="en-US" b="1" dirty="0">
                <a:solidFill>
                  <a:srgbClr val="D4A017"/>
                </a:solidFill>
                <a:latin typeface="Calibri"/>
              </a:rPr>
              <a:t>Relationship &amp; Optimality  </a:t>
            </a:r>
          </a:p>
        </p:txBody>
      </p:sp>
      <p:sp>
        <p:nvSpPr>
          <p:cNvPr id="32" name="RelTxt32"/>
          <p:cNvSpPr txBox="1"/>
          <p:nvPr/>
        </p:nvSpPr>
        <p:spPr>
          <a:xfrm>
            <a:off x="700000" y="4230000"/>
            <a:ext cx="10800000" cy="338875"/>
          </a:xfrm>
          <a:prstGeom prst="rect">
            <a:avLst/>
          </a:prstGeom>
          <a:noFill/>
          <a:ln>
            <a:noFill/>
          </a:ln>
        </p:spPr>
        <p:txBody>
          <a:bodyPr wrap="square" lIns="91440" tIns="45720" rIns="91440" bIns="45720" anchor="t">
            <a:spAutoFit/>
          </a:bodyPr>
          <a:lstStyle/>
          <a:p>
            <a:pPr>
              <a:lnSpc>
                <a:spcPts val="2000"/>
              </a:lnSpc>
            </a:pPr>
            <a:r>
              <a:rPr lang="en-US" sz="1600" dirty="0">
                <a:solidFill>
                  <a:srgbClr val="FFFFFF"/>
                </a:solidFill>
                <a:latin typeface="Calibri"/>
              </a:rPr>
              <a:t>Vᵄ(s) = Σₐ π(a|s) Qᵄ(s,a)    [V as weighted avg of Q]</a:t>
            </a:r>
          </a:p>
        </p:txBody>
      </p:sp>
      <p:sp>
        <p:nvSpPr>
          <p:cNvPr id="33" name="RelTxt33"/>
          <p:cNvSpPr txBox="1"/>
          <p:nvPr/>
        </p:nvSpPr>
        <p:spPr>
          <a:xfrm>
            <a:off x="700000" y="4660000"/>
            <a:ext cx="10800000" cy="338875"/>
          </a:xfrm>
          <a:prstGeom prst="rect">
            <a:avLst/>
          </a:prstGeom>
          <a:noFill/>
          <a:ln>
            <a:noFill/>
          </a:ln>
        </p:spPr>
        <p:txBody>
          <a:bodyPr wrap="square" lIns="91440" tIns="45720" rIns="91440" bIns="45720" anchor="t">
            <a:spAutoFit/>
          </a:bodyPr>
          <a:lstStyle/>
          <a:p>
            <a:pPr>
              <a:lnSpc>
                <a:spcPts val="2000"/>
              </a:lnSpc>
            </a:pPr>
            <a:r>
              <a:rPr lang="en-US" sz="1600" dirty="0">
                <a:solidFill>
                  <a:srgbClr val="FFFFFF"/>
                </a:solidFill>
                <a:latin typeface="Calibri"/>
              </a:rPr>
              <a:t>V*(s) = maxᵯ Vᵄ(s)  for all s    |    Q*(s,a) = maxᵯ Qᵄ(s,a)</a:t>
            </a:r>
          </a:p>
        </p:txBody>
      </p:sp>
      <p:sp>
        <p:nvSpPr>
          <p:cNvPr id="34" name="RelTxt34"/>
          <p:cNvSpPr txBox="1"/>
          <p:nvPr/>
        </p:nvSpPr>
        <p:spPr>
          <a:xfrm>
            <a:off x="700000" y="5090000"/>
            <a:ext cx="10800000" cy="338875"/>
          </a:xfrm>
          <a:prstGeom prst="rect">
            <a:avLst/>
          </a:prstGeom>
          <a:noFill/>
          <a:ln>
            <a:noFill/>
          </a:ln>
        </p:spPr>
        <p:txBody>
          <a:bodyPr wrap="square" lIns="91440" tIns="45720" rIns="91440" bIns="45720" anchor="t">
            <a:spAutoFit/>
          </a:bodyPr>
          <a:lstStyle/>
          <a:p>
            <a:pPr>
              <a:lnSpc>
                <a:spcPts val="2000"/>
              </a:lnSpc>
            </a:pPr>
            <a:r>
              <a:rPr lang="en-US" sz="1600" dirty="0">
                <a:solidFill>
                  <a:srgbClr val="FFFFFF"/>
                </a:solidFill>
                <a:latin typeface="Calibri"/>
              </a:rPr>
              <a:t>Optimal policy:  π*(s) = argmaxₐ Q*(s,a)   — deterministic &amp; greedy w.r.t. Q*</a:t>
            </a:r>
          </a:p>
        </p:txBody>
      </p:sp>
      <p:sp>
        <p:nvSpPr>
          <p:cNvPr id="3" name="Footer"/>
          <p:cNvSpPr>
            <a:spLocks noGrp="1"/>
          </p:cNvSpPr>
          <p:nvPr>
            <p:ph type="ftr" idx="10"/>
          </p:nvPr>
        </p:nvSpPr>
        <p:spPr/>
        <p:txBody>
          <a:bodyPr/>
          <a:lstStyle/>
          <a:p>
            <a:r>
              <a:rPr lang="en-IN"/>
              <a:t>Faculty Development Workshop on Deep Reinforcement Learning - 9 &amp; 10 March,2026</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74662" y="231524"/>
            <a:ext cx="10453163" cy="430887"/>
          </a:xfrm>
        </p:spPr>
        <p:txBody>
          <a:bodyPr/>
          <a:lstStyle/>
          <a:p>
            <a:r>
              <a:rPr lang="en-US" sz="2800" dirty="0">
                <a:solidFill>
                  <a:schemeClr val="bg1"/>
                </a:solidFill>
              </a:rPr>
              <a:t>Bellman Expectation Equation</a:t>
            </a:r>
          </a:p>
        </p:txBody>
      </p:sp>
      <p:sp>
        <p:nvSpPr>
          <p:cNvPr id="10" name="CardBg10"/>
          <p:cNvSpPr>
            <a:spLocks noGrp="1"/>
          </p:cNvSpPr>
          <p:nvPr/>
        </p:nvSpPr>
        <p:spPr>
          <a:xfrm>
            <a:off x="457200" y="1080000"/>
            <a:ext cx="5400000" cy="2200000"/>
          </a:xfrm>
          <a:prstGeom prst="roundRect">
            <a:avLst>
              <a:gd name="adj" fmla="val 16667"/>
            </a:avLst>
          </a:prstGeom>
          <a:solidFill>
            <a:srgbClr val="EEF0FB"/>
          </a:solidFill>
          <a:ln>
            <a:noFill/>
          </a:ln>
        </p:spPr>
        <p:txBody>
          <a:bodyPr/>
          <a:lstStyle/>
          <a:p>
            <a:endParaRPr/>
          </a:p>
        </p:txBody>
      </p:sp>
      <p:sp>
        <p:nvSpPr>
          <p:cNvPr id="11" name="CardLbl11"/>
          <p:cNvSpPr txBox="1"/>
          <p:nvPr/>
        </p:nvSpPr>
        <p:spPr>
          <a:xfrm>
            <a:off x="457200" y="1080000"/>
            <a:ext cx="5400000" cy="400000"/>
          </a:xfrm>
          <a:prstGeom prst="rect">
            <a:avLst/>
          </a:prstGeom>
          <a:solidFill>
            <a:srgbClr val="1B1472"/>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Core Idea</a:t>
            </a:r>
          </a:p>
        </p:txBody>
      </p:sp>
      <p:sp>
        <p:nvSpPr>
          <p:cNvPr id="12" name="CardTxt12"/>
          <p:cNvSpPr txBox="1"/>
          <p:nvPr/>
        </p:nvSpPr>
        <p:spPr>
          <a:xfrm>
            <a:off x="548640" y="1520000"/>
            <a:ext cx="5217120" cy="1846011"/>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Decomposes the value of a state into:</a:t>
            </a:r>
          </a:p>
          <a:p>
            <a:pPr>
              <a:lnSpc>
                <a:spcPts val="2000"/>
              </a:lnSpc>
            </a:pPr>
            <a:r>
              <a:rPr lang="en-US" sz="1600" dirty="0">
                <a:solidFill>
                  <a:srgbClr val="1E1E2E"/>
                </a:solidFill>
                <a:latin typeface="Calibri"/>
              </a:rPr>
              <a:t>  Immediate reward  +  discounted value of next state.</a:t>
            </a:r>
          </a:p>
          <a:p>
            <a:pPr>
              <a:lnSpc>
                <a:spcPts val="2000"/>
              </a:lnSpc>
            </a:pPr>
            <a:r>
              <a:rPr lang="en-US" sz="1600" dirty="0">
                <a:solidFill>
                  <a:srgbClr val="1E1E2E"/>
                </a:solidFill>
                <a:latin typeface="Calibri"/>
              </a:rPr>
              <a:t>Turns a hard optimisation into a recursive local computation.</a:t>
            </a:r>
          </a:p>
          <a:p>
            <a:pPr>
              <a:lnSpc>
                <a:spcPts val="2000"/>
              </a:lnSpc>
            </a:pPr>
            <a:r>
              <a:rPr lang="en-US" sz="1600" dirty="0">
                <a:solidFill>
                  <a:srgbClr val="1E1E2E"/>
                </a:solidFill>
                <a:latin typeface="Calibri"/>
              </a:rPr>
              <a:t>Foundation of all DP and TD methods.</a:t>
            </a:r>
            <a:endParaRPr lang="en-US" sz="1600" dirty="0">
              <a:solidFill>
                <a:srgbClr val="C00000"/>
              </a:solidFill>
              <a:latin typeface="Calibri"/>
            </a:endParaRPr>
          </a:p>
          <a:p>
            <a:pPr>
              <a:lnSpc>
                <a:spcPts val="2000"/>
              </a:lnSpc>
            </a:pPr>
            <a:r>
              <a:rPr lang="en-US" sz="1600" b="1" dirty="0">
                <a:solidFill>
                  <a:srgbClr val="C00000"/>
                </a:solidFill>
                <a:latin typeface="Calibri" pitchFamily="34" charset="0"/>
                <a:ea typeface="Calibri" pitchFamily="34" charset="-122"/>
                <a:cs typeface="Calibri" pitchFamily="34" charset="-120"/>
              </a:rPr>
              <a:t>V</a:t>
            </a:r>
            <a:r>
              <a:rPr lang="en-US" sz="1600" b="1" baseline="-25000" dirty="0">
                <a:solidFill>
                  <a:srgbClr val="C00000"/>
                </a:solidFill>
                <a:latin typeface="Calibri" pitchFamily="34" charset="0"/>
                <a:ea typeface="Calibri" pitchFamily="34" charset="-122"/>
                <a:cs typeface="Calibri" pitchFamily="34" charset="-120"/>
              </a:rPr>
              <a:t> π</a:t>
            </a:r>
            <a:r>
              <a:rPr lang="en-US" sz="1600" b="1" dirty="0">
                <a:solidFill>
                  <a:srgbClr val="C00000"/>
                </a:solidFill>
                <a:latin typeface="Calibri" pitchFamily="34" charset="0"/>
                <a:ea typeface="Calibri" pitchFamily="34" charset="-122"/>
                <a:cs typeface="Calibri" pitchFamily="34" charset="-120"/>
              </a:rPr>
              <a:t>(s)  =  [ immediate reward ]  +  </a:t>
            </a:r>
            <a:r>
              <a:rPr lang="en-US" sz="1600" b="1" dirty="0" err="1">
                <a:solidFill>
                  <a:srgbClr val="C00000"/>
                </a:solidFill>
                <a:latin typeface="Calibri" pitchFamily="34" charset="0"/>
                <a:ea typeface="Calibri" pitchFamily="34" charset="-122"/>
                <a:cs typeface="Calibri" pitchFamily="34" charset="-120"/>
              </a:rPr>
              <a:t>γ</a:t>
            </a:r>
            <a:r>
              <a:rPr lang="en-US" sz="1600" b="1" dirty="0">
                <a:solidFill>
                  <a:srgbClr val="C00000"/>
                </a:solidFill>
                <a:latin typeface="Calibri" pitchFamily="34" charset="0"/>
                <a:ea typeface="Calibri" pitchFamily="34" charset="-122"/>
                <a:cs typeface="Calibri" pitchFamily="34" charset="-120"/>
              </a:rPr>
              <a:t> × [ value of where we end up ]</a:t>
            </a:r>
            <a:endParaRPr lang="en-US" sz="1600" dirty="0">
              <a:solidFill>
                <a:srgbClr val="C00000"/>
              </a:solidFill>
            </a:endParaRPr>
          </a:p>
          <a:p>
            <a:pPr>
              <a:lnSpc>
                <a:spcPts val="2000"/>
              </a:lnSpc>
            </a:pPr>
            <a:endParaRPr lang="en-US" sz="1600" dirty="0">
              <a:solidFill>
                <a:srgbClr val="1E1E2E"/>
              </a:solidFill>
              <a:latin typeface="Calibri"/>
            </a:endParaRPr>
          </a:p>
        </p:txBody>
      </p:sp>
      <p:sp>
        <p:nvSpPr>
          <p:cNvPr id="20" name="CardBg20"/>
          <p:cNvSpPr>
            <a:spLocks noGrp="1"/>
          </p:cNvSpPr>
          <p:nvPr/>
        </p:nvSpPr>
        <p:spPr>
          <a:xfrm>
            <a:off x="6200000" y="1080000"/>
            <a:ext cx="5535000" cy="3804238"/>
          </a:xfrm>
          <a:prstGeom prst="roundRect">
            <a:avLst>
              <a:gd name="adj" fmla="val 16667"/>
            </a:avLst>
          </a:prstGeom>
          <a:solidFill>
            <a:srgbClr val="EEF0FB"/>
          </a:solidFill>
          <a:ln>
            <a:noFill/>
          </a:ln>
        </p:spPr>
        <p:txBody>
          <a:bodyPr/>
          <a:lstStyle/>
          <a:p>
            <a:endParaRPr/>
          </a:p>
        </p:txBody>
      </p:sp>
      <p:sp>
        <p:nvSpPr>
          <p:cNvPr id="21" name="CardLbl21"/>
          <p:cNvSpPr txBox="1"/>
          <p:nvPr/>
        </p:nvSpPr>
        <p:spPr>
          <a:xfrm>
            <a:off x="6200000" y="1080000"/>
            <a:ext cx="5535000" cy="400000"/>
          </a:xfrm>
          <a:prstGeom prst="rect">
            <a:avLst/>
          </a:prstGeom>
          <a:solidFill>
            <a:srgbClr val="2D3091"/>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Why is it Needed?</a:t>
            </a:r>
          </a:p>
        </p:txBody>
      </p:sp>
      <p:sp>
        <p:nvSpPr>
          <p:cNvPr id="22" name="CardTxt22"/>
          <p:cNvSpPr txBox="1"/>
          <p:nvPr/>
        </p:nvSpPr>
        <p:spPr>
          <a:xfrm>
            <a:off x="6291440" y="1520000"/>
            <a:ext cx="5352120" cy="2871933"/>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Bellman equation is a consistency condition: V must satisfy it for every state.</a:t>
            </a:r>
          </a:p>
          <a:p>
            <a:pPr>
              <a:lnSpc>
                <a:spcPts val="2000"/>
              </a:lnSpc>
            </a:pPr>
            <a:r>
              <a:rPr lang="en-US" sz="1600" dirty="0">
                <a:solidFill>
                  <a:srgbClr val="1E1E2E"/>
                </a:solidFill>
                <a:latin typeface="Calibri"/>
              </a:rPr>
              <a:t>Solving this system (|S| equations, |S| unknowns) gives Vᵄ exactly.</a:t>
            </a:r>
          </a:p>
          <a:p>
            <a:pPr>
              <a:lnSpc>
                <a:spcPts val="2000"/>
              </a:lnSpc>
            </a:pPr>
            <a:r>
              <a:rPr lang="en-US" sz="1600" dirty="0">
                <a:solidFill>
                  <a:srgbClr val="C00000"/>
                </a:solidFill>
                <a:latin typeface="Calibri"/>
              </a:rPr>
              <a:t>To compute V </a:t>
            </a:r>
            <a:r>
              <a:rPr lang="el-GR" sz="1600" dirty="0">
                <a:solidFill>
                  <a:srgbClr val="C00000"/>
                </a:solidFill>
                <a:latin typeface="Calibri"/>
              </a:rPr>
              <a:t>π(</a:t>
            </a:r>
            <a:r>
              <a:rPr lang="en-US" sz="1600" dirty="0">
                <a:solidFill>
                  <a:srgbClr val="C00000"/>
                </a:solidFill>
                <a:latin typeface="Calibri"/>
              </a:rPr>
              <a:t>Cool), you need:</a:t>
            </a:r>
          </a:p>
          <a:p>
            <a:pPr>
              <a:lnSpc>
                <a:spcPts val="2000"/>
              </a:lnSpc>
            </a:pPr>
            <a:r>
              <a:rPr lang="en-US" sz="1600" dirty="0">
                <a:solidFill>
                  <a:srgbClr val="C00000"/>
                </a:solidFill>
                <a:latin typeface="Calibri"/>
              </a:rPr>
              <a:t>→ All paths from Cool under </a:t>
            </a:r>
            <a:r>
              <a:rPr lang="el-GR" sz="1600" dirty="0">
                <a:solidFill>
                  <a:srgbClr val="C00000"/>
                </a:solidFill>
                <a:latin typeface="Calibri"/>
              </a:rPr>
              <a:t>π</a:t>
            </a:r>
          </a:p>
          <a:p>
            <a:pPr>
              <a:lnSpc>
                <a:spcPts val="2000"/>
              </a:lnSpc>
            </a:pPr>
            <a:r>
              <a:rPr lang="el-GR" sz="1600" dirty="0">
                <a:solidFill>
                  <a:srgbClr val="C00000"/>
                </a:solidFill>
                <a:latin typeface="Calibri"/>
              </a:rPr>
              <a:t>→ </a:t>
            </a:r>
            <a:r>
              <a:rPr lang="en-US" sz="1600" dirty="0">
                <a:solidFill>
                  <a:srgbClr val="C00000"/>
                </a:solidFill>
                <a:latin typeface="Calibri"/>
              </a:rPr>
              <a:t>Their probabilities × total returns</a:t>
            </a:r>
          </a:p>
          <a:p>
            <a:pPr>
              <a:lnSpc>
                <a:spcPts val="2000"/>
              </a:lnSpc>
            </a:pPr>
            <a:r>
              <a:rPr lang="en-US" sz="1600" dirty="0">
                <a:solidFill>
                  <a:srgbClr val="C00000"/>
                </a:solidFill>
                <a:latin typeface="Calibri"/>
              </a:rPr>
              <a:t>→ Sum infinitely many trajectories</a:t>
            </a:r>
          </a:p>
          <a:p>
            <a:pPr>
              <a:lnSpc>
                <a:spcPts val="2000"/>
              </a:lnSpc>
            </a:pPr>
            <a:r>
              <a:rPr lang="en-US" sz="1600" dirty="0">
                <a:solidFill>
                  <a:srgbClr val="C00000"/>
                </a:solidFill>
                <a:latin typeface="Calibri"/>
              </a:rPr>
              <a:t>For even 3 states × 2 actions × infinite horizon = computationally intractable!</a:t>
            </a:r>
          </a:p>
          <a:p>
            <a:pPr>
              <a:lnSpc>
                <a:spcPts val="2000"/>
              </a:lnSpc>
            </a:pPr>
            <a:endParaRPr lang="en-US" sz="1600" dirty="0">
              <a:solidFill>
                <a:srgbClr val="1E1E2E"/>
              </a:solidFill>
              <a:latin typeface="Calibri"/>
            </a:endParaRPr>
          </a:p>
        </p:txBody>
      </p:sp>
      <p:sp>
        <p:nvSpPr>
          <p:cNvPr id="30" name="EqBg1"/>
          <p:cNvSpPr>
            <a:spLocks noGrp="1"/>
          </p:cNvSpPr>
          <p:nvPr/>
        </p:nvSpPr>
        <p:spPr>
          <a:xfrm>
            <a:off x="457200" y="4431197"/>
            <a:ext cx="11277600" cy="760000"/>
          </a:xfrm>
          <a:prstGeom prst="roundRect">
            <a:avLst>
              <a:gd name="adj" fmla="val 16667"/>
            </a:avLst>
          </a:prstGeom>
          <a:solidFill>
            <a:srgbClr val="1B1472"/>
          </a:solidFill>
          <a:ln>
            <a:noFill/>
          </a:ln>
        </p:spPr>
        <p:txBody>
          <a:bodyPr/>
          <a:lstStyle/>
          <a:p>
            <a:endParaRPr/>
          </a:p>
        </p:txBody>
      </p:sp>
      <p:sp>
        <p:nvSpPr>
          <p:cNvPr id="31" name="EqLbl1"/>
          <p:cNvSpPr txBox="1"/>
          <p:nvPr/>
        </p:nvSpPr>
        <p:spPr>
          <a:xfrm>
            <a:off x="600000" y="4519395"/>
            <a:ext cx="3500000" cy="364843"/>
          </a:xfrm>
          <a:prstGeom prst="rect">
            <a:avLst/>
          </a:prstGeom>
          <a:noFill/>
          <a:ln>
            <a:noFill/>
          </a:ln>
        </p:spPr>
        <p:txBody>
          <a:bodyPr wrap="square" lIns="91440" tIns="45720" rIns="91440" bIns="45720" anchor="t">
            <a:spAutoFit/>
          </a:bodyPr>
          <a:lstStyle/>
          <a:p>
            <a:pPr>
              <a:lnSpc>
                <a:spcPts val="2200"/>
              </a:lnSpc>
            </a:pPr>
            <a:r>
              <a:rPr lang="en-US" b="1" dirty="0">
                <a:solidFill>
                  <a:srgbClr val="D4A017"/>
                </a:solidFill>
                <a:latin typeface="Calibri"/>
              </a:rPr>
              <a:t>Bellman for Vᵄ(s):</a:t>
            </a:r>
          </a:p>
        </p:txBody>
      </p:sp>
      <p:sp>
        <p:nvSpPr>
          <p:cNvPr id="32" name="EqTxt1"/>
          <p:cNvSpPr txBox="1"/>
          <p:nvPr/>
        </p:nvSpPr>
        <p:spPr>
          <a:xfrm>
            <a:off x="640800" y="4811583"/>
            <a:ext cx="11000000" cy="337208"/>
          </a:xfrm>
          <a:prstGeom prst="rect">
            <a:avLst/>
          </a:prstGeom>
          <a:noFill/>
          <a:ln>
            <a:noFill/>
          </a:ln>
        </p:spPr>
        <p:txBody>
          <a:bodyPr wrap="square" lIns="91440" tIns="45720" rIns="91440" bIns="45720" anchor="t">
            <a:spAutoFit/>
          </a:bodyPr>
          <a:lstStyle/>
          <a:p>
            <a:pPr>
              <a:lnSpc>
                <a:spcPts val="2000"/>
              </a:lnSpc>
            </a:pPr>
            <a:r>
              <a:rPr lang="en-US" sz="1600" b="1" dirty="0">
                <a:solidFill>
                  <a:srgbClr val="FFFFFF"/>
                </a:solidFill>
                <a:latin typeface="Calibri"/>
              </a:rPr>
              <a:t>Vᵄ(s) = Σₐ π(a|s) Σₛ’,ᵣ p(s’,r|s,a) [ r + γ Vᵄ(s’) ]</a:t>
            </a:r>
          </a:p>
        </p:txBody>
      </p:sp>
      <p:sp>
        <p:nvSpPr>
          <p:cNvPr id="40" name="EqBg2"/>
          <p:cNvSpPr>
            <a:spLocks noGrp="1"/>
          </p:cNvSpPr>
          <p:nvPr/>
        </p:nvSpPr>
        <p:spPr>
          <a:xfrm>
            <a:off x="548440" y="5614550"/>
            <a:ext cx="11277600" cy="760000"/>
          </a:xfrm>
          <a:prstGeom prst="roundRect">
            <a:avLst>
              <a:gd name="adj" fmla="val 16667"/>
            </a:avLst>
          </a:prstGeom>
          <a:solidFill>
            <a:srgbClr val="2D3091"/>
          </a:solidFill>
          <a:ln>
            <a:noFill/>
          </a:ln>
        </p:spPr>
        <p:txBody>
          <a:bodyPr/>
          <a:lstStyle/>
          <a:p>
            <a:endParaRPr/>
          </a:p>
        </p:txBody>
      </p:sp>
      <p:sp>
        <p:nvSpPr>
          <p:cNvPr id="41" name="EqLbl2"/>
          <p:cNvSpPr txBox="1"/>
          <p:nvPr/>
        </p:nvSpPr>
        <p:spPr>
          <a:xfrm>
            <a:off x="600000" y="5639304"/>
            <a:ext cx="3500000" cy="364843"/>
          </a:xfrm>
          <a:prstGeom prst="rect">
            <a:avLst/>
          </a:prstGeom>
          <a:noFill/>
          <a:ln>
            <a:noFill/>
          </a:ln>
        </p:spPr>
        <p:txBody>
          <a:bodyPr wrap="square" lIns="91440" tIns="45720" rIns="91440" bIns="45720" anchor="t">
            <a:spAutoFit/>
          </a:bodyPr>
          <a:lstStyle/>
          <a:p>
            <a:pPr>
              <a:lnSpc>
                <a:spcPts val="2200"/>
              </a:lnSpc>
            </a:pPr>
            <a:r>
              <a:rPr lang="en-US" b="1" dirty="0">
                <a:solidFill>
                  <a:srgbClr val="D4A017"/>
                </a:solidFill>
                <a:latin typeface="Calibri"/>
              </a:rPr>
              <a:t>Bellman for Qᵄ(s,a):</a:t>
            </a:r>
          </a:p>
        </p:txBody>
      </p:sp>
      <p:sp>
        <p:nvSpPr>
          <p:cNvPr id="42" name="EqTxt2"/>
          <p:cNvSpPr txBox="1"/>
          <p:nvPr/>
        </p:nvSpPr>
        <p:spPr>
          <a:xfrm>
            <a:off x="687240" y="5919175"/>
            <a:ext cx="11000000" cy="337208"/>
          </a:xfrm>
          <a:prstGeom prst="rect">
            <a:avLst/>
          </a:prstGeom>
          <a:noFill/>
          <a:ln>
            <a:noFill/>
          </a:ln>
        </p:spPr>
        <p:txBody>
          <a:bodyPr wrap="square" lIns="91440" tIns="45720" rIns="91440" bIns="45720" anchor="t">
            <a:spAutoFit/>
          </a:bodyPr>
          <a:lstStyle/>
          <a:p>
            <a:pPr>
              <a:lnSpc>
                <a:spcPts val="2000"/>
              </a:lnSpc>
            </a:pPr>
            <a:r>
              <a:rPr lang="en-US" sz="1600" b="1" dirty="0">
                <a:solidFill>
                  <a:srgbClr val="FFFFFF"/>
                </a:solidFill>
                <a:latin typeface="Calibri"/>
              </a:rPr>
              <a:t>Qᵄ(s,a) = Σₛ’,ᵣ p(s’,r|s,a) [ r + γ Σₐ’ π(a’|s’) Qᵄ(s’,a’) ]</a:t>
            </a:r>
          </a:p>
        </p:txBody>
      </p:sp>
      <p:sp>
        <p:nvSpPr>
          <p:cNvPr id="3" name="Footer"/>
          <p:cNvSpPr>
            <a:spLocks noGrp="1"/>
          </p:cNvSpPr>
          <p:nvPr>
            <p:ph type="ftr" idx="10"/>
          </p:nvPr>
        </p:nvSpPr>
        <p:spPr/>
        <p:txBody>
          <a:bodyPr/>
          <a:lstStyle/>
          <a:p>
            <a:r>
              <a:rPr lang="en-IN"/>
              <a:t>Faculty Development Workshop on Deep Reinforcement Learning - 9 &amp; 10 March,2026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0FE010D1-AB90-6696-FBB6-4C4C2199C966}"/>
              </a:ext>
            </a:extLst>
          </p:cNvPr>
          <p:cNvSpPr>
            <a:spLocks noGrp="1"/>
          </p:cNvSpPr>
          <p:nvPr>
            <p:ph type="ftr" idx="10"/>
          </p:nvPr>
        </p:nvSpPr>
        <p:spPr/>
        <p:txBody>
          <a:bodyPr/>
          <a:lstStyle/>
          <a:p>
            <a:r>
              <a:rPr lang="en-IN"/>
              <a:t>Faculty Development Workshop on Deep Reinforcement Learning - 9 &amp; 10 March,2026</a:t>
            </a:r>
            <a:endParaRPr lang="en-IN" dirty="0"/>
          </a:p>
        </p:txBody>
      </p:sp>
      <p:sp>
        <p:nvSpPr>
          <p:cNvPr id="5" name="TextBox 4">
            <a:extLst>
              <a:ext uri="{FF2B5EF4-FFF2-40B4-BE49-F238E27FC236}">
                <a16:creationId xmlns:a16="http://schemas.microsoft.com/office/drawing/2014/main" id="{D5E3B315-B448-457C-5C65-63AD194EED56}"/>
              </a:ext>
            </a:extLst>
          </p:cNvPr>
          <p:cNvSpPr txBox="1"/>
          <p:nvPr/>
        </p:nvSpPr>
        <p:spPr>
          <a:xfrm>
            <a:off x="174661" y="177663"/>
            <a:ext cx="7311019" cy="523220"/>
          </a:xfrm>
          <a:prstGeom prst="rect">
            <a:avLst/>
          </a:prstGeom>
          <a:noFill/>
        </p:spPr>
        <p:txBody>
          <a:bodyPr wrap="square">
            <a:spAutoFit/>
          </a:bodyPr>
          <a:lstStyle/>
          <a:p>
            <a:r>
              <a:rPr lang="en-US" sz="2800" b="1" dirty="0">
                <a:solidFill>
                  <a:srgbClr val="FFFFFF"/>
                </a:solidFill>
                <a:latin typeface="Calibri" pitchFamily="34" charset="0"/>
                <a:ea typeface="Calibri" pitchFamily="34" charset="-122"/>
                <a:cs typeface="Calibri" pitchFamily="34" charset="-120"/>
              </a:rPr>
              <a:t>Bellman Expectation Equation — Derivation</a:t>
            </a:r>
            <a:endParaRPr lang="en-US" sz="2800" dirty="0"/>
          </a:p>
        </p:txBody>
      </p:sp>
      <p:sp>
        <p:nvSpPr>
          <p:cNvPr id="14" name="Text 6">
            <a:extLst>
              <a:ext uri="{FF2B5EF4-FFF2-40B4-BE49-F238E27FC236}">
                <a16:creationId xmlns:a16="http://schemas.microsoft.com/office/drawing/2014/main" id="{5A444E2B-FADC-F26E-F1B4-1C532B5F99D3}"/>
              </a:ext>
            </a:extLst>
          </p:cNvPr>
          <p:cNvSpPr/>
          <p:nvPr/>
        </p:nvSpPr>
        <p:spPr>
          <a:xfrm>
            <a:off x="327339" y="1288761"/>
            <a:ext cx="5073904" cy="172974"/>
          </a:xfrm>
          <a:prstGeom prst="rect">
            <a:avLst/>
          </a:prstGeom>
          <a:noFill/>
          <a:ln/>
        </p:spPr>
        <p:txBody>
          <a:bodyPr wrap="square" rtlCol="0" anchor="ctr"/>
          <a:lstStyle/>
          <a:p>
            <a:pPr>
              <a:buClr>
                <a:srgbClr val="000000"/>
              </a:buClr>
              <a:buFont typeface="Arial"/>
              <a:buNone/>
            </a:pPr>
            <a:r>
              <a:rPr lang="en-US" sz="2000" kern="0" dirty="0">
                <a:latin typeface="Calibri" pitchFamily="34" charset="0"/>
                <a:ea typeface="Calibri" pitchFamily="34" charset="-122"/>
                <a:cs typeface="Calibri" pitchFamily="34" charset="-120"/>
                <a:sym typeface="Arial"/>
              </a:rPr>
              <a:t>Step 1: Start with the definition of V π(s)</a:t>
            </a:r>
            <a:endParaRPr lang="en-US" sz="2000" kern="0" dirty="0">
              <a:latin typeface="Arial"/>
              <a:cs typeface="Arial"/>
              <a:sym typeface="Arial"/>
            </a:endParaRPr>
          </a:p>
        </p:txBody>
      </p:sp>
      <p:sp>
        <p:nvSpPr>
          <p:cNvPr id="15" name="Text 7">
            <a:extLst>
              <a:ext uri="{FF2B5EF4-FFF2-40B4-BE49-F238E27FC236}">
                <a16:creationId xmlns:a16="http://schemas.microsoft.com/office/drawing/2014/main" id="{6061BAFA-FE57-198A-C10A-D9835D708B4F}"/>
              </a:ext>
            </a:extLst>
          </p:cNvPr>
          <p:cNvSpPr/>
          <p:nvPr/>
        </p:nvSpPr>
        <p:spPr>
          <a:xfrm>
            <a:off x="786909" y="1825174"/>
            <a:ext cx="5073904" cy="276758"/>
          </a:xfrm>
          <a:prstGeom prst="rect">
            <a:avLst/>
          </a:prstGeom>
          <a:noFill/>
          <a:ln/>
        </p:spPr>
        <p:txBody>
          <a:bodyPr wrap="square" rtlCol="0" anchor="ctr"/>
          <a:lstStyle/>
          <a:p>
            <a:pPr>
              <a:buClr>
                <a:srgbClr val="000000"/>
              </a:buClr>
              <a:buFont typeface="Arial"/>
              <a:buNone/>
            </a:pPr>
            <a:r>
              <a:rPr lang="en-US" sz="2000" b="1" kern="0" dirty="0">
                <a:latin typeface="Calibri" pitchFamily="34" charset="0"/>
                <a:ea typeface="Calibri" pitchFamily="34" charset="-122"/>
                <a:cs typeface="Calibri" pitchFamily="34" charset="-120"/>
                <a:sym typeface="Arial"/>
              </a:rPr>
              <a:t>V π(s) = Eπ [ Gₜ | Sₜ = s ]</a:t>
            </a:r>
            <a:endParaRPr lang="en-US" sz="2000" kern="0" dirty="0">
              <a:latin typeface="Arial"/>
              <a:cs typeface="Arial"/>
              <a:sym typeface="Arial"/>
            </a:endParaRPr>
          </a:p>
        </p:txBody>
      </p:sp>
      <p:sp>
        <p:nvSpPr>
          <p:cNvPr id="16" name="Text 11">
            <a:extLst>
              <a:ext uri="{FF2B5EF4-FFF2-40B4-BE49-F238E27FC236}">
                <a16:creationId xmlns:a16="http://schemas.microsoft.com/office/drawing/2014/main" id="{884E8390-662A-0DBF-F057-370EBD4B4CF5}"/>
              </a:ext>
            </a:extLst>
          </p:cNvPr>
          <p:cNvSpPr/>
          <p:nvPr/>
        </p:nvSpPr>
        <p:spPr>
          <a:xfrm>
            <a:off x="327339" y="2362767"/>
            <a:ext cx="5073904" cy="172974"/>
          </a:xfrm>
          <a:prstGeom prst="rect">
            <a:avLst/>
          </a:prstGeom>
          <a:noFill/>
          <a:ln/>
        </p:spPr>
        <p:txBody>
          <a:bodyPr wrap="square" rtlCol="0" anchor="ctr"/>
          <a:lstStyle/>
          <a:p>
            <a:pPr>
              <a:buClr>
                <a:srgbClr val="000000"/>
              </a:buClr>
              <a:buFont typeface="Arial"/>
              <a:buNone/>
            </a:pPr>
            <a:r>
              <a:rPr lang="en-US" sz="2000" kern="0" dirty="0">
                <a:latin typeface="Calibri" pitchFamily="34" charset="0"/>
                <a:ea typeface="Calibri" pitchFamily="34" charset="-122"/>
                <a:cs typeface="Calibri" pitchFamily="34" charset="-120"/>
                <a:sym typeface="Arial"/>
              </a:rPr>
              <a:t>Step 2: Expand return Gₜ = Rₜ₊₁ + γGₜ₊₁</a:t>
            </a:r>
            <a:endParaRPr lang="en-US" sz="2000" kern="0" dirty="0">
              <a:latin typeface="Arial"/>
              <a:cs typeface="Arial"/>
              <a:sym typeface="Arial"/>
            </a:endParaRPr>
          </a:p>
        </p:txBody>
      </p:sp>
      <p:sp>
        <p:nvSpPr>
          <p:cNvPr id="17" name="Text 12">
            <a:extLst>
              <a:ext uri="{FF2B5EF4-FFF2-40B4-BE49-F238E27FC236}">
                <a16:creationId xmlns:a16="http://schemas.microsoft.com/office/drawing/2014/main" id="{30436E85-D41C-3D48-B515-EF885A267A72}"/>
              </a:ext>
            </a:extLst>
          </p:cNvPr>
          <p:cNvSpPr/>
          <p:nvPr/>
        </p:nvSpPr>
        <p:spPr>
          <a:xfrm>
            <a:off x="809845" y="2963409"/>
            <a:ext cx="5073904" cy="276758"/>
          </a:xfrm>
          <a:prstGeom prst="rect">
            <a:avLst/>
          </a:prstGeom>
          <a:noFill/>
          <a:ln/>
        </p:spPr>
        <p:txBody>
          <a:bodyPr wrap="square" rtlCol="0" anchor="ctr"/>
          <a:lstStyle/>
          <a:p>
            <a:pPr>
              <a:buClr>
                <a:srgbClr val="000000"/>
              </a:buClr>
              <a:buFont typeface="Arial"/>
              <a:buNone/>
            </a:pPr>
            <a:r>
              <a:rPr lang="en-US" sz="2000" b="1" kern="0" dirty="0">
                <a:latin typeface="Calibri" pitchFamily="34" charset="0"/>
                <a:ea typeface="Calibri" pitchFamily="34" charset="-122"/>
                <a:cs typeface="Calibri" pitchFamily="34" charset="-120"/>
                <a:sym typeface="Arial"/>
              </a:rPr>
              <a:t>V π(s) = Eπ [ Rₜ₊₁ + γGₜ₊₁ | Sₜ = s ]</a:t>
            </a:r>
            <a:endParaRPr lang="en-US" sz="2000" kern="0" dirty="0">
              <a:latin typeface="Arial"/>
              <a:cs typeface="Arial"/>
              <a:sym typeface="Arial"/>
            </a:endParaRPr>
          </a:p>
        </p:txBody>
      </p:sp>
      <p:sp>
        <p:nvSpPr>
          <p:cNvPr id="18" name="Text 16">
            <a:extLst>
              <a:ext uri="{FF2B5EF4-FFF2-40B4-BE49-F238E27FC236}">
                <a16:creationId xmlns:a16="http://schemas.microsoft.com/office/drawing/2014/main" id="{B0FF8D61-6451-E36D-1AF7-EAD411182EAB}"/>
              </a:ext>
            </a:extLst>
          </p:cNvPr>
          <p:cNvSpPr/>
          <p:nvPr/>
        </p:nvSpPr>
        <p:spPr>
          <a:xfrm>
            <a:off x="327339" y="3619256"/>
            <a:ext cx="5073904" cy="172974"/>
          </a:xfrm>
          <a:prstGeom prst="rect">
            <a:avLst/>
          </a:prstGeom>
          <a:noFill/>
          <a:ln/>
        </p:spPr>
        <p:txBody>
          <a:bodyPr wrap="square" rtlCol="0" anchor="ctr"/>
          <a:lstStyle/>
          <a:p>
            <a:pPr>
              <a:buClr>
                <a:srgbClr val="000000"/>
              </a:buClr>
              <a:buFont typeface="Arial"/>
              <a:buNone/>
            </a:pPr>
            <a:r>
              <a:rPr lang="en-US" sz="2000" kern="0" dirty="0">
                <a:latin typeface="Calibri" pitchFamily="34" charset="0"/>
                <a:ea typeface="Calibri" pitchFamily="34" charset="-122"/>
                <a:cs typeface="Calibri" pitchFamily="34" charset="-120"/>
                <a:sym typeface="Arial"/>
              </a:rPr>
              <a:t>Step 3: Split expectation (linearity)</a:t>
            </a:r>
            <a:endParaRPr lang="en-US" sz="2000" kern="0" dirty="0">
              <a:latin typeface="Arial"/>
              <a:cs typeface="Arial"/>
              <a:sym typeface="Arial"/>
            </a:endParaRPr>
          </a:p>
        </p:txBody>
      </p:sp>
      <p:sp>
        <p:nvSpPr>
          <p:cNvPr id="19" name="Text 17">
            <a:extLst>
              <a:ext uri="{FF2B5EF4-FFF2-40B4-BE49-F238E27FC236}">
                <a16:creationId xmlns:a16="http://schemas.microsoft.com/office/drawing/2014/main" id="{41D54EC2-B4B3-EBFF-4979-D49F6975F76F}"/>
              </a:ext>
            </a:extLst>
          </p:cNvPr>
          <p:cNvSpPr/>
          <p:nvPr/>
        </p:nvSpPr>
        <p:spPr>
          <a:xfrm>
            <a:off x="809845" y="4038595"/>
            <a:ext cx="5073904" cy="276758"/>
          </a:xfrm>
          <a:prstGeom prst="rect">
            <a:avLst/>
          </a:prstGeom>
          <a:noFill/>
          <a:ln/>
        </p:spPr>
        <p:txBody>
          <a:bodyPr wrap="square" rtlCol="0" anchor="ctr"/>
          <a:lstStyle/>
          <a:p>
            <a:pPr>
              <a:buClr>
                <a:srgbClr val="000000"/>
              </a:buClr>
              <a:buFont typeface="Arial"/>
              <a:buNone/>
            </a:pPr>
            <a:r>
              <a:rPr lang="en-US" sz="2000" b="1" kern="0" dirty="0">
                <a:latin typeface="Calibri" pitchFamily="34" charset="0"/>
                <a:ea typeface="Calibri" pitchFamily="34" charset="-122"/>
                <a:cs typeface="Calibri" pitchFamily="34" charset="-120"/>
                <a:sym typeface="Arial"/>
              </a:rPr>
              <a:t>V π(s) = Eπ [Rₜ₊₁ | Sₜ = s]  +  γ · Eπ [Gₜ₊₁ | Sₜ = s]</a:t>
            </a:r>
            <a:endParaRPr lang="en-US" sz="2000" kern="0" dirty="0">
              <a:latin typeface="Arial"/>
              <a:cs typeface="Arial"/>
              <a:sym typeface="Arial"/>
            </a:endParaRPr>
          </a:p>
        </p:txBody>
      </p:sp>
      <p:sp>
        <p:nvSpPr>
          <p:cNvPr id="20" name="Text 21">
            <a:extLst>
              <a:ext uri="{FF2B5EF4-FFF2-40B4-BE49-F238E27FC236}">
                <a16:creationId xmlns:a16="http://schemas.microsoft.com/office/drawing/2014/main" id="{CA2EE42B-7650-66FE-DCCC-DE3C050E8CC6}"/>
              </a:ext>
            </a:extLst>
          </p:cNvPr>
          <p:cNvSpPr/>
          <p:nvPr/>
        </p:nvSpPr>
        <p:spPr>
          <a:xfrm>
            <a:off x="376597" y="4783949"/>
            <a:ext cx="5073904" cy="172974"/>
          </a:xfrm>
          <a:prstGeom prst="rect">
            <a:avLst/>
          </a:prstGeom>
          <a:noFill/>
          <a:ln/>
        </p:spPr>
        <p:txBody>
          <a:bodyPr wrap="square" rtlCol="0" anchor="ctr"/>
          <a:lstStyle/>
          <a:p>
            <a:pPr>
              <a:buClr>
                <a:srgbClr val="000000"/>
              </a:buClr>
              <a:buFont typeface="Arial"/>
              <a:buNone/>
            </a:pPr>
            <a:r>
              <a:rPr lang="en-US" sz="2000" kern="0" dirty="0">
                <a:latin typeface="Calibri" pitchFamily="34" charset="0"/>
                <a:ea typeface="Calibri" pitchFamily="34" charset="-122"/>
                <a:cs typeface="Calibri" pitchFamily="34" charset="-120"/>
                <a:sym typeface="Arial"/>
              </a:rPr>
              <a:t>Step 4: Marginalise over actions and next states</a:t>
            </a:r>
            <a:endParaRPr lang="en-US" sz="2000" kern="0" dirty="0">
              <a:latin typeface="Arial"/>
              <a:cs typeface="Arial"/>
              <a:sym typeface="Arial"/>
            </a:endParaRPr>
          </a:p>
        </p:txBody>
      </p:sp>
      <p:sp>
        <p:nvSpPr>
          <p:cNvPr id="21" name="Text 22">
            <a:extLst>
              <a:ext uri="{FF2B5EF4-FFF2-40B4-BE49-F238E27FC236}">
                <a16:creationId xmlns:a16="http://schemas.microsoft.com/office/drawing/2014/main" id="{875EF9E9-4107-B348-C7FF-519DD733AF8D}"/>
              </a:ext>
            </a:extLst>
          </p:cNvPr>
          <p:cNvSpPr/>
          <p:nvPr/>
        </p:nvSpPr>
        <p:spPr>
          <a:xfrm>
            <a:off x="809845" y="5216385"/>
            <a:ext cx="5861888" cy="299821"/>
          </a:xfrm>
          <a:prstGeom prst="rect">
            <a:avLst/>
          </a:prstGeom>
          <a:noFill/>
          <a:ln/>
        </p:spPr>
        <p:txBody>
          <a:bodyPr wrap="square" rtlCol="0" anchor="ctr"/>
          <a:lstStyle/>
          <a:p>
            <a:pPr>
              <a:buClr>
                <a:srgbClr val="000000"/>
              </a:buClr>
              <a:buFont typeface="Arial"/>
              <a:buNone/>
            </a:pPr>
            <a:r>
              <a:rPr lang="en-US" sz="2000" b="1" kern="0" dirty="0">
                <a:latin typeface="Calibri" pitchFamily="34" charset="0"/>
                <a:ea typeface="Calibri" pitchFamily="34" charset="-122"/>
                <a:cs typeface="Calibri" pitchFamily="34" charset="-120"/>
                <a:sym typeface="Arial"/>
              </a:rPr>
              <a:t>V π(s) = Σₐ π(a|s) Σₛ' P(s'|s,a) [ R(s,a,s') + γ · V π(s') ]</a:t>
            </a:r>
            <a:endParaRPr lang="en-US" sz="2000" kern="0" dirty="0">
              <a:latin typeface="Arial"/>
              <a:cs typeface="Arial"/>
              <a:sym typeface="Arial"/>
            </a:endParaRPr>
          </a:p>
        </p:txBody>
      </p:sp>
    </p:spTree>
    <p:extLst>
      <p:ext uri="{BB962C8B-B14F-4D97-AF65-F5344CB8AC3E}">
        <p14:creationId xmlns:p14="http://schemas.microsoft.com/office/powerpoint/2010/main" val="8474445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74662" y="231524"/>
            <a:ext cx="10453163" cy="430887"/>
          </a:xfrm>
        </p:spPr>
        <p:txBody>
          <a:bodyPr/>
          <a:lstStyle/>
          <a:p>
            <a:r>
              <a:rPr lang="en-US" sz="2800" dirty="0">
                <a:solidFill>
                  <a:schemeClr val="bg1"/>
                </a:solidFill>
              </a:rPr>
              <a:t>Bellman Optimality Equation</a:t>
            </a:r>
          </a:p>
        </p:txBody>
      </p:sp>
      <p:sp>
        <p:nvSpPr>
          <p:cNvPr id="10" name="CardBg10"/>
          <p:cNvSpPr>
            <a:spLocks noGrp="1"/>
          </p:cNvSpPr>
          <p:nvPr/>
        </p:nvSpPr>
        <p:spPr>
          <a:xfrm>
            <a:off x="457200" y="1080000"/>
            <a:ext cx="5400000" cy="2200000"/>
          </a:xfrm>
          <a:prstGeom prst="roundRect">
            <a:avLst>
              <a:gd name="adj" fmla="val 16667"/>
            </a:avLst>
          </a:prstGeom>
          <a:solidFill>
            <a:srgbClr val="EEF0FB"/>
          </a:solidFill>
          <a:ln>
            <a:noFill/>
          </a:ln>
        </p:spPr>
        <p:txBody>
          <a:bodyPr/>
          <a:lstStyle/>
          <a:p>
            <a:endParaRPr/>
          </a:p>
        </p:txBody>
      </p:sp>
      <p:sp>
        <p:nvSpPr>
          <p:cNvPr id="11" name="CardLbl11"/>
          <p:cNvSpPr txBox="1"/>
          <p:nvPr/>
        </p:nvSpPr>
        <p:spPr>
          <a:xfrm>
            <a:off x="457200" y="1080000"/>
            <a:ext cx="5400000" cy="400000"/>
          </a:xfrm>
          <a:prstGeom prst="rect">
            <a:avLst/>
          </a:prstGeom>
          <a:solidFill>
            <a:srgbClr val="1B1472"/>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Optimal Policy π*</a:t>
            </a:r>
          </a:p>
        </p:txBody>
      </p:sp>
      <p:sp>
        <p:nvSpPr>
          <p:cNvPr id="12" name="CardTxt12"/>
          <p:cNvSpPr txBox="1"/>
          <p:nvPr/>
        </p:nvSpPr>
        <p:spPr>
          <a:xfrm>
            <a:off x="548640" y="1520000"/>
            <a:ext cx="5217120" cy="1333050"/>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A policy π* is optimal if Vπ*(s) ≥ Vπ(s) for ALL states s and ALL policies π.</a:t>
            </a:r>
          </a:p>
          <a:p>
            <a:pPr>
              <a:lnSpc>
                <a:spcPts val="2000"/>
              </a:lnSpc>
            </a:pPr>
            <a:r>
              <a:rPr lang="en-US" sz="1600" dirty="0">
                <a:solidFill>
                  <a:srgbClr val="1E1E2E"/>
                </a:solidFill>
                <a:latin typeface="Calibri"/>
              </a:rPr>
              <a:t>For finite MDPs, at least one deterministic optimal policy always exists (S&amp;B §3.6).</a:t>
            </a:r>
          </a:p>
          <a:p>
            <a:pPr>
              <a:lnSpc>
                <a:spcPts val="2000"/>
              </a:lnSpc>
            </a:pPr>
            <a:r>
              <a:rPr lang="en-US" sz="1600" dirty="0">
                <a:solidFill>
                  <a:srgbClr val="1E1E2E"/>
                </a:solidFill>
                <a:latin typeface="Calibri"/>
              </a:rPr>
              <a:t>Optimal policies share the same V* and Q*.</a:t>
            </a:r>
          </a:p>
        </p:txBody>
      </p:sp>
      <p:sp>
        <p:nvSpPr>
          <p:cNvPr id="20" name="CardBg20"/>
          <p:cNvSpPr>
            <a:spLocks noGrp="1"/>
          </p:cNvSpPr>
          <p:nvPr/>
        </p:nvSpPr>
        <p:spPr>
          <a:xfrm>
            <a:off x="6200000" y="1080000"/>
            <a:ext cx="5535000" cy="2200000"/>
          </a:xfrm>
          <a:prstGeom prst="roundRect">
            <a:avLst>
              <a:gd name="adj" fmla="val 16667"/>
            </a:avLst>
          </a:prstGeom>
          <a:solidFill>
            <a:srgbClr val="EEF0FB"/>
          </a:solidFill>
          <a:ln>
            <a:noFill/>
          </a:ln>
        </p:spPr>
        <p:txBody>
          <a:bodyPr/>
          <a:lstStyle/>
          <a:p>
            <a:endParaRPr/>
          </a:p>
        </p:txBody>
      </p:sp>
      <p:sp>
        <p:nvSpPr>
          <p:cNvPr id="21" name="CardLbl21"/>
          <p:cNvSpPr txBox="1"/>
          <p:nvPr/>
        </p:nvSpPr>
        <p:spPr>
          <a:xfrm>
            <a:off x="6200000" y="1080000"/>
            <a:ext cx="5535000" cy="400000"/>
          </a:xfrm>
          <a:prstGeom prst="rect">
            <a:avLst/>
          </a:prstGeom>
          <a:solidFill>
            <a:srgbClr val="2D3091"/>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Why Optimality Equations Matter</a:t>
            </a:r>
          </a:p>
        </p:txBody>
      </p:sp>
      <p:sp>
        <p:nvSpPr>
          <p:cNvPr id="22" name="CardTxt22"/>
          <p:cNvSpPr txBox="1"/>
          <p:nvPr/>
        </p:nvSpPr>
        <p:spPr>
          <a:xfrm>
            <a:off x="6291440" y="1520000"/>
            <a:ext cx="5352120" cy="1589531"/>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These non-linear equations define the solution to the RL problem.</a:t>
            </a:r>
          </a:p>
          <a:p>
            <a:pPr>
              <a:lnSpc>
                <a:spcPts val="2000"/>
              </a:lnSpc>
            </a:pPr>
            <a:r>
              <a:rPr lang="en-US" sz="1600" dirty="0">
                <a:solidFill>
                  <a:srgbClr val="1E1E2E"/>
                </a:solidFill>
                <a:latin typeface="Calibri"/>
              </a:rPr>
              <a:t>DP solves them via iteration; Q-learning approximates Q* from samples.</a:t>
            </a:r>
          </a:p>
          <a:p>
            <a:pPr>
              <a:lnSpc>
                <a:spcPts val="2000"/>
              </a:lnSpc>
            </a:pPr>
            <a:r>
              <a:rPr lang="en-US" sz="1600" dirty="0">
                <a:solidFill>
                  <a:srgbClr val="1E1E2E"/>
                </a:solidFill>
                <a:latin typeface="Calibri"/>
              </a:rPr>
              <a:t>Once Q* is known, acting optimally is trivial: pick argmaxₐ Q*(s,a).</a:t>
            </a:r>
          </a:p>
        </p:txBody>
      </p:sp>
      <p:sp>
        <p:nvSpPr>
          <p:cNvPr id="30" name="EqBg1"/>
          <p:cNvSpPr>
            <a:spLocks noGrp="1"/>
          </p:cNvSpPr>
          <p:nvPr/>
        </p:nvSpPr>
        <p:spPr>
          <a:xfrm>
            <a:off x="457200" y="3400000"/>
            <a:ext cx="11277600" cy="760000"/>
          </a:xfrm>
          <a:prstGeom prst="roundRect">
            <a:avLst>
              <a:gd name="adj" fmla="val 16667"/>
            </a:avLst>
          </a:prstGeom>
          <a:solidFill>
            <a:srgbClr val="1B1472"/>
          </a:solidFill>
          <a:ln>
            <a:noFill/>
          </a:ln>
        </p:spPr>
        <p:txBody>
          <a:bodyPr/>
          <a:lstStyle/>
          <a:p>
            <a:endParaRPr/>
          </a:p>
        </p:txBody>
      </p:sp>
      <p:sp>
        <p:nvSpPr>
          <p:cNvPr id="32" name="EqTxt1"/>
          <p:cNvSpPr txBox="1"/>
          <p:nvPr/>
        </p:nvSpPr>
        <p:spPr>
          <a:xfrm>
            <a:off x="600000" y="3450000"/>
            <a:ext cx="11000000" cy="660000"/>
          </a:xfrm>
          <a:prstGeom prst="rect">
            <a:avLst/>
          </a:prstGeom>
          <a:noFill/>
          <a:ln>
            <a:noFill/>
          </a:ln>
        </p:spPr>
        <p:txBody>
          <a:bodyPr wrap="square" lIns="91440" tIns="45720" rIns="91440" bIns="45720" anchor="t">
            <a:spAutoFit/>
          </a:bodyPr>
          <a:lstStyle/>
          <a:p>
            <a:pPr>
              <a:lnSpc>
                <a:spcPts val="2000"/>
              </a:lnSpc>
            </a:pPr>
            <a:r>
              <a:rPr lang="en-US" sz="1800" b="1" dirty="0">
                <a:solidFill>
                  <a:srgbClr val="FFFFFF"/>
                </a:solidFill>
                <a:latin typeface="Calibri"/>
              </a:rPr>
              <a:t>V*(s) = maxₐ Σₛ’,ᵣ p(s’,r|s,a) [ r + γ V*(s’) ]</a:t>
            </a:r>
          </a:p>
        </p:txBody>
      </p:sp>
      <p:sp>
        <p:nvSpPr>
          <p:cNvPr id="40" name="EqBg2"/>
          <p:cNvSpPr>
            <a:spLocks noGrp="1"/>
          </p:cNvSpPr>
          <p:nvPr/>
        </p:nvSpPr>
        <p:spPr>
          <a:xfrm>
            <a:off x="457200" y="4280000"/>
            <a:ext cx="11277600" cy="760000"/>
          </a:xfrm>
          <a:prstGeom prst="roundRect">
            <a:avLst>
              <a:gd name="adj" fmla="val 16667"/>
            </a:avLst>
          </a:prstGeom>
          <a:solidFill>
            <a:srgbClr val="2D3091"/>
          </a:solidFill>
          <a:ln>
            <a:noFill/>
          </a:ln>
        </p:spPr>
        <p:txBody>
          <a:bodyPr/>
          <a:lstStyle/>
          <a:p>
            <a:endParaRPr/>
          </a:p>
        </p:txBody>
      </p:sp>
      <p:sp>
        <p:nvSpPr>
          <p:cNvPr id="42" name="EqTxt2"/>
          <p:cNvSpPr txBox="1"/>
          <p:nvPr/>
        </p:nvSpPr>
        <p:spPr>
          <a:xfrm>
            <a:off x="600000" y="4330000"/>
            <a:ext cx="11000000" cy="660000"/>
          </a:xfrm>
          <a:prstGeom prst="rect">
            <a:avLst/>
          </a:prstGeom>
          <a:noFill/>
          <a:ln>
            <a:noFill/>
          </a:ln>
        </p:spPr>
        <p:txBody>
          <a:bodyPr wrap="square" lIns="91440" tIns="45720" rIns="91440" bIns="45720" anchor="t">
            <a:spAutoFit/>
          </a:bodyPr>
          <a:lstStyle/>
          <a:p>
            <a:pPr>
              <a:lnSpc>
                <a:spcPts val="2000"/>
              </a:lnSpc>
            </a:pPr>
            <a:r>
              <a:rPr lang="en-US" sz="1800" b="1" dirty="0">
                <a:solidFill>
                  <a:srgbClr val="FFFFFF"/>
                </a:solidFill>
                <a:latin typeface="Calibri"/>
              </a:rPr>
              <a:t>Q*(s,a) = Σₛ’,ᵣ p(s’,r|s,a) [ r + γ maxₐ’ Q*(s’,a’) ]</a:t>
            </a:r>
          </a:p>
        </p:txBody>
      </p:sp>
      <p:sp>
        <p:nvSpPr>
          <p:cNvPr id="50" name="PiStar"/>
          <p:cNvSpPr txBox="1"/>
          <p:nvPr/>
        </p:nvSpPr>
        <p:spPr>
          <a:xfrm>
            <a:off x="457200" y="5150000"/>
            <a:ext cx="11277600" cy="400000"/>
          </a:xfrm>
          <a:prstGeom prst="rect">
            <a:avLst/>
          </a:prstGeom>
          <a:noFill/>
          <a:ln>
            <a:noFill/>
          </a:ln>
        </p:spPr>
        <p:txBody>
          <a:bodyPr wrap="square" lIns="91440" tIns="45720" rIns="91440" bIns="45720" anchor="t">
            <a:spAutoFit/>
          </a:bodyPr>
          <a:lstStyle/>
          <a:p>
            <a:pPr>
              <a:lnSpc>
                <a:spcPts val="2000"/>
              </a:lnSpc>
            </a:pPr>
            <a:r>
              <a:rPr lang="en-US" sz="1500" b="1" dirty="0">
                <a:solidFill>
                  <a:srgbClr val="1B1472"/>
                </a:solidFill>
                <a:latin typeface="Calibri"/>
              </a:rPr>
              <a:t>π*(s) = argmaxₐ Q*(s,a)   — greedy policy w.r.t. Q*  |  At optimality: V*(s) = Q*(s, π*(s))</a:t>
            </a:r>
          </a:p>
        </p:txBody>
      </p:sp>
      <p:sp>
        <p:nvSpPr>
          <p:cNvPr id="3" name="Footer"/>
          <p:cNvSpPr>
            <a:spLocks noGrp="1"/>
          </p:cNvSpPr>
          <p:nvPr>
            <p:ph type="ftr" idx="10"/>
          </p:nvPr>
        </p:nvSpPr>
        <p:spPr/>
        <p:txBody>
          <a:bodyPr/>
          <a:lstStyle/>
          <a:p>
            <a:r>
              <a:rPr lang="en-IN"/>
              <a:t>Faculty Development Workshop on Deep Reinforcement Learning - 9 &amp; 10 March,2026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74662" y="231524"/>
            <a:ext cx="10453163" cy="430887"/>
          </a:xfrm>
        </p:spPr>
        <p:txBody>
          <a:bodyPr/>
          <a:lstStyle/>
          <a:p>
            <a:r>
              <a:rPr lang="en-US" sz="2800" dirty="0">
                <a:solidFill>
                  <a:schemeClr val="bg1"/>
                </a:solidFill>
              </a:rPr>
              <a:t>Dynamic Programming — Overview</a:t>
            </a:r>
          </a:p>
        </p:txBody>
      </p:sp>
      <p:sp>
        <p:nvSpPr>
          <p:cNvPr id="10" name="CardBg10"/>
          <p:cNvSpPr>
            <a:spLocks noGrp="1"/>
          </p:cNvSpPr>
          <p:nvPr/>
        </p:nvSpPr>
        <p:spPr>
          <a:xfrm>
            <a:off x="457200" y="1080000"/>
            <a:ext cx="11277600" cy="1800000"/>
          </a:xfrm>
          <a:prstGeom prst="roundRect">
            <a:avLst>
              <a:gd name="adj" fmla="val 16667"/>
            </a:avLst>
          </a:prstGeom>
          <a:solidFill>
            <a:srgbClr val="EEF0FB"/>
          </a:solidFill>
          <a:ln>
            <a:noFill/>
          </a:ln>
        </p:spPr>
        <p:txBody>
          <a:bodyPr/>
          <a:lstStyle/>
          <a:p>
            <a:endParaRPr/>
          </a:p>
        </p:txBody>
      </p:sp>
      <p:sp>
        <p:nvSpPr>
          <p:cNvPr id="11" name="CardLbl11"/>
          <p:cNvSpPr txBox="1"/>
          <p:nvPr/>
        </p:nvSpPr>
        <p:spPr>
          <a:xfrm>
            <a:off x="457200" y="1080000"/>
            <a:ext cx="11277600" cy="420000"/>
          </a:xfrm>
          <a:prstGeom prst="rect">
            <a:avLst/>
          </a:prstGeom>
          <a:solidFill>
            <a:srgbClr val="1B1472"/>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What is Dynamic Programming?</a:t>
            </a:r>
          </a:p>
        </p:txBody>
      </p:sp>
      <p:sp>
        <p:nvSpPr>
          <p:cNvPr id="12" name="CardTxt12"/>
          <p:cNvSpPr txBox="1"/>
          <p:nvPr/>
        </p:nvSpPr>
        <p:spPr>
          <a:xfrm>
            <a:off x="548640" y="1540000"/>
            <a:ext cx="11094720" cy="820089"/>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A collection of algorithms that use a FULL model of the MDP to compute optimal policies.</a:t>
            </a:r>
          </a:p>
          <a:p>
            <a:pPr>
              <a:lnSpc>
                <a:spcPts val="2000"/>
              </a:lnSpc>
            </a:pPr>
            <a:r>
              <a:rPr lang="en-US" sz="1600" dirty="0">
                <a:solidFill>
                  <a:srgbClr val="1E1E2E"/>
                </a:solidFill>
                <a:latin typeface="Calibri"/>
              </a:rPr>
              <a:t>Key idea: use value functions to structure the search for optimal policies.</a:t>
            </a:r>
          </a:p>
          <a:p>
            <a:pPr>
              <a:lnSpc>
                <a:spcPts val="2000"/>
              </a:lnSpc>
            </a:pPr>
            <a:r>
              <a:rPr lang="en-US" sz="1600" dirty="0">
                <a:solidFill>
                  <a:srgbClr val="1E1E2E"/>
                </a:solidFill>
                <a:latin typeface="Calibri"/>
              </a:rPr>
              <a:t>Requires: complete, accurate model p(s’,r|s,a). NOT applicable to model-free RL directly.</a:t>
            </a:r>
          </a:p>
        </p:txBody>
      </p:sp>
      <p:sp>
        <p:nvSpPr>
          <p:cNvPr id="20" name="CardBg20"/>
          <p:cNvSpPr>
            <a:spLocks noGrp="1"/>
          </p:cNvSpPr>
          <p:nvPr/>
        </p:nvSpPr>
        <p:spPr>
          <a:xfrm>
            <a:off x="457200" y="3050000"/>
            <a:ext cx="5400000" cy="2400000"/>
          </a:xfrm>
          <a:prstGeom prst="roundRect">
            <a:avLst>
              <a:gd name="adj" fmla="val 16667"/>
            </a:avLst>
          </a:prstGeom>
          <a:solidFill>
            <a:srgbClr val="EEF0FB"/>
          </a:solidFill>
          <a:ln>
            <a:noFill/>
          </a:ln>
        </p:spPr>
        <p:txBody>
          <a:bodyPr/>
          <a:lstStyle/>
          <a:p>
            <a:endParaRPr/>
          </a:p>
        </p:txBody>
      </p:sp>
      <p:sp>
        <p:nvSpPr>
          <p:cNvPr id="21" name="CardLbl21"/>
          <p:cNvSpPr txBox="1"/>
          <p:nvPr/>
        </p:nvSpPr>
        <p:spPr>
          <a:xfrm>
            <a:off x="457200" y="3050000"/>
            <a:ext cx="5400000" cy="420000"/>
          </a:xfrm>
          <a:prstGeom prst="rect">
            <a:avLst/>
          </a:prstGeom>
          <a:solidFill>
            <a:srgbClr val="2D3091"/>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①  Policy Evaluation (Prediction)</a:t>
            </a:r>
          </a:p>
        </p:txBody>
      </p:sp>
      <p:sp>
        <p:nvSpPr>
          <p:cNvPr id="22" name="CardTxt22"/>
          <p:cNvSpPr txBox="1"/>
          <p:nvPr/>
        </p:nvSpPr>
        <p:spPr>
          <a:xfrm>
            <a:off x="548640" y="3510000"/>
            <a:ext cx="5217120" cy="1076570"/>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Given policy π, compute Vᵄ(s) for all s ∈ S.</a:t>
            </a:r>
          </a:p>
          <a:p>
            <a:pPr>
              <a:lnSpc>
                <a:spcPts val="2000"/>
              </a:lnSpc>
            </a:pPr>
            <a:r>
              <a:rPr lang="en-US" sz="1600" dirty="0">
                <a:solidFill>
                  <a:srgbClr val="1E1E2E"/>
                </a:solidFill>
                <a:latin typeface="Calibri"/>
              </a:rPr>
              <a:t>Apply Bellman expectation backup iteratively.</a:t>
            </a:r>
          </a:p>
          <a:p>
            <a:pPr>
              <a:lnSpc>
                <a:spcPts val="2000"/>
              </a:lnSpc>
            </a:pPr>
            <a:r>
              <a:rPr lang="en-US" sz="1600" dirty="0">
                <a:solidFill>
                  <a:srgbClr val="1E1E2E"/>
                </a:solidFill>
                <a:latin typeface="Calibri"/>
              </a:rPr>
              <a:t>Converges to Vᵄ as sweeps → ∞.</a:t>
            </a:r>
          </a:p>
          <a:p>
            <a:pPr>
              <a:lnSpc>
                <a:spcPts val="2000"/>
              </a:lnSpc>
            </a:pPr>
            <a:r>
              <a:rPr lang="en-US" sz="1600" dirty="0">
                <a:solidFill>
                  <a:srgbClr val="1E1E2E"/>
                </a:solidFill>
                <a:latin typeface="Calibri"/>
              </a:rPr>
              <a:t>Also called the “prediction problem”.</a:t>
            </a:r>
          </a:p>
        </p:txBody>
      </p:sp>
      <p:sp>
        <p:nvSpPr>
          <p:cNvPr id="30" name="CardBg30"/>
          <p:cNvSpPr>
            <a:spLocks noGrp="1"/>
          </p:cNvSpPr>
          <p:nvPr/>
        </p:nvSpPr>
        <p:spPr>
          <a:xfrm>
            <a:off x="6200000" y="3050000"/>
            <a:ext cx="5535000" cy="2400000"/>
          </a:xfrm>
          <a:prstGeom prst="roundRect">
            <a:avLst>
              <a:gd name="adj" fmla="val 16667"/>
            </a:avLst>
          </a:prstGeom>
          <a:solidFill>
            <a:srgbClr val="EEF0FB"/>
          </a:solidFill>
          <a:ln>
            <a:noFill/>
          </a:ln>
        </p:spPr>
        <p:txBody>
          <a:bodyPr/>
          <a:lstStyle/>
          <a:p>
            <a:endParaRPr/>
          </a:p>
        </p:txBody>
      </p:sp>
      <p:sp>
        <p:nvSpPr>
          <p:cNvPr id="31" name="CardLbl31"/>
          <p:cNvSpPr txBox="1"/>
          <p:nvPr/>
        </p:nvSpPr>
        <p:spPr>
          <a:xfrm>
            <a:off x="6200000" y="3050000"/>
            <a:ext cx="5535000" cy="420000"/>
          </a:xfrm>
          <a:prstGeom prst="rect">
            <a:avLst/>
          </a:prstGeom>
          <a:solidFill>
            <a:srgbClr val="00838F"/>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②  Policy Improvement</a:t>
            </a:r>
          </a:p>
        </p:txBody>
      </p:sp>
      <p:sp>
        <p:nvSpPr>
          <p:cNvPr id="32" name="CardTxt32"/>
          <p:cNvSpPr txBox="1"/>
          <p:nvPr/>
        </p:nvSpPr>
        <p:spPr>
          <a:xfrm>
            <a:off x="6291440" y="3510000"/>
            <a:ext cx="5352120" cy="1076570"/>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Given Vᵄ, derive a greedy policy π’ w.r.t. Vᵄ.</a:t>
            </a:r>
          </a:p>
          <a:p>
            <a:pPr>
              <a:lnSpc>
                <a:spcPts val="2000"/>
              </a:lnSpc>
            </a:pPr>
            <a:r>
              <a:rPr lang="en-US" sz="1600" dirty="0">
                <a:solidFill>
                  <a:srgbClr val="1E1E2E"/>
                </a:solidFill>
                <a:latin typeface="Calibri"/>
              </a:rPr>
              <a:t>Policy Improvement Theorem: π’ is ≥ π.</a:t>
            </a:r>
          </a:p>
          <a:p>
            <a:pPr>
              <a:lnSpc>
                <a:spcPts val="2000"/>
              </a:lnSpc>
            </a:pPr>
            <a:r>
              <a:rPr lang="en-US" sz="1600" dirty="0">
                <a:solidFill>
                  <a:srgbClr val="1E1E2E"/>
                </a:solidFill>
                <a:latin typeface="Calibri"/>
              </a:rPr>
              <a:t>If no improvement: Vᵄ = V*, π is optimal.</a:t>
            </a:r>
          </a:p>
          <a:p>
            <a:pPr>
              <a:lnSpc>
                <a:spcPts val="2000"/>
              </a:lnSpc>
            </a:pPr>
            <a:r>
              <a:rPr lang="en-US" sz="1600" dirty="0">
                <a:solidFill>
                  <a:srgbClr val="1E1E2E"/>
                </a:solidFill>
                <a:latin typeface="Calibri"/>
              </a:rPr>
              <a:t>Also called the “control problem”.</a:t>
            </a:r>
          </a:p>
        </p:txBody>
      </p:sp>
      <p:sp>
        <p:nvSpPr>
          <p:cNvPr id="40" name="DPStrip"/>
          <p:cNvSpPr>
            <a:spLocks noGrp="1"/>
          </p:cNvSpPr>
          <p:nvPr/>
        </p:nvSpPr>
        <p:spPr>
          <a:xfrm>
            <a:off x="457200" y="5570000"/>
            <a:ext cx="11277600" cy="720000"/>
          </a:xfrm>
          <a:prstGeom prst="roundRect">
            <a:avLst>
              <a:gd name="adj" fmla="val 16667"/>
            </a:avLst>
          </a:prstGeom>
          <a:solidFill>
            <a:srgbClr val="1B1472"/>
          </a:solidFill>
          <a:ln>
            <a:noFill/>
          </a:ln>
        </p:spPr>
        <p:txBody>
          <a:bodyPr/>
          <a:lstStyle/>
          <a:p>
            <a:endParaRPr/>
          </a:p>
        </p:txBody>
      </p:sp>
      <p:sp>
        <p:nvSpPr>
          <p:cNvPr id="41" name="DPTxt"/>
          <p:cNvSpPr txBox="1"/>
          <p:nvPr/>
        </p:nvSpPr>
        <p:spPr>
          <a:xfrm>
            <a:off x="700000" y="5600000"/>
            <a:ext cx="10800000" cy="595356"/>
          </a:xfrm>
          <a:prstGeom prst="rect">
            <a:avLst/>
          </a:prstGeom>
          <a:noFill/>
          <a:ln>
            <a:noFill/>
          </a:ln>
        </p:spPr>
        <p:txBody>
          <a:bodyPr wrap="square" lIns="91440" tIns="45720" rIns="91440" bIns="45720" anchor="t">
            <a:spAutoFit/>
          </a:bodyPr>
          <a:lstStyle/>
          <a:p>
            <a:pPr>
              <a:lnSpc>
                <a:spcPts val="2000"/>
              </a:lnSpc>
            </a:pPr>
            <a:r>
              <a:rPr lang="en-US" sz="1600" dirty="0">
                <a:solidFill>
                  <a:srgbClr val="FFFFFF"/>
                </a:solidFill>
                <a:latin typeface="Calibri"/>
              </a:rPr>
              <a:t>DP Algorithms:   Policy Iteration = repeated (Eval + Improve)  |  Value Iteration = combined in one sweep  |  Asynchronous DP = flexible update order</a:t>
            </a:r>
          </a:p>
        </p:txBody>
      </p:sp>
      <p:sp>
        <p:nvSpPr>
          <p:cNvPr id="3" name="Footer"/>
          <p:cNvSpPr>
            <a:spLocks noGrp="1"/>
          </p:cNvSpPr>
          <p:nvPr>
            <p:ph type="ftr" idx="10"/>
          </p:nvPr>
        </p:nvSpPr>
        <p:spPr/>
        <p:txBody>
          <a:bodyPr/>
          <a:lstStyle/>
          <a:p>
            <a:r>
              <a:rPr lang="en-IN"/>
              <a:t>Faculty Development Workshop on Deep Reinforcement Learning - 9 &amp; 10 March,2026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7"/>
          <p:cNvSpPr txBox="1">
            <a:spLocks noGrp="1"/>
          </p:cNvSpPr>
          <p:nvPr>
            <p:ph type="title"/>
          </p:nvPr>
        </p:nvSpPr>
        <p:spPr>
          <a:xfrm>
            <a:off x="177559" y="231524"/>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a:t>
            </a:r>
            <a:endParaRPr/>
          </a:p>
        </p:txBody>
      </p:sp>
      <p:sp>
        <p:nvSpPr>
          <p:cNvPr id="159" name="Google Shape;159;p7"/>
          <p:cNvSpPr/>
          <p:nvPr/>
        </p:nvSpPr>
        <p:spPr>
          <a:xfrm>
            <a:off x="177558" y="1031942"/>
            <a:ext cx="10868118" cy="497221"/>
          </a:xfrm>
          <a:custGeom>
            <a:avLst/>
            <a:gdLst/>
            <a:ahLst/>
            <a:cxnLst/>
            <a:rect l="l" t="t" r="r" b="b"/>
            <a:pathLst>
              <a:path w="5142230" h="207009" extrusionOk="0">
                <a:moveTo>
                  <a:pt x="5090865" y="0"/>
                </a:moveTo>
                <a:lnTo>
                  <a:pt x="50800" y="0"/>
                </a:lnTo>
                <a:lnTo>
                  <a:pt x="31075" y="4008"/>
                </a:lnTo>
                <a:lnTo>
                  <a:pt x="14922" y="14922"/>
                </a:lnTo>
                <a:lnTo>
                  <a:pt x="4008" y="31075"/>
                </a:lnTo>
                <a:lnTo>
                  <a:pt x="0" y="50800"/>
                </a:lnTo>
                <a:lnTo>
                  <a:pt x="0" y="206887"/>
                </a:lnTo>
                <a:lnTo>
                  <a:pt x="5141666" y="206887"/>
                </a:lnTo>
                <a:lnTo>
                  <a:pt x="5141666" y="50800"/>
                </a:lnTo>
                <a:lnTo>
                  <a:pt x="5137657" y="31075"/>
                </a:lnTo>
                <a:lnTo>
                  <a:pt x="5126743" y="14922"/>
                </a:lnTo>
                <a:lnTo>
                  <a:pt x="5110590" y="4008"/>
                </a:lnTo>
                <a:lnTo>
                  <a:pt x="5090865" y="0"/>
                </a:lnTo>
                <a:close/>
              </a:path>
            </a:pathLst>
          </a:custGeom>
          <a:solidFill>
            <a:srgbClr val="D0EAF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pic>
        <p:nvPicPr>
          <p:cNvPr id="160" name="Google Shape;160;p7"/>
          <p:cNvPicPr preferRelativeResize="0"/>
          <p:nvPr/>
        </p:nvPicPr>
        <p:blipFill rotWithShape="1">
          <a:blip r:embed="rId3">
            <a:alphaModFix/>
          </a:blip>
          <a:srcRect/>
          <a:stretch/>
        </p:blipFill>
        <p:spPr>
          <a:xfrm>
            <a:off x="177558" y="1498333"/>
            <a:ext cx="10866926" cy="670811"/>
          </a:xfrm>
          <a:prstGeom prst="rect">
            <a:avLst/>
          </a:prstGeom>
          <a:noFill/>
          <a:ln>
            <a:noFill/>
          </a:ln>
        </p:spPr>
      </p:pic>
      <p:sp>
        <p:nvSpPr>
          <p:cNvPr id="161" name="Google Shape;161;p7"/>
          <p:cNvSpPr/>
          <p:nvPr/>
        </p:nvSpPr>
        <p:spPr>
          <a:xfrm>
            <a:off x="177558" y="2139794"/>
            <a:ext cx="10868118" cy="929039"/>
          </a:xfrm>
          <a:custGeom>
            <a:avLst/>
            <a:gdLst/>
            <a:ahLst/>
            <a:cxnLst/>
            <a:rect l="l" t="t" r="r" b="b"/>
            <a:pathLst>
              <a:path w="5142230" h="200025" extrusionOk="0">
                <a:moveTo>
                  <a:pt x="5141666" y="0"/>
                </a:moveTo>
                <a:lnTo>
                  <a:pt x="0" y="0"/>
                </a:lnTo>
                <a:lnTo>
                  <a:pt x="0" y="149156"/>
                </a:lnTo>
                <a:lnTo>
                  <a:pt x="4008" y="168880"/>
                </a:lnTo>
                <a:lnTo>
                  <a:pt x="14922" y="185033"/>
                </a:lnTo>
                <a:lnTo>
                  <a:pt x="31075" y="195947"/>
                </a:lnTo>
                <a:lnTo>
                  <a:pt x="50800" y="199956"/>
                </a:lnTo>
                <a:lnTo>
                  <a:pt x="5090865" y="199956"/>
                </a:lnTo>
                <a:lnTo>
                  <a:pt x="5110590" y="195947"/>
                </a:lnTo>
                <a:lnTo>
                  <a:pt x="5126743" y="185033"/>
                </a:lnTo>
                <a:lnTo>
                  <a:pt x="5137657" y="168880"/>
                </a:lnTo>
                <a:lnTo>
                  <a:pt x="5141666" y="149156"/>
                </a:lnTo>
                <a:lnTo>
                  <a:pt x="5141666" y="0"/>
                </a:lnTo>
                <a:close/>
              </a:path>
            </a:pathLst>
          </a:custGeom>
          <a:solidFill>
            <a:srgbClr val="E0F2F7"/>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162" name="Google Shape;162;p7"/>
          <p:cNvSpPr/>
          <p:nvPr/>
        </p:nvSpPr>
        <p:spPr>
          <a:xfrm>
            <a:off x="11044484" y="1148949"/>
            <a:ext cx="0" cy="8848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163" name="Google Shape;163;p7"/>
          <p:cNvSpPr txBox="1"/>
          <p:nvPr/>
        </p:nvSpPr>
        <p:spPr>
          <a:xfrm>
            <a:off x="240222" y="1011865"/>
            <a:ext cx="10536626" cy="2401457"/>
          </a:xfrm>
          <a:prstGeom prst="rect">
            <a:avLst/>
          </a:prstGeom>
          <a:noFill/>
          <a:ln>
            <a:noFill/>
          </a:ln>
        </p:spPr>
        <p:txBody>
          <a:bodyPr spcFirstLastPara="1" wrap="square" lIns="0" tIns="114076" rIns="0" bIns="0" anchor="t" anchorCtr="0">
            <a:spAutoFit/>
          </a:bodyPr>
          <a:lstStyle/>
          <a:p>
            <a:pPr marL="26841">
              <a:buClr>
                <a:srgbClr val="000000"/>
              </a:buClr>
              <a:buSzPts val="1200"/>
            </a:pPr>
            <a:r>
              <a:rPr lang="en-US" sz="2536">
                <a:solidFill>
                  <a:srgbClr val="3333B2"/>
                </a:solidFill>
                <a:latin typeface="Calibri"/>
                <a:ea typeface="Calibri"/>
                <a:cs typeface="Calibri"/>
                <a:sym typeface="Calibri"/>
              </a:rPr>
              <a:t>Scenario</a:t>
            </a:r>
            <a:endParaRPr sz="2536">
              <a:solidFill>
                <a:srgbClr val="000000"/>
              </a:solidFill>
              <a:latin typeface="Calibri"/>
              <a:ea typeface="Calibri"/>
              <a:cs typeface="Calibri"/>
              <a:sym typeface="Calibri"/>
            </a:endParaRPr>
          </a:p>
          <a:p>
            <a:pPr marL="26841">
              <a:spcBef>
                <a:spcPts val="537"/>
              </a:spcBef>
            </a:pPr>
            <a:r>
              <a:rPr lang="en-US" sz="2114">
                <a:solidFill>
                  <a:srgbClr val="000000"/>
                </a:solidFill>
                <a:latin typeface="Arial"/>
                <a:ea typeface="Arial"/>
                <a:cs typeface="Arial"/>
                <a:sym typeface="Arial"/>
              </a:rPr>
              <a:t>In a modified Race car, there is a training track where agent is given a known map and risk factors(dynamics) in advance. Agent knows exactly where it is and its action how actions result in engine state change (KNOWN MODEL).  </a:t>
            </a:r>
            <a:endParaRPr sz="3804"/>
          </a:p>
          <a:p>
            <a:pPr marL="26841">
              <a:spcBef>
                <a:spcPts val="537"/>
              </a:spcBef>
            </a:pPr>
            <a:r>
              <a:rPr lang="en-US" sz="2114">
                <a:solidFill>
                  <a:srgbClr val="000000"/>
                </a:solidFill>
                <a:latin typeface="Arial"/>
                <a:ea typeface="Arial"/>
                <a:cs typeface="Arial"/>
                <a:sym typeface="Arial"/>
              </a:rPr>
              <a:t>With full knowledge, the agent can compute optimal policies by trying through all states.  </a:t>
            </a:r>
            <a:endParaRPr sz="2114">
              <a:solidFill>
                <a:srgbClr val="000000"/>
              </a:solidFill>
              <a:latin typeface="Arial"/>
              <a:ea typeface="Arial"/>
              <a:cs typeface="Arial"/>
              <a:sym typeface="Arial"/>
            </a:endParaRPr>
          </a:p>
          <a:p>
            <a:pPr>
              <a:spcBef>
                <a:spcPts val="1120"/>
              </a:spcBef>
              <a:buClr>
                <a:srgbClr val="000000"/>
              </a:buClr>
              <a:buSzPts val="1000"/>
            </a:pPr>
            <a:endParaRPr sz="2114">
              <a:solidFill>
                <a:srgbClr val="000000"/>
              </a:solidFill>
              <a:latin typeface="Arial"/>
              <a:ea typeface="Arial"/>
              <a:cs typeface="Arial"/>
              <a:sym typeface="Arial"/>
            </a:endParaRPr>
          </a:p>
        </p:txBody>
      </p:sp>
      <p:sp>
        <p:nvSpPr>
          <p:cNvPr id="164" name="Google Shape;164;p7"/>
          <p:cNvSpPr txBox="1"/>
          <p:nvPr/>
        </p:nvSpPr>
        <p:spPr>
          <a:xfrm>
            <a:off x="11036149" y="3444445"/>
            <a:ext cx="406649" cy="375383"/>
          </a:xfrm>
          <a:prstGeom prst="rect">
            <a:avLst/>
          </a:prstGeom>
          <a:noFill/>
          <a:ln>
            <a:noFill/>
          </a:ln>
        </p:spPr>
        <p:txBody>
          <a:bodyPr spcFirstLastPara="1" wrap="square" lIns="0" tIns="33552" rIns="0" bIns="0" anchor="t" anchorCtr="0">
            <a:spAutoFit/>
          </a:bodyPr>
          <a:lstStyle/>
          <a:p>
            <a:pPr marL="26841">
              <a:buClr>
                <a:srgbClr val="000000"/>
              </a:buClr>
              <a:buSzPts val="1050"/>
            </a:pPr>
            <a:r>
              <a:rPr lang="en-US" sz="2219">
                <a:solidFill>
                  <a:srgbClr val="000000"/>
                </a:solidFill>
                <a:latin typeface="Arial"/>
                <a:ea typeface="Arial"/>
                <a:cs typeface="Arial"/>
                <a:sym typeface="Arial"/>
              </a:rPr>
              <a:t>(1)</a:t>
            </a:r>
            <a:endParaRPr sz="2219">
              <a:solidFill>
                <a:srgbClr val="000000"/>
              </a:solidFill>
              <a:latin typeface="Arial"/>
              <a:ea typeface="Arial"/>
              <a:cs typeface="Arial"/>
              <a:sym typeface="Arial"/>
            </a:endParaRPr>
          </a:p>
        </p:txBody>
      </p:sp>
      <p:grpSp>
        <p:nvGrpSpPr>
          <p:cNvPr id="165" name="Google Shape;165;p7"/>
          <p:cNvGrpSpPr/>
          <p:nvPr/>
        </p:nvGrpSpPr>
        <p:grpSpPr>
          <a:xfrm>
            <a:off x="2983" y="6571410"/>
            <a:ext cx="12174329" cy="194601"/>
            <a:chOff x="0" y="3109250"/>
            <a:chExt cx="5760261" cy="92075"/>
          </a:xfrm>
        </p:grpSpPr>
        <p:sp>
          <p:nvSpPr>
            <p:cNvPr id="166" name="Google Shape;166;p7"/>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167" name="Google Shape;167;p7"/>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168" name="Google Shape;168;p7"/>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170" name="Google Shape;170;p7"/>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15</a:t>
            </a:fld>
            <a:r>
              <a:rPr lang="en-US"/>
              <a:t> / 46</a:t>
            </a:r>
            <a:endParaRPr/>
          </a:p>
        </p:txBody>
      </p:sp>
      <p:pic>
        <p:nvPicPr>
          <p:cNvPr id="171" name="Google Shape;171;p7"/>
          <p:cNvPicPr preferRelativeResize="0"/>
          <p:nvPr/>
        </p:nvPicPr>
        <p:blipFill rotWithShape="1">
          <a:blip r:embed="rId4">
            <a:alphaModFix/>
          </a:blip>
          <a:srcRect/>
          <a:stretch/>
        </p:blipFill>
        <p:spPr>
          <a:xfrm>
            <a:off x="7217220" y="3254172"/>
            <a:ext cx="4960091" cy="3006946"/>
          </a:xfrm>
          <a:prstGeom prst="rect">
            <a:avLst/>
          </a:prstGeom>
          <a:noFill/>
          <a:ln>
            <a:noFill/>
          </a:ln>
        </p:spPr>
      </p:pic>
      <p:sp>
        <p:nvSpPr>
          <p:cNvPr id="2" name="Footer">
            <a:extLst>
              <a:ext uri="{FF2B5EF4-FFF2-40B4-BE49-F238E27FC236}">
                <a16:creationId xmlns:a16="http://schemas.microsoft.com/office/drawing/2014/main" id="{80B2F7EE-5B9D-0DD5-3833-B5CB552FFD73}"/>
              </a:ext>
            </a:extLst>
          </p:cNvPr>
          <p:cNvSpPr txBox="1">
            <a:spLocks/>
          </p:cNvSpPr>
          <p:nvPr/>
        </p:nvSpPr>
        <p:spPr>
          <a:xfrm>
            <a:off x="3010064" y="6556986"/>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8"/>
          <p:cNvSpPr txBox="1">
            <a:spLocks noGrp="1"/>
          </p:cNvSpPr>
          <p:nvPr>
            <p:ph type="title"/>
          </p:nvPr>
        </p:nvSpPr>
        <p:spPr>
          <a:xfrm>
            <a:off x="177559" y="231524"/>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a:t>
            </a:r>
            <a:endParaRPr/>
          </a:p>
        </p:txBody>
      </p:sp>
      <p:pic>
        <p:nvPicPr>
          <p:cNvPr id="178" name="Google Shape;178;p8"/>
          <p:cNvPicPr preferRelativeResize="0"/>
          <p:nvPr/>
        </p:nvPicPr>
        <p:blipFill rotWithShape="1">
          <a:blip r:embed="rId3">
            <a:alphaModFix/>
          </a:blip>
          <a:srcRect/>
          <a:stretch/>
        </p:blipFill>
        <p:spPr>
          <a:xfrm>
            <a:off x="465845" y="1233298"/>
            <a:ext cx="256281" cy="256281"/>
          </a:xfrm>
          <a:prstGeom prst="rect">
            <a:avLst/>
          </a:prstGeom>
          <a:noFill/>
          <a:ln>
            <a:noFill/>
          </a:ln>
        </p:spPr>
      </p:pic>
      <p:sp>
        <p:nvSpPr>
          <p:cNvPr id="179" name="Google Shape;179;p8"/>
          <p:cNvSpPr txBox="1"/>
          <p:nvPr/>
        </p:nvSpPr>
        <p:spPr>
          <a:xfrm>
            <a:off x="522803" y="1212478"/>
            <a:ext cx="142260" cy="220835"/>
          </a:xfrm>
          <a:prstGeom prst="rect">
            <a:avLst/>
          </a:prstGeom>
          <a:noFill/>
          <a:ln>
            <a:noFill/>
          </a:ln>
        </p:spPr>
        <p:txBody>
          <a:bodyPr spcFirstLastPara="1" wrap="square" lIns="0" tIns="25468" rIns="0" bIns="0" anchor="t" anchorCtr="0">
            <a:spAutoFit/>
          </a:bodyPr>
          <a:lstStyle/>
          <a:p>
            <a:pPr marL="26841">
              <a:buClr>
                <a:srgbClr val="000000"/>
              </a:buClr>
              <a:buSzPts val="600"/>
            </a:pPr>
            <a:r>
              <a:rPr lang="en-US" sz="1268">
                <a:solidFill>
                  <a:srgbClr val="FFFFFF"/>
                </a:solidFill>
                <a:latin typeface="Calibri"/>
                <a:ea typeface="Calibri"/>
                <a:cs typeface="Calibri"/>
                <a:sym typeface="Calibri"/>
              </a:rPr>
              <a:t>1</a:t>
            </a:r>
            <a:endParaRPr sz="1268">
              <a:solidFill>
                <a:srgbClr val="000000"/>
              </a:solidFill>
              <a:latin typeface="Calibri"/>
              <a:ea typeface="Calibri"/>
              <a:cs typeface="Calibri"/>
              <a:sym typeface="Calibri"/>
            </a:endParaRPr>
          </a:p>
        </p:txBody>
      </p:sp>
      <p:sp>
        <p:nvSpPr>
          <p:cNvPr id="180" name="Google Shape;180;p8"/>
          <p:cNvSpPr txBox="1"/>
          <p:nvPr/>
        </p:nvSpPr>
        <p:spPr>
          <a:xfrm>
            <a:off x="862402" y="1135604"/>
            <a:ext cx="2245290" cy="375383"/>
          </a:xfrm>
          <a:prstGeom prst="rect">
            <a:avLst/>
          </a:prstGeom>
          <a:noFill/>
          <a:ln>
            <a:noFill/>
          </a:ln>
        </p:spPr>
        <p:txBody>
          <a:bodyPr spcFirstLastPara="1" wrap="square" lIns="0" tIns="33552" rIns="0" bIns="0" anchor="t" anchorCtr="0">
            <a:spAutoFit/>
          </a:bodyPr>
          <a:lstStyle/>
          <a:p>
            <a:pPr marL="26841">
              <a:buClr>
                <a:srgbClr val="000000"/>
              </a:buClr>
              <a:buSzPts val="1050"/>
            </a:pPr>
            <a:r>
              <a:rPr lang="en-US" sz="2219">
                <a:solidFill>
                  <a:srgbClr val="1B1472"/>
                </a:solidFill>
                <a:latin typeface="Arial"/>
                <a:ea typeface="Arial"/>
                <a:cs typeface="Arial"/>
                <a:sym typeface="Arial"/>
              </a:rPr>
              <a:t>Given</a:t>
            </a:r>
            <a:endParaRPr sz="2219">
              <a:solidFill>
                <a:srgbClr val="000000"/>
              </a:solidFill>
              <a:latin typeface="Arial"/>
              <a:ea typeface="Arial"/>
              <a:cs typeface="Arial"/>
              <a:sym typeface="Arial"/>
            </a:endParaRPr>
          </a:p>
        </p:txBody>
      </p:sp>
      <p:sp>
        <p:nvSpPr>
          <p:cNvPr id="181" name="Google Shape;181;p8"/>
          <p:cNvSpPr txBox="1"/>
          <p:nvPr/>
        </p:nvSpPr>
        <p:spPr>
          <a:xfrm>
            <a:off x="1136774" y="1548735"/>
            <a:ext cx="5275694" cy="333378"/>
          </a:xfrm>
          <a:prstGeom prst="rect">
            <a:avLst/>
          </a:prstGeom>
          <a:noFill/>
          <a:ln>
            <a:noFill/>
          </a:ln>
        </p:spPr>
        <p:txBody>
          <a:bodyPr spcFirstLastPara="1" wrap="square" lIns="0" tIns="24147" rIns="0" bIns="0" anchor="t" anchorCtr="0">
            <a:spAutoFit/>
          </a:bodyPr>
          <a:lstStyle/>
          <a:p>
            <a:pPr marL="80524" indent="-127497">
              <a:buClr>
                <a:srgbClr val="000000"/>
              </a:buClr>
              <a:buSzPts val="950"/>
              <a:buFont typeface="Arial"/>
              <a:buChar char="•"/>
            </a:pPr>
            <a:r>
              <a:rPr lang="en-US" sz="2008">
                <a:solidFill>
                  <a:srgbClr val="000000"/>
                </a:solidFill>
                <a:latin typeface="Arial"/>
                <a:ea typeface="Arial"/>
                <a:cs typeface="Arial"/>
                <a:sym typeface="Arial"/>
              </a:rPr>
              <a:t>P(s` | s, a) , R(s, a, s`) , P(s`, r | s, a) </a:t>
            </a:r>
            <a:endParaRPr sz="2008">
              <a:solidFill>
                <a:srgbClr val="000000"/>
              </a:solidFill>
              <a:latin typeface="Arial"/>
              <a:ea typeface="Arial"/>
              <a:cs typeface="Arial"/>
              <a:sym typeface="Arial"/>
            </a:endParaRPr>
          </a:p>
        </p:txBody>
      </p:sp>
      <p:grpSp>
        <p:nvGrpSpPr>
          <p:cNvPr id="182" name="Google Shape;182;p8"/>
          <p:cNvGrpSpPr/>
          <p:nvPr/>
        </p:nvGrpSpPr>
        <p:grpSpPr>
          <a:xfrm>
            <a:off x="465845" y="2094371"/>
            <a:ext cx="256281" cy="1117329"/>
            <a:chOff x="456996" y="1391780"/>
            <a:chExt cx="121259" cy="528662"/>
          </a:xfrm>
        </p:grpSpPr>
        <p:pic>
          <p:nvPicPr>
            <p:cNvPr id="183" name="Google Shape;183;p8"/>
            <p:cNvPicPr preferRelativeResize="0"/>
            <p:nvPr/>
          </p:nvPicPr>
          <p:blipFill rotWithShape="1">
            <a:blip r:embed="rId4">
              <a:alphaModFix/>
            </a:blip>
            <a:srcRect/>
            <a:stretch/>
          </p:blipFill>
          <p:spPr>
            <a:xfrm>
              <a:off x="456996" y="1391780"/>
              <a:ext cx="121259" cy="121259"/>
            </a:xfrm>
            <a:prstGeom prst="rect">
              <a:avLst/>
            </a:prstGeom>
            <a:noFill/>
            <a:ln>
              <a:noFill/>
            </a:ln>
          </p:spPr>
        </p:pic>
        <p:pic>
          <p:nvPicPr>
            <p:cNvPr id="184" name="Google Shape;184;p8"/>
            <p:cNvPicPr preferRelativeResize="0"/>
            <p:nvPr/>
          </p:nvPicPr>
          <p:blipFill rotWithShape="1">
            <a:blip r:embed="rId5">
              <a:alphaModFix/>
            </a:blip>
            <a:srcRect/>
            <a:stretch/>
          </p:blipFill>
          <p:spPr>
            <a:xfrm>
              <a:off x="456996" y="1799183"/>
              <a:ext cx="121259" cy="121259"/>
            </a:xfrm>
            <a:prstGeom prst="rect">
              <a:avLst/>
            </a:prstGeom>
            <a:noFill/>
            <a:ln>
              <a:noFill/>
            </a:ln>
          </p:spPr>
        </p:pic>
      </p:grpSp>
      <p:sp>
        <p:nvSpPr>
          <p:cNvPr id="185" name="Google Shape;185;p8"/>
          <p:cNvSpPr txBox="1"/>
          <p:nvPr/>
        </p:nvSpPr>
        <p:spPr>
          <a:xfrm>
            <a:off x="522803" y="2073553"/>
            <a:ext cx="142260" cy="220835"/>
          </a:xfrm>
          <a:prstGeom prst="rect">
            <a:avLst/>
          </a:prstGeom>
          <a:noFill/>
          <a:ln>
            <a:noFill/>
          </a:ln>
        </p:spPr>
        <p:txBody>
          <a:bodyPr spcFirstLastPara="1" wrap="square" lIns="0" tIns="25468" rIns="0" bIns="0" anchor="t" anchorCtr="0">
            <a:spAutoFit/>
          </a:bodyPr>
          <a:lstStyle/>
          <a:p>
            <a:pPr marL="26841">
              <a:buClr>
                <a:srgbClr val="000000"/>
              </a:buClr>
              <a:buSzPts val="600"/>
            </a:pPr>
            <a:r>
              <a:rPr lang="en-US" sz="1268">
                <a:solidFill>
                  <a:srgbClr val="FFFFFF"/>
                </a:solidFill>
                <a:latin typeface="Calibri"/>
                <a:ea typeface="Calibri"/>
                <a:cs typeface="Calibri"/>
                <a:sym typeface="Calibri"/>
              </a:rPr>
              <a:t>2</a:t>
            </a:r>
            <a:endParaRPr sz="1268">
              <a:solidFill>
                <a:srgbClr val="000000"/>
              </a:solidFill>
              <a:latin typeface="Calibri"/>
              <a:ea typeface="Calibri"/>
              <a:cs typeface="Calibri"/>
              <a:sym typeface="Calibri"/>
            </a:endParaRPr>
          </a:p>
        </p:txBody>
      </p:sp>
      <p:sp>
        <p:nvSpPr>
          <p:cNvPr id="186" name="Google Shape;186;p8"/>
          <p:cNvSpPr txBox="1"/>
          <p:nvPr/>
        </p:nvSpPr>
        <p:spPr>
          <a:xfrm>
            <a:off x="862401" y="1996652"/>
            <a:ext cx="2760647" cy="375383"/>
          </a:xfrm>
          <a:prstGeom prst="rect">
            <a:avLst/>
          </a:prstGeom>
          <a:noFill/>
          <a:ln>
            <a:noFill/>
          </a:ln>
        </p:spPr>
        <p:txBody>
          <a:bodyPr spcFirstLastPara="1" wrap="square" lIns="0" tIns="33552" rIns="0" bIns="0" anchor="t" anchorCtr="0">
            <a:spAutoFit/>
          </a:bodyPr>
          <a:lstStyle/>
          <a:p>
            <a:pPr marL="26841">
              <a:buClr>
                <a:srgbClr val="000000"/>
              </a:buClr>
              <a:buSzPts val="1050"/>
            </a:pPr>
            <a:r>
              <a:rPr lang="en-US" sz="2219">
                <a:solidFill>
                  <a:srgbClr val="1B1472"/>
                </a:solidFill>
                <a:latin typeface="Arial"/>
                <a:ea typeface="Arial"/>
                <a:cs typeface="Arial"/>
                <a:sym typeface="Arial"/>
              </a:rPr>
              <a:t>To find</a:t>
            </a:r>
            <a:endParaRPr sz="2219">
              <a:solidFill>
                <a:srgbClr val="000000"/>
              </a:solidFill>
              <a:latin typeface="Arial"/>
              <a:ea typeface="Arial"/>
              <a:cs typeface="Arial"/>
              <a:sym typeface="Arial"/>
            </a:endParaRPr>
          </a:p>
        </p:txBody>
      </p:sp>
      <p:sp>
        <p:nvSpPr>
          <p:cNvPr id="187" name="Google Shape;187;p8"/>
          <p:cNvSpPr txBox="1"/>
          <p:nvPr/>
        </p:nvSpPr>
        <p:spPr>
          <a:xfrm>
            <a:off x="1136774" y="2409810"/>
            <a:ext cx="5667580" cy="333378"/>
          </a:xfrm>
          <a:prstGeom prst="rect">
            <a:avLst/>
          </a:prstGeom>
          <a:noFill/>
          <a:ln>
            <a:noFill/>
          </a:ln>
        </p:spPr>
        <p:txBody>
          <a:bodyPr spcFirstLastPara="1" wrap="square" lIns="0" tIns="24147" rIns="0" bIns="0" anchor="t" anchorCtr="0">
            <a:spAutoFit/>
          </a:bodyPr>
          <a:lstStyle/>
          <a:p>
            <a:pPr marL="80524" indent="-127497">
              <a:buClr>
                <a:srgbClr val="000000"/>
              </a:buClr>
              <a:buSzPts val="950"/>
              <a:buFont typeface="Arial"/>
              <a:buChar char="•"/>
            </a:pPr>
            <a:r>
              <a:rPr lang="en-US" sz="2008">
                <a:solidFill>
                  <a:srgbClr val="000000"/>
                </a:solidFill>
                <a:latin typeface="Arial"/>
                <a:ea typeface="Arial"/>
                <a:cs typeface="Arial"/>
                <a:sym typeface="Arial"/>
              </a:rPr>
              <a:t>Policy π </a:t>
            </a:r>
            <a:endParaRPr sz="2008">
              <a:solidFill>
                <a:srgbClr val="000000"/>
              </a:solidFill>
              <a:latin typeface="Arial"/>
              <a:ea typeface="Arial"/>
              <a:cs typeface="Arial"/>
              <a:sym typeface="Arial"/>
            </a:endParaRPr>
          </a:p>
        </p:txBody>
      </p:sp>
      <p:sp>
        <p:nvSpPr>
          <p:cNvPr id="188" name="Google Shape;188;p8"/>
          <p:cNvSpPr txBox="1"/>
          <p:nvPr/>
        </p:nvSpPr>
        <p:spPr>
          <a:xfrm>
            <a:off x="522803" y="2934601"/>
            <a:ext cx="142260" cy="220835"/>
          </a:xfrm>
          <a:prstGeom prst="rect">
            <a:avLst/>
          </a:prstGeom>
          <a:noFill/>
          <a:ln>
            <a:noFill/>
          </a:ln>
        </p:spPr>
        <p:txBody>
          <a:bodyPr spcFirstLastPara="1" wrap="square" lIns="0" tIns="25468" rIns="0" bIns="0" anchor="t" anchorCtr="0">
            <a:spAutoFit/>
          </a:bodyPr>
          <a:lstStyle/>
          <a:p>
            <a:pPr marL="26841">
              <a:buClr>
                <a:srgbClr val="000000"/>
              </a:buClr>
              <a:buSzPts val="600"/>
            </a:pPr>
            <a:r>
              <a:rPr lang="en-US" sz="1268">
                <a:solidFill>
                  <a:srgbClr val="FFFFFF"/>
                </a:solidFill>
                <a:latin typeface="Calibri"/>
                <a:ea typeface="Calibri"/>
                <a:cs typeface="Calibri"/>
                <a:sym typeface="Calibri"/>
              </a:rPr>
              <a:t>3</a:t>
            </a:r>
            <a:endParaRPr sz="1268">
              <a:solidFill>
                <a:srgbClr val="000000"/>
              </a:solidFill>
              <a:latin typeface="Calibri"/>
              <a:ea typeface="Calibri"/>
              <a:cs typeface="Calibri"/>
              <a:sym typeface="Calibri"/>
            </a:endParaRPr>
          </a:p>
        </p:txBody>
      </p:sp>
      <p:sp>
        <p:nvSpPr>
          <p:cNvPr id="189" name="Google Shape;189;p8"/>
          <p:cNvSpPr txBox="1"/>
          <p:nvPr/>
        </p:nvSpPr>
        <p:spPr>
          <a:xfrm>
            <a:off x="862401" y="2857727"/>
            <a:ext cx="2751252" cy="375383"/>
          </a:xfrm>
          <a:prstGeom prst="rect">
            <a:avLst/>
          </a:prstGeom>
          <a:noFill/>
          <a:ln>
            <a:noFill/>
          </a:ln>
        </p:spPr>
        <p:txBody>
          <a:bodyPr spcFirstLastPara="1" wrap="square" lIns="0" tIns="33552" rIns="0" bIns="0" anchor="t" anchorCtr="0">
            <a:spAutoFit/>
          </a:bodyPr>
          <a:lstStyle/>
          <a:p>
            <a:pPr marL="26841">
              <a:buClr>
                <a:srgbClr val="000000"/>
              </a:buClr>
              <a:buSzPts val="1050"/>
            </a:pPr>
            <a:r>
              <a:rPr lang="en-US" sz="2219">
                <a:solidFill>
                  <a:srgbClr val="1B1472"/>
                </a:solidFill>
                <a:latin typeface="Arial"/>
                <a:ea typeface="Arial"/>
                <a:cs typeface="Arial"/>
                <a:sym typeface="Arial"/>
              </a:rPr>
              <a:t>Solution</a:t>
            </a:r>
            <a:endParaRPr sz="2219">
              <a:solidFill>
                <a:srgbClr val="000000"/>
              </a:solidFill>
              <a:latin typeface="Arial"/>
              <a:ea typeface="Arial"/>
              <a:cs typeface="Arial"/>
              <a:sym typeface="Arial"/>
            </a:endParaRPr>
          </a:p>
        </p:txBody>
      </p:sp>
      <p:sp>
        <p:nvSpPr>
          <p:cNvPr id="190" name="Google Shape;190;p8"/>
          <p:cNvSpPr txBox="1"/>
          <p:nvPr/>
        </p:nvSpPr>
        <p:spPr>
          <a:xfrm>
            <a:off x="180306" y="3270886"/>
            <a:ext cx="11325542" cy="3125616"/>
          </a:xfrm>
          <a:prstGeom prst="rect">
            <a:avLst/>
          </a:prstGeom>
          <a:noFill/>
          <a:ln>
            <a:noFill/>
          </a:ln>
        </p:spPr>
        <p:txBody>
          <a:bodyPr spcFirstLastPara="1" wrap="square" lIns="0" tIns="24147" rIns="0" bIns="0" anchor="t" anchorCtr="0">
            <a:spAutoFit/>
          </a:bodyPr>
          <a:lstStyle/>
          <a:p>
            <a:pPr marL="1036078" indent="-127497">
              <a:buClr>
                <a:srgbClr val="000000"/>
              </a:buClr>
              <a:buSzPts val="950"/>
              <a:buFont typeface="Arial"/>
              <a:buChar char="•"/>
            </a:pPr>
            <a:r>
              <a:rPr lang="en-US" sz="2008">
                <a:solidFill>
                  <a:srgbClr val="000000"/>
                </a:solidFill>
                <a:latin typeface="Arial"/>
                <a:ea typeface="Arial"/>
                <a:cs typeface="Arial"/>
                <a:sym typeface="Arial"/>
              </a:rPr>
              <a:t>Policy Iteration (PI): Prefer this in a relatively smaller state space where intermediate termination provides explicit interpretable policy</a:t>
            </a:r>
            <a:endParaRPr sz="3804"/>
          </a:p>
          <a:p>
            <a:pPr marL="1036078" indent="-127497">
              <a:buClr>
                <a:srgbClr val="000000"/>
              </a:buClr>
              <a:buSzPts val="950"/>
              <a:buFont typeface="Arial"/>
              <a:buChar char="•"/>
            </a:pPr>
            <a:r>
              <a:rPr lang="en-US" sz="2008">
                <a:solidFill>
                  <a:srgbClr val="000000"/>
                </a:solidFill>
                <a:latin typeface="Arial"/>
                <a:ea typeface="Arial"/>
                <a:cs typeface="Arial"/>
                <a:sym typeface="Arial"/>
              </a:rPr>
              <a:t>Value Iteration (VI): Prefer this in a relatively larger state space where fast convergence to optimal policy is obtained at the end</a:t>
            </a:r>
            <a:endParaRPr sz="3804"/>
          </a:p>
          <a:p>
            <a:pPr marL="1036078">
              <a:buClr>
                <a:srgbClr val="000000"/>
              </a:buClr>
              <a:buSzPts val="950"/>
            </a:pPr>
            <a:endParaRPr sz="2008">
              <a:solidFill>
                <a:srgbClr val="000000"/>
              </a:solidFill>
              <a:latin typeface="Arial"/>
              <a:ea typeface="Arial"/>
              <a:cs typeface="Arial"/>
              <a:sym typeface="Arial"/>
            </a:endParaRPr>
          </a:p>
          <a:p>
            <a:pPr marL="1036078">
              <a:buClr>
                <a:srgbClr val="000000"/>
              </a:buClr>
              <a:buSzPts val="950"/>
            </a:pPr>
            <a:endParaRPr sz="2008">
              <a:solidFill>
                <a:srgbClr val="000000"/>
              </a:solidFill>
              <a:latin typeface="Arial"/>
              <a:ea typeface="Arial"/>
              <a:cs typeface="Arial"/>
              <a:sym typeface="Arial"/>
            </a:endParaRPr>
          </a:p>
          <a:p>
            <a:pPr marL="80524">
              <a:spcBef>
                <a:spcPts val="2198"/>
              </a:spcBef>
              <a:buClr>
                <a:srgbClr val="000000"/>
              </a:buClr>
              <a:buSzPts val="1050"/>
            </a:pPr>
            <a:endParaRPr sz="2219">
              <a:solidFill>
                <a:srgbClr val="000000"/>
              </a:solidFill>
              <a:latin typeface="Arial"/>
              <a:ea typeface="Arial"/>
              <a:cs typeface="Arial"/>
              <a:sym typeface="Arial"/>
            </a:endParaRPr>
          </a:p>
          <a:p>
            <a:pPr marL="80524">
              <a:spcBef>
                <a:spcPts val="2198"/>
              </a:spcBef>
              <a:buClr>
                <a:srgbClr val="000000"/>
              </a:buClr>
              <a:buSzPts val="1050"/>
            </a:pPr>
            <a:r>
              <a:rPr lang="en-US" sz="2219">
                <a:solidFill>
                  <a:srgbClr val="000000"/>
                </a:solidFill>
                <a:latin typeface="Arial"/>
                <a:ea typeface="Arial"/>
                <a:cs typeface="Arial"/>
                <a:sym typeface="Arial"/>
              </a:rPr>
              <a:t>VI can be thought of truncated PI where evaluation is done fully before improvement.</a:t>
            </a:r>
            <a:endParaRPr sz="2219">
              <a:solidFill>
                <a:srgbClr val="000000"/>
              </a:solidFill>
              <a:latin typeface="Arial"/>
              <a:ea typeface="Arial"/>
              <a:cs typeface="Arial"/>
              <a:sym typeface="Arial"/>
            </a:endParaRPr>
          </a:p>
        </p:txBody>
      </p:sp>
      <p:grpSp>
        <p:nvGrpSpPr>
          <p:cNvPr id="191" name="Google Shape;191;p8"/>
          <p:cNvGrpSpPr/>
          <p:nvPr/>
        </p:nvGrpSpPr>
        <p:grpSpPr>
          <a:xfrm>
            <a:off x="2983" y="6571410"/>
            <a:ext cx="12174329" cy="194601"/>
            <a:chOff x="0" y="3109250"/>
            <a:chExt cx="5760261" cy="92075"/>
          </a:xfrm>
        </p:grpSpPr>
        <p:sp>
          <p:nvSpPr>
            <p:cNvPr id="192" name="Google Shape;192;p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193" name="Google Shape;193;p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194" name="Google Shape;194;p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196" name="Google Shape;196;p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16</a:t>
            </a:fld>
            <a:r>
              <a:rPr lang="en-US"/>
              <a:t> / 46</a:t>
            </a:r>
            <a:endParaRPr/>
          </a:p>
        </p:txBody>
      </p:sp>
      <p:grpSp>
        <p:nvGrpSpPr>
          <p:cNvPr id="197" name="Google Shape;197;p8"/>
          <p:cNvGrpSpPr/>
          <p:nvPr/>
        </p:nvGrpSpPr>
        <p:grpSpPr>
          <a:xfrm>
            <a:off x="429715" y="4631374"/>
            <a:ext cx="313240" cy="346480"/>
            <a:chOff x="134127" y="2262704"/>
            <a:chExt cx="266997" cy="178837"/>
          </a:xfrm>
        </p:grpSpPr>
        <p:pic>
          <p:nvPicPr>
            <p:cNvPr id="198" name="Google Shape;198;p8"/>
            <p:cNvPicPr preferRelativeResize="0"/>
            <p:nvPr/>
          </p:nvPicPr>
          <p:blipFill rotWithShape="1">
            <a:blip r:embed="rId6">
              <a:alphaModFix/>
            </a:blip>
            <a:srcRect/>
            <a:stretch/>
          </p:blipFill>
          <p:spPr>
            <a:xfrm>
              <a:off x="134127" y="2262704"/>
              <a:ext cx="266997" cy="178837"/>
            </a:xfrm>
            <a:prstGeom prst="rect">
              <a:avLst/>
            </a:prstGeom>
            <a:noFill/>
            <a:ln>
              <a:noFill/>
            </a:ln>
          </p:spPr>
        </p:pic>
        <p:sp>
          <p:nvSpPr>
            <p:cNvPr id="199" name="Google Shape;199;p8"/>
            <p:cNvSpPr txBox="1"/>
            <p:nvPr/>
          </p:nvSpPr>
          <p:spPr>
            <a:xfrm>
              <a:off x="209626" y="2275554"/>
              <a:ext cx="148209" cy="113985"/>
            </a:xfrm>
            <a:prstGeom prst="rect">
              <a:avLst/>
            </a:prstGeom>
            <a:noFill/>
            <a:ln>
              <a:noFill/>
            </a:ln>
          </p:spPr>
          <p:txBody>
            <a:bodyPr spcFirstLastPara="1" wrap="square" lIns="0" tIns="25468" rIns="0" bIns="0" anchor="t" anchorCtr="0">
              <a:spAutoFit/>
            </a:bodyPr>
            <a:lstStyle/>
            <a:p>
              <a:pPr marL="26841">
                <a:buClr>
                  <a:srgbClr val="000000"/>
                </a:buClr>
                <a:buSzPts val="600"/>
              </a:pPr>
              <a:r>
                <a:rPr lang="en-US" sz="1268">
                  <a:solidFill>
                    <a:srgbClr val="FFFFFF"/>
                  </a:solidFill>
                  <a:latin typeface="Calibri"/>
                  <a:ea typeface="Calibri"/>
                  <a:cs typeface="Calibri"/>
                  <a:sym typeface="Calibri"/>
                </a:rPr>
                <a:t>4</a:t>
              </a:r>
              <a:endParaRPr sz="1268">
                <a:solidFill>
                  <a:srgbClr val="000000"/>
                </a:solidFill>
                <a:latin typeface="Calibri"/>
                <a:ea typeface="Calibri"/>
                <a:cs typeface="Calibri"/>
                <a:sym typeface="Calibri"/>
              </a:endParaRPr>
            </a:p>
          </p:txBody>
        </p:sp>
      </p:grpSp>
      <p:sp>
        <p:nvSpPr>
          <p:cNvPr id="200" name="Google Shape;200;p8"/>
          <p:cNvSpPr txBox="1"/>
          <p:nvPr/>
        </p:nvSpPr>
        <p:spPr>
          <a:xfrm>
            <a:off x="893288" y="4594840"/>
            <a:ext cx="2245290" cy="375383"/>
          </a:xfrm>
          <a:prstGeom prst="rect">
            <a:avLst/>
          </a:prstGeom>
          <a:noFill/>
          <a:ln>
            <a:noFill/>
          </a:ln>
        </p:spPr>
        <p:txBody>
          <a:bodyPr spcFirstLastPara="1" wrap="square" lIns="0" tIns="33552" rIns="0" bIns="0" anchor="t" anchorCtr="0">
            <a:spAutoFit/>
          </a:bodyPr>
          <a:lstStyle/>
          <a:p>
            <a:pPr marL="26841">
              <a:buClr>
                <a:srgbClr val="000000"/>
              </a:buClr>
              <a:buSzPts val="1050"/>
            </a:pPr>
            <a:r>
              <a:rPr lang="en-US" sz="2219">
                <a:solidFill>
                  <a:srgbClr val="1B1472"/>
                </a:solidFill>
                <a:latin typeface="Arial"/>
                <a:ea typeface="Arial"/>
                <a:cs typeface="Arial"/>
                <a:sym typeface="Arial"/>
              </a:rPr>
              <a:t>Idea</a:t>
            </a:r>
            <a:endParaRPr sz="2219">
              <a:solidFill>
                <a:srgbClr val="000000"/>
              </a:solidFill>
              <a:latin typeface="Arial"/>
              <a:ea typeface="Arial"/>
              <a:cs typeface="Arial"/>
              <a:sym typeface="Arial"/>
            </a:endParaRPr>
          </a:p>
        </p:txBody>
      </p:sp>
      <p:sp>
        <p:nvSpPr>
          <p:cNvPr id="201" name="Google Shape;201;p8"/>
          <p:cNvSpPr txBox="1"/>
          <p:nvPr/>
        </p:nvSpPr>
        <p:spPr>
          <a:xfrm>
            <a:off x="1167660" y="5007971"/>
            <a:ext cx="6578908" cy="951368"/>
          </a:xfrm>
          <a:prstGeom prst="rect">
            <a:avLst/>
          </a:prstGeom>
          <a:noFill/>
          <a:ln>
            <a:noFill/>
          </a:ln>
        </p:spPr>
        <p:txBody>
          <a:bodyPr spcFirstLastPara="1" wrap="square" lIns="0" tIns="24147" rIns="0" bIns="0" anchor="t" anchorCtr="0">
            <a:spAutoFit/>
          </a:bodyPr>
          <a:lstStyle/>
          <a:p>
            <a:pPr marL="80524" indent="-127497">
              <a:buClr>
                <a:srgbClr val="000000"/>
              </a:buClr>
              <a:buSzPts val="950"/>
              <a:buFont typeface="Arial"/>
              <a:buChar char="•"/>
            </a:pPr>
            <a:r>
              <a:rPr lang="en-US" sz="2008">
                <a:solidFill>
                  <a:srgbClr val="000000"/>
                </a:solidFill>
                <a:latin typeface="Arial"/>
                <a:ea typeface="Arial"/>
                <a:cs typeface="Arial"/>
                <a:sym typeface="Arial"/>
              </a:rPr>
              <a:t>PI : One Step Look ahead 🡪 Evaluate 🡪 Improve</a:t>
            </a:r>
            <a:endParaRPr sz="3804"/>
          </a:p>
          <a:p>
            <a:pPr marL="80524" indent="-127497">
              <a:buClr>
                <a:srgbClr val="000000"/>
              </a:buClr>
              <a:buSzPts val="950"/>
              <a:buFont typeface="Arial"/>
              <a:buChar char="•"/>
            </a:pPr>
            <a:r>
              <a:rPr lang="en-US" sz="2008">
                <a:solidFill>
                  <a:srgbClr val="000000"/>
                </a:solidFill>
                <a:latin typeface="Arial"/>
                <a:ea typeface="Arial"/>
                <a:cs typeface="Arial"/>
                <a:sym typeface="Arial"/>
              </a:rPr>
              <a:t>VI : One Step Look ahead 🡪 Control </a:t>
            </a:r>
            <a:endParaRPr sz="2008">
              <a:solidFill>
                <a:srgbClr val="000000"/>
              </a:solidFill>
              <a:latin typeface="Arial"/>
              <a:ea typeface="Arial"/>
              <a:cs typeface="Arial"/>
              <a:sym typeface="Arial"/>
            </a:endParaRPr>
          </a:p>
          <a:p>
            <a:pPr marL="80524">
              <a:buClr>
                <a:srgbClr val="000000"/>
              </a:buClr>
              <a:buSzPts val="950"/>
            </a:pPr>
            <a:endParaRPr sz="2008">
              <a:solidFill>
                <a:srgbClr val="000000"/>
              </a:solidFill>
              <a:latin typeface="Arial"/>
              <a:ea typeface="Arial"/>
              <a:cs typeface="Arial"/>
              <a:sym typeface="Arial"/>
            </a:endParaRPr>
          </a:p>
        </p:txBody>
      </p:sp>
      <p:sp>
        <p:nvSpPr>
          <p:cNvPr id="2" name="Footer">
            <a:extLst>
              <a:ext uri="{FF2B5EF4-FFF2-40B4-BE49-F238E27FC236}">
                <a16:creationId xmlns:a16="http://schemas.microsoft.com/office/drawing/2014/main" id="{6534D86C-5656-83E9-2476-67CB3A656B05}"/>
              </a:ext>
            </a:extLst>
          </p:cNvPr>
          <p:cNvSpPr txBox="1">
            <a:spLocks/>
          </p:cNvSpPr>
          <p:nvPr/>
        </p:nvSpPr>
        <p:spPr>
          <a:xfrm>
            <a:off x="3099792" y="6581345"/>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200062" y="360000"/>
            <a:ext cx="10453163" cy="430887"/>
          </a:xfrm>
        </p:spPr>
        <p:txBody>
          <a:bodyPr/>
          <a:lstStyle/>
          <a:p>
            <a:r>
              <a:rPr lang="en-US" sz="2800" dirty="0">
                <a:solidFill>
                  <a:schemeClr val="bg1"/>
                </a:solidFill>
              </a:rPr>
              <a:t>Value Iteration</a:t>
            </a:r>
          </a:p>
        </p:txBody>
      </p:sp>
      <p:sp>
        <p:nvSpPr>
          <p:cNvPr id="10" name="CardBg10"/>
          <p:cNvSpPr>
            <a:spLocks noGrp="1"/>
          </p:cNvSpPr>
          <p:nvPr/>
        </p:nvSpPr>
        <p:spPr>
          <a:xfrm>
            <a:off x="457200" y="1080000"/>
            <a:ext cx="5400000" cy="2000000"/>
          </a:xfrm>
          <a:prstGeom prst="roundRect">
            <a:avLst>
              <a:gd name="adj" fmla="val 16667"/>
            </a:avLst>
          </a:prstGeom>
          <a:solidFill>
            <a:srgbClr val="EEF0FB"/>
          </a:solidFill>
          <a:ln>
            <a:noFill/>
          </a:ln>
        </p:spPr>
        <p:txBody>
          <a:bodyPr/>
          <a:lstStyle/>
          <a:p>
            <a:endParaRPr/>
          </a:p>
        </p:txBody>
      </p:sp>
      <p:sp>
        <p:nvSpPr>
          <p:cNvPr id="11" name="CardLbl11"/>
          <p:cNvSpPr txBox="1"/>
          <p:nvPr/>
        </p:nvSpPr>
        <p:spPr>
          <a:xfrm>
            <a:off x="457200" y="1080000"/>
            <a:ext cx="5400000" cy="400000"/>
          </a:xfrm>
          <a:prstGeom prst="rect">
            <a:avLst/>
          </a:prstGeom>
          <a:solidFill>
            <a:srgbClr val="1B1472"/>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Motivation</a:t>
            </a:r>
          </a:p>
        </p:txBody>
      </p:sp>
      <p:sp>
        <p:nvSpPr>
          <p:cNvPr id="12" name="CardTxt12"/>
          <p:cNvSpPr txBox="1"/>
          <p:nvPr/>
        </p:nvSpPr>
        <p:spPr>
          <a:xfrm>
            <a:off x="548640" y="1520000"/>
            <a:ext cx="5217120" cy="1333050"/>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Policy Iteration: full evaluation sweeps before each improvement (costly).</a:t>
            </a:r>
          </a:p>
          <a:p>
            <a:pPr>
              <a:lnSpc>
                <a:spcPts val="2000"/>
              </a:lnSpc>
            </a:pPr>
            <a:r>
              <a:rPr lang="en-US" sz="1600" dirty="0">
                <a:solidFill>
                  <a:srgbClr val="1E1E2E"/>
                </a:solidFill>
                <a:latin typeface="Calibri"/>
              </a:rPr>
              <a:t>Value Iteration: combine ONE evaluation backup + improvement in a single sweep.</a:t>
            </a:r>
          </a:p>
          <a:p>
            <a:pPr>
              <a:lnSpc>
                <a:spcPts val="2000"/>
              </a:lnSpc>
            </a:pPr>
            <a:r>
              <a:rPr lang="en-US" sz="1600" dirty="0">
                <a:solidFill>
                  <a:srgbClr val="1E1E2E"/>
                </a:solidFill>
                <a:latin typeface="Calibri"/>
              </a:rPr>
              <a:t>Derived from Bellman optimality operator applied repeatedly.</a:t>
            </a:r>
          </a:p>
        </p:txBody>
      </p:sp>
      <p:sp>
        <p:nvSpPr>
          <p:cNvPr id="20" name="CardBg20"/>
          <p:cNvSpPr>
            <a:spLocks noGrp="1"/>
          </p:cNvSpPr>
          <p:nvPr/>
        </p:nvSpPr>
        <p:spPr>
          <a:xfrm>
            <a:off x="6200000" y="1080000"/>
            <a:ext cx="5535000" cy="2000000"/>
          </a:xfrm>
          <a:prstGeom prst="roundRect">
            <a:avLst>
              <a:gd name="adj" fmla="val 16667"/>
            </a:avLst>
          </a:prstGeom>
          <a:solidFill>
            <a:srgbClr val="EEF0FB"/>
          </a:solidFill>
          <a:ln>
            <a:noFill/>
          </a:ln>
        </p:spPr>
        <p:txBody>
          <a:bodyPr/>
          <a:lstStyle/>
          <a:p>
            <a:endParaRPr/>
          </a:p>
        </p:txBody>
      </p:sp>
      <p:sp>
        <p:nvSpPr>
          <p:cNvPr id="21" name="CardLbl21"/>
          <p:cNvSpPr txBox="1"/>
          <p:nvPr/>
        </p:nvSpPr>
        <p:spPr>
          <a:xfrm>
            <a:off x="6200000" y="1080000"/>
            <a:ext cx="5535000" cy="400000"/>
          </a:xfrm>
          <a:prstGeom prst="rect">
            <a:avLst/>
          </a:prstGeom>
          <a:solidFill>
            <a:srgbClr val="2D3091"/>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Comparison</a:t>
            </a:r>
          </a:p>
        </p:txBody>
      </p:sp>
      <p:sp>
        <p:nvSpPr>
          <p:cNvPr id="22" name="CardTxt22"/>
          <p:cNvSpPr txBox="1"/>
          <p:nvPr/>
        </p:nvSpPr>
        <p:spPr>
          <a:xfrm>
            <a:off x="6291440" y="1520000"/>
            <a:ext cx="5352120" cy="1333050"/>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Policy Iter:  full eval then improve  →  fewer iterations, expensive per iter.</a:t>
            </a:r>
          </a:p>
          <a:p>
            <a:pPr>
              <a:lnSpc>
                <a:spcPts val="2000"/>
              </a:lnSpc>
            </a:pPr>
            <a:r>
              <a:rPr lang="en-US" sz="1600" dirty="0">
                <a:solidFill>
                  <a:srgbClr val="1E1E2E"/>
                </a:solidFill>
                <a:latin typeface="Calibri"/>
              </a:rPr>
              <a:t>Value Iter:  1 sweep then improve  →  more iterations, cheaper per iter.</a:t>
            </a:r>
          </a:p>
          <a:p>
            <a:pPr>
              <a:lnSpc>
                <a:spcPts val="2000"/>
              </a:lnSpc>
            </a:pPr>
            <a:r>
              <a:rPr lang="en-US" sz="1600" dirty="0">
                <a:solidFill>
                  <a:srgbClr val="1E1E2E"/>
                </a:solidFill>
                <a:latin typeface="Calibri"/>
              </a:rPr>
              <a:t>Both converge to V* and π*. Value Iter often faster in practice.</a:t>
            </a:r>
          </a:p>
        </p:txBody>
      </p:sp>
      <p:sp>
        <p:nvSpPr>
          <p:cNvPr id="30" name="UpdBg"/>
          <p:cNvSpPr>
            <a:spLocks noGrp="1"/>
          </p:cNvSpPr>
          <p:nvPr/>
        </p:nvSpPr>
        <p:spPr>
          <a:xfrm>
            <a:off x="457200" y="3200000"/>
            <a:ext cx="11277600" cy="760000"/>
          </a:xfrm>
          <a:prstGeom prst="roundRect">
            <a:avLst>
              <a:gd name="adj" fmla="val 16667"/>
            </a:avLst>
          </a:prstGeom>
          <a:solidFill>
            <a:srgbClr val="1B1472"/>
          </a:solidFill>
          <a:ln>
            <a:noFill/>
          </a:ln>
        </p:spPr>
        <p:txBody>
          <a:bodyPr/>
          <a:lstStyle/>
          <a:p>
            <a:endParaRPr/>
          </a:p>
        </p:txBody>
      </p:sp>
      <p:sp>
        <p:nvSpPr>
          <p:cNvPr id="31" name="UpdTxt"/>
          <p:cNvSpPr txBox="1"/>
          <p:nvPr/>
        </p:nvSpPr>
        <p:spPr>
          <a:xfrm>
            <a:off x="700000" y="3260000"/>
            <a:ext cx="10800000" cy="620000"/>
          </a:xfrm>
          <a:prstGeom prst="rect">
            <a:avLst/>
          </a:prstGeom>
          <a:noFill/>
          <a:ln>
            <a:noFill/>
          </a:ln>
        </p:spPr>
        <p:txBody>
          <a:bodyPr wrap="square" lIns="91440" tIns="45720" rIns="91440" bIns="45720" anchor="t">
            <a:spAutoFit/>
          </a:bodyPr>
          <a:lstStyle/>
          <a:p>
            <a:pPr>
              <a:lnSpc>
                <a:spcPts val="2000"/>
              </a:lnSpc>
            </a:pPr>
            <a:r>
              <a:rPr lang="en-US" sz="1800" b="1" dirty="0">
                <a:solidFill>
                  <a:srgbClr val="FFFFFF"/>
                </a:solidFill>
                <a:latin typeface="Calibri"/>
              </a:rPr>
              <a:t>Update Rule:   Vₖ₊₁(s) = maxₐ Σₛ’,ᵣ p(s’,r|s,a) [ r + γ Vₖ(s’) ]</a:t>
            </a:r>
          </a:p>
        </p:txBody>
      </p:sp>
      <p:sp>
        <p:nvSpPr>
          <p:cNvPr id="40" name="AlgBg"/>
          <p:cNvSpPr>
            <a:spLocks noGrp="1"/>
          </p:cNvSpPr>
          <p:nvPr/>
        </p:nvSpPr>
        <p:spPr>
          <a:xfrm>
            <a:off x="457200" y="4080000"/>
            <a:ext cx="11277600" cy="2350000"/>
          </a:xfrm>
          <a:prstGeom prst="roundRect">
            <a:avLst>
              <a:gd name="adj" fmla="val 16667"/>
            </a:avLst>
          </a:prstGeom>
          <a:solidFill>
            <a:srgbClr val="F5F5FF"/>
          </a:solidFill>
          <a:ln>
            <a:noFill/>
          </a:ln>
        </p:spPr>
        <p:txBody>
          <a:bodyPr/>
          <a:lstStyle/>
          <a:p>
            <a:endParaRPr/>
          </a:p>
        </p:txBody>
      </p:sp>
      <p:sp>
        <p:nvSpPr>
          <p:cNvPr id="41" name="AlgBorder"/>
          <p:cNvSpPr>
            <a:spLocks noGrp="1"/>
          </p:cNvSpPr>
          <p:nvPr/>
        </p:nvSpPr>
        <p:spPr>
          <a:xfrm>
            <a:off x="457200" y="4080000"/>
            <a:ext cx="11277600" cy="2350000"/>
          </a:xfrm>
          <a:prstGeom prst="rect">
            <a:avLst/>
          </a:prstGeom>
          <a:noFill/>
          <a:ln w="19050">
            <a:solidFill>
              <a:srgbClr val="1B1472"/>
            </a:solidFill>
          </a:ln>
        </p:spPr>
        <p:txBody>
          <a:bodyPr/>
          <a:lstStyle/>
          <a:p>
            <a:endParaRPr/>
          </a:p>
        </p:txBody>
      </p:sp>
      <p:sp>
        <p:nvSpPr>
          <p:cNvPr id="42" name="AlgLbl"/>
          <p:cNvSpPr txBox="1"/>
          <p:nvPr/>
        </p:nvSpPr>
        <p:spPr>
          <a:xfrm>
            <a:off x="457200" y="4080000"/>
            <a:ext cx="11277600" cy="380000"/>
          </a:xfrm>
          <a:prstGeom prst="rect">
            <a:avLst/>
          </a:prstGeom>
          <a:solidFill>
            <a:srgbClr val="1B1472"/>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Value Iteration Algorithm</a:t>
            </a:r>
          </a:p>
        </p:txBody>
      </p:sp>
      <p:sp>
        <p:nvSpPr>
          <p:cNvPr id="50" name="AlgLine0"/>
          <p:cNvSpPr txBox="1"/>
          <p:nvPr/>
        </p:nvSpPr>
        <p:spPr>
          <a:xfrm>
            <a:off x="700000" y="4540000"/>
            <a:ext cx="10800000" cy="299921"/>
          </a:xfrm>
          <a:prstGeom prst="rect">
            <a:avLst/>
          </a:prstGeom>
          <a:noFill/>
          <a:ln>
            <a:noFill/>
          </a:ln>
        </p:spPr>
        <p:txBody>
          <a:bodyPr wrap="square" lIns="60000" tIns="10000" rIns="91440" bIns="45720" anchor="t">
            <a:spAutoFit/>
          </a:bodyPr>
          <a:lstStyle/>
          <a:p>
            <a:pPr>
              <a:lnSpc>
                <a:spcPts val="1900"/>
              </a:lnSpc>
            </a:pPr>
            <a:r>
              <a:rPr lang="en-US" sz="1600" dirty="0">
                <a:solidFill>
                  <a:srgbClr val="1E1E2E"/>
                </a:solidFill>
                <a:latin typeface="Calibri"/>
              </a:rPr>
              <a:t>Initialise V(s) arbitrarily;  V(terminal) = 0</a:t>
            </a:r>
          </a:p>
        </p:txBody>
      </p:sp>
      <p:sp>
        <p:nvSpPr>
          <p:cNvPr id="51" name="AlgLine1"/>
          <p:cNvSpPr txBox="1"/>
          <p:nvPr/>
        </p:nvSpPr>
        <p:spPr>
          <a:xfrm>
            <a:off x="700000" y="4900000"/>
            <a:ext cx="10800000" cy="299921"/>
          </a:xfrm>
          <a:prstGeom prst="rect">
            <a:avLst/>
          </a:prstGeom>
          <a:noFill/>
          <a:ln>
            <a:noFill/>
          </a:ln>
        </p:spPr>
        <p:txBody>
          <a:bodyPr wrap="square" lIns="60000" tIns="10000" rIns="91440" bIns="45720" anchor="t">
            <a:spAutoFit/>
          </a:bodyPr>
          <a:lstStyle/>
          <a:p>
            <a:pPr>
              <a:lnSpc>
                <a:spcPts val="1900"/>
              </a:lnSpc>
            </a:pPr>
            <a:r>
              <a:rPr lang="en-US" sz="1600" b="1" dirty="0">
                <a:solidFill>
                  <a:srgbClr val="1B1472"/>
                </a:solidFill>
                <a:latin typeface="Calibri"/>
              </a:rPr>
              <a:t>Repeat:   δ ← 0</a:t>
            </a:r>
          </a:p>
        </p:txBody>
      </p:sp>
      <p:sp>
        <p:nvSpPr>
          <p:cNvPr id="52" name="AlgLine2"/>
          <p:cNvSpPr txBox="1"/>
          <p:nvPr/>
        </p:nvSpPr>
        <p:spPr>
          <a:xfrm>
            <a:off x="700000" y="5260000"/>
            <a:ext cx="10800000" cy="299921"/>
          </a:xfrm>
          <a:prstGeom prst="rect">
            <a:avLst/>
          </a:prstGeom>
          <a:noFill/>
          <a:ln>
            <a:noFill/>
          </a:ln>
        </p:spPr>
        <p:txBody>
          <a:bodyPr wrap="square" lIns="60000" tIns="10000" rIns="91440" bIns="45720" anchor="t">
            <a:spAutoFit/>
          </a:bodyPr>
          <a:lstStyle/>
          <a:p>
            <a:pPr>
              <a:lnSpc>
                <a:spcPts val="1900"/>
              </a:lnSpc>
            </a:pPr>
            <a:r>
              <a:rPr lang="en-US" sz="1600" dirty="0">
                <a:solidFill>
                  <a:srgbClr val="1E1E2E"/>
                </a:solidFill>
                <a:latin typeface="Calibri"/>
              </a:rPr>
              <a:t>  For each s ∈ S:   V(s) ← maxₐ Σ p(s’,r|s,a)[r + γ V(s’)];   δ ← max(δ, |v − V(s)|)</a:t>
            </a:r>
          </a:p>
        </p:txBody>
      </p:sp>
      <p:sp>
        <p:nvSpPr>
          <p:cNvPr id="53" name="AlgLine3"/>
          <p:cNvSpPr txBox="1"/>
          <p:nvPr/>
        </p:nvSpPr>
        <p:spPr>
          <a:xfrm>
            <a:off x="700000" y="5620000"/>
            <a:ext cx="10800000" cy="299921"/>
          </a:xfrm>
          <a:prstGeom prst="rect">
            <a:avLst/>
          </a:prstGeom>
          <a:noFill/>
          <a:ln>
            <a:noFill/>
          </a:ln>
        </p:spPr>
        <p:txBody>
          <a:bodyPr wrap="square" lIns="60000" tIns="10000" rIns="91440" bIns="45720" anchor="t">
            <a:spAutoFit/>
          </a:bodyPr>
          <a:lstStyle/>
          <a:p>
            <a:pPr>
              <a:lnSpc>
                <a:spcPts val="1900"/>
              </a:lnSpc>
            </a:pPr>
            <a:r>
              <a:rPr lang="en-US" sz="1600" b="1" dirty="0">
                <a:solidFill>
                  <a:srgbClr val="1B1472"/>
                </a:solidFill>
                <a:latin typeface="Calibri"/>
              </a:rPr>
              <a:t>Until δ &lt; θ</a:t>
            </a:r>
          </a:p>
        </p:txBody>
      </p:sp>
      <p:sp>
        <p:nvSpPr>
          <p:cNvPr id="54" name="AlgLine4"/>
          <p:cNvSpPr txBox="1"/>
          <p:nvPr/>
        </p:nvSpPr>
        <p:spPr>
          <a:xfrm>
            <a:off x="700000" y="5980000"/>
            <a:ext cx="10800000" cy="299921"/>
          </a:xfrm>
          <a:prstGeom prst="rect">
            <a:avLst/>
          </a:prstGeom>
          <a:noFill/>
          <a:ln>
            <a:noFill/>
          </a:ln>
        </p:spPr>
        <p:txBody>
          <a:bodyPr wrap="square" lIns="60000" tIns="10000" rIns="91440" bIns="45720" anchor="t">
            <a:spAutoFit/>
          </a:bodyPr>
          <a:lstStyle/>
          <a:p>
            <a:pPr>
              <a:lnSpc>
                <a:spcPts val="1900"/>
              </a:lnSpc>
            </a:pPr>
            <a:r>
              <a:rPr lang="en-US" sz="1600" dirty="0">
                <a:solidFill>
                  <a:srgbClr val="1E1E2E"/>
                </a:solidFill>
                <a:latin typeface="Calibri"/>
              </a:rPr>
              <a:t>Extract policy:  π*(s) = argmaxₐ Σ p(s’,r|s,a)[r + γ V(s’)]</a:t>
            </a:r>
          </a:p>
        </p:txBody>
      </p:sp>
      <p:sp>
        <p:nvSpPr>
          <p:cNvPr id="3" name="Footer"/>
          <p:cNvSpPr>
            <a:spLocks noGrp="1"/>
          </p:cNvSpPr>
          <p:nvPr>
            <p:ph type="ftr" idx="10"/>
          </p:nvPr>
        </p:nvSpPr>
        <p:spPr/>
        <p:txBody>
          <a:bodyPr/>
          <a:lstStyle/>
          <a:p>
            <a:r>
              <a:rPr lang="en-IN"/>
              <a:t>Faculty Development Workshop on Deep Reinforcement Learning - 9 &amp; 10 March,2026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9"/>
          <p:cNvSpPr txBox="1">
            <a:spLocks noGrp="1"/>
          </p:cNvSpPr>
          <p:nvPr>
            <p:ph type="title"/>
          </p:nvPr>
        </p:nvSpPr>
        <p:spPr>
          <a:xfrm>
            <a:off x="177559" y="231524"/>
            <a:ext cx="10448049" cy="552908"/>
          </a:xfrm>
          <a:prstGeom prst="rect">
            <a:avLst/>
          </a:prstGeom>
          <a:noFill/>
          <a:ln>
            <a:noFill/>
          </a:ln>
        </p:spPr>
        <p:txBody>
          <a:bodyPr spcFirstLastPara="1" wrap="square" lIns="0" tIns="0" rIns="0" bIns="0" anchor="t" anchorCtr="0">
            <a:spAutoFit/>
          </a:bodyPr>
          <a:lstStyle/>
          <a:p>
            <a:endParaRPr/>
          </a:p>
        </p:txBody>
      </p:sp>
      <p:sp>
        <p:nvSpPr>
          <p:cNvPr id="208" name="Google Shape;208;p9"/>
          <p:cNvSpPr txBox="1">
            <a:spLocks noGrp="1"/>
          </p:cNvSpPr>
          <p:nvPr>
            <p:ph type="body" idx="1"/>
          </p:nvPr>
        </p:nvSpPr>
        <p:spPr>
          <a:xfrm>
            <a:off x="1887213" y="1090840"/>
            <a:ext cx="8057814" cy="4684167"/>
          </a:xfrm>
          <a:prstGeom prst="rect">
            <a:avLst/>
          </a:prstGeom>
          <a:noFill/>
          <a:ln>
            <a:noFill/>
          </a:ln>
        </p:spPr>
        <p:txBody>
          <a:bodyPr spcFirstLastPara="1" wrap="square" lIns="0" tIns="0" rIns="0" bIns="0" anchor="t" anchorCtr="0">
            <a:spAutoFit/>
          </a:bodyPr>
          <a:lstStyle/>
          <a:p>
            <a:pPr algn="ctr"/>
            <a:r>
              <a:rPr lang="en-US" sz="3382" b="1"/>
              <a:t>Dynamic Programming Solution </a:t>
            </a:r>
            <a:endParaRPr/>
          </a:p>
          <a:p>
            <a:pPr algn="ctr"/>
            <a:endParaRPr sz="3382" b="1"/>
          </a:p>
          <a:p>
            <a:pPr algn="ctr"/>
            <a:endParaRPr sz="3382" b="1"/>
          </a:p>
          <a:p>
            <a:pPr algn="ctr"/>
            <a:endParaRPr sz="3382" b="1"/>
          </a:p>
          <a:p>
            <a:pPr algn="ctr"/>
            <a:endParaRPr sz="3382" b="1"/>
          </a:p>
          <a:p>
            <a:pPr algn="ctr"/>
            <a:endParaRPr sz="3382" b="1"/>
          </a:p>
          <a:p>
            <a:pPr algn="ctr"/>
            <a:endParaRPr sz="3382" b="1"/>
          </a:p>
          <a:p>
            <a:pPr algn="ctr"/>
            <a:endParaRPr sz="3382" b="1"/>
          </a:p>
          <a:p>
            <a:pPr algn="ctr"/>
            <a:r>
              <a:rPr lang="en-US" sz="3382" b="1">
                <a:solidFill>
                  <a:schemeClr val="dk1"/>
                </a:solidFill>
              </a:rPr>
              <a:t>Value Iteration Algorithm</a:t>
            </a:r>
            <a:endParaRPr sz="3382" b="1">
              <a:solidFill>
                <a:schemeClr val="dk1"/>
              </a:solidFill>
            </a:endParaRPr>
          </a:p>
        </p:txBody>
      </p:sp>
      <p:sp>
        <p:nvSpPr>
          <p:cNvPr id="2" name="Footer">
            <a:extLst>
              <a:ext uri="{FF2B5EF4-FFF2-40B4-BE49-F238E27FC236}">
                <a16:creationId xmlns:a16="http://schemas.microsoft.com/office/drawing/2014/main" id="{304BABAF-B377-00AD-8884-2613A278E99E}"/>
              </a:ext>
            </a:extLst>
          </p:cNvPr>
          <p:cNvSpPr txBox="1">
            <a:spLocks/>
          </p:cNvSpPr>
          <p:nvPr/>
        </p:nvSpPr>
        <p:spPr>
          <a:xfrm>
            <a:off x="3028707" y="6534143"/>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11"/>
          <p:cNvSpPr txBox="1">
            <a:spLocks noGrp="1"/>
          </p:cNvSpPr>
          <p:nvPr>
            <p:ph type="title"/>
          </p:nvPr>
        </p:nvSpPr>
        <p:spPr>
          <a:xfrm>
            <a:off x="177559" y="231525"/>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 – Value Iteration</a:t>
            </a:r>
            <a:endParaRPr/>
          </a:p>
        </p:txBody>
      </p:sp>
      <p:sp>
        <p:nvSpPr>
          <p:cNvPr id="266" name="Google Shape;266;p11"/>
          <p:cNvSpPr/>
          <p:nvPr/>
        </p:nvSpPr>
        <p:spPr>
          <a:xfrm>
            <a:off x="11044484" y="1148949"/>
            <a:ext cx="0" cy="8848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nvGrpSpPr>
          <p:cNvPr id="267" name="Google Shape;267;p11"/>
          <p:cNvGrpSpPr/>
          <p:nvPr/>
        </p:nvGrpSpPr>
        <p:grpSpPr>
          <a:xfrm>
            <a:off x="2983" y="6571410"/>
            <a:ext cx="12174329" cy="194601"/>
            <a:chOff x="0" y="3109250"/>
            <a:chExt cx="5760261" cy="92075"/>
          </a:xfrm>
        </p:grpSpPr>
        <p:sp>
          <p:nvSpPr>
            <p:cNvPr id="268" name="Google Shape;268;p1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269" name="Google Shape;269;p1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270" name="Google Shape;270;p1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272" name="Google Shape;272;p1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19</a:t>
            </a:fld>
            <a:r>
              <a:rPr lang="en-US"/>
              <a:t> / 46</a:t>
            </a:r>
            <a:endParaRPr/>
          </a:p>
        </p:txBody>
      </p:sp>
      <p:pic>
        <p:nvPicPr>
          <p:cNvPr id="273" name="Google Shape;273;p11" descr="A screenshot of a cell phone  Description automatically generated"/>
          <p:cNvPicPr preferRelativeResize="0">
            <a:picLocks noGrp="1"/>
          </p:cNvPicPr>
          <p:nvPr>
            <p:ph type="body" idx="1"/>
          </p:nvPr>
        </p:nvPicPr>
        <p:blipFill rotWithShape="1">
          <a:blip r:embed="rId3">
            <a:alphaModFix/>
          </a:blip>
          <a:srcRect l="1654" t="2135" r="39745" b="2438"/>
          <a:stretch/>
        </p:blipFill>
        <p:spPr>
          <a:xfrm>
            <a:off x="8988302" y="178576"/>
            <a:ext cx="3186987" cy="2853525"/>
          </a:xfrm>
          <a:prstGeom prst="rect">
            <a:avLst/>
          </a:prstGeom>
          <a:noFill/>
          <a:ln>
            <a:noFill/>
          </a:ln>
        </p:spPr>
      </p:pic>
      <p:pic>
        <p:nvPicPr>
          <p:cNvPr id="274" name="Google Shape;274;p11" descr="TP_tmp.png"/>
          <p:cNvPicPr preferRelativeResize="0"/>
          <p:nvPr/>
        </p:nvPicPr>
        <p:blipFill rotWithShape="1">
          <a:blip r:embed="rId4">
            <a:alphaModFix/>
          </a:blip>
          <a:srcRect/>
          <a:stretch/>
        </p:blipFill>
        <p:spPr>
          <a:xfrm>
            <a:off x="364607" y="1756415"/>
            <a:ext cx="203949" cy="322518"/>
          </a:xfrm>
          <a:prstGeom prst="rect">
            <a:avLst/>
          </a:prstGeom>
          <a:noFill/>
          <a:ln>
            <a:noFill/>
          </a:ln>
        </p:spPr>
      </p:pic>
      <p:pic>
        <p:nvPicPr>
          <p:cNvPr id="275" name="Google Shape;275;p11"/>
          <p:cNvPicPr preferRelativeResize="0"/>
          <p:nvPr/>
        </p:nvPicPr>
        <p:blipFill rotWithShape="1">
          <a:blip r:embed="rId5">
            <a:alphaModFix/>
          </a:blip>
          <a:srcRect/>
          <a:stretch/>
        </p:blipFill>
        <p:spPr>
          <a:xfrm>
            <a:off x="1123247" y="1115162"/>
            <a:ext cx="535435" cy="556722"/>
          </a:xfrm>
          <a:prstGeom prst="rect">
            <a:avLst/>
          </a:prstGeom>
          <a:noFill/>
          <a:ln>
            <a:noFill/>
          </a:ln>
        </p:spPr>
      </p:pic>
      <p:pic>
        <p:nvPicPr>
          <p:cNvPr id="276" name="Google Shape;276;p11"/>
          <p:cNvPicPr preferRelativeResize="0"/>
          <p:nvPr/>
        </p:nvPicPr>
        <p:blipFill rotWithShape="1">
          <a:blip r:embed="rId6">
            <a:alphaModFix/>
          </a:blip>
          <a:srcRect/>
          <a:stretch/>
        </p:blipFill>
        <p:spPr>
          <a:xfrm>
            <a:off x="2509775" y="1035634"/>
            <a:ext cx="568088" cy="636251"/>
          </a:xfrm>
          <a:prstGeom prst="rect">
            <a:avLst/>
          </a:prstGeom>
          <a:noFill/>
          <a:ln>
            <a:noFill/>
          </a:ln>
        </p:spPr>
      </p:pic>
      <p:pic>
        <p:nvPicPr>
          <p:cNvPr id="277" name="Google Shape;277;p11"/>
          <p:cNvPicPr preferRelativeResize="0"/>
          <p:nvPr/>
        </p:nvPicPr>
        <p:blipFill rotWithShape="1">
          <a:blip r:embed="rId7">
            <a:alphaModFix/>
          </a:blip>
          <a:srcRect/>
          <a:stretch/>
        </p:blipFill>
        <p:spPr>
          <a:xfrm>
            <a:off x="1821735" y="1077450"/>
            <a:ext cx="585286" cy="583232"/>
          </a:xfrm>
          <a:prstGeom prst="rect">
            <a:avLst/>
          </a:prstGeom>
          <a:noFill/>
          <a:ln>
            <a:noFill/>
          </a:ln>
        </p:spPr>
      </p:pic>
      <p:sp>
        <p:nvSpPr>
          <p:cNvPr id="278" name="Google Shape;278;p11"/>
          <p:cNvSpPr/>
          <p:nvPr/>
        </p:nvSpPr>
        <p:spPr>
          <a:xfrm>
            <a:off x="657828" y="3005348"/>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279" name="Google Shape;279;p11"/>
          <p:cNvSpPr/>
          <p:nvPr/>
        </p:nvSpPr>
        <p:spPr>
          <a:xfrm>
            <a:off x="690038" y="2276822"/>
            <a:ext cx="2928770" cy="455253"/>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280" name="Google Shape;280;p11"/>
          <p:cNvSpPr/>
          <p:nvPr/>
        </p:nvSpPr>
        <p:spPr>
          <a:xfrm>
            <a:off x="696040" y="1667731"/>
            <a:ext cx="2928770" cy="455257"/>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pic>
        <p:nvPicPr>
          <p:cNvPr id="281" name="Google Shape;281;p11" descr="TP_tmp.png"/>
          <p:cNvPicPr preferRelativeResize="0"/>
          <p:nvPr/>
        </p:nvPicPr>
        <p:blipFill rotWithShape="1">
          <a:blip r:embed="rId8">
            <a:alphaModFix/>
          </a:blip>
          <a:srcRect/>
          <a:stretch/>
        </p:blipFill>
        <p:spPr>
          <a:xfrm>
            <a:off x="346553" y="2375833"/>
            <a:ext cx="183630" cy="323298"/>
          </a:xfrm>
          <a:prstGeom prst="rect">
            <a:avLst/>
          </a:prstGeom>
          <a:noFill/>
          <a:ln>
            <a:noFill/>
          </a:ln>
        </p:spPr>
      </p:pic>
      <p:pic>
        <p:nvPicPr>
          <p:cNvPr id="282" name="Google Shape;282;p11" descr="TP_tmp.png"/>
          <p:cNvPicPr preferRelativeResize="0"/>
          <p:nvPr/>
        </p:nvPicPr>
        <p:blipFill rotWithShape="1">
          <a:blip r:embed="rId9">
            <a:alphaModFix/>
          </a:blip>
          <a:srcRect/>
          <a:stretch/>
        </p:blipFill>
        <p:spPr>
          <a:xfrm>
            <a:off x="353872" y="3017816"/>
            <a:ext cx="204441" cy="323298"/>
          </a:xfrm>
          <a:prstGeom prst="rect">
            <a:avLst/>
          </a:prstGeom>
          <a:noFill/>
          <a:ln>
            <a:noFill/>
          </a:ln>
        </p:spPr>
      </p:pic>
      <p:sp>
        <p:nvSpPr>
          <p:cNvPr id="283" name="Google Shape;283;p11"/>
          <p:cNvSpPr txBox="1"/>
          <p:nvPr/>
        </p:nvSpPr>
        <p:spPr>
          <a:xfrm>
            <a:off x="1098665" y="1667735"/>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0             0             0 ……..</a:t>
            </a:r>
            <a:endParaRPr sz="634">
              <a:solidFill>
                <a:srgbClr val="000000"/>
              </a:solidFill>
              <a:latin typeface="Arial"/>
              <a:ea typeface="Arial"/>
              <a:cs typeface="Arial"/>
              <a:sym typeface="Arial"/>
            </a:endParaRPr>
          </a:p>
        </p:txBody>
      </p:sp>
      <p:sp>
        <p:nvSpPr>
          <p:cNvPr id="284" name="Google Shape;284;p11"/>
          <p:cNvSpPr/>
          <p:nvPr/>
        </p:nvSpPr>
        <p:spPr>
          <a:xfrm>
            <a:off x="8591732" y="1143682"/>
            <a:ext cx="396569" cy="112734"/>
          </a:xfrm>
          <a:prstGeom prst="rightArrow">
            <a:avLst>
              <a:gd name="adj1" fmla="val 50000"/>
              <a:gd name="adj2" fmla="val 50000"/>
            </a:avLst>
          </a:prstGeom>
          <a:solidFill>
            <a:srgbClr val="E9A820"/>
          </a:solidFill>
          <a:ln w="25400" cap="flat" cmpd="sng">
            <a:solidFill>
              <a:srgbClr val="E9A820"/>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lt1"/>
              </a:solidFill>
              <a:latin typeface="Arial"/>
              <a:ea typeface="Arial"/>
              <a:cs typeface="Arial"/>
              <a:sym typeface="Arial"/>
            </a:endParaRPr>
          </a:p>
        </p:txBody>
      </p:sp>
      <p:pic>
        <p:nvPicPr>
          <p:cNvPr id="285" name="Google Shape;285;p11"/>
          <p:cNvPicPr preferRelativeResize="0"/>
          <p:nvPr/>
        </p:nvPicPr>
        <p:blipFill rotWithShape="1">
          <a:blip r:embed="rId10">
            <a:alphaModFix/>
          </a:blip>
          <a:srcRect/>
          <a:stretch/>
        </p:blipFill>
        <p:spPr>
          <a:xfrm>
            <a:off x="7217220" y="3254172"/>
            <a:ext cx="4960091" cy="3006946"/>
          </a:xfrm>
          <a:prstGeom prst="rect">
            <a:avLst/>
          </a:prstGeom>
          <a:noFill/>
          <a:ln>
            <a:noFill/>
          </a:ln>
        </p:spPr>
      </p:pic>
      <p:pic>
        <p:nvPicPr>
          <p:cNvPr id="286" name="Google Shape;286;p11"/>
          <p:cNvPicPr preferRelativeResize="0"/>
          <p:nvPr/>
        </p:nvPicPr>
        <p:blipFill rotWithShape="1">
          <a:blip r:embed="rId11">
            <a:alphaModFix/>
          </a:blip>
          <a:srcRect/>
          <a:stretch/>
        </p:blipFill>
        <p:spPr>
          <a:xfrm>
            <a:off x="9909066" y="684827"/>
            <a:ext cx="672728" cy="262364"/>
          </a:xfrm>
          <a:prstGeom prst="rect">
            <a:avLst/>
          </a:prstGeom>
          <a:noFill/>
          <a:ln>
            <a:noFill/>
          </a:ln>
        </p:spPr>
      </p:pic>
      <p:sp>
        <p:nvSpPr>
          <p:cNvPr id="287" name="Google Shape;287;p11"/>
          <p:cNvSpPr/>
          <p:nvPr/>
        </p:nvSpPr>
        <p:spPr>
          <a:xfrm>
            <a:off x="6050456" y="841601"/>
            <a:ext cx="778978" cy="512157"/>
          </a:xfrm>
          <a:prstGeom prst="triangle">
            <a:avLst>
              <a:gd name="adj" fmla="val 50000"/>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288" name="Google Shape;288;p11"/>
          <p:cNvSpPr/>
          <p:nvPr/>
        </p:nvSpPr>
        <p:spPr>
          <a:xfrm>
            <a:off x="6892541" y="1813470"/>
            <a:ext cx="625462" cy="437850"/>
          </a:xfrm>
          <a:prstGeom prst="ellipse">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289" name="Google Shape;289;p11"/>
          <p:cNvSpPr/>
          <p:nvPr/>
        </p:nvSpPr>
        <p:spPr>
          <a:xfrm>
            <a:off x="5047781" y="1829569"/>
            <a:ext cx="625462" cy="437850"/>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290" name="Google Shape;290;p11"/>
          <p:cNvSpPr/>
          <p:nvPr/>
        </p:nvSpPr>
        <p:spPr>
          <a:xfrm>
            <a:off x="4725108" y="2628430"/>
            <a:ext cx="590200" cy="417406"/>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291" name="Google Shape;291;p11"/>
          <p:cNvSpPr/>
          <p:nvPr/>
        </p:nvSpPr>
        <p:spPr>
          <a:xfrm>
            <a:off x="6425087" y="2628427"/>
            <a:ext cx="590200" cy="417406"/>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292" name="Google Shape;292;p11"/>
          <p:cNvSpPr/>
          <p:nvPr/>
        </p:nvSpPr>
        <p:spPr>
          <a:xfrm>
            <a:off x="7633305" y="2635890"/>
            <a:ext cx="590200" cy="417406"/>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cxnSp>
        <p:nvCxnSpPr>
          <p:cNvPr id="293" name="Google Shape;293;p11"/>
          <p:cNvCxnSpPr>
            <a:stCxn id="287" idx="3"/>
            <a:endCxn id="289" idx="7"/>
          </p:cNvCxnSpPr>
          <p:nvPr/>
        </p:nvCxnSpPr>
        <p:spPr>
          <a:xfrm flipH="1">
            <a:off x="5581440" y="1353758"/>
            <a:ext cx="858505" cy="540211"/>
          </a:xfrm>
          <a:prstGeom prst="straightConnector1">
            <a:avLst/>
          </a:prstGeom>
          <a:noFill/>
          <a:ln w="9525" cap="flat" cmpd="sng">
            <a:solidFill>
              <a:schemeClr val="dk1"/>
            </a:solidFill>
            <a:prstDash val="solid"/>
            <a:miter lim="800000"/>
            <a:headEnd type="none" w="sm" len="sm"/>
            <a:tailEnd type="triangle" w="med" len="med"/>
          </a:ln>
        </p:spPr>
      </p:cxnSp>
      <p:cxnSp>
        <p:nvCxnSpPr>
          <p:cNvPr id="294" name="Google Shape;294;p11"/>
          <p:cNvCxnSpPr>
            <a:stCxn id="287" idx="3"/>
            <a:endCxn id="288" idx="1"/>
          </p:cNvCxnSpPr>
          <p:nvPr/>
        </p:nvCxnSpPr>
        <p:spPr>
          <a:xfrm>
            <a:off x="6439945" y="1353758"/>
            <a:ext cx="544016" cy="523726"/>
          </a:xfrm>
          <a:prstGeom prst="straightConnector1">
            <a:avLst/>
          </a:prstGeom>
          <a:noFill/>
          <a:ln w="9525" cap="flat" cmpd="sng">
            <a:solidFill>
              <a:schemeClr val="dk1"/>
            </a:solidFill>
            <a:prstDash val="solid"/>
            <a:miter lim="800000"/>
            <a:headEnd type="none" w="sm" len="sm"/>
            <a:tailEnd type="triangle" w="med" len="med"/>
          </a:ln>
        </p:spPr>
      </p:cxnSp>
      <p:cxnSp>
        <p:nvCxnSpPr>
          <p:cNvPr id="295" name="Google Shape;295;p11"/>
          <p:cNvCxnSpPr>
            <a:stCxn id="289" idx="4"/>
            <a:endCxn id="290" idx="0"/>
          </p:cNvCxnSpPr>
          <p:nvPr/>
        </p:nvCxnSpPr>
        <p:spPr>
          <a:xfrm flipH="1">
            <a:off x="5020026" y="2267419"/>
            <a:ext cx="340485" cy="360775"/>
          </a:xfrm>
          <a:prstGeom prst="straightConnector1">
            <a:avLst/>
          </a:prstGeom>
          <a:noFill/>
          <a:ln w="9525" cap="flat" cmpd="sng">
            <a:solidFill>
              <a:schemeClr val="dk1"/>
            </a:solidFill>
            <a:prstDash val="solid"/>
            <a:miter lim="800000"/>
            <a:headEnd type="none" w="sm" len="sm"/>
            <a:tailEnd type="triangle" w="med" len="med"/>
          </a:ln>
        </p:spPr>
      </p:cxnSp>
      <p:cxnSp>
        <p:nvCxnSpPr>
          <p:cNvPr id="296" name="Google Shape;296;p11"/>
          <p:cNvCxnSpPr>
            <a:stCxn id="288" idx="4"/>
            <a:endCxn id="292" idx="0"/>
          </p:cNvCxnSpPr>
          <p:nvPr/>
        </p:nvCxnSpPr>
        <p:spPr>
          <a:xfrm>
            <a:off x="7205272" y="2251320"/>
            <a:ext cx="722818" cy="384869"/>
          </a:xfrm>
          <a:prstGeom prst="straightConnector1">
            <a:avLst/>
          </a:prstGeom>
          <a:noFill/>
          <a:ln w="9525" cap="flat" cmpd="sng">
            <a:solidFill>
              <a:schemeClr val="dk1"/>
            </a:solidFill>
            <a:prstDash val="solid"/>
            <a:miter lim="800000"/>
            <a:headEnd type="none" w="sm" len="sm"/>
            <a:tailEnd type="triangle" w="med" len="med"/>
          </a:ln>
        </p:spPr>
      </p:cxnSp>
      <p:cxnSp>
        <p:nvCxnSpPr>
          <p:cNvPr id="297" name="Google Shape;297;p11"/>
          <p:cNvCxnSpPr>
            <a:stCxn id="288" idx="4"/>
            <a:endCxn id="291" idx="0"/>
          </p:cNvCxnSpPr>
          <p:nvPr/>
        </p:nvCxnSpPr>
        <p:spPr>
          <a:xfrm flipH="1">
            <a:off x="6720223" y="2251320"/>
            <a:ext cx="485049" cy="377260"/>
          </a:xfrm>
          <a:prstGeom prst="straightConnector1">
            <a:avLst/>
          </a:prstGeom>
          <a:noFill/>
          <a:ln w="9525" cap="flat" cmpd="sng">
            <a:solidFill>
              <a:schemeClr val="dk1"/>
            </a:solidFill>
            <a:prstDash val="solid"/>
            <a:miter lim="800000"/>
            <a:headEnd type="none" w="sm" len="sm"/>
            <a:tailEnd type="triangle" w="med" len="med"/>
          </a:ln>
        </p:spPr>
      </p:cxnSp>
      <p:cxnSp>
        <p:nvCxnSpPr>
          <p:cNvPr id="298" name="Google Shape;298;p11"/>
          <p:cNvCxnSpPr/>
          <p:nvPr/>
        </p:nvCxnSpPr>
        <p:spPr>
          <a:xfrm flipH="1">
            <a:off x="4851542" y="3045832"/>
            <a:ext cx="158880" cy="452015"/>
          </a:xfrm>
          <a:prstGeom prst="straightConnector1">
            <a:avLst/>
          </a:prstGeom>
          <a:noFill/>
          <a:ln w="19050" cap="flat" cmpd="sng">
            <a:solidFill>
              <a:schemeClr val="dk1"/>
            </a:solidFill>
            <a:prstDash val="dash"/>
            <a:miter lim="800000"/>
            <a:headEnd type="none" w="sm" len="sm"/>
            <a:tailEnd type="triangle" w="med" len="med"/>
          </a:ln>
        </p:spPr>
      </p:cxnSp>
      <p:cxnSp>
        <p:nvCxnSpPr>
          <p:cNvPr id="299" name="Google Shape;299;p11"/>
          <p:cNvCxnSpPr/>
          <p:nvPr/>
        </p:nvCxnSpPr>
        <p:spPr>
          <a:xfrm flipH="1">
            <a:off x="6543567" y="3033158"/>
            <a:ext cx="183589" cy="433112"/>
          </a:xfrm>
          <a:prstGeom prst="straightConnector1">
            <a:avLst/>
          </a:prstGeom>
          <a:noFill/>
          <a:ln w="19050" cap="flat" cmpd="sng">
            <a:solidFill>
              <a:schemeClr val="dk1"/>
            </a:solidFill>
            <a:prstDash val="dash"/>
            <a:miter lim="800000"/>
            <a:headEnd type="none" w="sm" len="sm"/>
            <a:tailEnd type="triangle" w="med" len="med"/>
          </a:ln>
        </p:spPr>
      </p:cxnSp>
      <p:cxnSp>
        <p:nvCxnSpPr>
          <p:cNvPr id="300" name="Google Shape;300;p11"/>
          <p:cNvCxnSpPr/>
          <p:nvPr/>
        </p:nvCxnSpPr>
        <p:spPr>
          <a:xfrm flipH="1">
            <a:off x="7828110" y="3073739"/>
            <a:ext cx="41034" cy="424108"/>
          </a:xfrm>
          <a:prstGeom prst="straightConnector1">
            <a:avLst/>
          </a:prstGeom>
          <a:noFill/>
          <a:ln w="19050" cap="flat" cmpd="sng">
            <a:solidFill>
              <a:schemeClr val="dk1"/>
            </a:solidFill>
            <a:prstDash val="dash"/>
            <a:miter lim="800000"/>
            <a:headEnd type="none" w="sm" len="sm"/>
            <a:tailEnd type="triangle" w="med" len="med"/>
          </a:ln>
        </p:spPr>
      </p:cxnSp>
      <p:cxnSp>
        <p:nvCxnSpPr>
          <p:cNvPr id="301" name="Google Shape;301;p11"/>
          <p:cNvCxnSpPr/>
          <p:nvPr/>
        </p:nvCxnSpPr>
        <p:spPr>
          <a:xfrm>
            <a:off x="7925654" y="3086515"/>
            <a:ext cx="433553" cy="379754"/>
          </a:xfrm>
          <a:prstGeom prst="straightConnector1">
            <a:avLst/>
          </a:prstGeom>
          <a:noFill/>
          <a:ln w="19050" cap="flat" cmpd="sng">
            <a:solidFill>
              <a:schemeClr val="dk1"/>
            </a:solidFill>
            <a:prstDash val="dash"/>
            <a:miter lim="800000"/>
            <a:headEnd type="none" w="sm" len="sm"/>
            <a:tailEnd type="triangle" w="med" len="med"/>
          </a:ln>
        </p:spPr>
      </p:cxnSp>
      <p:cxnSp>
        <p:nvCxnSpPr>
          <p:cNvPr id="302" name="Google Shape;302;p11"/>
          <p:cNvCxnSpPr/>
          <p:nvPr/>
        </p:nvCxnSpPr>
        <p:spPr>
          <a:xfrm>
            <a:off x="6785608" y="3026279"/>
            <a:ext cx="309685" cy="439991"/>
          </a:xfrm>
          <a:prstGeom prst="straightConnector1">
            <a:avLst/>
          </a:prstGeom>
          <a:noFill/>
          <a:ln w="19050" cap="flat" cmpd="sng">
            <a:solidFill>
              <a:schemeClr val="dk1"/>
            </a:solidFill>
            <a:prstDash val="dash"/>
            <a:miter lim="800000"/>
            <a:headEnd type="none" w="sm" len="sm"/>
            <a:tailEnd type="triangle" w="med" len="med"/>
          </a:ln>
        </p:spPr>
      </p:cxnSp>
      <p:cxnSp>
        <p:nvCxnSpPr>
          <p:cNvPr id="303" name="Google Shape;303;p11"/>
          <p:cNvCxnSpPr/>
          <p:nvPr/>
        </p:nvCxnSpPr>
        <p:spPr>
          <a:xfrm>
            <a:off x="5065488" y="3045832"/>
            <a:ext cx="336093" cy="452015"/>
          </a:xfrm>
          <a:prstGeom prst="straightConnector1">
            <a:avLst/>
          </a:prstGeom>
          <a:noFill/>
          <a:ln w="19050" cap="flat" cmpd="sng">
            <a:solidFill>
              <a:schemeClr val="dk1"/>
            </a:solidFill>
            <a:prstDash val="dash"/>
            <a:miter lim="800000"/>
            <a:headEnd type="none" w="sm" len="sm"/>
            <a:tailEnd type="triangle" w="med" len="med"/>
          </a:ln>
        </p:spPr>
      </p:cxnSp>
      <p:sp>
        <p:nvSpPr>
          <p:cNvPr id="304" name="Google Shape;304;p11"/>
          <p:cNvSpPr txBox="1"/>
          <p:nvPr/>
        </p:nvSpPr>
        <p:spPr>
          <a:xfrm>
            <a:off x="4551997" y="3695288"/>
            <a:ext cx="4926580" cy="455260"/>
          </a:xfrm>
          <a:prstGeom prst="rect">
            <a:avLst/>
          </a:prstGeom>
          <a:noFill/>
          <a:ln>
            <a:noFill/>
          </a:ln>
        </p:spPr>
        <p:txBody>
          <a:bodyPr spcFirstLastPara="1" wrap="square" lIns="193227" tIns="96587" rIns="193227" bIns="96587" anchor="t" anchorCtr="0">
            <a:spAutoFit/>
          </a:bodyPr>
          <a:lstStyle/>
          <a:p>
            <a:r>
              <a:rPr lang="en-US" sz="1691" b="1">
                <a:solidFill>
                  <a:srgbClr val="00B050"/>
                </a:solidFill>
                <a:latin typeface="Arial"/>
                <a:ea typeface="Arial"/>
                <a:cs typeface="Arial"/>
                <a:sym typeface="Arial"/>
              </a:rPr>
              <a:t>   1.0                        0.5               0.5</a:t>
            </a:r>
            <a:endParaRPr sz="1691" b="1">
              <a:solidFill>
                <a:srgbClr val="00B050"/>
              </a:solidFill>
              <a:latin typeface="Arial"/>
              <a:ea typeface="Arial"/>
              <a:cs typeface="Arial"/>
              <a:sym typeface="Arial"/>
            </a:endParaRPr>
          </a:p>
        </p:txBody>
      </p:sp>
      <p:sp>
        <p:nvSpPr>
          <p:cNvPr id="305" name="Google Shape;305;p11"/>
          <p:cNvSpPr txBox="1"/>
          <p:nvPr/>
        </p:nvSpPr>
        <p:spPr>
          <a:xfrm>
            <a:off x="4725109" y="3419748"/>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+1                         +2                +2</a:t>
            </a:r>
            <a:endParaRPr sz="1691" b="1">
              <a:solidFill>
                <a:srgbClr val="C00000"/>
              </a:solidFill>
              <a:latin typeface="Arial"/>
              <a:ea typeface="Arial"/>
              <a:cs typeface="Arial"/>
              <a:sym typeface="Arial"/>
            </a:endParaRPr>
          </a:p>
        </p:txBody>
      </p:sp>
      <p:sp>
        <p:nvSpPr>
          <p:cNvPr id="306" name="Google Shape;306;p11"/>
          <p:cNvSpPr txBox="1"/>
          <p:nvPr/>
        </p:nvSpPr>
        <p:spPr>
          <a:xfrm>
            <a:off x="4458062" y="2178177"/>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	cool          warm</a:t>
            </a:r>
            <a:endParaRPr sz="1691" b="1">
              <a:solidFill>
                <a:srgbClr val="C00000"/>
              </a:solidFill>
              <a:latin typeface="Arial"/>
              <a:ea typeface="Arial"/>
              <a:cs typeface="Arial"/>
              <a:sym typeface="Arial"/>
            </a:endParaRPr>
          </a:p>
        </p:txBody>
      </p:sp>
      <p:sp>
        <p:nvSpPr>
          <p:cNvPr id="307" name="Google Shape;307;p11"/>
          <p:cNvSpPr txBox="1"/>
          <p:nvPr/>
        </p:nvSpPr>
        <p:spPr>
          <a:xfrm>
            <a:off x="5429049" y="877001"/>
            <a:ext cx="948196"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a:t>
            </a:r>
            <a:endParaRPr sz="1691" b="1">
              <a:solidFill>
                <a:srgbClr val="C00000"/>
              </a:solidFill>
              <a:latin typeface="Arial"/>
              <a:ea typeface="Arial"/>
              <a:cs typeface="Arial"/>
              <a:sym typeface="Arial"/>
            </a:endParaRPr>
          </a:p>
        </p:txBody>
      </p:sp>
      <p:sp>
        <p:nvSpPr>
          <p:cNvPr id="308" name="Google Shape;308;p11"/>
          <p:cNvSpPr/>
          <p:nvPr/>
        </p:nvSpPr>
        <p:spPr>
          <a:xfrm>
            <a:off x="9725008" y="732982"/>
            <a:ext cx="1277936" cy="487769"/>
          </a:xfrm>
          <a:prstGeom prst="rect">
            <a:avLst/>
          </a:prstGeom>
          <a:noFill/>
          <a:ln>
            <a:noFill/>
          </a:ln>
        </p:spPr>
        <p:txBody>
          <a:bodyPr spcFirstLastPara="1" wrap="square" lIns="193227" tIns="96587" rIns="193227" bIns="96587" anchor="t" anchorCtr="0">
            <a:spAutoFit/>
          </a:bodyPr>
          <a:lstStyle/>
          <a:p>
            <a:r>
              <a:rPr lang="en-US" sz="1902">
                <a:solidFill>
                  <a:srgbClr val="000000"/>
                </a:solidFill>
                <a:latin typeface="Arial"/>
                <a:ea typeface="Arial"/>
                <a:cs typeface="Arial"/>
                <a:sym typeface="Arial"/>
              </a:rPr>
              <a:t>ɵ = 0.01</a:t>
            </a:r>
            <a:endParaRPr sz="1902">
              <a:solidFill>
                <a:srgbClr val="000000"/>
              </a:solidFill>
              <a:latin typeface="Arial"/>
              <a:ea typeface="Arial"/>
              <a:cs typeface="Arial"/>
              <a:sym typeface="Arial"/>
            </a:endParaRPr>
          </a:p>
        </p:txBody>
      </p:sp>
      <p:sp>
        <p:nvSpPr>
          <p:cNvPr id="310" name="Google Shape;310;p11"/>
          <p:cNvSpPr txBox="1"/>
          <p:nvPr/>
        </p:nvSpPr>
        <p:spPr>
          <a:xfrm>
            <a:off x="4790198" y="1336714"/>
            <a:ext cx="3299495" cy="455260"/>
          </a:xfrm>
          <a:prstGeom prst="rect">
            <a:avLst/>
          </a:prstGeom>
          <a:noFill/>
          <a:ln>
            <a:noFill/>
          </a:ln>
        </p:spPr>
        <p:txBody>
          <a:bodyPr spcFirstLastPara="1" wrap="square" lIns="193227" tIns="96587" rIns="193227" bIns="96587" anchor="t" anchorCtr="0">
            <a:spAutoFit/>
          </a:bodyPr>
          <a:lstStyle/>
          <a:p>
            <a:r>
              <a:rPr lang="en-US" sz="1691" b="1">
                <a:solidFill>
                  <a:schemeClr val="dk1"/>
                </a:solidFill>
                <a:latin typeface="Arial"/>
                <a:ea typeface="Arial"/>
                <a:cs typeface="Arial"/>
                <a:sym typeface="Arial"/>
              </a:rPr>
              <a:t>Go Slow	Go Fast</a:t>
            </a:r>
            <a:endParaRPr sz="1691" b="1">
              <a:solidFill>
                <a:schemeClr val="dk1"/>
              </a:solidFill>
              <a:latin typeface="Arial"/>
              <a:ea typeface="Arial"/>
              <a:cs typeface="Arial"/>
              <a:sym typeface="Arial"/>
            </a:endParaRPr>
          </a:p>
        </p:txBody>
      </p:sp>
      <p:sp>
        <p:nvSpPr>
          <p:cNvPr id="311" name="Google Shape;311;p11"/>
          <p:cNvSpPr txBox="1"/>
          <p:nvPr/>
        </p:nvSpPr>
        <p:spPr>
          <a:xfrm>
            <a:off x="9559742" y="5888642"/>
            <a:ext cx="2548250" cy="585229"/>
          </a:xfrm>
          <a:prstGeom prst="rect">
            <a:avLst/>
          </a:prstGeom>
          <a:solidFill>
            <a:srgbClr val="F0C040"/>
          </a:solidFill>
          <a:ln>
            <a:noFill/>
          </a:ln>
        </p:spPr>
        <p:txBody>
          <a:bodyPr spcFirstLastPara="1" wrap="square" lIns="193227" tIns="193227" rIns="193227" bIns="193227" anchor="t" anchorCtr="0">
            <a:noAutofit/>
          </a:bodyPr>
          <a:lstStyle/>
          <a:p>
            <a:r>
              <a:rPr lang="en-US" sz="1585" b="1">
                <a:solidFill>
                  <a:srgbClr val="1B1472"/>
                </a:solidFill>
              </a:rPr>
              <a:t>Synchronous Updates</a:t>
            </a:r>
            <a:endParaRPr sz="1585" b="1">
              <a:solidFill>
                <a:srgbClr val="1B1472"/>
              </a:solidFill>
            </a:endParaRPr>
          </a:p>
        </p:txBody>
      </p:sp>
      <p:sp>
        <p:nvSpPr>
          <p:cNvPr id="2" name="Footer">
            <a:extLst>
              <a:ext uri="{FF2B5EF4-FFF2-40B4-BE49-F238E27FC236}">
                <a16:creationId xmlns:a16="http://schemas.microsoft.com/office/drawing/2014/main" id="{DA941D7F-BF01-9DF6-303A-39DFD2A2E532}"/>
              </a:ext>
            </a:extLst>
          </p:cNvPr>
          <p:cNvSpPr txBox="1">
            <a:spLocks/>
          </p:cNvSpPr>
          <p:nvPr/>
        </p:nvSpPr>
        <p:spPr>
          <a:xfrm>
            <a:off x="2986967" y="6626475"/>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12"/>
          <p:cNvSpPr txBox="1">
            <a:spLocks noGrp="1"/>
          </p:cNvSpPr>
          <p:nvPr>
            <p:ph type="title"/>
          </p:nvPr>
        </p:nvSpPr>
        <p:spPr>
          <a:xfrm>
            <a:off x="177559" y="231525"/>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 – Value Iteration</a:t>
            </a:r>
            <a:endParaRPr/>
          </a:p>
        </p:txBody>
      </p:sp>
      <p:sp>
        <p:nvSpPr>
          <p:cNvPr id="317" name="Google Shape;317;p12"/>
          <p:cNvSpPr/>
          <p:nvPr/>
        </p:nvSpPr>
        <p:spPr>
          <a:xfrm>
            <a:off x="11044484" y="1148949"/>
            <a:ext cx="0" cy="8848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nvGrpSpPr>
          <p:cNvPr id="318" name="Google Shape;318;p12"/>
          <p:cNvGrpSpPr/>
          <p:nvPr/>
        </p:nvGrpSpPr>
        <p:grpSpPr>
          <a:xfrm>
            <a:off x="2983" y="6571410"/>
            <a:ext cx="12174329" cy="194601"/>
            <a:chOff x="0" y="3109250"/>
            <a:chExt cx="5760261" cy="92075"/>
          </a:xfrm>
        </p:grpSpPr>
        <p:sp>
          <p:nvSpPr>
            <p:cNvPr id="319" name="Google Shape;319;p12"/>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320" name="Google Shape;320;p12"/>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321" name="Google Shape;321;p12"/>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323" name="Google Shape;323;p1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20</a:t>
            </a:fld>
            <a:r>
              <a:rPr lang="en-US"/>
              <a:t> / 46</a:t>
            </a:r>
            <a:endParaRPr/>
          </a:p>
        </p:txBody>
      </p:sp>
      <p:pic>
        <p:nvPicPr>
          <p:cNvPr id="324" name="Google Shape;324;p12" descr="A screenshot of a cell phone  Description automatically generated"/>
          <p:cNvPicPr preferRelativeResize="0">
            <a:picLocks noGrp="1"/>
          </p:cNvPicPr>
          <p:nvPr>
            <p:ph type="body" idx="1"/>
          </p:nvPr>
        </p:nvPicPr>
        <p:blipFill rotWithShape="1">
          <a:blip r:embed="rId3">
            <a:alphaModFix/>
          </a:blip>
          <a:srcRect l="1654" t="2135" r="39745" b="2438"/>
          <a:stretch/>
        </p:blipFill>
        <p:spPr>
          <a:xfrm>
            <a:off x="8988302" y="178576"/>
            <a:ext cx="3186987" cy="2853525"/>
          </a:xfrm>
          <a:prstGeom prst="rect">
            <a:avLst/>
          </a:prstGeom>
          <a:noFill/>
          <a:ln>
            <a:noFill/>
          </a:ln>
        </p:spPr>
      </p:pic>
      <p:pic>
        <p:nvPicPr>
          <p:cNvPr id="325" name="Google Shape;325;p12" descr="TP_tmp.png"/>
          <p:cNvPicPr preferRelativeResize="0"/>
          <p:nvPr/>
        </p:nvPicPr>
        <p:blipFill rotWithShape="1">
          <a:blip r:embed="rId4">
            <a:alphaModFix/>
          </a:blip>
          <a:srcRect/>
          <a:stretch/>
        </p:blipFill>
        <p:spPr>
          <a:xfrm>
            <a:off x="364607" y="1756415"/>
            <a:ext cx="203949" cy="322518"/>
          </a:xfrm>
          <a:prstGeom prst="rect">
            <a:avLst/>
          </a:prstGeom>
          <a:noFill/>
          <a:ln>
            <a:noFill/>
          </a:ln>
        </p:spPr>
      </p:pic>
      <p:pic>
        <p:nvPicPr>
          <p:cNvPr id="326" name="Google Shape;326;p12"/>
          <p:cNvPicPr preferRelativeResize="0"/>
          <p:nvPr/>
        </p:nvPicPr>
        <p:blipFill rotWithShape="1">
          <a:blip r:embed="rId5">
            <a:alphaModFix/>
          </a:blip>
          <a:srcRect/>
          <a:stretch/>
        </p:blipFill>
        <p:spPr>
          <a:xfrm>
            <a:off x="1123247" y="1115162"/>
            <a:ext cx="535435" cy="556722"/>
          </a:xfrm>
          <a:prstGeom prst="rect">
            <a:avLst/>
          </a:prstGeom>
          <a:noFill/>
          <a:ln>
            <a:noFill/>
          </a:ln>
        </p:spPr>
      </p:pic>
      <p:pic>
        <p:nvPicPr>
          <p:cNvPr id="327" name="Google Shape;327;p12"/>
          <p:cNvPicPr preferRelativeResize="0"/>
          <p:nvPr/>
        </p:nvPicPr>
        <p:blipFill rotWithShape="1">
          <a:blip r:embed="rId6">
            <a:alphaModFix/>
          </a:blip>
          <a:srcRect/>
          <a:stretch/>
        </p:blipFill>
        <p:spPr>
          <a:xfrm>
            <a:off x="2509775" y="1035634"/>
            <a:ext cx="568088" cy="636251"/>
          </a:xfrm>
          <a:prstGeom prst="rect">
            <a:avLst/>
          </a:prstGeom>
          <a:noFill/>
          <a:ln>
            <a:noFill/>
          </a:ln>
        </p:spPr>
      </p:pic>
      <p:pic>
        <p:nvPicPr>
          <p:cNvPr id="328" name="Google Shape;328;p12"/>
          <p:cNvPicPr preferRelativeResize="0"/>
          <p:nvPr/>
        </p:nvPicPr>
        <p:blipFill rotWithShape="1">
          <a:blip r:embed="rId7">
            <a:alphaModFix/>
          </a:blip>
          <a:srcRect/>
          <a:stretch/>
        </p:blipFill>
        <p:spPr>
          <a:xfrm>
            <a:off x="1821735" y="1077450"/>
            <a:ext cx="585286" cy="583232"/>
          </a:xfrm>
          <a:prstGeom prst="rect">
            <a:avLst/>
          </a:prstGeom>
          <a:noFill/>
          <a:ln>
            <a:noFill/>
          </a:ln>
        </p:spPr>
      </p:pic>
      <p:sp>
        <p:nvSpPr>
          <p:cNvPr id="329" name="Google Shape;329;p12"/>
          <p:cNvSpPr/>
          <p:nvPr/>
        </p:nvSpPr>
        <p:spPr>
          <a:xfrm>
            <a:off x="657828" y="3005348"/>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330" name="Google Shape;330;p12"/>
          <p:cNvSpPr/>
          <p:nvPr/>
        </p:nvSpPr>
        <p:spPr>
          <a:xfrm>
            <a:off x="690038" y="2276822"/>
            <a:ext cx="2928770" cy="455253"/>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331" name="Google Shape;331;p12"/>
          <p:cNvSpPr/>
          <p:nvPr/>
        </p:nvSpPr>
        <p:spPr>
          <a:xfrm>
            <a:off x="696040" y="1667731"/>
            <a:ext cx="2928770" cy="455257"/>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pic>
        <p:nvPicPr>
          <p:cNvPr id="332" name="Google Shape;332;p12" descr="TP_tmp.png"/>
          <p:cNvPicPr preferRelativeResize="0"/>
          <p:nvPr/>
        </p:nvPicPr>
        <p:blipFill rotWithShape="1">
          <a:blip r:embed="rId8">
            <a:alphaModFix/>
          </a:blip>
          <a:srcRect/>
          <a:stretch/>
        </p:blipFill>
        <p:spPr>
          <a:xfrm>
            <a:off x="346553" y="2375833"/>
            <a:ext cx="183630" cy="323298"/>
          </a:xfrm>
          <a:prstGeom prst="rect">
            <a:avLst/>
          </a:prstGeom>
          <a:noFill/>
          <a:ln>
            <a:noFill/>
          </a:ln>
        </p:spPr>
      </p:pic>
      <p:pic>
        <p:nvPicPr>
          <p:cNvPr id="333" name="Google Shape;333;p12" descr="TP_tmp.png"/>
          <p:cNvPicPr preferRelativeResize="0"/>
          <p:nvPr/>
        </p:nvPicPr>
        <p:blipFill rotWithShape="1">
          <a:blip r:embed="rId9">
            <a:alphaModFix/>
          </a:blip>
          <a:srcRect/>
          <a:stretch/>
        </p:blipFill>
        <p:spPr>
          <a:xfrm>
            <a:off x="353872" y="3017816"/>
            <a:ext cx="204441" cy="323298"/>
          </a:xfrm>
          <a:prstGeom prst="rect">
            <a:avLst/>
          </a:prstGeom>
          <a:noFill/>
          <a:ln>
            <a:noFill/>
          </a:ln>
        </p:spPr>
      </p:pic>
      <p:sp>
        <p:nvSpPr>
          <p:cNvPr id="334" name="Google Shape;334;p12"/>
          <p:cNvSpPr txBox="1"/>
          <p:nvPr/>
        </p:nvSpPr>
        <p:spPr>
          <a:xfrm>
            <a:off x="1098665" y="1667735"/>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0             0             0 ……..</a:t>
            </a:r>
            <a:endParaRPr sz="634">
              <a:solidFill>
                <a:srgbClr val="000000"/>
              </a:solidFill>
              <a:latin typeface="Arial"/>
              <a:ea typeface="Arial"/>
              <a:cs typeface="Arial"/>
              <a:sym typeface="Arial"/>
            </a:endParaRPr>
          </a:p>
        </p:txBody>
      </p:sp>
      <p:sp>
        <p:nvSpPr>
          <p:cNvPr id="335" name="Google Shape;335;p12"/>
          <p:cNvSpPr txBox="1"/>
          <p:nvPr/>
        </p:nvSpPr>
        <p:spPr>
          <a:xfrm>
            <a:off x="1068904" y="2276821"/>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2             1             0……….</a:t>
            </a:r>
            <a:endParaRPr sz="634">
              <a:solidFill>
                <a:srgbClr val="000000"/>
              </a:solidFill>
              <a:latin typeface="Arial"/>
              <a:ea typeface="Arial"/>
              <a:cs typeface="Arial"/>
              <a:sym typeface="Arial"/>
            </a:endParaRPr>
          </a:p>
        </p:txBody>
      </p:sp>
      <p:sp>
        <p:nvSpPr>
          <p:cNvPr id="336" name="Google Shape;336;p12"/>
          <p:cNvSpPr/>
          <p:nvPr/>
        </p:nvSpPr>
        <p:spPr>
          <a:xfrm>
            <a:off x="8591732" y="1740717"/>
            <a:ext cx="396569" cy="112734"/>
          </a:xfrm>
          <a:prstGeom prst="rightArrow">
            <a:avLst>
              <a:gd name="adj1" fmla="val 50000"/>
              <a:gd name="adj2" fmla="val 50000"/>
            </a:avLst>
          </a:prstGeom>
          <a:solidFill>
            <a:srgbClr val="E9A820"/>
          </a:solidFill>
          <a:ln w="25400" cap="flat" cmpd="sng">
            <a:solidFill>
              <a:srgbClr val="E9A820"/>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lt1"/>
              </a:solidFill>
              <a:latin typeface="Arial"/>
              <a:ea typeface="Arial"/>
              <a:cs typeface="Arial"/>
              <a:sym typeface="Arial"/>
            </a:endParaRPr>
          </a:p>
        </p:txBody>
      </p:sp>
      <p:pic>
        <p:nvPicPr>
          <p:cNvPr id="337" name="Google Shape;337;p12"/>
          <p:cNvPicPr preferRelativeResize="0"/>
          <p:nvPr/>
        </p:nvPicPr>
        <p:blipFill rotWithShape="1">
          <a:blip r:embed="rId10">
            <a:alphaModFix/>
          </a:blip>
          <a:srcRect/>
          <a:stretch/>
        </p:blipFill>
        <p:spPr>
          <a:xfrm>
            <a:off x="7217220" y="3254172"/>
            <a:ext cx="4960091" cy="3006946"/>
          </a:xfrm>
          <a:prstGeom prst="rect">
            <a:avLst/>
          </a:prstGeom>
          <a:noFill/>
          <a:ln>
            <a:noFill/>
          </a:ln>
        </p:spPr>
      </p:pic>
      <p:pic>
        <p:nvPicPr>
          <p:cNvPr id="338" name="Google Shape;338;p12"/>
          <p:cNvPicPr preferRelativeResize="0"/>
          <p:nvPr/>
        </p:nvPicPr>
        <p:blipFill rotWithShape="1">
          <a:blip r:embed="rId11">
            <a:alphaModFix/>
          </a:blip>
          <a:srcRect/>
          <a:stretch/>
        </p:blipFill>
        <p:spPr>
          <a:xfrm>
            <a:off x="9909066" y="684827"/>
            <a:ext cx="672728" cy="262364"/>
          </a:xfrm>
          <a:prstGeom prst="rect">
            <a:avLst/>
          </a:prstGeom>
          <a:noFill/>
          <a:ln>
            <a:noFill/>
          </a:ln>
        </p:spPr>
      </p:pic>
      <p:sp>
        <p:nvSpPr>
          <p:cNvPr id="339" name="Google Shape;339;p12"/>
          <p:cNvSpPr/>
          <p:nvPr/>
        </p:nvSpPr>
        <p:spPr>
          <a:xfrm>
            <a:off x="6050456" y="841601"/>
            <a:ext cx="778978" cy="512157"/>
          </a:xfrm>
          <a:prstGeom prst="triangle">
            <a:avLst>
              <a:gd name="adj" fmla="val 50000"/>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340" name="Google Shape;340;p12"/>
          <p:cNvSpPr/>
          <p:nvPr/>
        </p:nvSpPr>
        <p:spPr>
          <a:xfrm>
            <a:off x="6892541" y="1813470"/>
            <a:ext cx="625462" cy="437850"/>
          </a:xfrm>
          <a:prstGeom prst="ellipse">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341" name="Google Shape;341;p12"/>
          <p:cNvSpPr/>
          <p:nvPr/>
        </p:nvSpPr>
        <p:spPr>
          <a:xfrm>
            <a:off x="5047781" y="1829569"/>
            <a:ext cx="625462" cy="437850"/>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342" name="Google Shape;342;p12"/>
          <p:cNvSpPr/>
          <p:nvPr/>
        </p:nvSpPr>
        <p:spPr>
          <a:xfrm>
            <a:off x="4725108" y="2628430"/>
            <a:ext cx="590200" cy="417406"/>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343" name="Google Shape;343;p12"/>
          <p:cNvSpPr/>
          <p:nvPr/>
        </p:nvSpPr>
        <p:spPr>
          <a:xfrm>
            <a:off x="6425087" y="2628427"/>
            <a:ext cx="590200" cy="417406"/>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344" name="Google Shape;344;p12"/>
          <p:cNvSpPr/>
          <p:nvPr/>
        </p:nvSpPr>
        <p:spPr>
          <a:xfrm>
            <a:off x="7633305" y="2635890"/>
            <a:ext cx="590200" cy="417406"/>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cxnSp>
        <p:nvCxnSpPr>
          <p:cNvPr id="345" name="Google Shape;345;p12"/>
          <p:cNvCxnSpPr>
            <a:stCxn id="339" idx="3"/>
            <a:endCxn id="341" idx="7"/>
          </p:cNvCxnSpPr>
          <p:nvPr/>
        </p:nvCxnSpPr>
        <p:spPr>
          <a:xfrm flipH="1">
            <a:off x="5581440" y="1353758"/>
            <a:ext cx="858505" cy="540211"/>
          </a:xfrm>
          <a:prstGeom prst="straightConnector1">
            <a:avLst/>
          </a:prstGeom>
          <a:noFill/>
          <a:ln w="9525" cap="flat" cmpd="sng">
            <a:solidFill>
              <a:schemeClr val="dk1"/>
            </a:solidFill>
            <a:prstDash val="solid"/>
            <a:miter lim="800000"/>
            <a:headEnd type="none" w="sm" len="sm"/>
            <a:tailEnd type="triangle" w="med" len="med"/>
          </a:ln>
        </p:spPr>
      </p:cxnSp>
      <p:cxnSp>
        <p:nvCxnSpPr>
          <p:cNvPr id="346" name="Google Shape;346;p12"/>
          <p:cNvCxnSpPr>
            <a:stCxn id="339" idx="3"/>
            <a:endCxn id="340" idx="1"/>
          </p:cNvCxnSpPr>
          <p:nvPr/>
        </p:nvCxnSpPr>
        <p:spPr>
          <a:xfrm>
            <a:off x="6439945" y="1353758"/>
            <a:ext cx="544016" cy="523726"/>
          </a:xfrm>
          <a:prstGeom prst="straightConnector1">
            <a:avLst/>
          </a:prstGeom>
          <a:noFill/>
          <a:ln w="9525" cap="flat" cmpd="sng">
            <a:solidFill>
              <a:schemeClr val="dk1"/>
            </a:solidFill>
            <a:prstDash val="solid"/>
            <a:miter lim="800000"/>
            <a:headEnd type="none" w="sm" len="sm"/>
            <a:tailEnd type="triangle" w="med" len="med"/>
          </a:ln>
        </p:spPr>
      </p:cxnSp>
      <p:cxnSp>
        <p:nvCxnSpPr>
          <p:cNvPr id="347" name="Google Shape;347;p12"/>
          <p:cNvCxnSpPr>
            <a:stCxn id="341" idx="4"/>
            <a:endCxn id="342" idx="0"/>
          </p:cNvCxnSpPr>
          <p:nvPr/>
        </p:nvCxnSpPr>
        <p:spPr>
          <a:xfrm flipH="1">
            <a:off x="5020026" y="2267419"/>
            <a:ext cx="340485" cy="360775"/>
          </a:xfrm>
          <a:prstGeom prst="straightConnector1">
            <a:avLst/>
          </a:prstGeom>
          <a:noFill/>
          <a:ln w="9525" cap="flat" cmpd="sng">
            <a:solidFill>
              <a:schemeClr val="dk1"/>
            </a:solidFill>
            <a:prstDash val="solid"/>
            <a:miter lim="800000"/>
            <a:headEnd type="none" w="sm" len="sm"/>
            <a:tailEnd type="triangle" w="med" len="med"/>
          </a:ln>
        </p:spPr>
      </p:cxnSp>
      <p:cxnSp>
        <p:nvCxnSpPr>
          <p:cNvPr id="348" name="Google Shape;348;p12"/>
          <p:cNvCxnSpPr>
            <a:stCxn id="340" idx="4"/>
            <a:endCxn id="344" idx="0"/>
          </p:cNvCxnSpPr>
          <p:nvPr/>
        </p:nvCxnSpPr>
        <p:spPr>
          <a:xfrm>
            <a:off x="7205272" y="2251320"/>
            <a:ext cx="722818" cy="384869"/>
          </a:xfrm>
          <a:prstGeom prst="straightConnector1">
            <a:avLst/>
          </a:prstGeom>
          <a:noFill/>
          <a:ln w="9525" cap="flat" cmpd="sng">
            <a:solidFill>
              <a:schemeClr val="dk1"/>
            </a:solidFill>
            <a:prstDash val="solid"/>
            <a:miter lim="800000"/>
            <a:headEnd type="none" w="sm" len="sm"/>
            <a:tailEnd type="triangle" w="med" len="med"/>
          </a:ln>
        </p:spPr>
      </p:cxnSp>
      <p:cxnSp>
        <p:nvCxnSpPr>
          <p:cNvPr id="349" name="Google Shape;349;p12"/>
          <p:cNvCxnSpPr>
            <a:stCxn id="340" idx="4"/>
            <a:endCxn id="343" idx="0"/>
          </p:cNvCxnSpPr>
          <p:nvPr/>
        </p:nvCxnSpPr>
        <p:spPr>
          <a:xfrm flipH="1">
            <a:off x="6720223" y="2251320"/>
            <a:ext cx="485049" cy="377260"/>
          </a:xfrm>
          <a:prstGeom prst="straightConnector1">
            <a:avLst/>
          </a:prstGeom>
          <a:noFill/>
          <a:ln w="9525" cap="flat" cmpd="sng">
            <a:solidFill>
              <a:schemeClr val="dk1"/>
            </a:solidFill>
            <a:prstDash val="solid"/>
            <a:miter lim="800000"/>
            <a:headEnd type="none" w="sm" len="sm"/>
            <a:tailEnd type="triangle" w="med" len="med"/>
          </a:ln>
        </p:spPr>
      </p:cxnSp>
      <p:cxnSp>
        <p:nvCxnSpPr>
          <p:cNvPr id="350" name="Google Shape;350;p12"/>
          <p:cNvCxnSpPr/>
          <p:nvPr/>
        </p:nvCxnSpPr>
        <p:spPr>
          <a:xfrm flipH="1">
            <a:off x="4851542" y="3045832"/>
            <a:ext cx="158880" cy="452015"/>
          </a:xfrm>
          <a:prstGeom prst="straightConnector1">
            <a:avLst/>
          </a:prstGeom>
          <a:noFill/>
          <a:ln w="19050" cap="flat" cmpd="sng">
            <a:solidFill>
              <a:schemeClr val="dk1"/>
            </a:solidFill>
            <a:prstDash val="dash"/>
            <a:miter lim="800000"/>
            <a:headEnd type="none" w="sm" len="sm"/>
            <a:tailEnd type="triangle" w="med" len="med"/>
          </a:ln>
        </p:spPr>
      </p:cxnSp>
      <p:cxnSp>
        <p:nvCxnSpPr>
          <p:cNvPr id="351" name="Google Shape;351;p12"/>
          <p:cNvCxnSpPr/>
          <p:nvPr/>
        </p:nvCxnSpPr>
        <p:spPr>
          <a:xfrm flipH="1">
            <a:off x="6543567" y="3033158"/>
            <a:ext cx="183589" cy="433112"/>
          </a:xfrm>
          <a:prstGeom prst="straightConnector1">
            <a:avLst/>
          </a:prstGeom>
          <a:noFill/>
          <a:ln w="19050" cap="flat" cmpd="sng">
            <a:solidFill>
              <a:schemeClr val="dk1"/>
            </a:solidFill>
            <a:prstDash val="dash"/>
            <a:miter lim="800000"/>
            <a:headEnd type="none" w="sm" len="sm"/>
            <a:tailEnd type="triangle" w="med" len="med"/>
          </a:ln>
        </p:spPr>
      </p:cxnSp>
      <p:cxnSp>
        <p:nvCxnSpPr>
          <p:cNvPr id="352" name="Google Shape;352;p12"/>
          <p:cNvCxnSpPr/>
          <p:nvPr/>
        </p:nvCxnSpPr>
        <p:spPr>
          <a:xfrm flipH="1">
            <a:off x="7828110" y="3073739"/>
            <a:ext cx="41034" cy="424108"/>
          </a:xfrm>
          <a:prstGeom prst="straightConnector1">
            <a:avLst/>
          </a:prstGeom>
          <a:noFill/>
          <a:ln w="19050" cap="flat" cmpd="sng">
            <a:solidFill>
              <a:schemeClr val="dk1"/>
            </a:solidFill>
            <a:prstDash val="dash"/>
            <a:miter lim="800000"/>
            <a:headEnd type="none" w="sm" len="sm"/>
            <a:tailEnd type="triangle" w="med" len="med"/>
          </a:ln>
        </p:spPr>
      </p:cxnSp>
      <p:cxnSp>
        <p:nvCxnSpPr>
          <p:cNvPr id="353" name="Google Shape;353;p12"/>
          <p:cNvCxnSpPr/>
          <p:nvPr/>
        </p:nvCxnSpPr>
        <p:spPr>
          <a:xfrm>
            <a:off x="7925654" y="3086515"/>
            <a:ext cx="433553" cy="379754"/>
          </a:xfrm>
          <a:prstGeom prst="straightConnector1">
            <a:avLst/>
          </a:prstGeom>
          <a:noFill/>
          <a:ln w="19050" cap="flat" cmpd="sng">
            <a:solidFill>
              <a:schemeClr val="dk1"/>
            </a:solidFill>
            <a:prstDash val="dash"/>
            <a:miter lim="800000"/>
            <a:headEnd type="none" w="sm" len="sm"/>
            <a:tailEnd type="triangle" w="med" len="med"/>
          </a:ln>
        </p:spPr>
      </p:cxnSp>
      <p:cxnSp>
        <p:nvCxnSpPr>
          <p:cNvPr id="354" name="Google Shape;354;p12"/>
          <p:cNvCxnSpPr/>
          <p:nvPr/>
        </p:nvCxnSpPr>
        <p:spPr>
          <a:xfrm>
            <a:off x="6785608" y="3026279"/>
            <a:ext cx="309685" cy="439991"/>
          </a:xfrm>
          <a:prstGeom prst="straightConnector1">
            <a:avLst/>
          </a:prstGeom>
          <a:noFill/>
          <a:ln w="19050" cap="flat" cmpd="sng">
            <a:solidFill>
              <a:schemeClr val="dk1"/>
            </a:solidFill>
            <a:prstDash val="dash"/>
            <a:miter lim="800000"/>
            <a:headEnd type="none" w="sm" len="sm"/>
            <a:tailEnd type="triangle" w="med" len="med"/>
          </a:ln>
        </p:spPr>
      </p:cxnSp>
      <p:cxnSp>
        <p:nvCxnSpPr>
          <p:cNvPr id="355" name="Google Shape;355;p12"/>
          <p:cNvCxnSpPr/>
          <p:nvPr/>
        </p:nvCxnSpPr>
        <p:spPr>
          <a:xfrm>
            <a:off x="5065488" y="3045832"/>
            <a:ext cx="336093" cy="452015"/>
          </a:xfrm>
          <a:prstGeom prst="straightConnector1">
            <a:avLst/>
          </a:prstGeom>
          <a:noFill/>
          <a:ln w="19050" cap="flat" cmpd="sng">
            <a:solidFill>
              <a:schemeClr val="dk1"/>
            </a:solidFill>
            <a:prstDash val="dash"/>
            <a:miter lim="800000"/>
            <a:headEnd type="none" w="sm" len="sm"/>
            <a:tailEnd type="triangle" w="med" len="med"/>
          </a:ln>
        </p:spPr>
      </p:cxnSp>
      <p:sp>
        <p:nvSpPr>
          <p:cNvPr id="356" name="Google Shape;356;p12"/>
          <p:cNvSpPr txBox="1"/>
          <p:nvPr/>
        </p:nvSpPr>
        <p:spPr>
          <a:xfrm>
            <a:off x="4551997" y="3695288"/>
            <a:ext cx="4926580" cy="455260"/>
          </a:xfrm>
          <a:prstGeom prst="rect">
            <a:avLst/>
          </a:prstGeom>
          <a:noFill/>
          <a:ln>
            <a:noFill/>
          </a:ln>
        </p:spPr>
        <p:txBody>
          <a:bodyPr spcFirstLastPara="1" wrap="square" lIns="193227" tIns="96587" rIns="193227" bIns="96587" anchor="t" anchorCtr="0">
            <a:spAutoFit/>
          </a:bodyPr>
          <a:lstStyle/>
          <a:p>
            <a:r>
              <a:rPr lang="en-US" sz="1691" b="1">
                <a:solidFill>
                  <a:srgbClr val="00B050"/>
                </a:solidFill>
                <a:latin typeface="Arial"/>
                <a:ea typeface="Arial"/>
                <a:cs typeface="Arial"/>
                <a:sym typeface="Arial"/>
              </a:rPr>
              <a:t>   1.0                        0.5               0.5</a:t>
            </a:r>
            <a:endParaRPr sz="1691" b="1">
              <a:solidFill>
                <a:srgbClr val="00B050"/>
              </a:solidFill>
              <a:latin typeface="Arial"/>
              <a:ea typeface="Arial"/>
              <a:cs typeface="Arial"/>
              <a:sym typeface="Arial"/>
            </a:endParaRPr>
          </a:p>
        </p:txBody>
      </p:sp>
      <p:sp>
        <p:nvSpPr>
          <p:cNvPr id="357" name="Google Shape;357;p12"/>
          <p:cNvSpPr txBox="1"/>
          <p:nvPr/>
        </p:nvSpPr>
        <p:spPr>
          <a:xfrm>
            <a:off x="4725109" y="3419748"/>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+1                         +2                +2</a:t>
            </a:r>
            <a:endParaRPr sz="1691" b="1">
              <a:solidFill>
                <a:srgbClr val="C00000"/>
              </a:solidFill>
              <a:latin typeface="Arial"/>
              <a:ea typeface="Arial"/>
              <a:cs typeface="Arial"/>
              <a:sym typeface="Arial"/>
            </a:endParaRPr>
          </a:p>
        </p:txBody>
      </p:sp>
      <p:sp>
        <p:nvSpPr>
          <p:cNvPr id="358" name="Google Shape;358;p12"/>
          <p:cNvSpPr txBox="1"/>
          <p:nvPr/>
        </p:nvSpPr>
        <p:spPr>
          <a:xfrm>
            <a:off x="4458062" y="2178177"/>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	cool          warm</a:t>
            </a:r>
            <a:endParaRPr sz="1691" b="1">
              <a:solidFill>
                <a:srgbClr val="C00000"/>
              </a:solidFill>
              <a:latin typeface="Arial"/>
              <a:ea typeface="Arial"/>
              <a:cs typeface="Arial"/>
              <a:sym typeface="Arial"/>
            </a:endParaRPr>
          </a:p>
        </p:txBody>
      </p:sp>
      <p:sp>
        <p:nvSpPr>
          <p:cNvPr id="359" name="Google Shape;359;p12"/>
          <p:cNvSpPr txBox="1"/>
          <p:nvPr/>
        </p:nvSpPr>
        <p:spPr>
          <a:xfrm>
            <a:off x="5429049" y="877001"/>
            <a:ext cx="948196"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a:t>
            </a:r>
            <a:endParaRPr sz="1691" b="1">
              <a:solidFill>
                <a:srgbClr val="C00000"/>
              </a:solidFill>
              <a:latin typeface="Arial"/>
              <a:ea typeface="Arial"/>
              <a:cs typeface="Arial"/>
              <a:sym typeface="Arial"/>
            </a:endParaRPr>
          </a:p>
        </p:txBody>
      </p:sp>
      <p:sp>
        <p:nvSpPr>
          <p:cNvPr id="360" name="Google Shape;360;p12"/>
          <p:cNvSpPr txBox="1"/>
          <p:nvPr/>
        </p:nvSpPr>
        <p:spPr>
          <a:xfrm>
            <a:off x="10282" y="3899057"/>
            <a:ext cx="2991830" cy="761882"/>
          </a:xfrm>
          <a:prstGeom prst="rect">
            <a:avLst/>
          </a:prstGeom>
          <a:blipFill rotWithShape="1">
            <a:blip r:embed="rId18">
              <a:alphaModFix/>
            </a:blip>
            <a:stretch>
              <a:fillRect l="-1722" t="-235566" r="-28447" b="-330478"/>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361" name="Google Shape;361;p12"/>
          <p:cNvSpPr txBox="1"/>
          <p:nvPr/>
        </p:nvSpPr>
        <p:spPr>
          <a:xfrm>
            <a:off x="2983" y="5805918"/>
            <a:ext cx="10725169" cy="761882"/>
          </a:xfrm>
          <a:prstGeom prst="rect">
            <a:avLst/>
          </a:prstGeom>
          <a:blipFill rotWithShape="1">
            <a:blip r:embed="rId19">
              <a:alphaModFix/>
            </a:blip>
            <a:stretch>
              <a:fillRect l="-480" t="-235566" b="-330478"/>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362" name="Google Shape;362;p12"/>
          <p:cNvSpPr txBox="1"/>
          <p:nvPr/>
        </p:nvSpPr>
        <p:spPr>
          <a:xfrm>
            <a:off x="-3361" y="4835698"/>
            <a:ext cx="6943810" cy="761882"/>
          </a:xfrm>
          <a:prstGeom prst="rect">
            <a:avLst/>
          </a:prstGeom>
          <a:blipFill rotWithShape="1">
            <a:blip r:embed="rId20">
              <a:alphaModFix/>
            </a:blip>
            <a:stretch>
              <a:fillRect l="-371" t="-233875" b="-332170"/>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363" name="Google Shape;363;p12"/>
          <p:cNvSpPr txBox="1"/>
          <p:nvPr/>
        </p:nvSpPr>
        <p:spPr>
          <a:xfrm>
            <a:off x="83380" y="3466325"/>
            <a:ext cx="4641730" cy="479636"/>
          </a:xfrm>
          <a:prstGeom prst="rect">
            <a:avLst/>
          </a:prstGeom>
          <a:noFill/>
          <a:ln>
            <a:noFill/>
          </a:ln>
        </p:spPr>
        <p:txBody>
          <a:bodyPr spcFirstLastPara="1" wrap="square" lIns="0" tIns="24147" rIns="0" bIns="0" anchor="t" anchorCtr="0">
            <a:spAutoFit/>
          </a:bodyPr>
          <a:lstStyle/>
          <a:p>
            <a:pPr marL="80524" indent="-127497">
              <a:buClr>
                <a:srgbClr val="000000"/>
              </a:buClr>
              <a:buSzPts val="950"/>
              <a:buFont typeface="Arial"/>
              <a:buChar char="•"/>
            </a:pPr>
            <a:r>
              <a:rPr lang="en-US" sz="1479">
                <a:solidFill>
                  <a:srgbClr val="0070C0"/>
                </a:solidFill>
                <a:latin typeface="Arial"/>
                <a:ea typeface="Arial"/>
                <a:cs typeface="Arial"/>
                <a:sym typeface="Arial"/>
              </a:rPr>
              <a:t>Below is done only for state : “Cool”. Repeat this for all the states “Warm”, “Overheated” per iteration</a:t>
            </a:r>
            <a:endParaRPr sz="1479">
              <a:solidFill>
                <a:srgbClr val="0070C0"/>
              </a:solidFill>
              <a:latin typeface="Arial"/>
              <a:ea typeface="Arial"/>
              <a:cs typeface="Arial"/>
              <a:sym typeface="Arial"/>
            </a:endParaRPr>
          </a:p>
        </p:txBody>
      </p:sp>
      <p:sp>
        <p:nvSpPr>
          <p:cNvPr id="364" name="Google Shape;364;p12"/>
          <p:cNvSpPr/>
          <p:nvPr/>
        </p:nvSpPr>
        <p:spPr>
          <a:xfrm>
            <a:off x="9725008" y="732982"/>
            <a:ext cx="1277936" cy="487769"/>
          </a:xfrm>
          <a:prstGeom prst="rect">
            <a:avLst/>
          </a:prstGeom>
          <a:noFill/>
          <a:ln>
            <a:noFill/>
          </a:ln>
        </p:spPr>
        <p:txBody>
          <a:bodyPr spcFirstLastPara="1" wrap="square" lIns="193227" tIns="96587" rIns="193227" bIns="96587" anchor="t" anchorCtr="0">
            <a:spAutoFit/>
          </a:bodyPr>
          <a:lstStyle/>
          <a:p>
            <a:r>
              <a:rPr lang="en-US" sz="1902">
                <a:solidFill>
                  <a:srgbClr val="000000"/>
                </a:solidFill>
                <a:latin typeface="Arial"/>
                <a:ea typeface="Arial"/>
                <a:cs typeface="Arial"/>
                <a:sym typeface="Arial"/>
              </a:rPr>
              <a:t>ɵ = 0.01</a:t>
            </a:r>
            <a:endParaRPr sz="1902">
              <a:solidFill>
                <a:srgbClr val="000000"/>
              </a:solidFill>
              <a:latin typeface="Arial"/>
              <a:ea typeface="Arial"/>
              <a:cs typeface="Arial"/>
              <a:sym typeface="Arial"/>
            </a:endParaRPr>
          </a:p>
        </p:txBody>
      </p:sp>
      <p:sp>
        <p:nvSpPr>
          <p:cNvPr id="366" name="Google Shape;366;p12"/>
          <p:cNvSpPr txBox="1"/>
          <p:nvPr/>
        </p:nvSpPr>
        <p:spPr>
          <a:xfrm>
            <a:off x="4790198" y="1336714"/>
            <a:ext cx="3299495" cy="455260"/>
          </a:xfrm>
          <a:prstGeom prst="rect">
            <a:avLst/>
          </a:prstGeom>
          <a:noFill/>
          <a:ln>
            <a:noFill/>
          </a:ln>
        </p:spPr>
        <p:txBody>
          <a:bodyPr spcFirstLastPara="1" wrap="square" lIns="193227" tIns="96587" rIns="193227" bIns="96587" anchor="t" anchorCtr="0">
            <a:spAutoFit/>
          </a:bodyPr>
          <a:lstStyle/>
          <a:p>
            <a:r>
              <a:rPr lang="en-US" sz="1691" b="1">
                <a:solidFill>
                  <a:schemeClr val="dk1"/>
                </a:solidFill>
                <a:latin typeface="Arial"/>
                <a:ea typeface="Arial"/>
                <a:cs typeface="Arial"/>
                <a:sym typeface="Arial"/>
              </a:rPr>
              <a:t>Go Slow	Go Fast</a:t>
            </a:r>
            <a:endParaRPr sz="1691" b="1">
              <a:solidFill>
                <a:schemeClr val="dk1"/>
              </a:solidFill>
              <a:latin typeface="Arial"/>
              <a:ea typeface="Arial"/>
              <a:cs typeface="Arial"/>
              <a:sym typeface="Arial"/>
            </a:endParaRPr>
          </a:p>
        </p:txBody>
      </p:sp>
      <p:sp>
        <p:nvSpPr>
          <p:cNvPr id="367" name="Google Shape;367;p12"/>
          <p:cNvSpPr txBox="1"/>
          <p:nvPr/>
        </p:nvSpPr>
        <p:spPr>
          <a:xfrm>
            <a:off x="9559742" y="5597560"/>
            <a:ext cx="2548250" cy="585229"/>
          </a:xfrm>
          <a:prstGeom prst="rect">
            <a:avLst/>
          </a:prstGeom>
          <a:solidFill>
            <a:srgbClr val="F0C040"/>
          </a:solidFill>
          <a:ln>
            <a:noFill/>
          </a:ln>
        </p:spPr>
        <p:txBody>
          <a:bodyPr spcFirstLastPara="1" wrap="square" lIns="193227" tIns="193227" rIns="193227" bIns="193227" anchor="t" anchorCtr="0">
            <a:noAutofit/>
          </a:bodyPr>
          <a:lstStyle/>
          <a:p>
            <a:r>
              <a:rPr lang="en-US" sz="1585" b="1">
                <a:solidFill>
                  <a:srgbClr val="1B1472"/>
                </a:solidFill>
              </a:rPr>
              <a:t>Synchronous Updates</a:t>
            </a:r>
            <a:endParaRPr sz="1585" b="1">
              <a:solidFill>
                <a:srgbClr val="1B1472"/>
              </a:solidFill>
            </a:endParaRPr>
          </a:p>
        </p:txBody>
      </p:sp>
      <p:sp>
        <p:nvSpPr>
          <p:cNvPr id="2" name="Footer">
            <a:extLst>
              <a:ext uri="{FF2B5EF4-FFF2-40B4-BE49-F238E27FC236}">
                <a16:creationId xmlns:a16="http://schemas.microsoft.com/office/drawing/2014/main" id="{9A2154BF-F744-7A17-70FF-E78AAB23D528}"/>
              </a:ext>
            </a:extLst>
          </p:cNvPr>
          <p:cNvSpPr txBox="1">
            <a:spLocks/>
          </p:cNvSpPr>
          <p:nvPr/>
        </p:nvSpPr>
        <p:spPr>
          <a:xfrm>
            <a:off x="3002112" y="6581345"/>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13"/>
          <p:cNvSpPr txBox="1">
            <a:spLocks noGrp="1"/>
          </p:cNvSpPr>
          <p:nvPr>
            <p:ph type="title"/>
          </p:nvPr>
        </p:nvSpPr>
        <p:spPr>
          <a:xfrm>
            <a:off x="177559" y="231525"/>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 – Value Iteration</a:t>
            </a:r>
            <a:endParaRPr/>
          </a:p>
        </p:txBody>
      </p:sp>
      <p:sp>
        <p:nvSpPr>
          <p:cNvPr id="373" name="Google Shape;373;p13"/>
          <p:cNvSpPr/>
          <p:nvPr/>
        </p:nvSpPr>
        <p:spPr>
          <a:xfrm>
            <a:off x="11044484" y="1148949"/>
            <a:ext cx="0" cy="8848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nvGrpSpPr>
          <p:cNvPr id="374" name="Google Shape;374;p13"/>
          <p:cNvGrpSpPr/>
          <p:nvPr/>
        </p:nvGrpSpPr>
        <p:grpSpPr>
          <a:xfrm>
            <a:off x="2983" y="6571410"/>
            <a:ext cx="12174329" cy="194601"/>
            <a:chOff x="0" y="3109250"/>
            <a:chExt cx="5760261" cy="92075"/>
          </a:xfrm>
        </p:grpSpPr>
        <p:sp>
          <p:nvSpPr>
            <p:cNvPr id="375" name="Google Shape;375;p1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376" name="Google Shape;376;p1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377" name="Google Shape;377;p1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379" name="Google Shape;379;p1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21</a:t>
            </a:fld>
            <a:r>
              <a:rPr lang="en-US"/>
              <a:t> / 46</a:t>
            </a:r>
            <a:endParaRPr/>
          </a:p>
        </p:txBody>
      </p:sp>
      <p:pic>
        <p:nvPicPr>
          <p:cNvPr id="380" name="Google Shape;380;p13" descr="A screenshot of a cell phone  Description automatically generated"/>
          <p:cNvPicPr preferRelativeResize="0">
            <a:picLocks noGrp="1"/>
          </p:cNvPicPr>
          <p:nvPr>
            <p:ph type="body" idx="1"/>
          </p:nvPr>
        </p:nvPicPr>
        <p:blipFill rotWithShape="1">
          <a:blip r:embed="rId3">
            <a:alphaModFix/>
          </a:blip>
          <a:srcRect l="1654" t="2135" r="39745" b="2438"/>
          <a:stretch/>
        </p:blipFill>
        <p:spPr>
          <a:xfrm>
            <a:off x="8988302" y="178576"/>
            <a:ext cx="3186987" cy="2853525"/>
          </a:xfrm>
          <a:prstGeom prst="rect">
            <a:avLst/>
          </a:prstGeom>
          <a:noFill/>
          <a:ln>
            <a:noFill/>
          </a:ln>
        </p:spPr>
      </p:pic>
      <p:pic>
        <p:nvPicPr>
          <p:cNvPr id="381" name="Google Shape;381;p13" descr="TP_tmp.png"/>
          <p:cNvPicPr preferRelativeResize="0"/>
          <p:nvPr/>
        </p:nvPicPr>
        <p:blipFill rotWithShape="1">
          <a:blip r:embed="rId4">
            <a:alphaModFix/>
          </a:blip>
          <a:srcRect/>
          <a:stretch/>
        </p:blipFill>
        <p:spPr>
          <a:xfrm>
            <a:off x="364607" y="1756415"/>
            <a:ext cx="203949" cy="322518"/>
          </a:xfrm>
          <a:prstGeom prst="rect">
            <a:avLst/>
          </a:prstGeom>
          <a:noFill/>
          <a:ln>
            <a:noFill/>
          </a:ln>
        </p:spPr>
      </p:pic>
      <p:pic>
        <p:nvPicPr>
          <p:cNvPr id="382" name="Google Shape;382;p13"/>
          <p:cNvPicPr preferRelativeResize="0"/>
          <p:nvPr/>
        </p:nvPicPr>
        <p:blipFill rotWithShape="1">
          <a:blip r:embed="rId5">
            <a:alphaModFix/>
          </a:blip>
          <a:srcRect/>
          <a:stretch/>
        </p:blipFill>
        <p:spPr>
          <a:xfrm>
            <a:off x="1123247" y="1115162"/>
            <a:ext cx="535435" cy="556722"/>
          </a:xfrm>
          <a:prstGeom prst="rect">
            <a:avLst/>
          </a:prstGeom>
          <a:noFill/>
          <a:ln>
            <a:noFill/>
          </a:ln>
        </p:spPr>
      </p:pic>
      <p:pic>
        <p:nvPicPr>
          <p:cNvPr id="383" name="Google Shape;383;p13"/>
          <p:cNvPicPr preferRelativeResize="0"/>
          <p:nvPr/>
        </p:nvPicPr>
        <p:blipFill rotWithShape="1">
          <a:blip r:embed="rId6">
            <a:alphaModFix/>
          </a:blip>
          <a:srcRect/>
          <a:stretch/>
        </p:blipFill>
        <p:spPr>
          <a:xfrm>
            <a:off x="2509775" y="1035634"/>
            <a:ext cx="568088" cy="636251"/>
          </a:xfrm>
          <a:prstGeom prst="rect">
            <a:avLst/>
          </a:prstGeom>
          <a:noFill/>
          <a:ln>
            <a:noFill/>
          </a:ln>
        </p:spPr>
      </p:pic>
      <p:pic>
        <p:nvPicPr>
          <p:cNvPr id="384" name="Google Shape;384;p13"/>
          <p:cNvPicPr preferRelativeResize="0"/>
          <p:nvPr/>
        </p:nvPicPr>
        <p:blipFill rotWithShape="1">
          <a:blip r:embed="rId7">
            <a:alphaModFix/>
          </a:blip>
          <a:srcRect/>
          <a:stretch/>
        </p:blipFill>
        <p:spPr>
          <a:xfrm>
            <a:off x="1821735" y="1077450"/>
            <a:ext cx="585286" cy="583232"/>
          </a:xfrm>
          <a:prstGeom prst="rect">
            <a:avLst/>
          </a:prstGeom>
          <a:noFill/>
          <a:ln>
            <a:noFill/>
          </a:ln>
        </p:spPr>
      </p:pic>
      <p:sp>
        <p:nvSpPr>
          <p:cNvPr id="385" name="Google Shape;385;p13"/>
          <p:cNvSpPr/>
          <p:nvPr/>
        </p:nvSpPr>
        <p:spPr>
          <a:xfrm>
            <a:off x="657828" y="3005348"/>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386" name="Google Shape;386;p13"/>
          <p:cNvSpPr/>
          <p:nvPr/>
        </p:nvSpPr>
        <p:spPr>
          <a:xfrm>
            <a:off x="690038" y="2276822"/>
            <a:ext cx="2928770" cy="455253"/>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387" name="Google Shape;387;p13"/>
          <p:cNvSpPr/>
          <p:nvPr/>
        </p:nvSpPr>
        <p:spPr>
          <a:xfrm>
            <a:off x="696040" y="1667731"/>
            <a:ext cx="2928770" cy="455257"/>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pic>
        <p:nvPicPr>
          <p:cNvPr id="388" name="Google Shape;388;p13" descr="TP_tmp.png"/>
          <p:cNvPicPr preferRelativeResize="0"/>
          <p:nvPr/>
        </p:nvPicPr>
        <p:blipFill rotWithShape="1">
          <a:blip r:embed="rId8">
            <a:alphaModFix/>
          </a:blip>
          <a:srcRect/>
          <a:stretch/>
        </p:blipFill>
        <p:spPr>
          <a:xfrm>
            <a:off x="346553" y="2375833"/>
            <a:ext cx="183630" cy="323298"/>
          </a:xfrm>
          <a:prstGeom prst="rect">
            <a:avLst/>
          </a:prstGeom>
          <a:noFill/>
          <a:ln>
            <a:noFill/>
          </a:ln>
        </p:spPr>
      </p:pic>
      <p:pic>
        <p:nvPicPr>
          <p:cNvPr id="389" name="Google Shape;389;p13" descr="TP_tmp.png"/>
          <p:cNvPicPr preferRelativeResize="0"/>
          <p:nvPr/>
        </p:nvPicPr>
        <p:blipFill rotWithShape="1">
          <a:blip r:embed="rId9">
            <a:alphaModFix/>
          </a:blip>
          <a:srcRect/>
          <a:stretch/>
        </p:blipFill>
        <p:spPr>
          <a:xfrm>
            <a:off x="353872" y="3017816"/>
            <a:ext cx="204441" cy="323298"/>
          </a:xfrm>
          <a:prstGeom prst="rect">
            <a:avLst/>
          </a:prstGeom>
          <a:noFill/>
          <a:ln>
            <a:noFill/>
          </a:ln>
        </p:spPr>
      </p:pic>
      <p:sp>
        <p:nvSpPr>
          <p:cNvPr id="390" name="Google Shape;390;p13"/>
          <p:cNvSpPr txBox="1"/>
          <p:nvPr/>
        </p:nvSpPr>
        <p:spPr>
          <a:xfrm>
            <a:off x="1098665" y="1667735"/>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0             0             0 ……..</a:t>
            </a:r>
            <a:endParaRPr sz="634">
              <a:solidFill>
                <a:srgbClr val="000000"/>
              </a:solidFill>
              <a:latin typeface="Arial"/>
              <a:ea typeface="Arial"/>
              <a:cs typeface="Arial"/>
              <a:sym typeface="Arial"/>
            </a:endParaRPr>
          </a:p>
        </p:txBody>
      </p:sp>
      <p:sp>
        <p:nvSpPr>
          <p:cNvPr id="391" name="Google Shape;391;p13"/>
          <p:cNvSpPr txBox="1"/>
          <p:nvPr/>
        </p:nvSpPr>
        <p:spPr>
          <a:xfrm>
            <a:off x="1068904" y="2276821"/>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2             1             0……….</a:t>
            </a:r>
            <a:endParaRPr sz="634">
              <a:solidFill>
                <a:srgbClr val="000000"/>
              </a:solidFill>
              <a:latin typeface="Arial"/>
              <a:ea typeface="Arial"/>
              <a:cs typeface="Arial"/>
              <a:sym typeface="Arial"/>
            </a:endParaRPr>
          </a:p>
        </p:txBody>
      </p:sp>
      <p:sp>
        <p:nvSpPr>
          <p:cNvPr id="392" name="Google Shape;392;p13"/>
          <p:cNvSpPr txBox="1"/>
          <p:nvPr/>
        </p:nvSpPr>
        <p:spPr>
          <a:xfrm>
            <a:off x="1060452" y="2950779"/>
            <a:ext cx="2623690" cy="715459"/>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a:t>
            </a:r>
            <a:r>
              <a:rPr lang="en-US" sz="1691">
                <a:solidFill>
                  <a:schemeClr val="dk1"/>
                </a:solidFill>
                <a:highlight>
                  <a:srgbClr val="FFFF00"/>
                </a:highlight>
                <a:latin typeface="Calibri"/>
                <a:ea typeface="Calibri"/>
                <a:cs typeface="Calibri"/>
                <a:sym typeface="Calibri"/>
              </a:rPr>
              <a:t>3.35</a:t>
            </a:r>
            <a:r>
              <a:rPr lang="en-US" sz="1691">
                <a:solidFill>
                  <a:schemeClr val="dk1"/>
                </a:solidFill>
                <a:latin typeface="Calibri"/>
                <a:ea typeface="Calibri"/>
                <a:cs typeface="Calibri"/>
                <a:sym typeface="Calibri"/>
              </a:rPr>
              <a:t>        2.35        0 ………</a:t>
            </a:r>
            <a:endParaRPr sz="634">
              <a:solidFill>
                <a:srgbClr val="000000"/>
              </a:solidFill>
              <a:latin typeface="Arial"/>
              <a:ea typeface="Arial"/>
              <a:cs typeface="Arial"/>
              <a:sym typeface="Arial"/>
            </a:endParaRPr>
          </a:p>
        </p:txBody>
      </p:sp>
      <p:sp>
        <p:nvSpPr>
          <p:cNvPr id="393" name="Google Shape;393;p13"/>
          <p:cNvSpPr/>
          <p:nvPr/>
        </p:nvSpPr>
        <p:spPr>
          <a:xfrm>
            <a:off x="8591732" y="999457"/>
            <a:ext cx="396569" cy="112734"/>
          </a:xfrm>
          <a:prstGeom prst="rightArrow">
            <a:avLst>
              <a:gd name="adj1" fmla="val 50000"/>
              <a:gd name="adj2" fmla="val 50000"/>
            </a:avLst>
          </a:prstGeom>
          <a:solidFill>
            <a:srgbClr val="E9A820"/>
          </a:solidFill>
          <a:ln w="25400" cap="flat" cmpd="sng">
            <a:solidFill>
              <a:srgbClr val="E9A820"/>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lt1"/>
              </a:solidFill>
              <a:latin typeface="Arial"/>
              <a:ea typeface="Arial"/>
              <a:cs typeface="Arial"/>
              <a:sym typeface="Arial"/>
            </a:endParaRPr>
          </a:p>
        </p:txBody>
      </p:sp>
      <p:pic>
        <p:nvPicPr>
          <p:cNvPr id="394" name="Google Shape;394;p13"/>
          <p:cNvPicPr preferRelativeResize="0"/>
          <p:nvPr/>
        </p:nvPicPr>
        <p:blipFill rotWithShape="1">
          <a:blip r:embed="rId10">
            <a:alphaModFix/>
          </a:blip>
          <a:srcRect/>
          <a:stretch/>
        </p:blipFill>
        <p:spPr>
          <a:xfrm>
            <a:off x="7217220" y="3254172"/>
            <a:ext cx="4960091" cy="3006946"/>
          </a:xfrm>
          <a:prstGeom prst="rect">
            <a:avLst/>
          </a:prstGeom>
          <a:noFill/>
          <a:ln>
            <a:noFill/>
          </a:ln>
        </p:spPr>
      </p:pic>
      <p:pic>
        <p:nvPicPr>
          <p:cNvPr id="395" name="Google Shape;395;p13"/>
          <p:cNvPicPr preferRelativeResize="0"/>
          <p:nvPr/>
        </p:nvPicPr>
        <p:blipFill rotWithShape="1">
          <a:blip r:embed="rId11">
            <a:alphaModFix/>
          </a:blip>
          <a:srcRect/>
          <a:stretch/>
        </p:blipFill>
        <p:spPr>
          <a:xfrm>
            <a:off x="9909066" y="684827"/>
            <a:ext cx="672728" cy="262364"/>
          </a:xfrm>
          <a:prstGeom prst="rect">
            <a:avLst/>
          </a:prstGeom>
          <a:noFill/>
          <a:ln>
            <a:noFill/>
          </a:ln>
        </p:spPr>
      </p:pic>
      <p:sp>
        <p:nvSpPr>
          <p:cNvPr id="396" name="Google Shape;396;p13"/>
          <p:cNvSpPr/>
          <p:nvPr/>
        </p:nvSpPr>
        <p:spPr>
          <a:xfrm>
            <a:off x="6050456" y="841601"/>
            <a:ext cx="778978" cy="512157"/>
          </a:xfrm>
          <a:prstGeom prst="triangle">
            <a:avLst>
              <a:gd name="adj" fmla="val 50000"/>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397" name="Google Shape;397;p13"/>
          <p:cNvSpPr/>
          <p:nvPr/>
        </p:nvSpPr>
        <p:spPr>
          <a:xfrm>
            <a:off x="6892541" y="1813470"/>
            <a:ext cx="625462" cy="437850"/>
          </a:xfrm>
          <a:prstGeom prst="ellipse">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398" name="Google Shape;398;p13"/>
          <p:cNvSpPr/>
          <p:nvPr/>
        </p:nvSpPr>
        <p:spPr>
          <a:xfrm>
            <a:off x="5047781" y="1829569"/>
            <a:ext cx="625462" cy="437850"/>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399" name="Google Shape;399;p13"/>
          <p:cNvSpPr/>
          <p:nvPr/>
        </p:nvSpPr>
        <p:spPr>
          <a:xfrm>
            <a:off x="4725108" y="2628430"/>
            <a:ext cx="590200" cy="417406"/>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400" name="Google Shape;400;p13"/>
          <p:cNvSpPr/>
          <p:nvPr/>
        </p:nvSpPr>
        <p:spPr>
          <a:xfrm>
            <a:off x="6425087" y="2628427"/>
            <a:ext cx="590200" cy="417406"/>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401" name="Google Shape;401;p13"/>
          <p:cNvSpPr/>
          <p:nvPr/>
        </p:nvSpPr>
        <p:spPr>
          <a:xfrm>
            <a:off x="7633305" y="2635890"/>
            <a:ext cx="590200" cy="417406"/>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cxnSp>
        <p:nvCxnSpPr>
          <p:cNvPr id="402" name="Google Shape;402;p13"/>
          <p:cNvCxnSpPr>
            <a:stCxn id="396" idx="3"/>
            <a:endCxn id="398" idx="7"/>
          </p:cNvCxnSpPr>
          <p:nvPr/>
        </p:nvCxnSpPr>
        <p:spPr>
          <a:xfrm flipH="1">
            <a:off x="5581440" y="1353758"/>
            <a:ext cx="858505" cy="540211"/>
          </a:xfrm>
          <a:prstGeom prst="straightConnector1">
            <a:avLst/>
          </a:prstGeom>
          <a:noFill/>
          <a:ln w="9525" cap="flat" cmpd="sng">
            <a:solidFill>
              <a:schemeClr val="dk1"/>
            </a:solidFill>
            <a:prstDash val="solid"/>
            <a:miter lim="800000"/>
            <a:headEnd type="none" w="sm" len="sm"/>
            <a:tailEnd type="triangle" w="med" len="med"/>
          </a:ln>
        </p:spPr>
      </p:cxnSp>
      <p:cxnSp>
        <p:nvCxnSpPr>
          <p:cNvPr id="403" name="Google Shape;403;p13"/>
          <p:cNvCxnSpPr>
            <a:stCxn id="396" idx="3"/>
            <a:endCxn id="397" idx="1"/>
          </p:cNvCxnSpPr>
          <p:nvPr/>
        </p:nvCxnSpPr>
        <p:spPr>
          <a:xfrm>
            <a:off x="6439945" y="1353758"/>
            <a:ext cx="544016" cy="523726"/>
          </a:xfrm>
          <a:prstGeom prst="straightConnector1">
            <a:avLst/>
          </a:prstGeom>
          <a:noFill/>
          <a:ln w="9525" cap="flat" cmpd="sng">
            <a:solidFill>
              <a:schemeClr val="dk1"/>
            </a:solidFill>
            <a:prstDash val="solid"/>
            <a:miter lim="800000"/>
            <a:headEnd type="none" w="sm" len="sm"/>
            <a:tailEnd type="triangle" w="med" len="med"/>
          </a:ln>
        </p:spPr>
      </p:cxnSp>
      <p:cxnSp>
        <p:nvCxnSpPr>
          <p:cNvPr id="404" name="Google Shape;404;p13"/>
          <p:cNvCxnSpPr>
            <a:stCxn id="398" idx="4"/>
            <a:endCxn id="399" idx="0"/>
          </p:cNvCxnSpPr>
          <p:nvPr/>
        </p:nvCxnSpPr>
        <p:spPr>
          <a:xfrm flipH="1">
            <a:off x="5020026" y="2267419"/>
            <a:ext cx="340485" cy="360775"/>
          </a:xfrm>
          <a:prstGeom prst="straightConnector1">
            <a:avLst/>
          </a:prstGeom>
          <a:noFill/>
          <a:ln w="9525" cap="flat" cmpd="sng">
            <a:solidFill>
              <a:schemeClr val="dk1"/>
            </a:solidFill>
            <a:prstDash val="solid"/>
            <a:miter lim="800000"/>
            <a:headEnd type="none" w="sm" len="sm"/>
            <a:tailEnd type="triangle" w="med" len="med"/>
          </a:ln>
        </p:spPr>
      </p:cxnSp>
      <p:cxnSp>
        <p:nvCxnSpPr>
          <p:cNvPr id="405" name="Google Shape;405;p13"/>
          <p:cNvCxnSpPr>
            <a:stCxn id="397" idx="4"/>
            <a:endCxn id="401" idx="0"/>
          </p:cNvCxnSpPr>
          <p:nvPr/>
        </p:nvCxnSpPr>
        <p:spPr>
          <a:xfrm>
            <a:off x="7205272" y="2251320"/>
            <a:ext cx="722818" cy="384869"/>
          </a:xfrm>
          <a:prstGeom prst="straightConnector1">
            <a:avLst/>
          </a:prstGeom>
          <a:noFill/>
          <a:ln w="9525" cap="flat" cmpd="sng">
            <a:solidFill>
              <a:schemeClr val="dk1"/>
            </a:solidFill>
            <a:prstDash val="solid"/>
            <a:miter lim="800000"/>
            <a:headEnd type="none" w="sm" len="sm"/>
            <a:tailEnd type="triangle" w="med" len="med"/>
          </a:ln>
        </p:spPr>
      </p:cxnSp>
      <p:cxnSp>
        <p:nvCxnSpPr>
          <p:cNvPr id="406" name="Google Shape;406;p13"/>
          <p:cNvCxnSpPr>
            <a:stCxn id="397" idx="4"/>
            <a:endCxn id="400" idx="0"/>
          </p:cNvCxnSpPr>
          <p:nvPr/>
        </p:nvCxnSpPr>
        <p:spPr>
          <a:xfrm flipH="1">
            <a:off x="6720223" y="2251320"/>
            <a:ext cx="485049" cy="377260"/>
          </a:xfrm>
          <a:prstGeom prst="straightConnector1">
            <a:avLst/>
          </a:prstGeom>
          <a:noFill/>
          <a:ln w="9525" cap="flat" cmpd="sng">
            <a:solidFill>
              <a:schemeClr val="dk1"/>
            </a:solidFill>
            <a:prstDash val="solid"/>
            <a:miter lim="800000"/>
            <a:headEnd type="none" w="sm" len="sm"/>
            <a:tailEnd type="triangle" w="med" len="med"/>
          </a:ln>
        </p:spPr>
      </p:cxnSp>
      <p:cxnSp>
        <p:nvCxnSpPr>
          <p:cNvPr id="407" name="Google Shape;407;p13"/>
          <p:cNvCxnSpPr/>
          <p:nvPr/>
        </p:nvCxnSpPr>
        <p:spPr>
          <a:xfrm flipH="1">
            <a:off x="4851542" y="3045832"/>
            <a:ext cx="158880" cy="452015"/>
          </a:xfrm>
          <a:prstGeom prst="straightConnector1">
            <a:avLst/>
          </a:prstGeom>
          <a:noFill/>
          <a:ln w="19050" cap="flat" cmpd="sng">
            <a:solidFill>
              <a:schemeClr val="dk1"/>
            </a:solidFill>
            <a:prstDash val="dash"/>
            <a:miter lim="800000"/>
            <a:headEnd type="none" w="sm" len="sm"/>
            <a:tailEnd type="triangle" w="med" len="med"/>
          </a:ln>
        </p:spPr>
      </p:cxnSp>
      <p:cxnSp>
        <p:nvCxnSpPr>
          <p:cNvPr id="408" name="Google Shape;408;p13"/>
          <p:cNvCxnSpPr/>
          <p:nvPr/>
        </p:nvCxnSpPr>
        <p:spPr>
          <a:xfrm flipH="1">
            <a:off x="6543567" y="3033158"/>
            <a:ext cx="183589" cy="433112"/>
          </a:xfrm>
          <a:prstGeom prst="straightConnector1">
            <a:avLst/>
          </a:prstGeom>
          <a:noFill/>
          <a:ln w="19050" cap="flat" cmpd="sng">
            <a:solidFill>
              <a:schemeClr val="dk1"/>
            </a:solidFill>
            <a:prstDash val="dash"/>
            <a:miter lim="800000"/>
            <a:headEnd type="none" w="sm" len="sm"/>
            <a:tailEnd type="triangle" w="med" len="med"/>
          </a:ln>
        </p:spPr>
      </p:cxnSp>
      <p:cxnSp>
        <p:nvCxnSpPr>
          <p:cNvPr id="409" name="Google Shape;409;p13"/>
          <p:cNvCxnSpPr/>
          <p:nvPr/>
        </p:nvCxnSpPr>
        <p:spPr>
          <a:xfrm flipH="1">
            <a:off x="7828110" y="3073739"/>
            <a:ext cx="41034" cy="424108"/>
          </a:xfrm>
          <a:prstGeom prst="straightConnector1">
            <a:avLst/>
          </a:prstGeom>
          <a:noFill/>
          <a:ln w="19050" cap="flat" cmpd="sng">
            <a:solidFill>
              <a:schemeClr val="dk1"/>
            </a:solidFill>
            <a:prstDash val="dash"/>
            <a:miter lim="800000"/>
            <a:headEnd type="none" w="sm" len="sm"/>
            <a:tailEnd type="triangle" w="med" len="med"/>
          </a:ln>
        </p:spPr>
      </p:cxnSp>
      <p:cxnSp>
        <p:nvCxnSpPr>
          <p:cNvPr id="410" name="Google Shape;410;p13"/>
          <p:cNvCxnSpPr/>
          <p:nvPr/>
        </p:nvCxnSpPr>
        <p:spPr>
          <a:xfrm>
            <a:off x="7925654" y="3086515"/>
            <a:ext cx="433553" cy="379754"/>
          </a:xfrm>
          <a:prstGeom prst="straightConnector1">
            <a:avLst/>
          </a:prstGeom>
          <a:noFill/>
          <a:ln w="19050" cap="flat" cmpd="sng">
            <a:solidFill>
              <a:schemeClr val="dk1"/>
            </a:solidFill>
            <a:prstDash val="dash"/>
            <a:miter lim="800000"/>
            <a:headEnd type="none" w="sm" len="sm"/>
            <a:tailEnd type="triangle" w="med" len="med"/>
          </a:ln>
        </p:spPr>
      </p:cxnSp>
      <p:cxnSp>
        <p:nvCxnSpPr>
          <p:cNvPr id="411" name="Google Shape;411;p13"/>
          <p:cNvCxnSpPr/>
          <p:nvPr/>
        </p:nvCxnSpPr>
        <p:spPr>
          <a:xfrm>
            <a:off x="6785608" y="3026279"/>
            <a:ext cx="309685" cy="439991"/>
          </a:xfrm>
          <a:prstGeom prst="straightConnector1">
            <a:avLst/>
          </a:prstGeom>
          <a:noFill/>
          <a:ln w="19050" cap="flat" cmpd="sng">
            <a:solidFill>
              <a:schemeClr val="dk1"/>
            </a:solidFill>
            <a:prstDash val="dash"/>
            <a:miter lim="800000"/>
            <a:headEnd type="none" w="sm" len="sm"/>
            <a:tailEnd type="triangle" w="med" len="med"/>
          </a:ln>
        </p:spPr>
      </p:cxnSp>
      <p:cxnSp>
        <p:nvCxnSpPr>
          <p:cNvPr id="412" name="Google Shape;412;p13"/>
          <p:cNvCxnSpPr/>
          <p:nvPr/>
        </p:nvCxnSpPr>
        <p:spPr>
          <a:xfrm>
            <a:off x="5065488" y="3045832"/>
            <a:ext cx="336093" cy="452015"/>
          </a:xfrm>
          <a:prstGeom prst="straightConnector1">
            <a:avLst/>
          </a:prstGeom>
          <a:noFill/>
          <a:ln w="19050" cap="flat" cmpd="sng">
            <a:solidFill>
              <a:schemeClr val="dk1"/>
            </a:solidFill>
            <a:prstDash val="dash"/>
            <a:miter lim="800000"/>
            <a:headEnd type="none" w="sm" len="sm"/>
            <a:tailEnd type="triangle" w="med" len="med"/>
          </a:ln>
        </p:spPr>
      </p:cxnSp>
      <p:sp>
        <p:nvSpPr>
          <p:cNvPr id="413" name="Google Shape;413;p13"/>
          <p:cNvSpPr txBox="1"/>
          <p:nvPr/>
        </p:nvSpPr>
        <p:spPr>
          <a:xfrm>
            <a:off x="4551997" y="3695288"/>
            <a:ext cx="4926580" cy="455260"/>
          </a:xfrm>
          <a:prstGeom prst="rect">
            <a:avLst/>
          </a:prstGeom>
          <a:noFill/>
          <a:ln>
            <a:noFill/>
          </a:ln>
        </p:spPr>
        <p:txBody>
          <a:bodyPr spcFirstLastPara="1" wrap="square" lIns="193227" tIns="96587" rIns="193227" bIns="96587" anchor="t" anchorCtr="0">
            <a:spAutoFit/>
          </a:bodyPr>
          <a:lstStyle/>
          <a:p>
            <a:r>
              <a:rPr lang="en-US" sz="1691" b="1">
                <a:solidFill>
                  <a:srgbClr val="00B050"/>
                </a:solidFill>
                <a:latin typeface="Arial"/>
                <a:ea typeface="Arial"/>
                <a:cs typeface="Arial"/>
                <a:sym typeface="Arial"/>
              </a:rPr>
              <a:t>   1.0                        0.5               0.5</a:t>
            </a:r>
            <a:endParaRPr sz="1691" b="1">
              <a:solidFill>
                <a:srgbClr val="00B050"/>
              </a:solidFill>
              <a:latin typeface="Arial"/>
              <a:ea typeface="Arial"/>
              <a:cs typeface="Arial"/>
              <a:sym typeface="Arial"/>
            </a:endParaRPr>
          </a:p>
        </p:txBody>
      </p:sp>
      <p:sp>
        <p:nvSpPr>
          <p:cNvPr id="414" name="Google Shape;414;p13"/>
          <p:cNvSpPr txBox="1"/>
          <p:nvPr/>
        </p:nvSpPr>
        <p:spPr>
          <a:xfrm>
            <a:off x="4725109" y="3419748"/>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+1                         +2                +2</a:t>
            </a:r>
            <a:endParaRPr sz="1691" b="1">
              <a:solidFill>
                <a:srgbClr val="C00000"/>
              </a:solidFill>
              <a:latin typeface="Arial"/>
              <a:ea typeface="Arial"/>
              <a:cs typeface="Arial"/>
              <a:sym typeface="Arial"/>
            </a:endParaRPr>
          </a:p>
        </p:txBody>
      </p:sp>
      <p:sp>
        <p:nvSpPr>
          <p:cNvPr id="415" name="Google Shape;415;p13"/>
          <p:cNvSpPr txBox="1"/>
          <p:nvPr/>
        </p:nvSpPr>
        <p:spPr>
          <a:xfrm>
            <a:off x="4458062" y="2178177"/>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	cool          warm</a:t>
            </a:r>
            <a:endParaRPr sz="1691" b="1">
              <a:solidFill>
                <a:srgbClr val="C00000"/>
              </a:solidFill>
              <a:latin typeface="Arial"/>
              <a:ea typeface="Arial"/>
              <a:cs typeface="Arial"/>
              <a:sym typeface="Arial"/>
            </a:endParaRPr>
          </a:p>
        </p:txBody>
      </p:sp>
      <p:sp>
        <p:nvSpPr>
          <p:cNvPr id="416" name="Google Shape;416;p13"/>
          <p:cNvSpPr txBox="1"/>
          <p:nvPr/>
        </p:nvSpPr>
        <p:spPr>
          <a:xfrm>
            <a:off x="5429049" y="877001"/>
            <a:ext cx="948196"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a:t>
            </a:r>
            <a:endParaRPr sz="1691" b="1">
              <a:solidFill>
                <a:srgbClr val="C00000"/>
              </a:solidFill>
              <a:latin typeface="Arial"/>
              <a:ea typeface="Arial"/>
              <a:cs typeface="Arial"/>
              <a:sym typeface="Arial"/>
            </a:endParaRPr>
          </a:p>
        </p:txBody>
      </p:sp>
      <p:sp>
        <p:nvSpPr>
          <p:cNvPr id="417" name="Google Shape;417;p13"/>
          <p:cNvSpPr txBox="1"/>
          <p:nvPr/>
        </p:nvSpPr>
        <p:spPr>
          <a:xfrm>
            <a:off x="10280" y="3899057"/>
            <a:ext cx="3339301" cy="761882"/>
          </a:xfrm>
          <a:prstGeom prst="rect">
            <a:avLst/>
          </a:prstGeom>
          <a:blipFill rotWithShape="1">
            <a:blip r:embed="rId18">
              <a:alphaModFix/>
            </a:blip>
            <a:stretch>
              <a:fillRect l="-1543" t="-235566" r="-15056" b="-330478"/>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418" name="Google Shape;418;p13"/>
          <p:cNvSpPr txBox="1"/>
          <p:nvPr/>
        </p:nvSpPr>
        <p:spPr>
          <a:xfrm>
            <a:off x="2983" y="5805918"/>
            <a:ext cx="10725169" cy="761882"/>
          </a:xfrm>
          <a:prstGeom prst="rect">
            <a:avLst/>
          </a:prstGeom>
          <a:blipFill rotWithShape="1">
            <a:blip r:embed="rId19">
              <a:alphaModFix/>
            </a:blip>
            <a:stretch>
              <a:fillRect l="-480" t="-235566" b="-330478"/>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419" name="Google Shape;419;p13"/>
          <p:cNvSpPr txBox="1"/>
          <p:nvPr/>
        </p:nvSpPr>
        <p:spPr>
          <a:xfrm>
            <a:off x="-3361" y="4835698"/>
            <a:ext cx="6943810" cy="761882"/>
          </a:xfrm>
          <a:prstGeom prst="rect">
            <a:avLst/>
          </a:prstGeom>
          <a:blipFill rotWithShape="1">
            <a:blip r:embed="rId20">
              <a:alphaModFix/>
            </a:blip>
            <a:stretch>
              <a:fillRect l="-371" t="-233875" b="-332170"/>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420" name="Google Shape;420;p13"/>
          <p:cNvSpPr txBox="1"/>
          <p:nvPr/>
        </p:nvSpPr>
        <p:spPr>
          <a:xfrm>
            <a:off x="83380" y="3466325"/>
            <a:ext cx="4641730" cy="479636"/>
          </a:xfrm>
          <a:prstGeom prst="rect">
            <a:avLst/>
          </a:prstGeom>
          <a:noFill/>
          <a:ln>
            <a:noFill/>
          </a:ln>
        </p:spPr>
        <p:txBody>
          <a:bodyPr spcFirstLastPara="1" wrap="square" lIns="0" tIns="24147" rIns="0" bIns="0" anchor="t" anchorCtr="0">
            <a:spAutoFit/>
          </a:bodyPr>
          <a:lstStyle/>
          <a:p>
            <a:pPr marL="80524" indent="-127497">
              <a:buClr>
                <a:srgbClr val="000000"/>
              </a:buClr>
              <a:buSzPts val="950"/>
              <a:buFont typeface="Arial"/>
              <a:buChar char="•"/>
            </a:pPr>
            <a:r>
              <a:rPr lang="en-US" sz="1479">
                <a:solidFill>
                  <a:srgbClr val="0070C0"/>
                </a:solidFill>
                <a:latin typeface="Arial"/>
                <a:ea typeface="Arial"/>
                <a:cs typeface="Arial"/>
                <a:sym typeface="Arial"/>
              </a:rPr>
              <a:t>Below is done only for state : “Cool”. Repeat this for all the states “Warm”, “Overheated” per iteration</a:t>
            </a:r>
            <a:endParaRPr sz="1479">
              <a:solidFill>
                <a:srgbClr val="0070C0"/>
              </a:solidFill>
              <a:latin typeface="Arial"/>
              <a:ea typeface="Arial"/>
              <a:cs typeface="Arial"/>
              <a:sym typeface="Arial"/>
            </a:endParaRPr>
          </a:p>
        </p:txBody>
      </p:sp>
      <p:sp>
        <p:nvSpPr>
          <p:cNvPr id="421" name="Google Shape;421;p13"/>
          <p:cNvSpPr/>
          <p:nvPr/>
        </p:nvSpPr>
        <p:spPr>
          <a:xfrm>
            <a:off x="9725008" y="732982"/>
            <a:ext cx="1277936" cy="487769"/>
          </a:xfrm>
          <a:prstGeom prst="rect">
            <a:avLst/>
          </a:prstGeom>
          <a:noFill/>
          <a:ln>
            <a:noFill/>
          </a:ln>
        </p:spPr>
        <p:txBody>
          <a:bodyPr spcFirstLastPara="1" wrap="square" lIns="193227" tIns="96587" rIns="193227" bIns="96587" anchor="t" anchorCtr="0">
            <a:spAutoFit/>
          </a:bodyPr>
          <a:lstStyle/>
          <a:p>
            <a:r>
              <a:rPr lang="en-US" sz="1902">
                <a:solidFill>
                  <a:srgbClr val="000000"/>
                </a:solidFill>
                <a:latin typeface="Arial"/>
                <a:ea typeface="Arial"/>
                <a:cs typeface="Arial"/>
                <a:sym typeface="Arial"/>
              </a:rPr>
              <a:t>ɵ = 0.01</a:t>
            </a:r>
            <a:endParaRPr sz="1902">
              <a:solidFill>
                <a:srgbClr val="000000"/>
              </a:solidFill>
              <a:latin typeface="Arial"/>
              <a:ea typeface="Arial"/>
              <a:cs typeface="Arial"/>
              <a:sym typeface="Arial"/>
            </a:endParaRPr>
          </a:p>
        </p:txBody>
      </p:sp>
      <p:sp>
        <p:nvSpPr>
          <p:cNvPr id="423" name="Google Shape;423;p13"/>
          <p:cNvSpPr txBox="1"/>
          <p:nvPr/>
        </p:nvSpPr>
        <p:spPr>
          <a:xfrm>
            <a:off x="4790198" y="1336714"/>
            <a:ext cx="3299495" cy="455260"/>
          </a:xfrm>
          <a:prstGeom prst="rect">
            <a:avLst/>
          </a:prstGeom>
          <a:noFill/>
          <a:ln>
            <a:noFill/>
          </a:ln>
        </p:spPr>
        <p:txBody>
          <a:bodyPr spcFirstLastPara="1" wrap="square" lIns="193227" tIns="96587" rIns="193227" bIns="96587" anchor="t" anchorCtr="0">
            <a:spAutoFit/>
          </a:bodyPr>
          <a:lstStyle/>
          <a:p>
            <a:r>
              <a:rPr lang="en-US" sz="1691" b="1">
                <a:solidFill>
                  <a:schemeClr val="dk1"/>
                </a:solidFill>
                <a:latin typeface="Arial"/>
                <a:ea typeface="Arial"/>
                <a:cs typeface="Arial"/>
                <a:sym typeface="Arial"/>
              </a:rPr>
              <a:t>Go Slow	Go Fast</a:t>
            </a:r>
            <a:endParaRPr sz="1691" b="1">
              <a:solidFill>
                <a:schemeClr val="dk1"/>
              </a:solidFill>
              <a:latin typeface="Arial"/>
              <a:ea typeface="Arial"/>
              <a:cs typeface="Arial"/>
              <a:sym typeface="Arial"/>
            </a:endParaRPr>
          </a:p>
        </p:txBody>
      </p:sp>
      <p:sp>
        <p:nvSpPr>
          <p:cNvPr id="424" name="Google Shape;424;p13"/>
          <p:cNvSpPr txBox="1"/>
          <p:nvPr/>
        </p:nvSpPr>
        <p:spPr>
          <a:xfrm>
            <a:off x="9559742" y="5597560"/>
            <a:ext cx="2548250" cy="585229"/>
          </a:xfrm>
          <a:prstGeom prst="rect">
            <a:avLst/>
          </a:prstGeom>
          <a:solidFill>
            <a:srgbClr val="F0C040"/>
          </a:solidFill>
          <a:ln>
            <a:noFill/>
          </a:ln>
        </p:spPr>
        <p:txBody>
          <a:bodyPr spcFirstLastPara="1" wrap="square" lIns="193227" tIns="193227" rIns="193227" bIns="193227" anchor="t" anchorCtr="0">
            <a:noAutofit/>
          </a:bodyPr>
          <a:lstStyle/>
          <a:p>
            <a:r>
              <a:rPr lang="en-US" sz="1585" b="1">
                <a:solidFill>
                  <a:srgbClr val="1B1472"/>
                </a:solidFill>
              </a:rPr>
              <a:t>Synchronous Updates</a:t>
            </a:r>
            <a:endParaRPr sz="1585" b="1">
              <a:solidFill>
                <a:srgbClr val="1B1472"/>
              </a:solidFill>
            </a:endParaRPr>
          </a:p>
        </p:txBody>
      </p:sp>
      <p:sp>
        <p:nvSpPr>
          <p:cNvPr id="2" name="Footer">
            <a:extLst>
              <a:ext uri="{FF2B5EF4-FFF2-40B4-BE49-F238E27FC236}">
                <a16:creationId xmlns:a16="http://schemas.microsoft.com/office/drawing/2014/main" id="{61159EA6-C6D8-1C18-1F82-B07C276B8AD1}"/>
              </a:ext>
            </a:extLst>
          </p:cNvPr>
          <p:cNvSpPr txBox="1">
            <a:spLocks/>
          </p:cNvSpPr>
          <p:nvPr/>
        </p:nvSpPr>
        <p:spPr>
          <a:xfrm>
            <a:off x="3021246" y="6626475"/>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14"/>
          <p:cNvSpPr txBox="1">
            <a:spLocks noGrp="1"/>
          </p:cNvSpPr>
          <p:nvPr>
            <p:ph type="title"/>
          </p:nvPr>
        </p:nvSpPr>
        <p:spPr>
          <a:xfrm>
            <a:off x="177559" y="231525"/>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 – Value Iteration</a:t>
            </a:r>
            <a:endParaRPr/>
          </a:p>
        </p:txBody>
      </p:sp>
      <p:sp>
        <p:nvSpPr>
          <p:cNvPr id="430" name="Google Shape;430;p14"/>
          <p:cNvSpPr/>
          <p:nvPr/>
        </p:nvSpPr>
        <p:spPr>
          <a:xfrm>
            <a:off x="11044484" y="1148949"/>
            <a:ext cx="0" cy="8848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nvGrpSpPr>
          <p:cNvPr id="431" name="Google Shape;431;p14"/>
          <p:cNvGrpSpPr/>
          <p:nvPr/>
        </p:nvGrpSpPr>
        <p:grpSpPr>
          <a:xfrm>
            <a:off x="2983" y="6571410"/>
            <a:ext cx="12174329" cy="194601"/>
            <a:chOff x="0" y="3109250"/>
            <a:chExt cx="5760261" cy="92075"/>
          </a:xfrm>
        </p:grpSpPr>
        <p:sp>
          <p:nvSpPr>
            <p:cNvPr id="432" name="Google Shape;432;p1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433" name="Google Shape;433;p1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434" name="Google Shape;434;p1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436" name="Google Shape;436;p1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22</a:t>
            </a:fld>
            <a:r>
              <a:rPr lang="en-US"/>
              <a:t> / 46</a:t>
            </a:r>
            <a:endParaRPr/>
          </a:p>
        </p:txBody>
      </p:sp>
      <p:pic>
        <p:nvPicPr>
          <p:cNvPr id="437" name="Google Shape;437;p14" descr="A screenshot of a cell phone  Description automatically generated"/>
          <p:cNvPicPr preferRelativeResize="0">
            <a:picLocks noGrp="1"/>
          </p:cNvPicPr>
          <p:nvPr>
            <p:ph type="body" idx="1"/>
          </p:nvPr>
        </p:nvPicPr>
        <p:blipFill rotWithShape="1">
          <a:blip r:embed="rId3">
            <a:alphaModFix/>
          </a:blip>
          <a:srcRect l="1654" t="2135" r="39745" b="2438"/>
          <a:stretch/>
        </p:blipFill>
        <p:spPr>
          <a:xfrm>
            <a:off x="8988302" y="178576"/>
            <a:ext cx="3186987" cy="2853525"/>
          </a:xfrm>
          <a:prstGeom prst="rect">
            <a:avLst/>
          </a:prstGeom>
          <a:noFill/>
          <a:ln>
            <a:noFill/>
          </a:ln>
        </p:spPr>
      </p:pic>
      <p:pic>
        <p:nvPicPr>
          <p:cNvPr id="438" name="Google Shape;438;p14" descr="TP_tmp.png"/>
          <p:cNvPicPr preferRelativeResize="0"/>
          <p:nvPr/>
        </p:nvPicPr>
        <p:blipFill rotWithShape="1">
          <a:blip r:embed="rId4">
            <a:alphaModFix/>
          </a:blip>
          <a:srcRect/>
          <a:stretch/>
        </p:blipFill>
        <p:spPr>
          <a:xfrm>
            <a:off x="364607" y="1756415"/>
            <a:ext cx="203949" cy="322518"/>
          </a:xfrm>
          <a:prstGeom prst="rect">
            <a:avLst/>
          </a:prstGeom>
          <a:noFill/>
          <a:ln>
            <a:noFill/>
          </a:ln>
        </p:spPr>
      </p:pic>
      <p:pic>
        <p:nvPicPr>
          <p:cNvPr id="439" name="Google Shape;439;p14"/>
          <p:cNvPicPr preferRelativeResize="0"/>
          <p:nvPr/>
        </p:nvPicPr>
        <p:blipFill rotWithShape="1">
          <a:blip r:embed="rId5">
            <a:alphaModFix/>
          </a:blip>
          <a:srcRect/>
          <a:stretch/>
        </p:blipFill>
        <p:spPr>
          <a:xfrm>
            <a:off x="1123247" y="1115162"/>
            <a:ext cx="535435" cy="556722"/>
          </a:xfrm>
          <a:prstGeom prst="rect">
            <a:avLst/>
          </a:prstGeom>
          <a:noFill/>
          <a:ln>
            <a:noFill/>
          </a:ln>
        </p:spPr>
      </p:pic>
      <p:pic>
        <p:nvPicPr>
          <p:cNvPr id="440" name="Google Shape;440;p14"/>
          <p:cNvPicPr preferRelativeResize="0"/>
          <p:nvPr/>
        </p:nvPicPr>
        <p:blipFill rotWithShape="1">
          <a:blip r:embed="rId6">
            <a:alphaModFix/>
          </a:blip>
          <a:srcRect/>
          <a:stretch/>
        </p:blipFill>
        <p:spPr>
          <a:xfrm>
            <a:off x="2509775" y="1035634"/>
            <a:ext cx="568088" cy="636251"/>
          </a:xfrm>
          <a:prstGeom prst="rect">
            <a:avLst/>
          </a:prstGeom>
          <a:noFill/>
          <a:ln>
            <a:noFill/>
          </a:ln>
        </p:spPr>
      </p:pic>
      <p:pic>
        <p:nvPicPr>
          <p:cNvPr id="441" name="Google Shape;441;p14"/>
          <p:cNvPicPr preferRelativeResize="0"/>
          <p:nvPr/>
        </p:nvPicPr>
        <p:blipFill rotWithShape="1">
          <a:blip r:embed="rId7">
            <a:alphaModFix/>
          </a:blip>
          <a:srcRect/>
          <a:stretch/>
        </p:blipFill>
        <p:spPr>
          <a:xfrm>
            <a:off x="1821735" y="1077450"/>
            <a:ext cx="585286" cy="583232"/>
          </a:xfrm>
          <a:prstGeom prst="rect">
            <a:avLst/>
          </a:prstGeom>
          <a:noFill/>
          <a:ln>
            <a:noFill/>
          </a:ln>
        </p:spPr>
      </p:pic>
      <p:sp>
        <p:nvSpPr>
          <p:cNvPr id="442" name="Google Shape;442;p14"/>
          <p:cNvSpPr/>
          <p:nvPr/>
        </p:nvSpPr>
        <p:spPr>
          <a:xfrm>
            <a:off x="657828" y="3005348"/>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443" name="Google Shape;443;p14"/>
          <p:cNvSpPr/>
          <p:nvPr/>
        </p:nvSpPr>
        <p:spPr>
          <a:xfrm>
            <a:off x="690038" y="2276822"/>
            <a:ext cx="2928770" cy="455253"/>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444" name="Google Shape;444;p14"/>
          <p:cNvSpPr/>
          <p:nvPr/>
        </p:nvSpPr>
        <p:spPr>
          <a:xfrm>
            <a:off x="696040" y="1667731"/>
            <a:ext cx="2928770" cy="455257"/>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pic>
        <p:nvPicPr>
          <p:cNvPr id="445" name="Google Shape;445;p14" descr="TP_tmp.png"/>
          <p:cNvPicPr preferRelativeResize="0"/>
          <p:nvPr/>
        </p:nvPicPr>
        <p:blipFill rotWithShape="1">
          <a:blip r:embed="rId8">
            <a:alphaModFix/>
          </a:blip>
          <a:srcRect/>
          <a:stretch/>
        </p:blipFill>
        <p:spPr>
          <a:xfrm>
            <a:off x="346553" y="2375833"/>
            <a:ext cx="183630" cy="323298"/>
          </a:xfrm>
          <a:prstGeom prst="rect">
            <a:avLst/>
          </a:prstGeom>
          <a:noFill/>
          <a:ln>
            <a:noFill/>
          </a:ln>
        </p:spPr>
      </p:pic>
      <p:pic>
        <p:nvPicPr>
          <p:cNvPr id="446" name="Google Shape;446;p14" descr="TP_tmp.png"/>
          <p:cNvPicPr preferRelativeResize="0"/>
          <p:nvPr/>
        </p:nvPicPr>
        <p:blipFill rotWithShape="1">
          <a:blip r:embed="rId9">
            <a:alphaModFix/>
          </a:blip>
          <a:srcRect/>
          <a:stretch/>
        </p:blipFill>
        <p:spPr>
          <a:xfrm>
            <a:off x="353872" y="3017816"/>
            <a:ext cx="204441" cy="323298"/>
          </a:xfrm>
          <a:prstGeom prst="rect">
            <a:avLst/>
          </a:prstGeom>
          <a:noFill/>
          <a:ln>
            <a:noFill/>
          </a:ln>
        </p:spPr>
      </p:pic>
      <p:sp>
        <p:nvSpPr>
          <p:cNvPr id="447" name="Google Shape;447;p14"/>
          <p:cNvSpPr txBox="1"/>
          <p:nvPr/>
        </p:nvSpPr>
        <p:spPr>
          <a:xfrm>
            <a:off x="1098665" y="1667735"/>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0             0             0 ……..</a:t>
            </a:r>
            <a:endParaRPr sz="634">
              <a:solidFill>
                <a:srgbClr val="000000"/>
              </a:solidFill>
              <a:latin typeface="Arial"/>
              <a:ea typeface="Arial"/>
              <a:cs typeface="Arial"/>
              <a:sym typeface="Arial"/>
            </a:endParaRPr>
          </a:p>
        </p:txBody>
      </p:sp>
      <p:sp>
        <p:nvSpPr>
          <p:cNvPr id="448" name="Google Shape;448;p14"/>
          <p:cNvSpPr txBox="1"/>
          <p:nvPr/>
        </p:nvSpPr>
        <p:spPr>
          <a:xfrm>
            <a:off x="1068904" y="2276821"/>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2             1             0……….</a:t>
            </a:r>
            <a:endParaRPr sz="634">
              <a:solidFill>
                <a:srgbClr val="000000"/>
              </a:solidFill>
              <a:latin typeface="Arial"/>
              <a:ea typeface="Arial"/>
              <a:cs typeface="Arial"/>
              <a:sym typeface="Arial"/>
            </a:endParaRPr>
          </a:p>
        </p:txBody>
      </p:sp>
      <p:sp>
        <p:nvSpPr>
          <p:cNvPr id="449" name="Google Shape;449;p14"/>
          <p:cNvSpPr txBox="1"/>
          <p:nvPr/>
        </p:nvSpPr>
        <p:spPr>
          <a:xfrm>
            <a:off x="1060452" y="2950777"/>
            <a:ext cx="2623690" cy="1235858"/>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a:t>
            </a:r>
            <a:r>
              <a:rPr lang="en-US" sz="1691">
                <a:solidFill>
                  <a:schemeClr val="dk1"/>
                </a:solidFill>
                <a:highlight>
                  <a:srgbClr val="FFFF00"/>
                </a:highlight>
                <a:latin typeface="Calibri"/>
                <a:ea typeface="Calibri"/>
                <a:cs typeface="Calibri"/>
                <a:sym typeface="Calibri"/>
              </a:rPr>
              <a:t>3.35</a:t>
            </a:r>
            <a:r>
              <a:rPr lang="en-US" sz="1691">
                <a:solidFill>
                  <a:schemeClr val="dk1"/>
                </a:solidFill>
                <a:latin typeface="Calibri"/>
                <a:ea typeface="Calibri"/>
                <a:cs typeface="Calibri"/>
                <a:sym typeface="Calibri"/>
              </a:rPr>
              <a:t>        2.35        0 ………</a:t>
            </a:r>
            <a:endParaRPr sz="3804"/>
          </a:p>
          <a:p>
            <a:pPr>
              <a:buClr>
                <a:srgbClr val="000000"/>
              </a:buClr>
              <a:buSzPts val="2800"/>
            </a:pPr>
            <a:endParaRPr sz="1691">
              <a:solidFill>
                <a:schemeClr val="dk1"/>
              </a:solidFill>
              <a:latin typeface="Calibri"/>
              <a:ea typeface="Calibri"/>
              <a:cs typeface="Calibri"/>
              <a:sym typeface="Calibri"/>
            </a:endParaRPr>
          </a:p>
          <a:p>
            <a:pPr>
              <a:buClr>
                <a:srgbClr val="000000"/>
              </a:buClr>
              <a:buSzPts val="2800"/>
            </a:pPr>
            <a:r>
              <a:rPr lang="en-US" sz="1691">
                <a:solidFill>
                  <a:schemeClr val="dk1"/>
                </a:solidFill>
                <a:latin typeface="Calibri"/>
                <a:ea typeface="Calibri"/>
                <a:cs typeface="Calibri"/>
                <a:sym typeface="Calibri"/>
              </a:rPr>
              <a:t>…….</a:t>
            </a:r>
            <a:endParaRPr sz="634">
              <a:solidFill>
                <a:srgbClr val="000000"/>
              </a:solidFill>
              <a:latin typeface="Arial"/>
              <a:ea typeface="Arial"/>
              <a:cs typeface="Arial"/>
              <a:sym typeface="Arial"/>
            </a:endParaRPr>
          </a:p>
        </p:txBody>
      </p:sp>
      <p:sp>
        <p:nvSpPr>
          <p:cNvPr id="450" name="Google Shape;450;p14"/>
          <p:cNvSpPr/>
          <p:nvPr/>
        </p:nvSpPr>
        <p:spPr>
          <a:xfrm>
            <a:off x="8548944" y="2210407"/>
            <a:ext cx="396569" cy="112734"/>
          </a:xfrm>
          <a:prstGeom prst="rightArrow">
            <a:avLst>
              <a:gd name="adj1" fmla="val 50000"/>
              <a:gd name="adj2" fmla="val 50000"/>
            </a:avLst>
          </a:prstGeom>
          <a:solidFill>
            <a:srgbClr val="E9A820"/>
          </a:solidFill>
          <a:ln w="25400" cap="flat" cmpd="sng">
            <a:solidFill>
              <a:srgbClr val="E9A820"/>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lt1"/>
              </a:solidFill>
              <a:latin typeface="Arial"/>
              <a:ea typeface="Arial"/>
              <a:cs typeface="Arial"/>
              <a:sym typeface="Arial"/>
            </a:endParaRPr>
          </a:p>
        </p:txBody>
      </p:sp>
      <p:pic>
        <p:nvPicPr>
          <p:cNvPr id="451" name="Google Shape;451;p14"/>
          <p:cNvPicPr preferRelativeResize="0"/>
          <p:nvPr/>
        </p:nvPicPr>
        <p:blipFill rotWithShape="1">
          <a:blip r:embed="rId10">
            <a:alphaModFix/>
          </a:blip>
          <a:srcRect/>
          <a:stretch/>
        </p:blipFill>
        <p:spPr>
          <a:xfrm>
            <a:off x="7217220" y="3254172"/>
            <a:ext cx="4960091" cy="3006946"/>
          </a:xfrm>
          <a:prstGeom prst="rect">
            <a:avLst/>
          </a:prstGeom>
          <a:noFill/>
          <a:ln>
            <a:noFill/>
          </a:ln>
        </p:spPr>
      </p:pic>
      <p:pic>
        <p:nvPicPr>
          <p:cNvPr id="452" name="Google Shape;452;p14"/>
          <p:cNvPicPr preferRelativeResize="0"/>
          <p:nvPr/>
        </p:nvPicPr>
        <p:blipFill rotWithShape="1">
          <a:blip r:embed="rId11">
            <a:alphaModFix/>
          </a:blip>
          <a:srcRect/>
          <a:stretch/>
        </p:blipFill>
        <p:spPr>
          <a:xfrm>
            <a:off x="9909066" y="684827"/>
            <a:ext cx="672728" cy="262364"/>
          </a:xfrm>
          <a:prstGeom prst="rect">
            <a:avLst/>
          </a:prstGeom>
          <a:noFill/>
          <a:ln>
            <a:noFill/>
          </a:ln>
        </p:spPr>
      </p:pic>
      <p:sp>
        <p:nvSpPr>
          <p:cNvPr id="453" name="Google Shape;453;p14"/>
          <p:cNvSpPr/>
          <p:nvPr/>
        </p:nvSpPr>
        <p:spPr>
          <a:xfrm>
            <a:off x="6050456" y="841601"/>
            <a:ext cx="778978" cy="512157"/>
          </a:xfrm>
          <a:prstGeom prst="triangle">
            <a:avLst>
              <a:gd name="adj" fmla="val 50000"/>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454" name="Google Shape;454;p14"/>
          <p:cNvSpPr/>
          <p:nvPr/>
        </p:nvSpPr>
        <p:spPr>
          <a:xfrm>
            <a:off x="6892541" y="1813470"/>
            <a:ext cx="625462" cy="437850"/>
          </a:xfrm>
          <a:prstGeom prst="ellipse">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455" name="Google Shape;455;p14"/>
          <p:cNvSpPr/>
          <p:nvPr/>
        </p:nvSpPr>
        <p:spPr>
          <a:xfrm>
            <a:off x="5047781" y="1829569"/>
            <a:ext cx="625462" cy="437850"/>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456" name="Google Shape;456;p14"/>
          <p:cNvSpPr/>
          <p:nvPr/>
        </p:nvSpPr>
        <p:spPr>
          <a:xfrm>
            <a:off x="4725108" y="2628430"/>
            <a:ext cx="590200" cy="417406"/>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457" name="Google Shape;457;p14"/>
          <p:cNvSpPr/>
          <p:nvPr/>
        </p:nvSpPr>
        <p:spPr>
          <a:xfrm>
            <a:off x="6425087" y="2628427"/>
            <a:ext cx="590200" cy="417406"/>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458" name="Google Shape;458;p14"/>
          <p:cNvSpPr/>
          <p:nvPr/>
        </p:nvSpPr>
        <p:spPr>
          <a:xfrm>
            <a:off x="7633305" y="2635890"/>
            <a:ext cx="590200" cy="417406"/>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cxnSp>
        <p:nvCxnSpPr>
          <p:cNvPr id="459" name="Google Shape;459;p14"/>
          <p:cNvCxnSpPr>
            <a:stCxn id="453" idx="3"/>
            <a:endCxn id="455" idx="7"/>
          </p:cNvCxnSpPr>
          <p:nvPr/>
        </p:nvCxnSpPr>
        <p:spPr>
          <a:xfrm flipH="1">
            <a:off x="5581440" y="1353758"/>
            <a:ext cx="858505" cy="540211"/>
          </a:xfrm>
          <a:prstGeom prst="straightConnector1">
            <a:avLst/>
          </a:prstGeom>
          <a:noFill/>
          <a:ln w="9525" cap="flat" cmpd="sng">
            <a:solidFill>
              <a:schemeClr val="dk1"/>
            </a:solidFill>
            <a:prstDash val="solid"/>
            <a:miter lim="800000"/>
            <a:headEnd type="none" w="sm" len="sm"/>
            <a:tailEnd type="triangle" w="med" len="med"/>
          </a:ln>
        </p:spPr>
      </p:cxnSp>
      <p:cxnSp>
        <p:nvCxnSpPr>
          <p:cNvPr id="460" name="Google Shape;460;p14"/>
          <p:cNvCxnSpPr>
            <a:stCxn id="453" idx="3"/>
            <a:endCxn id="454" idx="1"/>
          </p:cNvCxnSpPr>
          <p:nvPr/>
        </p:nvCxnSpPr>
        <p:spPr>
          <a:xfrm>
            <a:off x="6439945" y="1353758"/>
            <a:ext cx="544016" cy="523726"/>
          </a:xfrm>
          <a:prstGeom prst="straightConnector1">
            <a:avLst/>
          </a:prstGeom>
          <a:noFill/>
          <a:ln w="9525" cap="flat" cmpd="sng">
            <a:solidFill>
              <a:schemeClr val="dk1"/>
            </a:solidFill>
            <a:prstDash val="solid"/>
            <a:miter lim="800000"/>
            <a:headEnd type="none" w="sm" len="sm"/>
            <a:tailEnd type="triangle" w="med" len="med"/>
          </a:ln>
        </p:spPr>
      </p:cxnSp>
      <p:cxnSp>
        <p:nvCxnSpPr>
          <p:cNvPr id="461" name="Google Shape;461;p14"/>
          <p:cNvCxnSpPr>
            <a:stCxn id="455" idx="4"/>
            <a:endCxn id="456" idx="0"/>
          </p:cNvCxnSpPr>
          <p:nvPr/>
        </p:nvCxnSpPr>
        <p:spPr>
          <a:xfrm flipH="1">
            <a:off x="5020026" y="2267419"/>
            <a:ext cx="340485" cy="360775"/>
          </a:xfrm>
          <a:prstGeom prst="straightConnector1">
            <a:avLst/>
          </a:prstGeom>
          <a:noFill/>
          <a:ln w="9525" cap="flat" cmpd="sng">
            <a:solidFill>
              <a:schemeClr val="dk1"/>
            </a:solidFill>
            <a:prstDash val="solid"/>
            <a:miter lim="800000"/>
            <a:headEnd type="none" w="sm" len="sm"/>
            <a:tailEnd type="triangle" w="med" len="med"/>
          </a:ln>
        </p:spPr>
      </p:cxnSp>
      <p:cxnSp>
        <p:nvCxnSpPr>
          <p:cNvPr id="462" name="Google Shape;462;p14"/>
          <p:cNvCxnSpPr>
            <a:stCxn id="454" idx="4"/>
            <a:endCxn id="458" idx="0"/>
          </p:cNvCxnSpPr>
          <p:nvPr/>
        </p:nvCxnSpPr>
        <p:spPr>
          <a:xfrm>
            <a:off x="7205272" y="2251320"/>
            <a:ext cx="722818" cy="384869"/>
          </a:xfrm>
          <a:prstGeom prst="straightConnector1">
            <a:avLst/>
          </a:prstGeom>
          <a:noFill/>
          <a:ln w="9525" cap="flat" cmpd="sng">
            <a:solidFill>
              <a:schemeClr val="dk1"/>
            </a:solidFill>
            <a:prstDash val="solid"/>
            <a:miter lim="800000"/>
            <a:headEnd type="none" w="sm" len="sm"/>
            <a:tailEnd type="triangle" w="med" len="med"/>
          </a:ln>
        </p:spPr>
      </p:cxnSp>
      <p:cxnSp>
        <p:nvCxnSpPr>
          <p:cNvPr id="463" name="Google Shape;463;p14"/>
          <p:cNvCxnSpPr>
            <a:stCxn id="454" idx="4"/>
            <a:endCxn id="457" idx="0"/>
          </p:cNvCxnSpPr>
          <p:nvPr/>
        </p:nvCxnSpPr>
        <p:spPr>
          <a:xfrm flipH="1">
            <a:off x="6720223" y="2251320"/>
            <a:ext cx="485049" cy="377260"/>
          </a:xfrm>
          <a:prstGeom prst="straightConnector1">
            <a:avLst/>
          </a:prstGeom>
          <a:noFill/>
          <a:ln w="9525" cap="flat" cmpd="sng">
            <a:solidFill>
              <a:schemeClr val="dk1"/>
            </a:solidFill>
            <a:prstDash val="solid"/>
            <a:miter lim="800000"/>
            <a:headEnd type="none" w="sm" len="sm"/>
            <a:tailEnd type="triangle" w="med" len="med"/>
          </a:ln>
        </p:spPr>
      </p:cxnSp>
      <p:cxnSp>
        <p:nvCxnSpPr>
          <p:cNvPr id="464" name="Google Shape;464;p14"/>
          <p:cNvCxnSpPr/>
          <p:nvPr/>
        </p:nvCxnSpPr>
        <p:spPr>
          <a:xfrm flipH="1">
            <a:off x="4851542" y="3045832"/>
            <a:ext cx="158880" cy="452015"/>
          </a:xfrm>
          <a:prstGeom prst="straightConnector1">
            <a:avLst/>
          </a:prstGeom>
          <a:noFill/>
          <a:ln w="19050" cap="flat" cmpd="sng">
            <a:solidFill>
              <a:schemeClr val="dk1"/>
            </a:solidFill>
            <a:prstDash val="dash"/>
            <a:miter lim="800000"/>
            <a:headEnd type="none" w="sm" len="sm"/>
            <a:tailEnd type="triangle" w="med" len="med"/>
          </a:ln>
        </p:spPr>
      </p:cxnSp>
      <p:cxnSp>
        <p:nvCxnSpPr>
          <p:cNvPr id="465" name="Google Shape;465;p14"/>
          <p:cNvCxnSpPr/>
          <p:nvPr/>
        </p:nvCxnSpPr>
        <p:spPr>
          <a:xfrm flipH="1">
            <a:off x="6543567" y="3033158"/>
            <a:ext cx="183589" cy="433112"/>
          </a:xfrm>
          <a:prstGeom prst="straightConnector1">
            <a:avLst/>
          </a:prstGeom>
          <a:noFill/>
          <a:ln w="19050" cap="flat" cmpd="sng">
            <a:solidFill>
              <a:schemeClr val="dk1"/>
            </a:solidFill>
            <a:prstDash val="dash"/>
            <a:miter lim="800000"/>
            <a:headEnd type="none" w="sm" len="sm"/>
            <a:tailEnd type="triangle" w="med" len="med"/>
          </a:ln>
        </p:spPr>
      </p:cxnSp>
      <p:cxnSp>
        <p:nvCxnSpPr>
          <p:cNvPr id="466" name="Google Shape;466;p14"/>
          <p:cNvCxnSpPr/>
          <p:nvPr/>
        </p:nvCxnSpPr>
        <p:spPr>
          <a:xfrm flipH="1">
            <a:off x="7828110" y="3073739"/>
            <a:ext cx="41034" cy="424108"/>
          </a:xfrm>
          <a:prstGeom prst="straightConnector1">
            <a:avLst/>
          </a:prstGeom>
          <a:noFill/>
          <a:ln w="19050" cap="flat" cmpd="sng">
            <a:solidFill>
              <a:schemeClr val="dk1"/>
            </a:solidFill>
            <a:prstDash val="dash"/>
            <a:miter lim="800000"/>
            <a:headEnd type="none" w="sm" len="sm"/>
            <a:tailEnd type="triangle" w="med" len="med"/>
          </a:ln>
        </p:spPr>
      </p:cxnSp>
      <p:cxnSp>
        <p:nvCxnSpPr>
          <p:cNvPr id="467" name="Google Shape;467;p14"/>
          <p:cNvCxnSpPr/>
          <p:nvPr/>
        </p:nvCxnSpPr>
        <p:spPr>
          <a:xfrm>
            <a:off x="7925654" y="3086515"/>
            <a:ext cx="433553" cy="379754"/>
          </a:xfrm>
          <a:prstGeom prst="straightConnector1">
            <a:avLst/>
          </a:prstGeom>
          <a:noFill/>
          <a:ln w="19050" cap="flat" cmpd="sng">
            <a:solidFill>
              <a:schemeClr val="dk1"/>
            </a:solidFill>
            <a:prstDash val="dash"/>
            <a:miter lim="800000"/>
            <a:headEnd type="none" w="sm" len="sm"/>
            <a:tailEnd type="triangle" w="med" len="med"/>
          </a:ln>
        </p:spPr>
      </p:cxnSp>
      <p:cxnSp>
        <p:nvCxnSpPr>
          <p:cNvPr id="468" name="Google Shape;468;p14"/>
          <p:cNvCxnSpPr/>
          <p:nvPr/>
        </p:nvCxnSpPr>
        <p:spPr>
          <a:xfrm>
            <a:off x="6785608" y="3026279"/>
            <a:ext cx="309685" cy="439991"/>
          </a:xfrm>
          <a:prstGeom prst="straightConnector1">
            <a:avLst/>
          </a:prstGeom>
          <a:noFill/>
          <a:ln w="19050" cap="flat" cmpd="sng">
            <a:solidFill>
              <a:schemeClr val="dk1"/>
            </a:solidFill>
            <a:prstDash val="dash"/>
            <a:miter lim="800000"/>
            <a:headEnd type="none" w="sm" len="sm"/>
            <a:tailEnd type="triangle" w="med" len="med"/>
          </a:ln>
        </p:spPr>
      </p:cxnSp>
      <p:cxnSp>
        <p:nvCxnSpPr>
          <p:cNvPr id="469" name="Google Shape;469;p14"/>
          <p:cNvCxnSpPr/>
          <p:nvPr/>
        </p:nvCxnSpPr>
        <p:spPr>
          <a:xfrm>
            <a:off x="5065488" y="3045832"/>
            <a:ext cx="336093" cy="452015"/>
          </a:xfrm>
          <a:prstGeom prst="straightConnector1">
            <a:avLst/>
          </a:prstGeom>
          <a:noFill/>
          <a:ln w="19050" cap="flat" cmpd="sng">
            <a:solidFill>
              <a:schemeClr val="dk1"/>
            </a:solidFill>
            <a:prstDash val="dash"/>
            <a:miter lim="800000"/>
            <a:headEnd type="none" w="sm" len="sm"/>
            <a:tailEnd type="triangle" w="med" len="med"/>
          </a:ln>
        </p:spPr>
      </p:cxnSp>
      <p:sp>
        <p:nvSpPr>
          <p:cNvPr id="470" name="Google Shape;470;p14"/>
          <p:cNvSpPr txBox="1"/>
          <p:nvPr/>
        </p:nvSpPr>
        <p:spPr>
          <a:xfrm>
            <a:off x="4551997" y="3695288"/>
            <a:ext cx="4926580" cy="455260"/>
          </a:xfrm>
          <a:prstGeom prst="rect">
            <a:avLst/>
          </a:prstGeom>
          <a:noFill/>
          <a:ln>
            <a:noFill/>
          </a:ln>
        </p:spPr>
        <p:txBody>
          <a:bodyPr spcFirstLastPara="1" wrap="square" lIns="193227" tIns="96587" rIns="193227" bIns="96587" anchor="t" anchorCtr="0">
            <a:spAutoFit/>
          </a:bodyPr>
          <a:lstStyle/>
          <a:p>
            <a:r>
              <a:rPr lang="en-US" sz="1691" b="1">
                <a:solidFill>
                  <a:srgbClr val="00B050"/>
                </a:solidFill>
                <a:latin typeface="Arial"/>
                <a:ea typeface="Arial"/>
                <a:cs typeface="Arial"/>
                <a:sym typeface="Arial"/>
              </a:rPr>
              <a:t>   1.0                        0.5               0.5</a:t>
            </a:r>
            <a:endParaRPr sz="1691" b="1">
              <a:solidFill>
                <a:srgbClr val="00B050"/>
              </a:solidFill>
              <a:latin typeface="Arial"/>
              <a:ea typeface="Arial"/>
              <a:cs typeface="Arial"/>
              <a:sym typeface="Arial"/>
            </a:endParaRPr>
          </a:p>
        </p:txBody>
      </p:sp>
      <p:sp>
        <p:nvSpPr>
          <p:cNvPr id="471" name="Google Shape;471;p14"/>
          <p:cNvSpPr txBox="1"/>
          <p:nvPr/>
        </p:nvSpPr>
        <p:spPr>
          <a:xfrm>
            <a:off x="4725109" y="3419748"/>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+1                         +2                +2</a:t>
            </a:r>
            <a:endParaRPr sz="1691" b="1">
              <a:solidFill>
                <a:srgbClr val="C00000"/>
              </a:solidFill>
              <a:latin typeface="Arial"/>
              <a:ea typeface="Arial"/>
              <a:cs typeface="Arial"/>
              <a:sym typeface="Arial"/>
            </a:endParaRPr>
          </a:p>
        </p:txBody>
      </p:sp>
      <p:sp>
        <p:nvSpPr>
          <p:cNvPr id="472" name="Google Shape;472;p14"/>
          <p:cNvSpPr txBox="1"/>
          <p:nvPr/>
        </p:nvSpPr>
        <p:spPr>
          <a:xfrm>
            <a:off x="4458062" y="2178177"/>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	cool          warm</a:t>
            </a:r>
            <a:endParaRPr sz="1691" b="1">
              <a:solidFill>
                <a:srgbClr val="C00000"/>
              </a:solidFill>
              <a:latin typeface="Arial"/>
              <a:ea typeface="Arial"/>
              <a:cs typeface="Arial"/>
              <a:sym typeface="Arial"/>
            </a:endParaRPr>
          </a:p>
        </p:txBody>
      </p:sp>
      <p:sp>
        <p:nvSpPr>
          <p:cNvPr id="473" name="Google Shape;473;p14"/>
          <p:cNvSpPr txBox="1"/>
          <p:nvPr/>
        </p:nvSpPr>
        <p:spPr>
          <a:xfrm>
            <a:off x="5429049" y="877001"/>
            <a:ext cx="948196"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a:t>
            </a:r>
            <a:endParaRPr sz="1691" b="1">
              <a:solidFill>
                <a:srgbClr val="C00000"/>
              </a:solidFill>
              <a:latin typeface="Arial"/>
              <a:ea typeface="Arial"/>
              <a:cs typeface="Arial"/>
              <a:sym typeface="Arial"/>
            </a:endParaRPr>
          </a:p>
        </p:txBody>
      </p:sp>
      <p:sp>
        <p:nvSpPr>
          <p:cNvPr id="474" name="Google Shape;474;p14"/>
          <p:cNvSpPr/>
          <p:nvPr/>
        </p:nvSpPr>
        <p:spPr>
          <a:xfrm>
            <a:off x="685840" y="3929621"/>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475" name="Google Shape;475;p14"/>
          <p:cNvSpPr txBox="1"/>
          <p:nvPr/>
        </p:nvSpPr>
        <p:spPr>
          <a:xfrm>
            <a:off x="855362" y="3875090"/>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a:t>
            </a:r>
            <a:r>
              <a:rPr lang="en-US" sz="1691">
                <a:solidFill>
                  <a:schemeClr val="dk1"/>
                </a:solidFill>
                <a:highlight>
                  <a:srgbClr val="FFFF00"/>
                </a:highlight>
                <a:latin typeface="Calibri"/>
                <a:ea typeface="Calibri"/>
                <a:cs typeface="Calibri"/>
                <a:sym typeface="Calibri"/>
              </a:rPr>
              <a:t>15.41</a:t>
            </a:r>
            <a:r>
              <a:rPr lang="en-US" sz="1691">
                <a:solidFill>
                  <a:schemeClr val="dk1"/>
                </a:solidFill>
                <a:latin typeface="Calibri"/>
                <a:ea typeface="Calibri"/>
                <a:cs typeface="Calibri"/>
                <a:sym typeface="Calibri"/>
              </a:rPr>
              <a:t>        ~14.41        0</a:t>
            </a:r>
            <a:endParaRPr sz="634">
              <a:solidFill>
                <a:srgbClr val="000000"/>
              </a:solidFill>
              <a:latin typeface="Arial"/>
              <a:ea typeface="Arial"/>
              <a:cs typeface="Arial"/>
              <a:sym typeface="Arial"/>
            </a:endParaRPr>
          </a:p>
        </p:txBody>
      </p:sp>
      <p:sp>
        <p:nvSpPr>
          <p:cNvPr id="476" name="Google Shape;476;p14"/>
          <p:cNvSpPr txBox="1"/>
          <p:nvPr/>
        </p:nvSpPr>
        <p:spPr>
          <a:xfrm>
            <a:off x="480133" y="4554709"/>
            <a:ext cx="6627100" cy="1878352"/>
          </a:xfrm>
          <a:prstGeom prst="rect">
            <a:avLst/>
          </a:prstGeom>
          <a:noFill/>
          <a:ln>
            <a:noFill/>
          </a:ln>
        </p:spPr>
        <p:txBody>
          <a:bodyPr spcFirstLastPara="1" wrap="square" lIns="0" tIns="24147" rIns="0" bIns="0" anchor="t" anchorCtr="0">
            <a:spAutoFit/>
          </a:bodyPr>
          <a:lstStyle/>
          <a:p>
            <a:pPr marL="80524" indent="-127497">
              <a:buClr>
                <a:srgbClr val="000000"/>
              </a:buClr>
              <a:buSzPts val="950"/>
              <a:buFont typeface="Arial"/>
              <a:buChar char="•"/>
            </a:pPr>
            <a:r>
              <a:rPr lang="en-US" sz="2008">
                <a:solidFill>
                  <a:srgbClr val="000000"/>
                </a:solidFill>
                <a:latin typeface="Arial"/>
                <a:ea typeface="Arial"/>
                <a:cs typeface="Arial"/>
                <a:sym typeface="Arial"/>
              </a:rPr>
              <a:t>∆ = ~0.009 less than threshold ɵ = 0.01</a:t>
            </a:r>
            <a:endParaRPr sz="3804"/>
          </a:p>
          <a:p>
            <a:pPr marL="80524" indent="-127497">
              <a:buClr>
                <a:srgbClr val="000000"/>
              </a:buClr>
              <a:buSzPts val="950"/>
              <a:buFont typeface="Arial"/>
              <a:buChar char="•"/>
            </a:pPr>
            <a:r>
              <a:rPr lang="en-US" sz="2008">
                <a:solidFill>
                  <a:srgbClr val="000000"/>
                </a:solidFill>
                <a:latin typeface="Arial"/>
                <a:ea typeface="Arial"/>
                <a:cs typeface="Arial"/>
                <a:sym typeface="Arial"/>
              </a:rPr>
              <a:t>Algorithm converges slowly. Without ɵ converges ~208</a:t>
            </a:r>
            <a:r>
              <a:rPr lang="en-US" sz="2008" baseline="30000">
                <a:solidFill>
                  <a:srgbClr val="000000"/>
                </a:solidFill>
                <a:latin typeface="Arial"/>
                <a:ea typeface="Arial"/>
                <a:cs typeface="Arial"/>
                <a:sym typeface="Arial"/>
              </a:rPr>
              <a:t>th</a:t>
            </a:r>
            <a:r>
              <a:rPr lang="en-US" sz="2008">
                <a:solidFill>
                  <a:srgbClr val="000000"/>
                </a:solidFill>
                <a:latin typeface="Arial"/>
                <a:ea typeface="Arial"/>
                <a:cs typeface="Arial"/>
                <a:sym typeface="Arial"/>
              </a:rPr>
              <a:t> </a:t>
            </a:r>
            <a:endParaRPr sz="3804"/>
          </a:p>
          <a:p>
            <a:pPr marL="80524" indent="-127497">
              <a:buClr>
                <a:srgbClr val="000000"/>
              </a:buClr>
              <a:buSzPts val="950"/>
              <a:buChar char="•"/>
            </a:pPr>
            <a:r>
              <a:rPr lang="en-US" sz="2008" b="1">
                <a:solidFill>
                  <a:srgbClr val="000000"/>
                </a:solidFill>
              </a:rPr>
              <a:t>Can faster convergence possible ?  Yes via Asynchronous Value Updates. Idea is to use the recent values V(S`) even within the same iteration ! One iteration is shown in next slide</a:t>
            </a:r>
            <a:endParaRPr sz="3804" b="1"/>
          </a:p>
        </p:txBody>
      </p:sp>
      <p:sp>
        <p:nvSpPr>
          <p:cNvPr id="477" name="Google Shape;477;p14"/>
          <p:cNvSpPr txBox="1"/>
          <p:nvPr/>
        </p:nvSpPr>
        <p:spPr>
          <a:xfrm>
            <a:off x="192597" y="3908796"/>
            <a:ext cx="882895" cy="455260"/>
          </a:xfrm>
          <a:prstGeom prst="rect">
            <a:avLst/>
          </a:prstGeom>
          <a:noFill/>
          <a:ln>
            <a:noFill/>
          </a:ln>
        </p:spPr>
        <p:txBody>
          <a:bodyPr spcFirstLastPara="1" wrap="square" lIns="193227" tIns="96587" rIns="193227" bIns="96587" anchor="t" anchorCtr="0">
            <a:spAutoFit/>
          </a:bodyPr>
          <a:lstStyle/>
          <a:p>
            <a:r>
              <a:rPr lang="en-US" sz="1691">
                <a:solidFill>
                  <a:srgbClr val="000000"/>
                </a:solidFill>
                <a:latin typeface="Arial"/>
                <a:ea typeface="Arial"/>
                <a:cs typeface="Arial"/>
                <a:sym typeface="Arial"/>
              </a:rPr>
              <a:t>V</a:t>
            </a:r>
            <a:r>
              <a:rPr lang="en-US" sz="1691" baseline="-25000">
                <a:solidFill>
                  <a:srgbClr val="000000"/>
                </a:solidFill>
                <a:latin typeface="Arial"/>
                <a:ea typeface="Arial"/>
                <a:cs typeface="Arial"/>
                <a:sym typeface="Arial"/>
              </a:rPr>
              <a:t>49</a:t>
            </a:r>
            <a:endParaRPr sz="1691" baseline="-25000">
              <a:solidFill>
                <a:srgbClr val="000000"/>
              </a:solidFill>
              <a:latin typeface="Arial"/>
              <a:ea typeface="Arial"/>
              <a:cs typeface="Arial"/>
              <a:sym typeface="Arial"/>
            </a:endParaRPr>
          </a:p>
        </p:txBody>
      </p:sp>
      <p:sp>
        <p:nvSpPr>
          <p:cNvPr id="478" name="Google Shape;478;p14"/>
          <p:cNvSpPr/>
          <p:nvPr/>
        </p:nvSpPr>
        <p:spPr>
          <a:xfrm>
            <a:off x="9725008" y="732982"/>
            <a:ext cx="1277936" cy="487769"/>
          </a:xfrm>
          <a:prstGeom prst="rect">
            <a:avLst/>
          </a:prstGeom>
          <a:noFill/>
          <a:ln>
            <a:noFill/>
          </a:ln>
        </p:spPr>
        <p:txBody>
          <a:bodyPr spcFirstLastPara="1" wrap="square" lIns="193227" tIns="96587" rIns="193227" bIns="96587" anchor="t" anchorCtr="0">
            <a:spAutoFit/>
          </a:bodyPr>
          <a:lstStyle/>
          <a:p>
            <a:r>
              <a:rPr lang="en-US" sz="1902">
                <a:solidFill>
                  <a:srgbClr val="000000"/>
                </a:solidFill>
                <a:latin typeface="Arial"/>
                <a:ea typeface="Arial"/>
                <a:cs typeface="Arial"/>
                <a:sym typeface="Arial"/>
              </a:rPr>
              <a:t>ɵ = 0.01</a:t>
            </a:r>
            <a:endParaRPr sz="1902">
              <a:solidFill>
                <a:srgbClr val="000000"/>
              </a:solidFill>
              <a:latin typeface="Arial"/>
              <a:ea typeface="Arial"/>
              <a:cs typeface="Arial"/>
              <a:sym typeface="Arial"/>
            </a:endParaRPr>
          </a:p>
        </p:txBody>
      </p:sp>
      <p:sp>
        <p:nvSpPr>
          <p:cNvPr id="480" name="Google Shape;480;p14"/>
          <p:cNvSpPr txBox="1"/>
          <p:nvPr/>
        </p:nvSpPr>
        <p:spPr>
          <a:xfrm>
            <a:off x="4790198" y="1336714"/>
            <a:ext cx="3299495" cy="455260"/>
          </a:xfrm>
          <a:prstGeom prst="rect">
            <a:avLst/>
          </a:prstGeom>
          <a:noFill/>
          <a:ln>
            <a:noFill/>
          </a:ln>
        </p:spPr>
        <p:txBody>
          <a:bodyPr spcFirstLastPara="1" wrap="square" lIns="193227" tIns="96587" rIns="193227" bIns="96587" anchor="t" anchorCtr="0">
            <a:spAutoFit/>
          </a:bodyPr>
          <a:lstStyle/>
          <a:p>
            <a:r>
              <a:rPr lang="en-US" sz="1691" b="1">
                <a:solidFill>
                  <a:schemeClr val="dk1"/>
                </a:solidFill>
                <a:latin typeface="Arial"/>
                <a:ea typeface="Arial"/>
                <a:cs typeface="Arial"/>
                <a:sym typeface="Arial"/>
              </a:rPr>
              <a:t>Go Slow	Go Fast</a:t>
            </a:r>
            <a:endParaRPr sz="1691" b="1">
              <a:solidFill>
                <a:schemeClr val="dk1"/>
              </a:solidFill>
              <a:latin typeface="Arial"/>
              <a:ea typeface="Arial"/>
              <a:cs typeface="Arial"/>
              <a:sym typeface="Arial"/>
            </a:endParaRPr>
          </a:p>
        </p:txBody>
      </p:sp>
      <p:sp>
        <p:nvSpPr>
          <p:cNvPr id="481" name="Google Shape;481;p14"/>
          <p:cNvSpPr txBox="1"/>
          <p:nvPr/>
        </p:nvSpPr>
        <p:spPr>
          <a:xfrm>
            <a:off x="9478531" y="5986180"/>
            <a:ext cx="2548250" cy="585229"/>
          </a:xfrm>
          <a:prstGeom prst="rect">
            <a:avLst/>
          </a:prstGeom>
          <a:solidFill>
            <a:srgbClr val="F0C040"/>
          </a:solidFill>
          <a:ln>
            <a:noFill/>
          </a:ln>
        </p:spPr>
        <p:txBody>
          <a:bodyPr spcFirstLastPara="1" wrap="square" lIns="193227" tIns="193227" rIns="193227" bIns="193227" anchor="t" anchorCtr="0">
            <a:noAutofit/>
          </a:bodyPr>
          <a:lstStyle/>
          <a:p>
            <a:r>
              <a:rPr lang="en-US" sz="1585" b="1">
                <a:solidFill>
                  <a:srgbClr val="1B1472"/>
                </a:solidFill>
              </a:rPr>
              <a:t>Synchronous Updates</a:t>
            </a:r>
            <a:endParaRPr sz="1585" b="1">
              <a:solidFill>
                <a:srgbClr val="1B1472"/>
              </a:solidFill>
            </a:endParaRPr>
          </a:p>
        </p:txBody>
      </p:sp>
      <p:sp>
        <p:nvSpPr>
          <p:cNvPr id="2" name="Footer">
            <a:extLst>
              <a:ext uri="{FF2B5EF4-FFF2-40B4-BE49-F238E27FC236}">
                <a16:creationId xmlns:a16="http://schemas.microsoft.com/office/drawing/2014/main" id="{5D455239-A3A6-29D8-7048-632AA99340A4}"/>
              </a:ext>
            </a:extLst>
          </p:cNvPr>
          <p:cNvSpPr txBox="1">
            <a:spLocks/>
          </p:cNvSpPr>
          <p:nvPr/>
        </p:nvSpPr>
        <p:spPr>
          <a:xfrm>
            <a:off x="2965443" y="6593915"/>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15"/>
          <p:cNvSpPr txBox="1">
            <a:spLocks noGrp="1"/>
          </p:cNvSpPr>
          <p:nvPr>
            <p:ph type="title"/>
          </p:nvPr>
        </p:nvSpPr>
        <p:spPr>
          <a:xfrm>
            <a:off x="177559" y="231525"/>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 – Value Iteration</a:t>
            </a:r>
            <a:endParaRPr/>
          </a:p>
        </p:txBody>
      </p:sp>
      <p:sp>
        <p:nvSpPr>
          <p:cNvPr id="487" name="Google Shape;487;p15"/>
          <p:cNvSpPr/>
          <p:nvPr/>
        </p:nvSpPr>
        <p:spPr>
          <a:xfrm>
            <a:off x="11044484" y="1148949"/>
            <a:ext cx="0" cy="8848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nvGrpSpPr>
          <p:cNvPr id="488" name="Google Shape;488;p15"/>
          <p:cNvGrpSpPr/>
          <p:nvPr/>
        </p:nvGrpSpPr>
        <p:grpSpPr>
          <a:xfrm>
            <a:off x="2983" y="6571410"/>
            <a:ext cx="12174329" cy="194601"/>
            <a:chOff x="0" y="3109250"/>
            <a:chExt cx="5760261" cy="92075"/>
          </a:xfrm>
        </p:grpSpPr>
        <p:sp>
          <p:nvSpPr>
            <p:cNvPr id="489" name="Google Shape;489;p1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490" name="Google Shape;490;p1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491" name="Google Shape;491;p1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493" name="Google Shape;493;p1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23</a:t>
            </a:fld>
            <a:r>
              <a:rPr lang="en-US"/>
              <a:t> / 46</a:t>
            </a:r>
            <a:endParaRPr/>
          </a:p>
        </p:txBody>
      </p:sp>
      <p:pic>
        <p:nvPicPr>
          <p:cNvPr id="494" name="Google Shape;494;p15" descr="A screenshot of a cell phone  Description automatically generated"/>
          <p:cNvPicPr preferRelativeResize="0">
            <a:picLocks noGrp="1"/>
          </p:cNvPicPr>
          <p:nvPr>
            <p:ph type="body" idx="1"/>
          </p:nvPr>
        </p:nvPicPr>
        <p:blipFill rotWithShape="1">
          <a:blip r:embed="rId3">
            <a:alphaModFix/>
          </a:blip>
          <a:srcRect l="1654" t="2135" r="39745" b="2438"/>
          <a:stretch/>
        </p:blipFill>
        <p:spPr>
          <a:xfrm>
            <a:off x="8988302" y="178576"/>
            <a:ext cx="3186987" cy="2853525"/>
          </a:xfrm>
          <a:prstGeom prst="rect">
            <a:avLst/>
          </a:prstGeom>
          <a:noFill/>
          <a:ln>
            <a:noFill/>
          </a:ln>
        </p:spPr>
      </p:pic>
      <p:pic>
        <p:nvPicPr>
          <p:cNvPr id="495" name="Google Shape;495;p15" descr="TP_tmp.png"/>
          <p:cNvPicPr preferRelativeResize="0"/>
          <p:nvPr/>
        </p:nvPicPr>
        <p:blipFill rotWithShape="1">
          <a:blip r:embed="rId4">
            <a:alphaModFix/>
          </a:blip>
          <a:srcRect/>
          <a:stretch/>
        </p:blipFill>
        <p:spPr>
          <a:xfrm>
            <a:off x="364607" y="1756415"/>
            <a:ext cx="203949" cy="322518"/>
          </a:xfrm>
          <a:prstGeom prst="rect">
            <a:avLst/>
          </a:prstGeom>
          <a:noFill/>
          <a:ln>
            <a:noFill/>
          </a:ln>
        </p:spPr>
      </p:pic>
      <p:pic>
        <p:nvPicPr>
          <p:cNvPr id="496" name="Google Shape;496;p15"/>
          <p:cNvPicPr preferRelativeResize="0"/>
          <p:nvPr/>
        </p:nvPicPr>
        <p:blipFill rotWithShape="1">
          <a:blip r:embed="rId5">
            <a:alphaModFix/>
          </a:blip>
          <a:srcRect/>
          <a:stretch/>
        </p:blipFill>
        <p:spPr>
          <a:xfrm>
            <a:off x="1123247" y="1115162"/>
            <a:ext cx="535435" cy="556722"/>
          </a:xfrm>
          <a:prstGeom prst="rect">
            <a:avLst/>
          </a:prstGeom>
          <a:noFill/>
          <a:ln>
            <a:noFill/>
          </a:ln>
        </p:spPr>
      </p:pic>
      <p:pic>
        <p:nvPicPr>
          <p:cNvPr id="497" name="Google Shape;497;p15"/>
          <p:cNvPicPr preferRelativeResize="0"/>
          <p:nvPr/>
        </p:nvPicPr>
        <p:blipFill rotWithShape="1">
          <a:blip r:embed="rId6">
            <a:alphaModFix/>
          </a:blip>
          <a:srcRect/>
          <a:stretch/>
        </p:blipFill>
        <p:spPr>
          <a:xfrm>
            <a:off x="2509775" y="1035634"/>
            <a:ext cx="568088" cy="636251"/>
          </a:xfrm>
          <a:prstGeom prst="rect">
            <a:avLst/>
          </a:prstGeom>
          <a:noFill/>
          <a:ln>
            <a:noFill/>
          </a:ln>
        </p:spPr>
      </p:pic>
      <p:pic>
        <p:nvPicPr>
          <p:cNvPr id="498" name="Google Shape;498;p15"/>
          <p:cNvPicPr preferRelativeResize="0"/>
          <p:nvPr/>
        </p:nvPicPr>
        <p:blipFill rotWithShape="1">
          <a:blip r:embed="rId7">
            <a:alphaModFix/>
          </a:blip>
          <a:srcRect/>
          <a:stretch/>
        </p:blipFill>
        <p:spPr>
          <a:xfrm>
            <a:off x="1821735" y="1077450"/>
            <a:ext cx="585286" cy="583232"/>
          </a:xfrm>
          <a:prstGeom prst="rect">
            <a:avLst/>
          </a:prstGeom>
          <a:noFill/>
          <a:ln>
            <a:noFill/>
          </a:ln>
        </p:spPr>
      </p:pic>
      <p:sp>
        <p:nvSpPr>
          <p:cNvPr id="499" name="Google Shape;499;p15"/>
          <p:cNvSpPr/>
          <p:nvPr/>
        </p:nvSpPr>
        <p:spPr>
          <a:xfrm>
            <a:off x="657828" y="3005348"/>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500" name="Google Shape;500;p15"/>
          <p:cNvSpPr/>
          <p:nvPr/>
        </p:nvSpPr>
        <p:spPr>
          <a:xfrm>
            <a:off x="690038" y="2276822"/>
            <a:ext cx="2928770" cy="455253"/>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501" name="Google Shape;501;p15"/>
          <p:cNvSpPr/>
          <p:nvPr/>
        </p:nvSpPr>
        <p:spPr>
          <a:xfrm>
            <a:off x="696040" y="1667731"/>
            <a:ext cx="2928770" cy="455257"/>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pic>
        <p:nvPicPr>
          <p:cNvPr id="502" name="Google Shape;502;p15" descr="TP_tmp.png"/>
          <p:cNvPicPr preferRelativeResize="0"/>
          <p:nvPr/>
        </p:nvPicPr>
        <p:blipFill rotWithShape="1">
          <a:blip r:embed="rId8">
            <a:alphaModFix/>
          </a:blip>
          <a:srcRect/>
          <a:stretch/>
        </p:blipFill>
        <p:spPr>
          <a:xfrm>
            <a:off x="346553" y="2375833"/>
            <a:ext cx="183630" cy="323298"/>
          </a:xfrm>
          <a:prstGeom prst="rect">
            <a:avLst/>
          </a:prstGeom>
          <a:noFill/>
          <a:ln>
            <a:noFill/>
          </a:ln>
        </p:spPr>
      </p:pic>
      <p:pic>
        <p:nvPicPr>
          <p:cNvPr id="503" name="Google Shape;503;p15" descr="TP_tmp.png"/>
          <p:cNvPicPr preferRelativeResize="0"/>
          <p:nvPr/>
        </p:nvPicPr>
        <p:blipFill rotWithShape="1">
          <a:blip r:embed="rId9">
            <a:alphaModFix/>
          </a:blip>
          <a:srcRect/>
          <a:stretch/>
        </p:blipFill>
        <p:spPr>
          <a:xfrm>
            <a:off x="353872" y="3017816"/>
            <a:ext cx="204441" cy="323298"/>
          </a:xfrm>
          <a:prstGeom prst="rect">
            <a:avLst/>
          </a:prstGeom>
          <a:noFill/>
          <a:ln>
            <a:noFill/>
          </a:ln>
        </p:spPr>
      </p:pic>
      <p:sp>
        <p:nvSpPr>
          <p:cNvPr id="504" name="Google Shape;504;p15"/>
          <p:cNvSpPr txBox="1"/>
          <p:nvPr/>
        </p:nvSpPr>
        <p:spPr>
          <a:xfrm>
            <a:off x="1098665" y="1667735"/>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0             0             0 ……..</a:t>
            </a:r>
            <a:endParaRPr sz="634">
              <a:solidFill>
                <a:srgbClr val="000000"/>
              </a:solidFill>
              <a:latin typeface="Arial"/>
              <a:ea typeface="Arial"/>
              <a:cs typeface="Arial"/>
              <a:sym typeface="Arial"/>
            </a:endParaRPr>
          </a:p>
        </p:txBody>
      </p:sp>
      <p:sp>
        <p:nvSpPr>
          <p:cNvPr id="505" name="Google Shape;505;p15"/>
          <p:cNvSpPr txBox="1"/>
          <p:nvPr/>
        </p:nvSpPr>
        <p:spPr>
          <a:xfrm>
            <a:off x="1068904" y="2276820"/>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a:t>
            </a:r>
            <a:r>
              <a:rPr lang="en-US" sz="1691" b="1">
                <a:solidFill>
                  <a:schemeClr val="dk1"/>
                </a:solidFill>
                <a:latin typeface="Calibri"/>
                <a:ea typeface="Calibri"/>
                <a:cs typeface="Calibri"/>
                <a:sym typeface="Calibri"/>
              </a:rPr>
              <a:t> 2</a:t>
            </a:r>
            <a:endParaRPr sz="634" b="1">
              <a:solidFill>
                <a:srgbClr val="000000"/>
              </a:solidFill>
              <a:latin typeface="Arial"/>
              <a:ea typeface="Arial"/>
              <a:cs typeface="Arial"/>
              <a:sym typeface="Arial"/>
            </a:endParaRPr>
          </a:p>
        </p:txBody>
      </p:sp>
      <p:sp>
        <p:nvSpPr>
          <p:cNvPr id="506" name="Google Shape;506;p15"/>
          <p:cNvSpPr/>
          <p:nvPr/>
        </p:nvSpPr>
        <p:spPr>
          <a:xfrm>
            <a:off x="8591732" y="1740717"/>
            <a:ext cx="396569" cy="112734"/>
          </a:xfrm>
          <a:prstGeom prst="rightArrow">
            <a:avLst>
              <a:gd name="adj1" fmla="val 50000"/>
              <a:gd name="adj2" fmla="val 50000"/>
            </a:avLst>
          </a:prstGeom>
          <a:solidFill>
            <a:srgbClr val="E9A820"/>
          </a:solidFill>
          <a:ln w="25400" cap="flat" cmpd="sng">
            <a:solidFill>
              <a:srgbClr val="E9A820"/>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lt1"/>
              </a:solidFill>
              <a:latin typeface="Arial"/>
              <a:ea typeface="Arial"/>
              <a:cs typeface="Arial"/>
              <a:sym typeface="Arial"/>
            </a:endParaRPr>
          </a:p>
        </p:txBody>
      </p:sp>
      <p:pic>
        <p:nvPicPr>
          <p:cNvPr id="507" name="Google Shape;507;p15"/>
          <p:cNvPicPr preferRelativeResize="0"/>
          <p:nvPr/>
        </p:nvPicPr>
        <p:blipFill rotWithShape="1">
          <a:blip r:embed="rId10">
            <a:alphaModFix/>
          </a:blip>
          <a:srcRect/>
          <a:stretch/>
        </p:blipFill>
        <p:spPr>
          <a:xfrm>
            <a:off x="7217220" y="3254172"/>
            <a:ext cx="4960091" cy="3006946"/>
          </a:xfrm>
          <a:prstGeom prst="rect">
            <a:avLst/>
          </a:prstGeom>
          <a:noFill/>
          <a:ln>
            <a:noFill/>
          </a:ln>
        </p:spPr>
      </p:pic>
      <p:pic>
        <p:nvPicPr>
          <p:cNvPr id="508" name="Google Shape;508;p15"/>
          <p:cNvPicPr preferRelativeResize="0"/>
          <p:nvPr/>
        </p:nvPicPr>
        <p:blipFill rotWithShape="1">
          <a:blip r:embed="rId11">
            <a:alphaModFix/>
          </a:blip>
          <a:srcRect/>
          <a:stretch/>
        </p:blipFill>
        <p:spPr>
          <a:xfrm>
            <a:off x="9909066" y="684827"/>
            <a:ext cx="672728" cy="262364"/>
          </a:xfrm>
          <a:prstGeom prst="rect">
            <a:avLst/>
          </a:prstGeom>
          <a:noFill/>
          <a:ln>
            <a:noFill/>
          </a:ln>
        </p:spPr>
      </p:pic>
      <p:sp>
        <p:nvSpPr>
          <p:cNvPr id="509" name="Google Shape;509;p15"/>
          <p:cNvSpPr/>
          <p:nvPr/>
        </p:nvSpPr>
        <p:spPr>
          <a:xfrm>
            <a:off x="6050456" y="841601"/>
            <a:ext cx="778978" cy="512157"/>
          </a:xfrm>
          <a:prstGeom prst="triangle">
            <a:avLst>
              <a:gd name="adj" fmla="val 50000"/>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510" name="Google Shape;510;p15"/>
          <p:cNvSpPr/>
          <p:nvPr/>
        </p:nvSpPr>
        <p:spPr>
          <a:xfrm>
            <a:off x="6892541" y="1813470"/>
            <a:ext cx="625462" cy="437850"/>
          </a:xfrm>
          <a:prstGeom prst="ellipse">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511" name="Google Shape;511;p15"/>
          <p:cNvSpPr/>
          <p:nvPr/>
        </p:nvSpPr>
        <p:spPr>
          <a:xfrm>
            <a:off x="5047781" y="1829569"/>
            <a:ext cx="625462" cy="437850"/>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512" name="Google Shape;512;p15"/>
          <p:cNvSpPr/>
          <p:nvPr/>
        </p:nvSpPr>
        <p:spPr>
          <a:xfrm>
            <a:off x="4725108" y="2628430"/>
            <a:ext cx="590200" cy="417406"/>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513" name="Google Shape;513;p15"/>
          <p:cNvSpPr/>
          <p:nvPr/>
        </p:nvSpPr>
        <p:spPr>
          <a:xfrm>
            <a:off x="6425087" y="2628427"/>
            <a:ext cx="590200" cy="417406"/>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514" name="Google Shape;514;p15"/>
          <p:cNvSpPr/>
          <p:nvPr/>
        </p:nvSpPr>
        <p:spPr>
          <a:xfrm>
            <a:off x="7633305" y="2635890"/>
            <a:ext cx="590200" cy="417406"/>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cxnSp>
        <p:nvCxnSpPr>
          <p:cNvPr id="515" name="Google Shape;515;p15"/>
          <p:cNvCxnSpPr>
            <a:stCxn id="509" idx="3"/>
            <a:endCxn id="511" idx="7"/>
          </p:cNvCxnSpPr>
          <p:nvPr/>
        </p:nvCxnSpPr>
        <p:spPr>
          <a:xfrm flipH="1">
            <a:off x="5581440" y="1353758"/>
            <a:ext cx="858505" cy="540211"/>
          </a:xfrm>
          <a:prstGeom prst="straightConnector1">
            <a:avLst/>
          </a:prstGeom>
          <a:noFill/>
          <a:ln w="9525" cap="flat" cmpd="sng">
            <a:solidFill>
              <a:schemeClr val="dk1"/>
            </a:solidFill>
            <a:prstDash val="solid"/>
            <a:miter lim="800000"/>
            <a:headEnd type="none" w="sm" len="sm"/>
            <a:tailEnd type="triangle" w="med" len="med"/>
          </a:ln>
        </p:spPr>
      </p:cxnSp>
      <p:cxnSp>
        <p:nvCxnSpPr>
          <p:cNvPr id="516" name="Google Shape;516;p15"/>
          <p:cNvCxnSpPr>
            <a:stCxn id="509" idx="3"/>
            <a:endCxn id="510" idx="1"/>
          </p:cNvCxnSpPr>
          <p:nvPr/>
        </p:nvCxnSpPr>
        <p:spPr>
          <a:xfrm>
            <a:off x="6439945" y="1353758"/>
            <a:ext cx="544016" cy="523726"/>
          </a:xfrm>
          <a:prstGeom prst="straightConnector1">
            <a:avLst/>
          </a:prstGeom>
          <a:noFill/>
          <a:ln w="9525" cap="flat" cmpd="sng">
            <a:solidFill>
              <a:schemeClr val="dk1"/>
            </a:solidFill>
            <a:prstDash val="solid"/>
            <a:miter lim="800000"/>
            <a:headEnd type="none" w="sm" len="sm"/>
            <a:tailEnd type="triangle" w="med" len="med"/>
          </a:ln>
        </p:spPr>
      </p:cxnSp>
      <p:cxnSp>
        <p:nvCxnSpPr>
          <p:cNvPr id="517" name="Google Shape;517;p15"/>
          <p:cNvCxnSpPr>
            <a:stCxn id="511" idx="4"/>
            <a:endCxn id="512" idx="0"/>
          </p:cNvCxnSpPr>
          <p:nvPr/>
        </p:nvCxnSpPr>
        <p:spPr>
          <a:xfrm flipH="1">
            <a:off x="5020026" y="2267419"/>
            <a:ext cx="340485" cy="360775"/>
          </a:xfrm>
          <a:prstGeom prst="straightConnector1">
            <a:avLst/>
          </a:prstGeom>
          <a:noFill/>
          <a:ln w="9525" cap="flat" cmpd="sng">
            <a:solidFill>
              <a:schemeClr val="dk1"/>
            </a:solidFill>
            <a:prstDash val="solid"/>
            <a:miter lim="800000"/>
            <a:headEnd type="none" w="sm" len="sm"/>
            <a:tailEnd type="triangle" w="med" len="med"/>
          </a:ln>
        </p:spPr>
      </p:cxnSp>
      <p:cxnSp>
        <p:nvCxnSpPr>
          <p:cNvPr id="518" name="Google Shape;518;p15"/>
          <p:cNvCxnSpPr>
            <a:stCxn id="510" idx="4"/>
            <a:endCxn id="514" idx="0"/>
          </p:cNvCxnSpPr>
          <p:nvPr/>
        </p:nvCxnSpPr>
        <p:spPr>
          <a:xfrm>
            <a:off x="7205272" y="2251320"/>
            <a:ext cx="722818" cy="384869"/>
          </a:xfrm>
          <a:prstGeom prst="straightConnector1">
            <a:avLst/>
          </a:prstGeom>
          <a:noFill/>
          <a:ln w="9525" cap="flat" cmpd="sng">
            <a:solidFill>
              <a:schemeClr val="dk1"/>
            </a:solidFill>
            <a:prstDash val="solid"/>
            <a:miter lim="800000"/>
            <a:headEnd type="none" w="sm" len="sm"/>
            <a:tailEnd type="triangle" w="med" len="med"/>
          </a:ln>
        </p:spPr>
      </p:cxnSp>
      <p:cxnSp>
        <p:nvCxnSpPr>
          <p:cNvPr id="519" name="Google Shape;519;p15"/>
          <p:cNvCxnSpPr>
            <a:stCxn id="510" idx="4"/>
            <a:endCxn id="513" idx="0"/>
          </p:cNvCxnSpPr>
          <p:nvPr/>
        </p:nvCxnSpPr>
        <p:spPr>
          <a:xfrm flipH="1">
            <a:off x="6720223" y="2251320"/>
            <a:ext cx="485049" cy="377260"/>
          </a:xfrm>
          <a:prstGeom prst="straightConnector1">
            <a:avLst/>
          </a:prstGeom>
          <a:noFill/>
          <a:ln w="9525" cap="flat" cmpd="sng">
            <a:solidFill>
              <a:schemeClr val="dk1"/>
            </a:solidFill>
            <a:prstDash val="solid"/>
            <a:miter lim="800000"/>
            <a:headEnd type="none" w="sm" len="sm"/>
            <a:tailEnd type="triangle" w="med" len="med"/>
          </a:ln>
        </p:spPr>
      </p:cxnSp>
      <p:cxnSp>
        <p:nvCxnSpPr>
          <p:cNvPr id="520" name="Google Shape;520;p15"/>
          <p:cNvCxnSpPr/>
          <p:nvPr/>
        </p:nvCxnSpPr>
        <p:spPr>
          <a:xfrm flipH="1">
            <a:off x="4851542" y="3045832"/>
            <a:ext cx="158880" cy="452015"/>
          </a:xfrm>
          <a:prstGeom prst="straightConnector1">
            <a:avLst/>
          </a:prstGeom>
          <a:noFill/>
          <a:ln w="19050" cap="flat" cmpd="sng">
            <a:solidFill>
              <a:schemeClr val="dk1"/>
            </a:solidFill>
            <a:prstDash val="dash"/>
            <a:miter lim="800000"/>
            <a:headEnd type="none" w="sm" len="sm"/>
            <a:tailEnd type="triangle" w="med" len="med"/>
          </a:ln>
        </p:spPr>
      </p:cxnSp>
      <p:cxnSp>
        <p:nvCxnSpPr>
          <p:cNvPr id="521" name="Google Shape;521;p15"/>
          <p:cNvCxnSpPr/>
          <p:nvPr/>
        </p:nvCxnSpPr>
        <p:spPr>
          <a:xfrm flipH="1">
            <a:off x="6543567" y="3033158"/>
            <a:ext cx="183589" cy="433112"/>
          </a:xfrm>
          <a:prstGeom prst="straightConnector1">
            <a:avLst/>
          </a:prstGeom>
          <a:noFill/>
          <a:ln w="19050" cap="flat" cmpd="sng">
            <a:solidFill>
              <a:schemeClr val="dk1"/>
            </a:solidFill>
            <a:prstDash val="dash"/>
            <a:miter lim="800000"/>
            <a:headEnd type="none" w="sm" len="sm"/>
            <a:tailEnd type="triangle" w="med" len="med"/>
          </a:ln>
        </p:spPr>
      </p:cxnSp>
      <p:cxnSp>
        <p:nvCxnSpPr>
          <p:cNvPr id="522" name="Google Shape;522;p15"/>
          <p:cNvCxnSpPr/>
          <p:nvPr/>
        </p:nvCxnSpPr>
        <p:spPr>
          <a:xfrm flipH="1">
            <a:off x="7828110" y="3073739"/>
            <a:ext cx="41034" cy="424108"/>
          </a:xfrm>
          <a:prstGeom prst="straightConnector1">
            <a:avLst/>
          </a:prstGeom>
          <a:noFill/>
          <a:ln w="19050" cap="flat" cmpd="sng">
            <a:solidFill>
              <a:schemeClr val="dk1"/>
            </a:solidFill>
            <a:prstDash val="dash"/>
            <a:miter lim="800000"/>
            <a:headEnd type="none" w="sm" len="sm"/>
            <a:tailEnd type="triangle" w="med" len="med"/>
          </a:ln>
        </p:spPr>
      </p:cxnSp>
      <p:cxnSp>
        <p:nvCxnSpPr>
          <p:cNvPr id="523" name="Google Shape;523;p15"/>
          <p:cNvCxnSpPr/>
          <p:nvPr/>
        </p:nvCxnSpPr>
        <p:spPr>
          <a:xfrm>
            <a:off x="7925654" y="3086515"/>
            <a:ext cx="433553" cy="379754"/>
          </a:xfrm>
          <a:prstGeom prst="straightConnector1">
            <a:avLst/>
          </a:prstGeom>
          <a:noFill/>
          <a:ln w="19050" cap="flat" cmpd="sng">
            <a:solidFill>
              <a:schemeClr val="dk1"/>
            </a:solidFill>
            <a:prstDash val="dash"/>
            <a:miter lim="800000"/>
            <a:headEnd type="none" w="sm" len="sm"/>
            <a:tailEnd type="triangle" w="med" len="med"/>
          </a:ln>
        </p:spPr>
      </p:cxnSp>
      <p:cxnSp>
        <p:nvCxnSpPr>
          <p:cNvPr id="524" name="Google Shape;524;p15"/>
          <p:cNvCxnSpPr/>
          <p:nvPr/>
        </p:nvCxnSpPr>
        <p:spPr>
          <a:xfrm>
            <a:off x="6785608" y="3026279"/>
            <a:ext cx="309685" cy="439991"/>
          </a:xfrm>
          <a:prstGeom prst="straightConnector1">
            <a:avLst/>
          </a:prstGeom>
          <a:noFill/>
          <a:ln w="19050" cap="flat" cmpd="sng">
            <a:solidFill>
              <a:schemeClr val="dk1"/>
            </a:solidFill>
            <a:prstDash val="dash"/>
            <a:miter lim="800000"/>
            <a:headEnd type="none" w="sm" len="sm"/>
            <a:tailEnd type="triangle" w="med" len="med"/>
          </a:ln>
        </p:spPr>
      </p:cxnSp>
      <p:cxnSp>
        <p:nvCxnSpPr>
          <p:cNvPr id="525" name="Google Shape;525;p15"/>
          <p:cNvCxnSpPr/>
          <p:nvPr/>
        </p:nvCxnSpPr>
        <p:spPr>
          <a:xfrm>
            <a:off x="5065488" y="3045832"/>
            <a:ext cx="336093" cy="452015"/>
          </a:xfrm>
          <a:prstGeom prst="straightConnector1">
            <a:avLst/>
          </a:prstGeom>
          <a:noFill/>
          <a:ln w="19050" cap="flat" cmpd="sng">
            <a:solidFill>
              <a:schemeClr val="dk1"/>
            </a:solidFill>
            <a:prstDash val="dash"/>
            <a:miter lim="800000"/>
            <a:headEnd type="none" w="sm" len="sm"/>
            <a:tailEnd type="triangle" w="med" len="med"/>
          </a:ln>
        </p:spPr>
      </p:cxnSp>
      <p:sp>
        <p:nvSpPr>
          <p:cNvPr id="526" name="Google Shape;526;p15"/>
          <p:cNvSpPr txBox="1"/>
          <p:nvPr/>
        </p:nvSpPr>
        <p:spPr>
          <a:xfrm>
            <a:off x="4551997" y="3695288"/>
            <a:ext cx="4926580" cy="455260"/>
          </a:xfrm>
          <a:prstGeom prst="rect">
            <a:avLst/>
          </a:prstGeom>
          <a:noFill/>
          <a:ln>
            <a:noFill/>
          </a:ln>
        </p:spPr>
        <p:txBody>
          <a:bodyPr spcFirstLastPara="1" wrap="square" lIns="193227" tIns="96587" rIns="193227" bIns="96587" anchor="t" anchorCtr="0">
            <a:spAutoFit/>
          </a:bodyPr>
          <a:lstStyle/>
          <a:p>
            <a:r>
              <a:rPr lang="en-US" sz="1691" b="1">
                <a:solidFill>
                  <a:srgbClr val="00B050"/>
                </a:solidFill>
                <a:latin typeface="Arial"/>
                <a:ea typeface="Arial"/>
                <a:cs typeface="Arial"/>
                <a:sym typeface="Arial"/>
              </a:rPr>
              <a:t>   1.0                        0.5               0.5</a:t>
            </a:r>
            <a:endParaRPr sz="1691" b="1">
              <a:solidFill>
                <a:srgbClr val="00B050"/>
              </a:solidFill>
              <a:latin typeface="Arial"/>
              <a:ea typeface="Arial"/>
              <a:cs typeface="Arial"/>
              <a:sym typeface="Arial"/>
            </a:endParaRPr>
          </a:p>
        </p:txBody>
      </p:sp>
      <p:sp>
        <p:nvSpPr>
          <p:cNvPr id="527" name="Google Shape;527;p15"/>
          <p:cNvSpPr txBox="1"/>
          <p:nvPr/>
        </p:nvSpPr>
        <p:spPr>
          <a:xfrm>
            <a:off x="4725109" y="3419748"/>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+1                         +2                +2</a:t>
            </a:r>
            <a:endParaRPr sz="1691" b="1">
              <a:solidFill>
                <a:srgbClr val="C00000"/>
              </a:solidFill>
              <a:latin typeface="Arial"/>
              <a:ea typeface="Arial"/>
              <a:cs typeface="Arial"/>
              <a:sym typeface="Arial"/>
            </a:endParaRPr>
          </a:p>
        </p:txBody>
      </p:sp>
      <p:sp>
        <p:nvSpPr>
          <p:cNvPr id="528" name="Google Shape;528;p15"/>
          <p:cNvSpPr txBox="1"/>
          <p:nvPr/>
        </p:nvSpPr>
        <p:spPr>
          <a:xfrm>
            <a:off x="4458062" y="2178177"/>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	cool          warm</a:t>
            </a:r>
            <a:endParaRPr sz="1691" b="1">
              <a:solidFill>
                <a:srgbClr val="C00000"/>
              </a:solidFill>
              <a:latin typeface="Arial"/>
              <a:ea typeface="Arial"/>
              <a:cs typeface="Arial"/>
              <a:sym typeface="Arial"/>
            </a:endParaRPr>
          </a:p>
        </p:txBody>
      </p:sp>
      <p:sp>
        <p:nvSpPr>
          <p:cNvPr id="529" name="Google Shape;529;p15"/>
          <p:cNvSpPr txBox="1"/>
          <p:nvPr/>
        </p:nvSpPr>
        <p:spPr>
          <a:xfrm>
            <a:off x="5429049" y="877001"/>
            <a:ext cx="948196"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a:t>
            </a:r>
            <a:endParaRPr sz="1691" b="1">
              <a:solidFill>
                <a:srgbClr val="C00000"/>
              </a:solidFill>
              <a:latin typeface="Arial"/>
              <a:ea typeface="Arial"/>
              <a:cs typeface="Arial"/>
              <a:sym typeface="Arial"/>
            </a:endParaRPr>
          </a:p>
        </p:txBody>
      </p:sp>
      <p:sp>
        <p:nvSpPr>
          <p:cNvPr id="530" name="Google Shape;530;p15"/>
          <p:cNvSpPr txBox="1"/>
          <p:nvPr/>
        </p:nvSpPr>
        <p:spPr>
          <a:xfrm>
            <a:off x="10282" y="3899057"/>
            <a:ext cx="2991830" cy="761882"/>
          </a:xfrm>
          <a:prstGeom prst="rect">
            <a:avLst/>
          </a:prstGeom>
          <a:blipFill rotWithShape="1">
            <a:blip r:embed="rId18">
              <a:alphaModFix/>
            </a:blip>
            <a:stretch>
              <a:fillRect l="-1722" t="-235566" r="-28447" b="-330478"/>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531" name="Google Shape;531;p15"/>
          <p:cNvSpPr txBox="1"/>
          <p:nvPr/>
        </p:nvSpPr>
        <p:spPr>
          <a:xfrm>
            <a:off x="2983" y="5805918"/>
            <a:ext cx="10725169" cy="761882"/>
          </a:xfrm>
          <a:prstGeom prst="rect">
            <a:avLst/>
          </a:prstGeom>
          <a:blipFill rotWithShape="1">
            <a:blip r:embed="rId19">
              <a:alphaModFix/>
            </a:blip>
            <a:stretch>
              <a:fillRect l="-480" t="-235566" b="-330478"/>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532" name="Google Shape;532;p15"/>
          <p:cNvSpPr txBox="1"/>
          <p:nvPr/>
        </p:nvSpPr>
        <p:spPr>
          <a:xfrm>
            <a:off x="-3361" y="4835698"/>
            <a:ext cx="6943810" cy="761882"/>
          </a:xfrm>
          <a:prstGeom prst="rect">
            <a:avLst/>
          </a:prstGeom>
          <a:blipFill rotWithShape="1">
            <a:blip r:embed="rId20">
              <a:alphaModFix/>
            </a:blip>
            <a:stretch>
              <a:fillRect l="-371" t="-233875" b="-332170"/>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533" name="Google Shape;533;p15"/>
          <p:cNvSpPr txBox="1"/>
          <p:nvPr/>
        </p:nvSpPr>
        <p:spPr>
          <a:xfrm>
            <a:off x="83380" y="3466326"/>
            <a:ext cx="4641730" cy="707262"/>
          </a:xfrm>
          <a:prstGeom prst="rect">
            <a:avLst/>
          </a:prstGeom>
          <a:noFill/>
          <a:ln>
            <a:noFill/>
          </a:ln>
        </p:spPr>
        <p:txBody>
          <a:bodyPr spcFirstLastPara="1" wrap="square" lIns="0" tIns="24147" rIns="0" bIns="0" anchor="t" anchorCtr="0">
            <a:spAutoFit/>
          </a:bodyPr>
          <a:lstStyle/>
          <a:p>
            <a:pPr marL="80524" indent="-127497">
              <a:buClr>
                <a:srgbClr val="000000"/>
              </a:buClr>
              <a:buSzPts val="950"/>
              <a:buFont typeface="Arial"/>
              <a:buChar char="•"/>
            </a:pPr>
            <a:r>
              <a:rPr lang="en-US" sz="1479">
                <a:solidFill>
                  <a:srgbClr val="0070C0"/>
                </a:solidFill>
                <a:latin typeface="Arial"/>
                <a:ea typeface="Arial"/>
                <a:cs typeface="Arial"/>
                <a:sym typeface="Arial"/>
              </a:rPr>
              <a:t>Below is done only for state : “Cool”. In this same iteration while updating the V(Warm) use recent value of V(Cool) = 2 not 0 .</a:t>
            </a:r>
            <a:endParaRPr sz="1479">
              <a:solidFill>
                <a:srgbClr val="0070C0"/>
              </a:solidFill>
              <a:latin typeface="Arial"/>
              <a:ea typeface="Arial"/>
              <a:cs typeface="Arial"/>
              <a:sym typeface="Arial"/>
            </a:endParaRPr>
          </a:p>
        </p:txBody>
      </p:sp>
      <p:sp>
        <p:nvSpPr>
          <p:cNvPr id="534" name="Google Shape;534;p15"/>
          <p:cNvSpPr/>
          <p:nvPr/>
        </p:nvSpPr>
        <p:spPr>
          <a:xfrm>
            <a:off x="9725008" y="732982"/>
            <a:ext cx="1277936" cy="487769"/>
          </a:xfrm>
          <a:prstGeom prst="rect">
            <a:avLst/>
          </a:prstGeom>
          <a:noFill/>
          <a:ln>
            <a:noFill/>
          </a:ln>
        </p:spPr>
        <p:txBody>
          <a:bodyPr spcFirstLastPara="1" wrap="square" lIns="193227" tIns="96587" rIns="193227" bIns="96587" anchor="t" anchorCtr="0">
            <a:spAutoFit/>
          </a:bodyPr>
          <a:lstStyle/>
          <a:p>
            <a:r>
              <a:rPr lang="en-US" sz="1902">
                <a:solidFill>
                  <a:srgbClr val="000000"/>
                </a:solidFill>
                <a:latin typeface="Arial"/>
                <a:ea typeface="Arial"/>
                <a:cs typeface="Arial"/>
                <a:sym typeface="Arial"/>
              </a:rPr>
              <a:t>ɵ = 0.01</a:t>
            </a:r>
            <a:endParaRPr sz="1902">
              <a:solidFill>
                <a:srgbClr val="000000"/>
              </a:solidFill>
              <a:latin typeface="Arial"/>
              <a:ea typeface="Arial"/>
              <a:cs typeface="Arial"/>
              <a:sym typeface="Arial"/>
            </a:endParaRPr>
          </a:p>
        </p:txBody>
      </p:sp>
      <p:sp>
        <p:nvSpPr>
          <p:cNvPr id="536" name="Google Shape;536;p15"/>
          <p:cNvSpPr txBox="1"/>
          <p:nvPr/>
        </p:nvSpPr>
        <p:spPr>
          <a:xfrm>
            <a:off x="4790198" y="1336714"/>
            <a:ext cx="3299495" cy="455260"/>
          </a:xfrm>
          <a:prstGeom prst="rect">
            <a:avLst/>
          </a:prstGeom>
          <a:noFill/>
          <a:ln>
            <a:noFill/>
          </a:ln>
        </p:spPr>
        <p:txBody>
          <a:bodyPr spcFirstLastPara="1" wrap="square" lIns="193227" tIns="96587" rIns="193227" bIns="96587" anchor="t" anchorCtr="0">
            <a:spAutoFit/>
          </a:bodyPr>
          <a:lstStyle/>
          <a:p>
            <a:r>
              <a:rPr lang="en-US" sz="1691" b="1">
                <a:solidFill>
                  <a:schemeClr val="dk1"/>
                </a:solidFill>
                <a:latin typeface="Arial"/>
                <a:ea typeface="Arial"/>
                <a:cs typeface="Arial"/>
                <a:sym typeface="Arial"/>
              </a:rPr>
              <a:t>Go Slow	Go Fast</a:t>
            </a:r>
            <a:endParaRPr sz="1691" b="1">
              <a:solidFill>
                <a:schemeClr val="dk1"/>
              </a:solidFill>
              <a:latin typeface="Arial"/>
              <a:ea typeface="Arial"/>
              <a:cs typeface="Arial"/>
              <a:sym typeface="Arial"/>
            </a:endParaRPr>
          </a:p>
        </p:txBody>
      </p:sp>
      <p:sp>
        <p:nvSpPr>
          <p:cNvPr id="537" name="Google Shape;537;p15"/>
          <p:cNvSpPr txBox="1"/>
          <p:nvPr/>
        </p:nvSpPr>
        <p:spPr>
          <a:xfrm>
            <a:off x="9373570" y="5694887"/>
            <a:ext cx="2734661" cy="488219"/>
          </a:xfrm>
          <a:prstGeom prst="rect">
            <a:avLst/>
          </a:prstGeom>
          <a:solidFill>
            <a:srgbClr val="F0C040"/>
          </a:solidFill>
          <a:ln>
            <a:noFill/>
          </a:ln>
        </p:spPr>
        <p:txBody>
          <a:bodyPr spcFirstLastPara="1" wrap="square" lIns="193227" tIns="193227" rIns="193227" bIns="193227" anchor="t" anchorCtr="0">
            <a:noAutofit/>
          </a:bodyPr>
          <a:lstStyle/>
          <a:p>
            <a:r>
              <a:rPr lang="en-US" sz="1585" b="1">
                <a:solidFill>
                  <a:srgbClr val="1B1472"/>
                </a:solidFill>
              </a:rPr>
              <a:t>Asynchronous Updates</a:t>
            </a:r>
            <a:endParaRPr sz="1585" b="1">
              <a:solidFill>
                <a:srgbClr val="1B1472"/>
              </a:solidFill>
            </a:endParaRPr>
          </a:p>
        </p:txBody>
      </p:sp>
      <p:sp>
        <p:nvSpPr>
          <p:cNvPr id="2" name="Footer">
            <a:extLst>
              <a:ext uri="{FF2B5EF4-FFF2-40B4-BE49-F238E27FC236}">
                <a16:creationId xmlns:a16="http://schemas.microsoft.com/office/drawing/2014/main" id="{77710633-20A4-5EC9-6344-29334D11590E}"/>
              </a:ext>
            </a:extLst>
          </p:cNvPr>
          <p:cNvSpPr txBox="1">
            <a:spLocks/>
          </p:cNvSpPr>
          <p:nvPr/>
        </p:nvSpPr>
        <p:spPr>
          <a:xfrm>
            <a:off x="3077863" y="6592605"/>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3"/>
                                        </p:tgtEl>
                                        <p:attrNameLst>
                                          <p:attrName>style.visibility</p:attrName>
                                        </p:attrNameLst>
                                      </p:cBhvr>
                                      <p:to>
                                        <p:strVal val="visible"/>
                                      </p:to>
                                    </p:set>
                                    <p:animEffect transition="in" filter="fade">
                                      <p:cBhvr>
                                        <p:cTn id="7" dur="500"/>
                                        <p:tgtEl>
                                          <p:spTgt spid="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16"/>
          <p:cNvSpPr txBox="1">
            <a:spLocks noGrp="1"/>
          </p:cNvSpPr>
          <p:nvPr>
            <p:ph type="title"/>
          </p:nvPr>
        </p:nvSpPr>
        <p:spPr>
          <a:xfrm>
            <a:off x="177559" y="231525"/>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 – Value Iteration</a:t>
            </a:r>
            <a:endParaRPr/>
          </a:p>
        </p:txBody>
      </p:sp>
      <p:sp>
        <p:nvSpPr>
          <p:cNvPr id="543" name="Google Shape;543;p16"/>
          <p:cNvSpPr/>
          <p:nvPr/>
        </p:nvSpPr>
        <p:spPr>
          <a:xfrm>
            <a:off x="11044484" y="1148949"/>
            <a:ext cx="0" cy="8848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nvGrpSpPr>
          <p:cNvPr id="544" name="Google Shape;544;p16"/>
          <p:cNvGrpSpPr/>
          <p:nvPr/>
        </p:nvGrpSpPr>
        <p:grpSpPr>
          <a:xfrm>
            <a:off x="2983" y="6571410"/>
            <a:ext cx="12174329" cy="194601"/>
            <a:chOff x="0" y="3109250"/>
            <a:chExt cx="5760261" cy="92075"/>
          </a:xfrm>
        </p:grpSpPr>
        <p:sp>
          <p:nvSpPr>
            <p:cNvPr id="545" name="Google Shape;545;p16"/>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546" name="Google Shape;546;p16"/>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547" name="Google Shape;547;p16"/>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549" name="Google Shape;549;p1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24</a:t>
            </a:fld>
            <a:r>
              <a:rPr lang="en-US"/>
              <a:t> / 46</a:t>
            </a:r>
            <a:endParaRPr/>
          </a:p>
        </p:txBody>
      </p:sp>
      <p:pic>
        <p:nvPicPr>
          <p:cNvPr id="550" name="Google Shape;550;p16" descr="A screenshot of a cell phone  Description automatically generated"/>
          <p:cNvPicPr preferRelativeResize="0">
            <a:picLocks noGrp="1"/>
          </p:cNvPicPr>
          <p:nvPr>
            <p:ph type="body" idx="1"/>
          </p:nvPr>
        </p:nvPicPr>
        <p:blipFill rotWithShape="1">
          <a:blip r:embed="rId3">
            <a:alphaModFix/>
          </a:blip>
          <a:srcRect l="1654" t="2135" r="39745" b="2438"/>
          <a:stretch/>
        </p:blipFill>
        <p:spPr>
          <a:xfrm>
            <a:off x="8988302" y="178576"/>
            <a:ext cx="3186987" cy="2853525"/>
          </a:xfrm>
          <a:prstGeom prst="rect">
            <a:avLst/>
          </a:prstGeom>
          <a:noFill/>
          <a:ln>
            <a:noFill/>
          </a:ln>
        </p:spPr>
      </p:pic>
      <p:pic>
        <p:nvPicPr>
          <p:cNvPr id="551" name="Google Shape;551;p16" descr="TP_tmp.png"/>
          <p:cNvPicPr preferRelativeResize="0"/>
          <p:nvPr/>
        </p:nvPicPr>
        <p:blipFill rotWithShape="1">
          <a:blip r:embed="rId4">
            <a:alphaModFix/>
          </a:blip>
          <a:srcRect/>
          <a:stretch/>
        </p:blipFill>
        <p:spPr>
          <a:xfrm>
            <a:off x="364607" y="1756415"/>
            <a:ext cx="203949" cy="322518"/>
          </a:xfrm>
          <a:prstGeom prst="rect">
            <a:avLst/>
          </a:prstGeom>
          <a:noFill/>
          <a:ln>
            <a:noFill/>
          </a:ln>
        </p:spPr>
      </p:pic>
      <p:pic>
        <p:nvPicPr>
          <p:cNvPr id="552" name="Google Shape;552;p16"/>
          <p:cNvPicPr preferRelativeResize="0"/>
          <p:nvPr/>
        </p:nvPicPr>
        <p:blipFill rotWithShape="1">
          <a:blip r:embed="rId5">
            <a:alphaModFix/>
          </a:blip>
          <a:srcRect/>
          <a:stretch/>
        </p:blipFill>
        <p:spPr>
          <a:xfrm>
            <a:off x="1123247" y="1115162"/>
            <a:ext cx="535435" cy="556722"/>
          </a:xfrm>
          <a:prstGeom prst="rect">
            <a:avLst/>
          </a:prstGeom>
          <a:noFill/>
          <a:ln>
            <a:noFill/>
          </a:ln>
        </p:spPr>
      </p:pic>
      <p:pic>
        <p:nvPicPr>
          <p:cNvPr id="553" name="Google Shape;553;p16"/>
          <p:cNvPicPr preferRelativeResize="0"/>
          <p:nvPr/>
        </p:nvPicPr>
        <p:blipFill rotWithShape="1">
          <a:blip r:embed="rId6">
            <a:alphaModFix/>
          </a:blip>
          <a:srcRect/>
          <a:stretch/>
        </p:blipFill>
        <p:spPr>
          <a:xfrm>
            <a:off x="2509775" y="1035634"/>
            <a:ext cx="568088" cy="636251"/>
          </a:xfrm>
          <a:prstGeom prst="rect">
            <a:avLst/>
          </a:prstGeom>
          <a:noFill/>
          <a:ln>
            <a:noFill/>
          </a:ln>
        </p:spPr>
      </p:pic>
      <p:pic>
        <p:nvPicPr>
          <p:cNvPr id="554" name="Google Shape;554;p16"/>
          <p:cNvPicPr preferRelativeResize="0"/>
          <p:nvPr/>
        </p:nvPicPr>
        <p:blipFill rotWithShape="1">
          <a:blip r:embed="rId7">
            <a:alphaModFix/>
          </a:blip>
          <a:srcRect/>
          <a:stretch/>
        </p:blipFill>
        <p:spPr>
          <a:xfrm>
            <a:off x="1821735" y="1077450"/>
            <a:ext cx="585286" cy="583232"/>
          </a:xfrm>
          <a:prstGeom prst="rect">
            <a:avLst/>
          </a:prstGeom>
          <a:noFill/>
          <a:ln>
            <a:noFill/>
          </a:ln>
        </p:spPr>
      </p:pic>
      <p:sp>
        <p:nvSpPr>
          <p:cNvPr id="555" name="Google Shape;555;p16"/>
          <p:cNvSpPr/>
          <p:nvPr/>
        </p:nvSpPr>
        <p:spPr>
          <a:xfrm>
            <a:off x="657828" y="3005348"/>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556" name="Google Shape;556;p16"/>
          <p:cNvSpPr/>
          <p:nvPr/>
        </p:nvSpPr>
        <p:spPr>
          <a:xfrm>
            <a:off x="690038" y="2276822"/>
            <a:ext cx="2928770" cy="455253"/>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557" name="Google Shape;557;p16"/>
          <p:cNvSpPr/>
          <p:nvPr/>
        </p:nvSpPr>
        <p:spPr>
          <a:xfrm>
            <a:off x="696040" y="1667731"/>
            <a:ext cx="2928770" cy="455257"/>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pic>
        <p:nvPicPr>
          <p:cNvPr id="558" name="Google Shape;558;p16" descr="TP_tmp.png"/>
          <p:cNvPicPr preferRelativeResize="0"/>
          <p:nvPr/>
        </p:nvPicPr>
        <p:blipFill rotWithShape="1">
          <a:blip r:embed="rId8">
            <a:alphaModFix/>
          </a:blip>
          <a:srcRect/>
          <a:stretch/>
        </p:blipFill>
        <p:spPr>
          <a:xfrm>
            <a:off x="346553" y="2375833"/>
            <a:ext cx="183630" cy="323298"/>
          </a:xfrm>
          <a:prstGeom prst="rect">
            <a:avLst/>
          </a:prstGeom>
          <a:noFill/>
          <a:ln>
            <a:noFill/>
          </a:ln>
        </p:spPr>
      </p:pic>
      <p:pic>
        <p:nvPicPr>
          <p:cNvPr id="559" name="Google Shape;559;p16" descr="TP_tmp.png"/>
          <p:cNvPicPr preferRelativeResize="0"/>
          <p:nvPr/>
        </p:nvPicPr>
        <p:blipFill rotWithShape="1">
          <a:blip r:embed="rId9">
            <a:alphaModFix/>
          </a:blip>
          <a:srcRect/>
          <a:stretch/>
        </p:blipFill>
        <p:spPr>
          <a:xfrm>
            <a:off x="353872" y="3017816"/>
            <a:ext cx="204441" cy="323298"/>
          </a:xfrm>
          <a:prstGeom prst="rect">
            <a:avLst/>
          </a:prstGeom>
          <a:noFill/>
          <a:ln>
            <a:noFill/>
          </a:ln>
        </p:spPr>
      </p:pic>
      <p:sp>
        <p:nvSpPr>
          <p:cNvPr id="560" name="Google Shape;560;p16"/>
          <p:cNvSpPr txBox="1"/>
          <p:nvPr/>
        </p:nvSpPr>
        <p:spPr>
          <a:xfrm>
            <a:off x="1098665" y="1667735"/>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0             0             0 ……..</a:t>
            </a:r>
            <a:endParaRPr sz="634">
              <a:solidFill>
                <a:srgbClr val="000000"/>
              </a:solidFill>
              <a:latin typeface="Arial"/>
              <a:ea typeface="Arial"/>
              <a:cs typeface="Arial"/>
              <a:sym typeface="Arial"/>
            </a:endParaRPr>
          </a:p>
        </p:txBody>
      </p:sp>
      <p:sp>
        <p:nvSpPr>
          <p:cNvPr id="561" name="Google Shape;561;p16"/>
          <p:cNvSpPr txBox="1"/>
          <p:nvPr/>
        </p:nvSpPr>
        <p:spPr>
          <a:xfrm>
            <a:off x="1068904" y="2276821"/>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a:t>
            </a:r>
            <a:r>
              <a:rPr lang="en-US" sz="1691" b="1">
                <a:solidFill>
                  <a:schemeClr val="dk1"/>
                </a:solidFill>
                <a:latin typeface="Calibri"/>
                <a:ea typeface="Calibri"/>
                <a:cs typeface="Calibri"/>
                <a:sym typeface="Calibri"/>
              </a:rPr>
              <a:t> 2            </a:t>
            </a:r>
            <a:r>
              <a:rPr lang="en-US" sz="1691" b="1">
                <a:solidFill>
                  <a:srgbClr val="FF0000"/>
                </a:solidFill>
                <a:latin typeface="Calibri"/>
                <a:ea typeface="Calibri"/>
                <a:cs typeface="Calibri"/>
                <a:sym typeface="Calibri"/>
              </a:rPr>
              <a:t> 1.9  </a:t>
            </a:r>
            <a:r>
              <a:rPr lang="en-US" sz="1691" b="1">
                <a:solidFill>
                  <a:schemeClr val="dk1"/>
                </a:solidFill>
                <a:latin typeface="Calibri"/>
                <a:ea typeface="Calibri"/>
                <a:cs typeface="Calibri"/>
                <a:sym typeface="Calibri"/>
              </a:rPr>
              <a:t>        0</a:t>
            </a:r>
            <a:endParaRPr sz="634" b="1">
              <a:solidFill>
                <a:srgbClr val="000000"/>
              </a:solidFill>
              <a:latin typeface="Arial"/>
              <a:ea typeface="Arial"/>
              <a:cs typeface="Arial"/>
              <a:sym typeface="Arial"/>
            </a:endParaRPr>
          </a:p>
        </p:txBody>
      </p:sp>
      <p:sp>
        <p:nvSpPr>
          <p:cNvPr id="562" name="Google Shape;562;p16"/>
          <p:cNvSpPr/>
          <p:nvPr/>
        </p:nvSpPr>
        <p:spPr>
          <a:xfrm>
            <a:off x="8591732" y="1740717"/>
            <a:ext cx="396569" cy="112734"/>
          </a:xfrm>
          <a:prstGeom prst="rightArrow">
            <a:avLst>
              <a:gd name="adj1" fmla="val 50000"/>
              <a:gd name="adj2" fmla="val 50000"/>
            </a:avLst>
          </a:prstGeom>
          <a:solidFill>
            <a:srgbClr val="E9A820"/>
          </a:solidFill>
          <a:ln w="25400" cap="flat" cmpd="sng">
            <a:solidFill>
              <a:srgbClr val="E9A820"/>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lt1"/>
              </a:solidFill>
              <a:latin typeface="Arial"/>
              <a:ea typeface="Arial"/>
              <a:cs typeface="Arial"/>
              <a:sym typeface="Arial"/>
            </a:endParaRPr>
          </a:p>
        </p:txBody>
      </p:sp>
      <p:pic>
        <p:nvPicPr>
          <p:cNvPr id="563" name="Google Shape;563;p16"/>
          <p:cNvPicPr preferRelativeResize="0"/>
          <p:nvPr/>
        </p:nvPicPr>
        <p:blipFill rotWithShape="1">
          <a:blip r:embed="rId10">
            <a:alphaModFix/>
          </a:blip>
          <a:srcRect/>
          <a:stretch/>
        </p:blipFill>
        <p:spPr>
          <a:xfrm>
            <a:off x="7217220" y="3254172"/>
            <a:ext cx="4960091" cy="3006946"/>
          </a:xfrm>
          <a:prstGeom prst="rect">
            <a:avLst/>
          </a:prstGeom>
          <a:noFill/>
          <a:ln>
            <a:noFill/>
          </a:ln>
        </p:spPr>
      </p:pic>
      <p:pic>
        <p:nvPicPr>
          <p:cNvPr id="564" name="Google Shape;564;p16"/>
          <p:cNvPicPr preferRelativeResize="0"/>
          <p:nvPr/>
        </p:nvPicPr>
        <p:blipFill rotWithShape="1">
          <a:blip r:embed="rId11">
            <a:alphaModFix/>
          </a:blip>
          <a:srcRect/>
          <a:stretch/>
        </p:blipFill>
        <p:spPr>
          <a:xfrm>
            <a:off x="9909066" y="684827"/>
            <a:ext cx="672728" cy="262364"/>
          </a:xfrm>
          <a:prstGeom prst="rect">
            <a:avLst/>
          </a:prstGeom>
          <a:noFill/>
          <a:ln>
            <a:noFill/>
          </a:ln>
        </p:spPr>
      </p:pic>
      <p:sp>
        <p:nvSpPr>
          <p:cNvPr id="565" name="Google Shape;565;p16"/>
          <p:cNvSpPr/>
          <p:nvPr/>
        </p:nvSpPr>
        <p:spPr>
          <a:xfrm>
            <a:off x="6050456" y="841601"/>
            <a:ext cx="778978" cy="512157"/>
          </a:xfrm>
          <a:prstGeom prst="triangle">
            <a:avLst>
              <a:gd name="adj" fmla="val 50000"/>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566" name="Google Shape;566;p16"/>
          <p:cNvSpPr/>
          <p:nvPr/>
        </p:nvSpPr>
        <p:spPr>
          <a:xfrm>
            <a:off x="6892541" y="1813470"/>
            <a:ext cx="625462" cy="437850"/>
          </a:xfrm>
          <a:prstGeom prst="ellipse">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567" name="Google Shape;567;p16"/>
          <p:cNvSpPr/>
          <p:nvPr/>
        </p:nvSpPr>
        <p:spPr>
          <a:xfrm>
            <a:off x="5047781" y="1829569"/>
            <a:ext cx="625462" cy="437850"/>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568" name="Google Shape;568;p16"/>
          <p:cNvSpPr/>
          <p:nvPr/>
        </p:nvSpPr>
        <p:spPr>
          <a:xfrm>
            <a:off x="4725108" y="2628430"/>
            <a:ext cx="590200" cy="417406"/>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569" name="Google Shape;569;p16"/>
          <p:cNvSpPr/>
          <p:nvPr/>
        </p:nvSpPr>
        <p:spPr>
          <a:xfrm>
            <a:off x="6425087" y="2628427"/>
            <a:ext cx="590200" cy="417406"/>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570" name="Google Shape;570;p16"/>
          <p:cNvSpPr/>
          <p:nvPr/>
        </p:nvSpPr>
        <p:spPr>
          <a:xfrm>
            <a:off x="7633305" y="2635890"/>
            <a:ext cx="590200" cy="417406"/>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cxnSp>
        <p:nvCxnSpPr>
          <p:cNvPr id="571" name="Google Shape;571;p16"/>
          <p:cNvCxnSpPr>
            <a:stCxn id="565" idx="3"/>
            <a:endCxn id="567" idx="7"/>
          </p:cNvCxnSpPr>
          <p:nvPr/>
        </p:nvCxnSpPr>
        <p:spPr>
          <a:xfrm flipH="1">
            <a:off x="5581440" y="1353758"/>
            <a:ext cx="858505" cy="540211"/>
          </a:xfrm>
          <a:prstGeom prst="straightConnector1">
            <a:avLst/>
          </a:prstGeom>
          <a:noFill/>
          <a:ln w="9525" cap="flat" cmpd="sng">
            <a:solidFill>
              <a:schemeClr val="dk1"/>
            </a:solidFill>
            <a:prstDash val="solid"/>
            <a:miter lim="800000"/>
            <a:headEnd type="none" w="sm" len="sm"/>
            <a:tailEnd type="triangle" w="med" len="med"/>
          </a:ln>
        </p:spPr>
      </p:cxnSp>
      <p:cxnSp>
        <p:nvCxnSpPr>
          <p:cNvPr id="572" name="Google Shape;572;p16"/>
          <p:cNvCxnSpPr>
            <a:stCxn id="565" idx="3"/>
            <a:endCxn id="566" idx="1"/>
          </p:cNvCxnSpPr>
          <p:nvPr/>
        </p:nvCxnSpPr>
        <p:spPr>
          <a:xfrm>
            <a:off x="6439945" y="1353758"/>
            <a:ext cx="544016" cy="523726"/>
          </a:xfrm>
          <a:prstGeom prst="straightConnector1">
            <a:avLst/>
          </a:prstGeom>
          <a:noFill/>
          <a:ln w="9525" cap="flat" cmpd="sng">
            <a:solidFill>
              <a:schemeClr val="dk1"/>
            </a:solidFill>
            <a:prstDash val="solid"/>
            <a:miter lim="800000"/>
            <a:headEnd type="none" w="sm" len="sm"/>
            <a:tailEnd type="triangle" w="med" len="med"/>
          </a:ln>
        </p:spPr>
      </p:cxnSp>
      <p:cxnSp>
        <p:nvCxnSpPr>
          <p:cNvPr id="573" name="Google Shape;573;p16"/>
          <p:cNvCxnSpPr>
            <a:stCxn id="567" idx="4"/>
            <a:endCxn id="568" idx="0"/>
          </p:cNvCxnSpPr>
          <p:nvPr/>
        </p:nvCxnSpPr>
        <p:spPr>
          <a:xfrm flipH="1">
            <a:off x="5020026" y="2267419"/>
            <a:ext cx="340485" cy="360775"/>
          </a:xfrm>
          <a:prstGeom prst="straightConnector1">
            <a:avLst/>
          </a:prstGeom>
          <a:noFill/>
          <a:ln w="9525" cap="flat" cmpd="sng">
            <a:solidFill>
              <a:schemeClr val="dk1"/>
            </a:solidFill>
            <a:prstDash val="solid"/>
            <a:miter lim="800000"/>
            <a:headEnd type="none" w="sm" len="sm"/>
            <a:tailEnd type="triangle" w="med" len="med"/>
          </a:ln>
        </p:spPr>
      </p:cxnSp>
      <p:cxnSp>
        <p:nvCxnSpPr>
          <p:cNvPr id="574" name="Google Shape;574;p16"/>
          <p:cNvCxnSpPr>
            <a:stCxn id="566" idx="4"/>
            <a:endCxn id="570" idx="0"/>
          </p:cNvCxnSpPr>
          <p:nvPr/>
        </p:nvCxnSpPr>
        <p:spPr>
          <a:xfrm>
            <a:off x="7205272" y="2251320"/>
            <a:ext cx="722818" cy="384869"/>
          </a:xfrm>
          <a:prstGeom prst="straightConnector1">
            <a:avLst/>
          </a:prstGeom>
          <a:noFill/>
          <a:ln w="9525" cap="flat" cmpd="sng">
            <a:solidFill>
              <a:schemeClr val="dk1"/>
            </a:solidFill>
            <a:prstDash val="solid"/>
            <a:miter lim="800000"/>
            <a:headEnd type="none" w="sm" len="sm"/>
            <a:tailEnd type="triangle" w="med" len="med"/>
          </a:ln>
        </p:spPr>
      </p:cxnSp>
      <p:cxnSp>
        <p:nvCxnSpPr>
          <p:cNvPr id="575" name="Google Shape;575;p16"/>
          <p:cNvCxnSpPr>
            <a:stCxn id="566" idx="4"/>
            <a:endCxn id="569" idx="0"/>
          </p:cNvCxnSpPr>
          <p:nvPr/>
        </p:nvCxnSpPr>
        <p:spPr>
          <a:xfrm flipH="1">
            <a:off x="6720223" y="2251320"/>
            <a:ext cx="485049" cy="377260"/>
          </a:xfrm>
          <a:prstGeom prst="straightConnector1">
            <a:avLst/>
          </a:prstGeom>
          <a:noFill/>
          <a:ln w="9525" cap="flat" cmpd="sng">
            <a:solidFill>
              <a:schemeClr val="dk1"/>
            </a:solidFill>
            <a:prstDash val="solid"/>
            <a:miter lim="800000"/>
            <a:headEnd type="none" w="sm" len="sm"/>
            <a:tailEnd type="triangle" w="med" len="med"/>
          </a:ln>
        </p:spPr>
      </p:cxnSp>
      <p:cxnSp>
        <p:nvCxnSpPr>
          <p:cNvPr id="576" name="Google Shape;576;p16"/>
          <p:cNvCxnSpPr/>
          <p:nvPr/>
        </p:nvCxnSpPr>
        <p:spPr>
          <a:xfrm flipH="1">
            <a:off x="4851542" y="3045832"/>
            <a:ext cx="158880" cy="452015"/>
          </a:xfrm>
          <a:prstGeom prst="straightConnector1">
            <a:avLst/>
          </a:prstGeom>
          <a:noFill/>
          <a:ln w="19050" cap="flat" cmpd="sng">
            <a:solidFill>
              <a:schemeClr val="dk1"/>
            </a:solidFill>
            <a:prstDash val="dash"/>
            <a:miter lim="800000"/>
            <a:headEnd type="none" w="sm" len="sm"/>
            <a:tailEnd type="triangle" w="med" len="med"/>
          </a:ln>
        </p:spPr>
      </p:cxnSp>
      <p:cxnSp>
        <p:nvCxnSpPr>
          <p:cNvPr id="577" name="Google Shape;577;p16"/>
          <p:cNvCxnSpPr/>
          <p:nvPr/>
        </p:nvCxnSpPr>
        <p:spPr>
          <a:xfrm flipH="1">
            <a:off x="6543567" y="3033158"/>
            <a:ext cx="183589" cy="433112"/>
          </a:xfrm>
          <a:prstGeom prst="straightConnector1">
            <a:avLst/>
          </a:prstGeom>
          <a:noFill/>
          <a:ln w="19050" cap="flat" cmpd="sng">
            <a:solidFill>
              <a:schemeClr val="dk1"/>
            </a:solidFill>
            <a:prstDash val="dash"/>
            <a:miter lim="800000"/>
            <a:headEnd type="none" w="sm" len="sm"/>
            <a:tailEnd type="triangle" w="med" len="med"/>
          </a:ln>
        </p:spPr>
      </p:cxnSp>
      <p:cxnSp>
        <p:nvCxnSpPr>
          <p:cNvPr id="578" name="Google Shape;578;p16"/>
          <p:cNvCxnSpPr/>
          <p:nvPr/>
        </p:nvCxnSpPr>
        <p:spPr>
          <a:xfrm flipH="1">
            <a:off x="7828110" y="3073739"/>
            <a:ext cx="41034" cy="424108"/>
          </a:xfrm>
          <a:prstGeom prst="straightConnector1">
            <a:avLst/>
          </a:prstGeom>
          <a:noFill/>
          <a:ln w="19050" cap="flat" cmpd="sng">
            <a:solidFill>
              <a:schemeClr val="dk1"/>
            </a:solidFill>
            <a:prstDash val="dash"/>
            <a:miter lim="800000"/>
            <a:headEnd type="none" w="sm" len="sm"/>
            <a:tailEnd type="triangle" w="med" len="med"/>
          </a:ln>
        </p:spPr>
      </p:cxnSp>
      <p:cxnSp>
        <p:nvCxnSpPr>
          <p:cNvPr id="579" name="Google Shape;579;p16"/>
          <p:cNvCxnSpPr/>
          <p:nvPr/>
        </p:nvCxnSpPr>
        <p:spPr>
          <a:xfrm>
            <a:off x="7925654" y="3086515"/>
            <a:ext cx="433553" cy="379754"/>
          </a:xfrm>
          <a:prstGeom prst="straightConnector1">
            <a:avLst/>
          </a:prstGeom>
          <a:noFill/>
          <a:ln w="19050" cap="flat" cmpd="sng">
            <a:solidFill>
              <a:schemeClr val="dk1"/>
            </a:solidFill>
            <a:prstDash val="dash"/>
            <a:miter lim="800000"/>
            <a:headEnd type="none" w="sm" len="sm"/>
            <a:tailEnd type="triangle" w="med" len="med"/>
          </a:ln>
        </p:spPr>
      </p:cxnSp>
      <p:cxnSp>
        <p:nvCxnSpPr>
          <p:cNvPr id="580" name="Google Shape;580;p16"/>
          <p:cNvCxnSpPr/>
          <p:nvPr/>
        </p:nvCxnSpPr>
        <p:spPr>
          <a:xfrm>
            <a:off x="6785608" y="3026279"/>
            <a:ext cx="309685" cy="439991"/>
          </a:xfrm>
          <a:prstGeom prst="straightConnector1">
            <a:avLst/>
          </a:prstGeom>
          <a:noFill/>
          <a:ln w="19050" cap="flat" cmpd="sng">
            <a:solidFill>
              <a:schemeClr val="dk1"/>
            </a:solidFill>
            <a:prstDash val="dash"/>
            <a:miter lim="800000"/>
            <a:headEnd type="none" w="sm" len="sm"/>
            <a:tailEnd type="triangle" w="med" len="med"/>
          </a:ln>
        </p:spPr>
      </p:cxnSp>
      <p:cxnSp>
        <p:nvCxnSpPr>
          <p:cNvPr id="581" name="Google Shape;581;p16"/>
          <p:cNvCxnSpPr/>
          <p:nvPr/>
        </p:nvCxnSpPr>
        <p:spPr>
          <a:xfrm>
            <a:off x="5065488" y="3045832"/>
            <a:ext cx="336093" cy="452015"/>
          </a:xfrm>
          <a:prstGeom prst="straightConnector1">
            <a:avLst/>
          </a:prstGeom>
          <a:noFill/>
          <a:ln w="19050" cap="flat" cmpd="sng">
            <a:solidFill>
              <a:schemeClr val="dk1"/>
            </a:solidFill>
            <a:prstDash val="dash"/>
            <a:miter lim="800000"/>
            <a:headEnd type="none" w="sm" len="sm"/>
            <a:tailEnd type="triangle" w="med" len="med"/>
          </a:ln>
        </p:spPr>
      </p:cxnSp>
      <p:sp>
        <p:nvSpPr>
          <p:cNvPr id="582" name="Google Shape;582;p16"/>
          <p:cNvSpPr txBox="1"/>
          <p:nvPr/>
        </p:nvSpPr>
        <p:spPr>
          <a:xfrm>
            <a:off x="4551997" y="3695288"/>
            <a:ext cx="4926580" cy="455260"/>
          </a:xfrm>
          <a:prstGeom prst="rect">
            <a:avLst/>
          </a:prstGeom>
          <a:noFill/>
          <a:ln>
            <a:noFill/>
          </a:ln>
        </p:spPr>
        <p:txBody>
          <a:bodyPr spcFirstLastPara="1" wrap="square" lIns="193227" tIns="96587" rIns="193227" bIns="96587" anchor="t" anchorCtr="0">
            <a:spAutoFit/>
          </a:bodyPr>
          <a:lstStyle/>
          <a:p>
            <a:r>
              <a:rPr lang="en-US" sz="1691" b="1">
                <a:solidFill>
                  <a:srgbClr val="00B050"/>
                </a:solidFill>
                <a:latin typeface="Arial"/>
                <a:ea typeface="Arial"/>
                <a:cs typeface="Arial"/>
                <a:sym typeface="Arial"/>
              </a:rPr>
              <a:t>   1.0                        0.5               0.5</a:t>
            </a:r>
            <a:endParaRPr sz="1691" b="1">
              <a:solidFill>
                <a:srgbClr val="00B050"/>
              </a:solidFill>
              <a:latin typeface="Arial"/>
              <a:ea typeface="Arial"/>
              <a:cs typeface="Arial"/>
              <a:sym typeface="Arial"/>
            </a:endParaRPr>
          </a:p>
        </p:txBody>
      </p:sp>
      <p:sp>
        <p:nvSpPr>
          <p:cNvPr id="583" name="Google Shape;583;p16"/>
          <p:cNvSpPr txBox="1"/>
          <p:nvPr/>
        </p:nvSpPr>
        <p:spPr>
          <a:xfrm>
            <a:off x="4725109" y="3419748"/>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+1                         +2                +2</a:t>
            </a:r>
            <a:endParaRPr sz="1691" b="1">
              <a:solidFill>
                <a:srgbClr val="C00000"/>
              </a:solidFill>
              <a:latin typeface="Arial"/>
              <a:ea typeface="Arial"/>
              <a:cs typeface="Arial"/>
              <a:sym typeface="Arial"/>
            </a:endParaRPr>
          </a:p>
        </p:txBody>
      </p:sp>
      <p:sp>
        <p:nvSpPr>
          <p:cNvPr id="584" name="Google Shape;584;p16"/>
          <p:cNvSpPr txBox="1"/>
          <p:nvPr/>
        </p:nvSpPr>
        <p:spPr>
          <a:xfrm>
            <a:off x="4458062" y="2178177"/>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	cool          warm</a:t>
            </a:r>
            <a:endParaRPr sz="1691" b="1">
              <a:solidFill>
                <a:srgbClr val="C00000"/>
              </a:solidFill>
              <a:latin typeface="Arial"/>
              <a:ea typeface="Arial"/>
              <a:cs typeface="Arial"/>
              <a:sym typeface="Arial"/>
            </a:endParaRPr>
          </a:p>
        </p:txBody>
      </p:sp>
      <p:sp>
        <p:nvSpPr>
          <p:cNvPr id="585" name="Google Shape;585;p16"/>
          <p:cNvSpPr txBox="1"/>
          <p:nvPr/>
        </p:nvSpPr>
        <p:spPr>
          <a:xfrm>
            <a:off x="5429049" y="877001"/>
            <a:ext cx="948196"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a:t>
            </a:r>
            <a:endParaRPr sz="1691" b="1">
              <a:solidFill>
                <a:srgbClr val="C00000"/>
              </a:solidFill>
              <a:latin typeface="Arial"/>
              <a:ea typeface="Arial"/>
              <a:cs typeface="Arial"/>
              <a:sym typeface="Arial"/>
            </a:endParaRPr>
          </a:p>
        </p:txBody>
      </p:sp>
      <p:sp>
        <p:nvSpPr>
          <p:cNvPr id="586" name="Google Shape;586;p16"/>
          <p:cNvSpPr txBox="1"/>
          <p:nvPr/>
        </p:nvSpPr>
        <p:spPr>
          <a:xfrm>
            <a:off x="10280" y="3899057"/>
            <a:ext cx="3545152" cy="761882"/>
          </a:xfrm>
          <a:prstGeom prst="rect">
            <a:avLst/>
          </a:prstGeom>
          <a:blipFill rotWithShape="1">
            <a:blip r:embed="rId18">
              <a:alphaModFix/>
            </a:blip>
            <a:stretch>
              <a:fillRect l="-1453" t="-235566" r="-14180" b="-330478"/>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587" name="Google Shape;587;p16"/>
          <p:cNvSpPr txBox="1"/>
          <p:nvPr/>
        </p:nvSpPr>
        <p:spPr>
          <a:xfrm>
            <a:off x="2983" y="5805918"/>
            <a:ext cx="11139855" cy="761882"/>
          </a:xfrm>
          <a:prstGeom prst="rect">
            <a:avLst/>
          </a:prstGeom>
          <a:blipFill rotWithShape="1">
            <a:blip r:embed="rId19">
              <a:alphaModFix/>
            </a:blip>
            <a:stretch>
              <a:fillRect l="-461" t="-235566" b="-330478"/>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588" name="Google Shape;588;p16"/>
          <p:cNvSpPr txBox="1"/>
          <p:nvPr/>
        </p:nvSpPr>
        <p:spPr>
          <a:xfrm>
            <a:off x="-3361" y="4835698"/>
            <a:ext cx="7153051" cy="761882"/>
          </a:xfrm>
          <a:prstGeom prst="rect">
            <a:avLst/>
          </a:prstGeom>
          <a:blipFill rotWithShape="1">
            <a:blip r:embed="rId20">
              <a:alphaModFix/>
            </a:blip>
            <a:stretch>
              <a:fillRect l="-358" t="-233875" b="-332170"/>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589" name="Google Shape;589;p16"/>
          <p:cNvSpPr txBox="1"/>
          <p:nvPr/>
        </p:nvSpPr>
        <p:spPr>
          <a:xfrm>
            <a:off x="83380" y="3466326"/>
            <a:ext cx="4641730" cy="707262"/>
          </a:xfrm>
          <a:prstGeom prst="rect">
            <a:avLst/>
          </a:prstGeom>
          <a:noFill/>
          <a:ln>
            <a:noFill/>
          </a:ln>
        </p:spPr>
        <p:txBody>
          <a:bodyPr spcFirstLastPara="1" wrap="square" lIns="0" tIns="24147" rIns="0" bIns="0" anchor="t" anchorCtr="0">
            <a:spAutoFit/>
          </a:bodyPr>
          <a:lstStyle/>
          <a:p>
            <a:pPr marL="80524" indent="-127497">
              <a:buClr>
                <a:srgbClr val="000000"/>
              </a:buClr>
              <a:buSzPts val="950"/>
              <a:buFont typeface="Arial"/>
              <a:buChar char="•"/>
            </a:pPr>
            <a:r>
              <a:rPr lang="en-US" sz="1479">
                <a:solidFill>
                  <a:srgbClr val="0070C0"/>
                </a:solidFill>
                <a:latin typeface="Arial"/>
                <a:ea typeface="Arial"/>
                <a:cs typeface="Arial"/>
                <a:sym typeface="Arial"/>
              </a:rPr>
              <a:t>Below is done only for state : “Cool”. In this same iteration while updating the V(Warm) use recent value of V(Cool) = 2 .</a:t>
            </a:r>
            <a:endParaRPr sz="1479">
              <a:solidFill>
                <a:srgbClr val="0070C0"/>
              </a:solidFill>
              <a:latin typeface="Arial"/>
              <a:ea typeface="Arial"/>
              <a:cs typeface="Arial"/>
              <a:sym typeface="Arial"/>
            </a:endParaRPr>
          </a:p>
        </p:txBody>
      </p:sp>
      <p:sp>
        <p:nvSpPr>
          <p:cNvPr id="590" name="Google Shape;590;p16"/>
          <p:cNvSpPr/>
          <p:nvPr/>
        </p:nvSpPr>
        <p:spPr>
          <a:xfrm>
            <a:off x="9725008" y="732982"/>
            <a:ext cx="1277936" cy="487769"/>
          </a:xfrm>
          <a:prstGeom prst="rect">
            <a:avLst/>
          </a:prstGeom>
          <a:noFill/>
          <a:ln>
            <a:noFill/>
          </a:ln>
        </p:spPr>
        <p:txBody>
          <a:bodyPr spcFirstLastPara="1" wrap="square" lIns="193227" tIns="96587" rIns="193227" bIns="96587" anchor="t" anchorCtr="0">
            <a:spAutoFit/>
          </a:bodyPr>
          <a:lstStyle/>
          <a:p>
            <a:r>
              <a:rPr lang="en-US" sz="1902">
                <a:solidFill>
                  <a:srgbClr val="000000"/>
                </a:solidFill>
                <a:latin typeface="Arial"/>
                <a:ea typeface="Arial"/>
                <a:cs typeface="Arial"/>
                <a:sym typeface="Arial"/>
              </a:rPr>
              <a:t>ɵ = 0.01</a:t>
            </a:r>
            <a:endParaRPr sz="1902">
              <a:solidFill>
                <a:srgbClr val="000000"/>
              </a:solidFill>
              <a:latin typeface="Arial"/>
              <a:ea typeface="Arial"/>
              <a:cs typeface="Arial"/>
              <a:sym typeface="Arial"/>
            </a:endParaRPr>
          </a:p>
        </p:txBody>
      </p:sp>
      <p:sp>
        <p:nvSpPr>
          <p:cNvPr id="592" name="Google Shape;592;p16"/>
          <p:cNvSpPr txBox="1"/>
          <p:nvPr/>
        </p:nvSpPr>
        <p:spPr>
          <a:xfrm>
            <a:off x="4790198" y="1336714"/>
            <a:ext cx="3299495" cy="455260"/>
          </a:xfrm>
          <a:prstGeom prst="rect">
            <a:avLst/>
          </a:prstGeom>
          <a:noFill/>
          <a:ln>
            <a:noFill/>
          </a:ln>
        </p:spPr>
        <p:txBody>
          <a:bodyPr spcFirstLastPara="1" wrap="square" lIns="193227" tIns="96587" rIns="193227" bIns="96587" anchor="t" anchorCtr="0">
            <a:spAutoFit/>
          </a:bodyPr>
          <a:lstStyle/>
          <a:p>
            <a:r>
              <a:rPr lang="en-US" sz="1691" b="1">
                <a:solidFill>
                  <a:schemeClr val="dk1"/>
                </a:solidFill>
                <a:latin typeface="Arial"/>
                <a:ea typeface="Arial"/>
                <a:cs typeface="Arial"/>
                <a:sym typeface="Arial"/>
              </a:rPr>
              <a:t>Go Slow	Go Fast</a:t>
            </a:r>
            <a:endParaRPr sz="1691" b="1">
              <a:solidFill>
                <a:schemeClr val="dk1"/>
              </a:solidFill>
              <a:latin typeface="Arial"/>
              <a:ea typeface="Arial"/>
              <a:cs typeface="Arial"/>
              <a:sym typeface="Arial"/>
            </a:endParaRPr>
          </a:p>
        </p:txBody>
      </p:sp>
      <p:sp>
        <p:nvSpPr>
          <p:cNvPr id="593" name="Google Shape;593;p16"/>
          <p:cNvSpPr txBox="1"/>
          <p:nvPr/>
        </p:nvSpPr>
        <p:spPr>
          <a:xfrm>
            <a:off x="9373570" y="5709764"/>
            <a:ext cx="2734661" cy="488219"/>
          </a:xfrm>
          <a:prstGeom prst="rect">
            <a:avLst/>
          </a:prstGeom>
          <a:solidFill>
            <a:srgbClr val="F0C040"/>
          </a:solidFill>
          <a:ln>
            <a:noFill/>
          </a:ln>
        </p:spPr>
        <p:txBody>
          <a:bodyPr spcFirstLastPara="1" wrap="square" lIns="193227" tIns="193227" rIns="193227" bIns="193227" anchor="t" anchorCtr="0">
            <a:noAutofit/>
          </a:bodyPr>
          <a:lstStyle/>
          <a:p>
            <a:r>
              <a:rPr lang="en-US" sz="1585" b="1">
                <a:solidFill>
                  <a:srgbClr val="1B1472"/>
                </a:solidFill>
              </a:rPr>
              <a:t>Asynchronous Updates</a:t>
            </a:r>
            <a:endParaRPr sz="1585" b="1">
              <a:solidFill>
                <a:srgbClr val="1B1472"/>
              </a:solidFill>
            </a:endParaRPr>
          </a:p>
        </p:txBody>
      </p:sp>
      <p:sp>
        <p:nvSpPr>
          <p:cNvPr id="2" name="Footer">
            <a:extLst>
              <a:ext uri="{FF2B5EF4-FFF2-40B4-BE49-F238E27FC236}">
                <a16:creationId xmlns:a16="http://schemas.microsoft.com/office/drawing/2014/main" id="{674A9BAA-DEB9-08AD-F623-25880C5ABD63}"/>
              </a:ext>
            </a:extLst>
          </p:cNvPr>
          <p:cNvSpPr txBox="1">
            <a:spLocks/>
          </p:cNvSpPr>
          <p:nvPr/>
        </p:nvSpPr>
        <p:spPr>
          <a:xfrm>
            <a:off x="3004515" y="6648258"/>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17"/>
          <p:cNvSpPr txBox="1">
            <a:spLocks noGrp="1"/>
          </p:cNvSpPr>
          <p:nvPr>
            <p:ph type="title"/>
          </p:nvPr>
        </p:nvSpPr>
        <p:spPr>
          <a:xfrm>
            <a:off x="177559" y="231525"/>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 – Value Iteration</a:t>
            </a:r>
            <a:endParaRPr/>
          </a:p>
        </p:txBody>
      </p:sp>
      <p:sp>
        <p:nvSpPr>
          <p:cNvPr id="599" name="Google Shape;599;p17"/>
          <p:cNvSpPr/>
          <p:nvPr/>
        </p:nvSpPr>
        <p:spPr>
          <a:xfrm>
            <a:off x="11044484" y="1148949"/>
            <a:ext cx="0" cy="8848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nvGrpSpPr>
          <p:cNvPr id="600" name="Google Shape;600;p17"/>
          <p:cNvGrpSpPr/>
          <p:nvPr/>
        </p:nvGrpSpPr>
        <p:grpSpPr>
          <a:xfrm>
            <a:off x="2983" y="6571410"/>
            <a:ext cx="12174329" cy="194601"/>
            <a:chOff x="0" y="3109250"/>
            <a:chExt cx="5760261" cy="92075"/>
          </a:xfrm>
        </p:grpSpPr>
        <p:sp>
          <p:nvSpPr>
            <p:cNvPr id="601" name="Google Shape;601;p17"/>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602" name="Google Shape;602;p17"/>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603" name="Google Shape;603;p17"/>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605" name="Google Shape;605;p17"/>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25</a:t>
            </a:fld>
            <a:r>
              <a:rPr lang="en-US"/>
              <a:t> / 46</a:t>
            </a:r>
            <a:endParaRPr/>
          </a:p>
        </p:txBody>
      </p:sp>
      <p:pic>
        <p:nvPicPr>
          <p:cNvPr id="606" name="Google Shape;606;p17" descr="A screenshot of a cell phone  Description automatically generated"/>
          <p:cNvPicPr preferRelativeResize="0">
            <a:picLocks noGrp="1"/>
          </p:cNvPicPr>
          <p:nvPr>
            <p:ph type="body" idx="1"/>
          </p:nvPr>
        </p:nvPicPr>
        <p:blipFill rotWithShape="1">
          <a:blip r:embed="rId3">
            <a:alphaModFix/>
          </a:blip>
          <a:srcRect l="1654" t="2135" r="39745" b="2438"/>
          <a:stretch/>
        </p:blipFill>
        <p:spPr>
          <a:xfrm>
            <a:off x="8988302" y="178576"/>
            <a:ext cx="3186987" cy="2853525"/>
          </a:xfrm>
          <a:prstGeom prst="rect">
            <a:avLst/>
          </a:prstGeom>
          <a:noFill/>
          <a:ln>
            <a:noFill/>
          </a:ln>
        </p:spPr>
      </p:pic>
      <p:pic>
        <p:nvPicPr>
          <p:cNvPr id="607" name="Google Shape;607;p17" descr="TP_tmp.png"/>
          <p:cNvPicPr preferRelativeResize="0"/>
          <p:nvPr/>
        </p:nvPicPr>
        <p:blipFill rotWithShape="1">
          <a:blip r:embed="rId4">
            <a:alphaModFix/>
          </a:blip>
          <a:srcRect/>
          <a:stretch/>
        </p:blipFill>
        <p:spPr>
          <a:xfrm>
            <a:off x="364607" y="1756415"/>
            <a:ext cx="203949" cy="322518"/>
          </a:xfrm>
          <a:prstGeom prst="rect">
            <a:avLst/>
          </a:prstGeom>
          <a:noFill/>
          <a:ln>
            <a:noFill/>
          </a:ln>
        </p:spPr>
      </p:pic>
      <p:pic>
        <p:nvPicPr>
          <p:cNvPr id="608" name="Google Shape;608;p17"/>
          <p:cNvPicPr preferRelativeResize="0"/>
          <p:nvPr/>
        </p:nvPicPr>
        <p:blipFill rotWithShape="1">
          <a:blip r:embed="rId5">
            <a:alphaModFix/>
          </a:blip>
          <a:srcRect/>
          <a:stretch/>
        </p:blipFill>
        <p:spPr>
          <a:xfrm>
            <a:off x="1123247" y="1115162"/>
            <a:ext cx="535435" cy="556722"/>
          </a:xfrm>
          <a:prstGeom prst="rect">
            <a:avLst/>
          </a:prstGeom>
          <a:noFill/>
          <a:ln>
            <a:noFill/>
          </a:ln>
        </p:spPr>
      </p:pic>
      <p:pic>
        <p:nvPicPr>
          <p:cNvPr id="609" name="Google Shape;609;p17"/>
          <p:cNvPicPr preferRelativeResize="0"/>
          <p:nvPr/>
        </p:nvPicPr>
        <p:blipFill rotWithShape="1">
          <a:blip r:embed="rId6">
            <a:alphaModFix/>
          </a:blip>
          <a:srcRect/>
          <a:stretch/>
        </p:blipFill>
        <p:spPr>
          <a:xfrm>
            <a:off x="2509775" y="1035634"/>
            <a:ext cx="568088" cy="636251"/>
          </a:xfrm>
          <a:prstGeom prst="rect">
            <a:avLst/>
          </a:prstGeom>
          <a:noFill/>
          <a:ln>
            <a:noFill/>
          </a:ln>
        </p:spPr>
      </p:pic>
      <p:pic>
        <p:nvPicPr>
          <p:cNvPr id="610" name="Google Shape;610;p17"/>
          <p:cNvPicPr preferRelativeResize="0"/>
          <p:nvPr/>
        </p:nvPicPr>
        <p:blipFill rotWithShape="1">
          <a:blip r:embed="rId7">
            <a:alphaModFix/>
          </a:blip>
          <a:srcRect/>
          <a:stretch/>
        </p:blipFill>
        <p:spPr>
          <a:xfrm>
            <a:off x="1821735" y="1077450"/>
            <a:ext cx="585286" cy="583232"/>
          </a:xfrm>
          <a:prstGeom prst="rect">
            <a:avLst/>
          </a:prstGeom>
          <a:noFill/>
          <a:ln>
            <a:noFill/>
          </a:ln>
        </p:spPr>
      </p:pic>
      <p:sp>
        <p:nvSpPr>
          <p:cNvPr id="611" name="Google Shape;611;p17"/>
          <p:cNvSpPr/>
          <p:nvPr/>
        </p:nvSpPr>
        <p:spPr>
          <a:xfrm>
            <a:off x="657828" y="3005348"/>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612" name="Google Shape;612;p17"/>
          <p:cNvSpPr/>
          <p:nvPr/>
        </p:nvSpPr>
        <p:spPr>
          <a:xfrm>
            <a:off x="690038" y="2276822"/>
            <a:ext cx="2928770" cy="455253"/>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613" name="Google Shape;613;p17"/>
          <p:cNvSpPr/>
          <p:nvPr/>
        </p:nvSpPr>
        <p:spPr>
          <a:xfrm>
            <a:off x="696040" y="1667731"/>
            <a:ext cx="2928770" cy="455257"/>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pic>
        <p:nvPicPr>
          <p:cNvPr id="614" name="Google Shape;614;p17" descr="TP_tmp.png"/>
          <p:cNvPicPr preferRelativeResize="0"/>
          <p:nvPr/>
        </p:nvPicPr>
        <p:blipFill rotWithShape="1">
          <a:blip r:embed="rId8">
            <a:alphaModFix/>
          </a:blip>
          <a:srcRect/>
          <a:stretch/>
        </p:blipFill>
        <p:spPr>
          <a:xfrm>
            <a:off x="346553" y="2375833"/>
            <a:ext cx="183630" cy="323298"/>
          </a:xfrm>
          <a:prstGeom prst="rect">
            <a:avLst/>
          </a:prstGeom>
          <a:noFill/>
          <a:ln>
            <a:noFill/>
          </a:ln>
        </p:spPr>
      </p:pic>
      <p:pic>
        <p:nvPicPr>
          <p:cNvPr id="615" name="Google Shape;615;p17" descr="TP_tmp.png"/>
          <p:cNvPicPr preferRelativeResize="0"/>
          <p:nvPr/>
        </p:nvPicPr>
        <p:blipFill rotWithShape="1">
          <a:blip r:embed="rId9">
            <a:alphaModFix/>
          </a:blip>
          <a:srcRect/>
          <a:stretch/>
        </p:blipFill>
        <p:spPr>
          <a:xfrm>
            <a:off x="353872" y="3017816"/>
            <a:ext cx="204441" cy="323298"/>
          </a:xfrm>
          <a:prstGeom prst="rect">
            <a:avLst/>
          </a:prstGeom>
          <a:noFill/>
          <a:ln>
            <a:noFill/>
          </a:ln>
        </p:spPr>
      </p:pic>
      <p:sp>
        <p:nvSpPr>
          <p:cNvPr id="616" name="Google Shape;616;p17"/>
          <p:cNvSpPr txBox="1"/>
          <p:nvPr/>
        </p:nvSpPr>
        <p:spPr>
          <a:xfrm>
            <a:off x="1098665" y="1667735"/>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0             0             0 ……..</a:t>
            </a:r>
            <a:endParaRPr sz="634">
              <a:solidFill>
                <a:srgbClr val="000000"/>
              </a:solidFill>
              <a:latin typeface="Arial"/>
              <a:ea typeface="Arial"/>
              <a:cs typeface="Arial"/>
              <a:sym typeface="Arial"/>
            </a:endParaRPr>
          </a:p>
        </p:txBody>
      </p:sp>
      <p:sp>
        <p:nvSpPr>
          <p:cNvPr id="617" name="Google Shape;617;p17"/>
          <p:cNvSpPr txBox="1"/>
          <p:nvPr/>
        </p:nvSpPr>
        <p:spPr>
          <a:xfrm>
            <a:off x="1068904" y="2276821"/>
            <a:ext cx="2623690" cy="715459"/>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2             1.9             0……….</a:t>
            </a:r>
            <a:endParaRPr sz="634">
              <a:solidFill>
                <a:srgbClr val="000000"/>
              </a:solidFill>
              <a:latin typeface="Arial"/>
              <a:ea typeface="Arial"/>
              <a:cs typeface="Arial"/>
              <a:sym typeface="Arial"/>
            </a:endParaRPr>
          </a:p>
        </p:txBody>
      </p:sp>
      <p:sp>
        <p:nvSpPr>
          <p:cNvPr id="618" name="Google Shape;618;p17"/>
          <p:cNvSpPr txBox="1"/>
          <p:nvPr/>
        </p:nvSpPr>
        <p:spPr>
          <a:xfrm>
            <a:off x="1060452" y="2950777"/>
            <a:ext cx="2623690" cy="1235858"/>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a:t>
            </a:r>
            <a:r>
              <a:rPr lang="en-US" sz="1691">
                <a:solidFill>
                  <a:schemeClr val="dk1"/>
                </a:solidFill>
                <a:highlight>
                  <a:srgbClr val="FFFF00"/>
                </a:highlight>
                <a:latin typeface="Calibri"/>
                <a:ea typeface="Calibri"/>
                <a:cs typeface="Calibri"/>
                <a:sym typeface="Calibri"/>
              </a:rPr>
              <a:t>3.75</a:t>
            </a:r>
            <a:r>
              <a:rPr lang="en-US" sz="1691">
                <a:solidFill>
                  <a:schemeClr val="dk1"/>
                </a:solidFill>
                <a:latin typeface="Calibri"/>
                <a:ea typeface="Calibri"/>
                <a:cs typeface="Calibri"/>
                <a:sym typeface="Calibri"/>
              </a:rPr>
              <a:t>        3.54        0 ………</a:t>
            </a:r>
            <a:endParaRPr sz="3804"/>
          </a:p>
          <a:p>
            <a:pPr>
              <a:buClr>
                <a:srgbClr val="000000"/>
              </a:buClr>
              <a:buSzPts val="2800"/>
            </a:pPr>
            <a:endParaRPr sz="1691">
              <a:solidFill>
                <a:schemeClr val="dk1"/>
              </a:solidFill>
              <a:latin typeface="Calibri"/>
              <a:ea typeface="Calibri"/>
              <a:cs typeface="Calibri"/>
              <a:sym typeface="Calibri"/>
            </a:endParaRPr>
          </a:p>
          <a:p>
            <a:pPr>
              <a:buClr>
                <a:srgbClr val="000000"/>
              </a:buClr>
              <a:buSzPts val="2800"/>
            </a:pPr>
            <a:r>
              <a:rPr lang="en-US" sz="1691">
                <a:solidFill>
                  <a:schemeClr val="dk1"/>
                </a:solidFill>
                <a:latin typeface="Calibri"/>
                <a:ea typeface="Calibri"/>
                <a:cs typeface="Calibri"/>
                <a:sym typeface="Calibri"/>
              </a:rPr>
              <a:t>…….</a:t>
            </a:r>
            <a:endParaRPr sz="634">
              <a:solidFill>
                <a:srgbClr val="000000"/>
              </a:solidFill>
              <a:latin typeface="Arial"/>
              <a:ea typeface="Arial"/>
              <a:cs typeface="Arial"/>
              <a:sym typeface="Arial"/>
            </a:endParaRPr>
          </a:p>
        </p:txBody>
      </p:sp>
      <p:sp>
        <p:nvSpPr>
          <p:cNvPr id="619" name="Google Shape;619;p17"/>
          <p:cNvSpPr/>
          <p:nvPr/>
        </p:nvSpPr>
        <p:spPr>
          <a:xfrm>
            <a:off x="8548944" y="2210407"/>
            <a:ext cx="396569" cy="112734"/>
          </a:xfrm>
          <a:prstGeom prst="rightArrow">
            <a:avLst>
              <a:gd name="adj1" fmla="val 50000"/>
              <a:gd name="adj2" fmla="val 50000"/>
            </a:avLst>
          </a:prstGeom>
          <a:solidFill>
            <a:srgbClr val="E9A820"/>
          </a:solidFill>
          <a:ln w="25400" cap="flat" cmpd="sng">
            <a:solidFill>
              <a:srgbClr val="E9A820"/>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lt1"/>
              </a:solidFill>
              <a:latin typeface="Arial"/>
              <a:ea typeface="Arial"/>
              <a:cs typeface="Arial"/>
              <a:sym typeface="Arial"/>
            </a:endParaRPr>
          </a:p>
        </p:txBody>
      </p:sp>
      <p:pic>
        <p:nvPicPr>
          <p:cNvPr id="620" name="Google Shape;620;p17"/>
          <p:cNvPicPr preferRelativeResize="0"/>
          <p:nvPr/>
        </p:nvPicPr>
        <p:blipFill rotWithShape="1">
          <a:blip r:embed="rId10">
            <a:alphaModFix/>
          </a:blip>
          <a:srcRect/>
          <a:stretch/>
        </p:blipFill>
        <p:spPr>
          <a:xfrm>
            <a:off x="7217220" y="3254172"/>
            <a:ext cx="4960091" cy="3006946"/>
          </a:xfrm>
          <a:prstGeom prst="rect">
            <a:avLst/>
          </a:prstGeom>
          <a:noFill/>
          <a:ln>
            <a:noFill/>
          </a:ln>
        </p:spPr>
      </p:pic>
      <p:pic>
        <p:nvPicPr>
          <p:cNvPr id="621" name="Google Shape;621;p17"/>
          <p:cNvPicPr preferRelativeResize="0"/>
          <p:nvPr/>
        </p:nvPicPr>
        <p:blipFill rotWithShape="1">
          <a:blip r:embed="rId11">
            <a:alphaModFix/>
          </a:blip>
          <a:srcRect/>
          <a:stretch/>
        </p:blipFill>
        <p:spPr>
          <a:xfrm>
            <a:off x="9909066" y="684827"/>
            <a:ext cx="672728" cy="262364"/>
          </a:xfrm>
          <a:prstGeom prst="rect">
            <a:avLst/>
          </a:prstGeom>
          <a:noFill/>
          <a:ln>
            <a:noFill/>
          </a:ln>
        </p:spPr>
      </p:pic>
      <p:sp>
        <p:nvSpPr>
          <p:cNvPr id="622" name="Google Shape;622;p17"/>
          <p:cNvSpPr/>
          <p:nvPr/>
        </p:nvSpPr>
        <p:spPr>
          <a:xfrm>
            <a:off x="6050456" y="841601"/>
            <a:ext cx="778978" cy="512157"/>
          </a:xfrm>
          <a:prstGeom prst="triangle">
            <a:avLst>
              <a:gd name="adj" fmla="val 50000"/>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623" name="Google Shape;623;p17"/>
          <p:cNvSpPr/>
          <p:nvPr/>
        </p:nvSpPr>
        <p:spPr>
          <a:xfrm>
            <a:off x="6892541" y="1813470"/>
            <a:ext cx="625462" cy="437850"/>
          </a:xfrm>
          <a:prstGeom prst="ellipse">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624" name="Google Shape;624;p17"/>
          <p:cNvSpPr/>
          <p:nvPr/>
        </p:nvSpPr>
        <p:spPr>
          <a:xfrm>
            <a:off x="5047781" y="1829569"/>
            <a:ext cx="625462" cy="437850"/>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625" name="Google Shape;625;p17"/>
          <p:cNvSpPr/>
          <p:nvPr/>
        </p:nvSpPr>
        <p:spPr>
          <a:xfrm>
            <a:off x="4725108" y="2628430"/>
            <a:ext cx="590200" cy="417406"/>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626" name="Google Shape;626;p17"/>
          <p:cNvSpPr/>
          <p:nvPr/>
        </p:nvSpPr>
        <p:spPr>
          <a:xfrm>
            <a:off x="6425087" y="2628427"/>
            <a:ext cx="590200" cy="417406"/>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627" name="Google Shape;627;p17"/>
          <p:cNvSpPr/>
          <p:nvPr/>
        </p:nvSpPr>
        <p:spPr>
          <a:xfrm>
            <a:off x="7633305" y="2635890"/>
            <a:ext cx="590200" cy="417406"/>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cxnSp>
        <p:nvCxnSpPr>
          <p:cNvPr id="628" name="Google Shape;628;p17"/>
          <p:cNvCxnSpPr>
            <a:stCxn id="622" idx="3"/>
            <a:endCxn id="624" idx="7"/>
          </p:cNvCxnSpPr>
          <p:nvPr/>
        </p:nvCxnSpPr>
        <p:spPr>
          <a:xfrm flipH="1">
            <a:off x="5581440" y="1353758"/>
            <a:ext cx="858505" cy="540211"/>
          </a:xfrm>
          <a:prstGeom prst="straightConnector1">
            <a:avLst/>
          </a:prstGeom>
          <a:noFill/>
          <a:ln w="9525" cap="flat" cmpd="sng">
            <a:solidFill>
              <a:schemeClr val="dk1"/>
            </a:solidFill>
            <a:prstDash val="solid"/>
            <a:miter lim="800000"/>
            <a:headEnd type="none" w="sm" len="sm"/>
            <a:tailEnd type="triangle" w="med" len="med"/>
          </a:ln>
        </p:spPr>
      </p:cxnSp>
      <p:cxnSp>
        <p:nvCxnSpPr>
          <p:cNvPr id="629" name="Google Shape;629;p17"/>
          <p:cNvCxnSpPr>
            <a:stCxn id="622" idx="3"/>
            <a:endCxn id="623" idx="1"/>
          </p:cNvCxnSpPr>
          <p:nvPr/>
        </p:nvCxnSpPr>
        <p:spPr>
          <a:xfrm>
            <a:off x="6439945" y="1353758"/>
            <a:ext cx="544016" cy="523726"/>
          </a:xfrm>
          <a:prstGeom prst="straightConnector1">
            <a:avLst/>
          </a:prstGeom>
          <a:noFill/>
          <a:ln w="9525" cap="flat" cmpd="sng">
            <a:solidFill>
              <a:schemeClr val="dk1"/>
            </a:solidFill>
            <a:prstDash val="solid"/>
            <a:miter lim="800000"/>
            <a:headEnd type="none" w="sm" len="sm"/>
            <a:tailEnd type="triangle" w="med" len="med"/>
          </a:ln>
        </p:spPr>
      </p:cxnSp>
      <p:cxnSp>
        <p:nvCxnSpPr>
          <p:cNvPr id="630" name="Google Shape;630;p17"/>
          <p:cNvCxnSpPr>
            <a:stCxn id="624" idx="4"/>
            <a:endCxn id="625" idx="0"/>
          </p:cNvCxnSpPr>
          <p:nvPr/>
        </p:nvCxnSpPr>
        <p:spPr>
          <a:xfrm flipH="1">
            <a:off x="5020026" y="2267419"/>
            <a:ext cx="340485" cy="360775"/>
          </a:xfrm>
          <a:prstGeom prst="straightConnector1">
            <a:avLst/>
          </a:prstGeom>
          <a:noFill/>
          <a:ln w="9525" cap="flat" cmpd="sng">
            <a:solidFill>
              <a:schemeClr val="dk1"/>
            </a:solidFill>
            <a:prstDash val="solid"/>
            <a:miter lim="800000"/>
            <a:headEnd type="none" w="sm" len="sm"/>
            <a:tailEnd type="triangle" w="med" len="med"/>
          </a:ln>
        </p:spPr>
      </p:cxnSp>
      <p:cxnSp>
        <p:nvCxnSpPr>
          <p:cNvPr id="631" name="Google Shape;631;p17"/>
          <p:cNvCxnSpPr>
            <a:stCxn id="623" idx="4"/>
            <a:endCxn id="627" idx="0"/>
          </p:cNvCxnSpPr>
          <p:nvPr/>
        </p:nvCxnSpPr>
        <p:spPr>
          <a:xfrm>
            <a:off x="7205272" y="2251320"/>
            <a:ext cx="722818" cy="384869"/>
          </a:xfrm>
          <a:prstGeom prst="straightConnector1">
            <a:avLst/>
          </a:prstGeom>
          <a:noFill/>
          <a:ln w="9525" cap="flat" cmpd="sng">
            <a:solidFill>
              <a:schemeClr val="dk1"/>
            </a:solidFill>
            <a:prstDash val="solid"/>
            <a:miter lim="800000"/>
            <a:headEnd type="none" w="sm" len="sm"/>
            <a:tailEnd type="triangle" w="med" len="med"/>
          </a:ln>
        </p:spPr>
      </p:cxnSp>
      <p:cxnSp>
        <p:nvCxnSpPr>
          <p:cNvPr id="632" name="Google Shape;632;p17"/>
          <p:cNvCxnSpPr>
            <a:stCxn id="623" idx="4"/>
            <a:endCxn id="626" idx="0"/>
          </p:cNvCxnSpPr>
          <p:nvPr/>
        </p:nvCxnSpPr>
        <p:spPr>
          <a:xfrm flipH="1">
            <a:off x="6720223" y="2251320"/>
            <a:ext cx="485049" cy="377260"/>
          </a:xfrm>
          <a:prstGeom prst="straightConnector1">
            <a:avLst/>
          </a:prstGeom>
          <a:noFill/>
          <a:ln w="9525" cap="flat" cmpd="sng">
            <a:solidFill>
              <a:schemeClr val="dk1"/>
            </a:solidFill>
            <a:prstDash val="solid"/>
            <a:miter lim="800000"/>
            <a:headEnd type="none" w="sm" len="sm"/>
            <a:tailEnd type="triangle" w="med" len="med"/>
          </a:ln>
        </p:spPr>
      </p:cxnSp>
      <p:cxnSp>
        <p:nvCxnSpPr>
          <p:cNvPr id="633" name="Google Shape;633;p17"/>
          <p:cNvCxnSpPr/>
          <p:nvPr/>
        </p:nvCxnSpPr>
        <p:spPr>
          <a:xfrm flipH="1">
            <a:off x="4851542" y="3045832"/>
            <a:ext cx="158880" cy="452015"/>
          </a:xfrm>
          <a:prstGeom prst="straightConnector1">
            <a:avLst/>
          </a:prstGeom>
          <a:noFill/>
          <a:ln w="19050" cap="flat" cmpd="sng">
            <a:solidFill>
              <a:schemeClr val="dk1"/>
            </a:solidFill>
            <a:prstDash val="dash"/>
            <a:miter lim="800000"/>
            <a:headEnd type="none" w="sm" len="sm"/>
            <a:tailEnd type="triangle" w="med" len="med"/>
          </a:ln>
        </p:spPr>
      </p:cxnSp>
      <p:cxnSp>
        <p:nvCxnSpPr>
          <p:cNvPr id="634" name="Google Shape;634;p17"/>
          <p:cNvCxnSpPr/>
          <p:nvPr/>
        </p:nvCxnSpPr>
        <p:spPr>
          <a:xfrm flipH="1">
            <a:off x="6543567" y="3033158"/>
            <a:ext cx="183589" cy="433112"/>
          </a:xfrm>
          <a:prstGeom prst="straightConnector1">
            <a:avLst/>
          </a:prstGeom>
          <a:noFill/>
          <a:ln w="19050" cap="flat" cmpd="sng">
            <a:solidFill>
              <a:schemeClr val="dk1"/>
            </a:solidFill>
            <a:prstDash val="dash"/>
            <a:miter lim="800000"/>
            <a:headEnd type="none" w="sm" len="sm"/>
            <a:tailEnd type="triangle" w="med" len="med"/>
          </a:ln>
        </p:spPr>
      </p:cxnSp>
      <p:cxnSp>
        <p:nvCxnSpPr>
          <p:cNvPr id="635" name="Google Shape;635;p17"/>
          <p:cNvCxnSpPr/>
          <p:nvPr/>
        </p:nvCxnSpPr>
        <p:spPr>
          <a:xfrm flipH="1">
            <a:off x="7828110" y="3073739"/>
            <a:ext cx="41034" cy="424108"/>
          </a:xfrm>
          <a:prstGeom prst="straightConnector1">
            <a:avLst/>
          </a:prstGeom>
          <a:noFill/>
          <a:ln w="19050" cap="flat" cmpd="sng">
            <a:solidFill>
              <a:schemeClr val="dk1"/>
            </a:solidFill>
            <a:prstDash val="dash"/>
            <a:miter lim="800000"/>
            <a:headEnd type="none" w="sm" len="sm"/>
            <a:tailEnd type="triangle" w="med" len="med"/>
          </a:ln>
        </p:spPr>
      </p:cxnSp>
      <p:cxnSp>
        <p:nvCxnSpPr>
          <p:cNvPr id="636" name="Google Shape;636;p17"/>
          <p:cNvCxnSpPr/>
          <p:nvPr/>
        </p:nvCxnSpPr>
        <p:spPr>
          <a:xfrm>
            <a:off x="7925654" y="3086515"/>
            <a:ext cx="433553" cy="379754"/>
          </a:xfrm>
          <a:prstGeom prst="straightConnector1">
            <a:avLst/>
          </a:prstGeom>
          <a:noFill/>
          <a:ln w="19050" cap="flat" cmpd="sng">
            <a:solidFill>
              <a:schemeClr val="dk1"/>
            </a:solidFill>
            <a:prstDash val="dash"/>
            <a:miter lim="800000"/>
            <a:headEnd type="none" w="sm" len="sm"/>
            <a:tailEnd type="triangle" w="med" len="med"/>
          </a:ln>
        </p:spPr>
      </p:cxnSp>
      <p:cxnSp>
        <p:nvCxnSpPr>
          <p:cNvPr id="637" name="Google Shape;637;p17"/>
          <p:cNvCxnSpPr/>
          <p:nvPr/>
        </p:nvCxnSpPr>
        <p:spPr>
          <a:xfrm>
            <a:off x="6785608" y="3026279"/>
            <a:ext cx="309685" cy="439991"/>
          </a:xfrm>
          <a:prstGeom prst="straightConnector1">
            <a:avLst/>
          </a:prstGeom>
          <a:noFill/>
          <a:ln w="19050" cap="flat" cmpd="sng">
            <a:solidFill>
              <a:schemeClr val="dk1"/>
            </a:solidFill>
            <a:prstDash val="dash"/>
            <a:miter lim="800000"/>
            <a:headEnd type="none" w="sm" len="sm"/>
            <a:tailEnd type="triangle" w="med" len="med"/>
          </a:ln>
        </p:spPr>
      </p:cxnSp>
      <p:cxnSp>
        <p:nvCxnSpPr>
          <p:cNvPr id="638" name="Google Shape;638;p17"/>
          <p:cNvCxnSpPr/>
          <p:nvPr/>
        </p:nvCxnSpPr>
        <p:spPr>
          <a:xfrm>
            <a:off x="5065488" y="3045832"/>
            <a:ext cx="336093" cy="452015"/>
          </a:xfrm>
          <a:prstGeom prst="straightConnector1">
            <a:avLst/>
          </a:prstGeom>
          <a:noFill/>
          <a:ln w="19050" cap="flat" cmpd="sng">
            <a:solidFill>
              <a:schemeClr val="dk1"/>
            </a:solidFill>
            <a:prstDash val="dash"/>
            <a:miter lim="800000"/>
            <a:headEnd type="none" w="sm" len="sm"/>
            <a:tailEnd type="triangle" w="med" len="med"/>
          </a:ln>
        </p:spPr>
      </p:cxnSp>
      <p:sp>
        <p:nvSpPr>
          <p:cNvPr id="639" name="Google Shape;639;p17"/>
          <p:cNvSpPr txBox="1"/>
          <p:nvPr/>
        </p:nvSpPr>
        <p:spPr>
          <a:xfrm>
            <a:off x="4551997" y="3695288"/>
            <a:ext cx="4926580" cy="455260"/>
          </a:xfrm>
          <a:prstGeom prst="rect">
            <a:avLst/>
          </a:prstGeom>
          <a:noFill/>
          <a:ln>
            <a:noFill/>
          </a:ln>
        </p:spPr>
        <p:txBody>
          <a:bodyPr spcFirstLastPara="1" wrap="square" lIns="193227" tIns="96587" rIns="193227" bIns="96587" anchor="t" anchorCtr="0">
            <a:spAutoFit/>
          </a:bodyPr>
          <a:lstStyle/>
          <a:p>
            <a:r>
              <a:rPr lang="en-US" sz="1691" b="1">
                <a:solidFill>
                  <a:srgbClr val="00B050"/>
                </a:solidFill>
                <a:latin typeface="Arial"/>
                <a:ea typeface="Arial"/>
                <a:cs typeface="Arial"/>
                <a:sym typeface="Arial"/>
              </a:rPr>
              <a:t>   1.0                        0.5               0.5</a:t>
            </a:r>
            <a:endParaRPr sz="1691" b="1">
              <a:solidFill>
                <a:srgbClr val="00B050"/>
              </a:solidFill>
              <a:latin typeface="Arial"/>
              <a:ea typeface="Arial"/>
              <a:cs typeface="Arial"/>
              <a:sym typeface="Arial"/>
            </a:endParaRPr>
          </a:p>
        </p:txBody>
      </p:sp>
      <p:sp>
        <p:nvSpPr>
          <p:cNvPr id="640" name="Google Shape;640;p17"/>
          <p:cNvSpPr txBox="1"/>
          <p:nvPr/>
        </p:nvSpPr>
        <p:spPr>
          <a:xfrm>
            <a:off x="4725109" y="3419748"/>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+1                         +2                +2</a:t>
            </a:r>
            <a:endParaRPr sz="1691" b="1">
              <a:solidFill>
                <a:srgbClr val="C00000"/>
              </a:solidFill>
              <a:latin typeface="Arial"/>
              <a:ea typeface="Arial"/>
              <a:cs typeface="Arial"/>
              <a:sym typeface="Arial"/>
            </a:endParaRPr>
          </a:p>
        </p:txBody>
      </p:sp>
      <p:sp>
        <p:nvSpPr>
          <p:cNvPr id="641" name="Google Shape;641;p17"/>
          <p:cNvSpPr txBox="1"/>
          <p:nvPr/>
        </p:nvSpPr>
        <p:spPr>
          <a:xfrm>
            <a:off x="4458062" y="2178177"/>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	cool          warm</a:t>
            </a:r>
            <a:endParaRPr sz="1691" b="1">
              <a:solidFill>
                <a:srgbClr val="C00000"/>
              </a:solidFill>
              <a:latin typeface="Arial"/>
              <a:ea typeface="Arial"/>
              <a:cs typeface="Arial"/>
              <a:sym typeface="Arial"/>
            </a:endParaRPr>
          </a:p>
        </p:txBody>
      </p:sp>
      <p:sp>
        <p:nvSpPr>
          <p:cNvPr id="642" name="Google Shape;642;p17"/>
          <p:cNvSpPr txBox="1"/>
          <p:nvPr/>
        </p:nvSpPr>
        <p:spPr>
          <a:xfrm>
            <a:off x="5429049" y="877001"/>
            <a:ext cx="948196"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a:t>
            </a:r>
            <a:endParaRPr sz="1691" b="1">
              <a:solidFill>
                <a:srgbClr val="C00000"/>
              </a:solidFill>
              <a:latin typeface="Arial"/>
              <a:ea typeface="Arial"/>
              <a:cs typeface="Arial"/>
              <a:sym typeface="Arial"/>
            </a:endParaRPr>
          </a:p>
        </p:txBody>
      </p:sp>
      <p:sp>
        <p:nvSpPr>
          <p:cNvPr id="643" name="Google Shape;643;p17"/>
          <p:cNvSpPr/>
          <p:nvPr/>
        </p:nvSpPr>
        <p:spPr>
          <a:xfrm>
            <a:off x="685840" y="3929621"/>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644" name="Google Shape;644;p17"/>
          <p:cNvSpPr txBox="1"/>
          <p:nvPr/>
        </p:nvSpPr>
        <p:spPr>
          <a:xfrm>
            <a:off x="855362" y="3875090"/>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a:t>
            </a:r>
            <a:r>
              <a:rPr lang="en-US" sz="1691">
                <a:solidFill>
                  <a:schemeClr val="dk1"/>
                </a:solidFill>
                <a:highlight>
                  <a:srgbClr val="FFFF00"/>
                </a:highlight>
                <a:latin typeface="Calibri"/>
                <a:ea typeface="Calibri"/>
                <a:cs typeface="Calibri"/>
                <a:sym typeface="Calibri"/>
              </a:rPr>
              <a:t>15.44</a:t>
            </a:r>
            <a:r>
              <a:rPr lang="en-US" sz="1691">
                <a:solidFill>
                  <a:schemeClr val="dk1"/>
                </a:solidFill>
                <a:latin typeface="Calibri"/>
                <a:ea typeface="Calibri"/>
                <a:cs typeface="Calibri"/>
                <a:sym typeface="Calibri"/>
              </a:rPr>
              <a:t>        ~14.44        0</a:t>
            </a:r>
            <a:endParaRPr sz="634">
              <a:solidFill>
                <a:srgbClr val="000000"/>
              </a:solidFill>
              <a:latin typeface="Arial"/>
              <a:ea typeface="Arial"/>
              <a:cs typeface="Arial"/>
              <a:sym typeface="Arial"/>
            </a:endParaRPr>
          </a:p>
        </p:txBody>
      </p:sp>
      <p:sp>
        <p:nvSpPr>
          <p:cNvPr id="645" name="Google Shape;645;p17"/>
          <p:cNvSpPr txBox="1"/>
          <p:nvPr/>
        </p:nvSpPr>
        <p:spPr>
          <a:xfrm>
            <a:off x="480133" y="4554709"/>
            <a:ext cx="6627362" cy="1260362"/>
          </a:xfrm>
          <a:prstGeom prst="rect">
            <a:avLst/>
          </a:prstGeom>
          <a:noFill/>
          <a:ln>
            <a:noFill/>
          </a:ln>
        </p:spPr>
        <p:txBody>
          <a:bodyPr spcFirstLastPara="1" wrap="square" lIns="0" tIns="24147" rIns="0" bIns="0" anchor="t" anchorCtr="0">
            <a:spAutoFit/>
          </a:bodyPr>
          <a:lstStyle/>
          <a:p>
            <a:pPr marL="80524" indent="-127497">
              <a:buClr>
                <a:srgbClr val="000000"/>
              </a:buClr>
              <a:buSzPts val="950"/>
              <a:buFont typeface="Arial"/>
              <a:buChar char="•"/>
            </a:pPr>
            <a:r>
              <a:rPr lang="en-US" sz="2008">
                <a:solidFill>
                  <a:srgbClr val="000000"/>
                </a:solidFill>
                <a:latin typeface="Arial"/>
                <a:ea typeface="Arial"/>
                <a:cs typeface="Arial"/>
                <a:sym typeface="Arial"/>
              </a:rPr>
              <a:t>∆ = ~0.008 less than threshold ɵ = 0.01</a:t>
            </a:r>
            <a:endParaRPr sz="3804"/>
          </a:p>
          <a:p>
            <a:pPr marL="80524" indent="-127497">
              <a:buClr>
                <a:srgbClr val="000000"/>
              </a:buClr>
              <a:buSzPts val="950"/>
              <a:buFont typeface="Arial"/>
              <a:buChar char="•"/>
            </a:pPr>
            <a:r>
              <a:rPr lang="en-US" sz="2008">
                <a:solidFill>
                  <a:srgbClr val="000000"/>
                </a:solidFill>
                <a:latin typeface="Arial"/>
                <a:ea typeface="Arial"/>
                <a:cs typeface="Arial"/>
                <a:sym typeface="Arial"/>
              </a:rPr>
              <a:t>Algorithm converges fast. Without ɵ converges at ~157</a:t>
            </a:r>
            <a:r>
              <a:rPr lang="en-US" sz="2008" baseline="30000">
                <a:solidFill>
                  <a:srgbClr val="000000"/>
                </a:solidFill>
                <a:latin typeface="Arial"/>
                <a:ea typeface="Arial"/>
                <a:cs typeface="Arial"/>
                <a:sym typeface="Arial"/>
              </a:rPr>
              <a:t>th</a:t>
            </a:r>
            <a:r>
              <a:rPr lang="en-US" sz="2008">
                <a:solidFill>
                  <a:srgbClr val="000000"/>
                </a:solidFill>
                <a:latin typeface="Arial"/>
                <a:ea typeface="Arial"/>
                <a:cs typeface="Arial"/>
                <a:sym typeface="Arial"/>
              </a:rPr>
              <a:t> iteration!</a:t>
            </a:r>
            <a:endParaRPr sz="3804"/>
          </a:p>
          <a:p>
            <a:pPr marL="80524">
              <a:buClr>
                <a:srgbClr val="000000"/>
              </a:buClr>
              <a:buSzPts val="950"/>
            </a:pPr>
            <a:endParaRPr sz="2008">
              <a:solidFill>
                <a:srgbClr val="000000"/>
              </a:solidFill>
              <a:latin typeface="Arial"/>
              <a:ea typeface="Arial"/>
              <a:cs typeface="Arial"/>
              <a:sym typeface="Arial"/>
            </a:endParaRPr>
          </a:p>
        </p:txBody>
      </p:sp>
      <p:sp>
        <p:nvSpPr>
          <p:cNvPr id="646" name="Google Shape;646;p17"/>
          <p:cNvSpPr txBox="1"/>
          <p:nvPr/>
        </p:nvSpPr>
        <p:spPr>
          <a:xfrm>
            <a:off x="192597" y="3908796"/>
            <a:ext cx="882895" cy="455260"/>
          </a:xfrm>
          <a:prstGeom prst="rect">
            <a:avLst/>
          </a:prstGeom>
          <a:noFill/>
          <a:ln>
            <a:noFill/>
          </a:ln>
        </p:spPr>
        <p:txBody>
          <a:bodyPr spcFirstLastPara="1" wrap="square" lIns="193227" tIns="96587" rIns="193227" bIns="96587" anchor="t" anchorCtr="0">
            <a:spAutoFit/>
          </a:bodyPr>
          <a:lstStyle/>
          <a:p>
            <a:r>
              <a:rPr lang="en-US" sz="1691">
                <a:solidFill>
                  <a:srgbClr val="000000"/>
                </a:solidFill>
                <a:latin typeface="Arial"/>
                <a:ea typeface="Arial"/>
                <a:cs typeface="Arial"/>
                <a:sym typeface="Arial"/>
              </a:rPr>
              <a:t>V</a:t>
            </a:r>
            <a:r>
              <a:rPr lang="en-US" sz="1691" baseline="-25000">
                <a:solidFill>
                  <a:srgbClr val="000000"/>
                </a:solidFill>
                <a:latin typeface="Arial"/>
                <a:ea typeface="Arial"/>
                <a:cs typeface="Arial"/>
                <a:sym typeface="Arial"/>
              </a:rPr>
              <a:t>40</a:t>
            </a:r>
            <a:endParaRPr sz="1691" baseline="-25000">
              <a:solidFill>
                <a:srgbClr val="000000"/>
              </a:solidFill>
              <a:latin typeface="Arial"/>
              <a:ea typeface="Arial"/>
              <a:cs typeface="Arial"/>
              <a:sym typeface="Arial"/>
            </a:endParaRPr>
          </a:p>
        </p:txBody>
      </p:sp>
      <p:sp>
        <p:nvSpPr>
          <p:cNvPr id="647" name="Google Shape;647;p17"/>
          <p:cNvSpPr/>
          <p:nvPr/>
        </p:nvSpPr>
        <p:spPr>
          <a:xfrm>
            <a:off x="9725008" y="732982"/>
            <a:ext cx="1277936" cy="487769"/>
          </a:xfrm>
          <a:prstGeom prst="rect">
            <a:avLst/>
          </a:prstGeom>
          <a:noFill/>
          <a:ln>
            <a:noFill/>
          </a:ln>
        </p:spPr>
        <p:txBody>
          <a:bodyPr spcFirstLastPara="1" wrap="square" lIns="193227" tIns="96587" rIns="193227" bIns="96587" anchor="t" anchorCtr="0">
            <a:spAutoFit/>
          </a:bodyPr>
          <a:lstStyle/>
          <a:p>
            <a:r>
              <a:rPr lang="en-US" sz="1902">
                <a:solidFill>
                  <a:srgbClr val="000000"/>
                </a:solidFill>
                <a:latin typeface="Arial"/>
                <a:ea typeface="Arial"/>
                <a:cs typeface="Arial"/>
                <a:sym typeface="Arial"/>
              </a:rPr>
              <a:t>ɵ = 0.01</a:t>
            </a:r>
            <a:endParaRPr sz="1902">
              <a:solidFill>
                <a:srgbClr val="000000"/>
              </a:solidFill>
              <a:latin typeface="Arial"/>
              <a:ea typeface="Arial"/>
              <a:cs typeface="Arial"/>
              <a:sym typeface="Arial"/>
            </a:endParaRPr>
          </a:p>
        </p:txBody>
      </p:sp>
      <p:sp>
        <p:nvSpPr>
          <p:cNvPr id="649" name="Google Shape;649;p17"/>
          <p:cNvSpPr txBox="1"/>
          <p:nvPr/>
        </p:nvSpPr>
        <p:spPr>
          <a:xfrm>
            <a:off x="4790198" y="1336714"/>
            <a:ext cx="3299495" cy="455260"/>
          </a:xfrm>
          <a:prstGeom prst="rect">
            <a:avLst/>
          </a:prstGeom>
          <a:noFill/>
          <a:ln>
            <a:noFill/>
          </a:ln>
        </p:spPr>
        <p:txBody>
          <a:bodyPr spcFirstLastPara="1" wrap="square" lIns="193227" tIns="96587" rIns="193227" bIns="96587" anchor="t" anchorCtr="0">
            <a:spAutoFit/>
          </a:bodyPr>
          <a:lstStyle/>
          <a:p>
            <a:r>
              <a:rPr lang="en-US" sz="1691" b="1">
                <a:solidFill>
                  <a:schemeClr val="dk1"/>
                </a:solidFill>
                <a:latin typeface="Arial"/>
                <a:ea typeface="Arial"/>
                <a:cs typeface="Arial"/>
                <a:sym typeface="Arial"/>
              </a:rPr>
              <a:t>Go Slow	Go Fast</a:t>
            </a:r>
            <a:endParaRPr sz="1691" b="1">
              <a:solidFill>
                <a:schemeClr val="dk1"/>
              </a:solidFill>
              <a:latin typeface="Arial"/>
              <a:ea typeface="Arial"/>
              <a:cs typeface="Arial"/>
              <a:sym typeface="Arial"/>
            </a:endParaRPr>
          </a:p>
        </p:txBody>
      </p:sp>
      <p:sp>
        <p:nvSpPr>
          <p:cNvPr id="650" name="Google Shape;650;p17"/>
          <p:cNvSpPr txBox="1"/>
          <p:nvPr/>
        </p:nvSpPr>
        <p:spPr>
          <a:xfrm>
            <a:off x="9373570" y="5694887"/>
            <a:ext cx="2734661" cy="488219"/>
          </a:xfrm>
          <a:prstGeom prst="rect">
            <a:avLst/>
          </a:prstGeom>
          <a:solidFill>
            <a:srgbClr val="F0C040"/>
          </a:solidFill>
          <a:ln>
            <a:noFill/>
          </a:ln>
        </p:spPr>
        <p:txBody>
          <a:bodyPr spcFirstLastPara="1" wrap="square" lIns="193227" tIns="193227" rIns="193227" bIns="193227" anchor="t" anchorCtr="0">
            <a:noAutofit/>
          </a:bodyPr>
          <a:lstStyle/>
          <a:p>
            <a:r>
              <a:rPr lang="en-US" sz="1585" b="1">
                <a:solidFill>
                  <a:srgbClr val="1B1472"/>
                </a:solidFill>
              </a:rPr>
              <a:t>Asynchronous Updates</a:t>
            </a:r>
            <a:endParaRPr sz="1585" b="1">
              <a:solidFill>
                <a:srgbClr val="1B1472"/>
              </a:solidFill>
            </a:endParaRPr>
          </a:p>
        </p:txBody>
      </p:sp>
      <p:sp>
        <p:nvSpPr>
          <p:cNvPr id="2" name="Footer">
            <a:extLst>
              <a:ext uri="{FF2B5EF4-FFF2-40B4-BE49-F238E27FC236}">
                <a16:creationId xmlns:a16="http://schemas.microsoft.com/office/drawing/2014/main" id="{884F5ED6-B1BB-FD96-9AFA-52F49DEE0C5B}"/>
              </a:ext>
            </a:extLst>
          </p:cNvPr>
          <p:cNvSpPr txBox="1">
            <a:spLocks/>
          </p:cNvSpPr>
          <p:nvPr/>
        </p:nvSpPr>
        <p:spPr>
          <a:xfrm>
            <a:off x="2986967" y="6597345"/>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sp>
        <p:nvSpPr>
          <p:cNvPr id="655" name="Google Shape;655;p18"/>
          <p:cNvSpPr txBox="1">
            <a:spLocks noGrp="1"/>
          </p:cNvSpPr>
          <p:nvPr>
            <p:ph type="title"/>
          </p:nvPr>
        </p:nvSpPr>
        <p:spPr>
          <a:xfrm>
            <a:off x="177559" y="231525"/>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 – Value Iteration</a:t>
            </a:r>
            <a:endParaRPr/>
          </a:p>
        </p:txBody>
      </p:sp>
      <p:sp>
        <p:nvSpPr>
          <p:cNvPr id="656" name="Google Shape;656;p18"/>
          <p:cNvSpPr/>
          <p:nvPr/>
        </p:nvSpPr>
        <p:spPr>
          <a:xfrm>
            <a:off x="11044484" y="1148949"/>
            <a:ext cx="0" cy="8848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nvGrpSpPr>
          <p:cNvPr id="657" name="Google Shape;657;p18"/>
          <p:cNvGrpSpPr/>
          <p:nvPr/>
        </p:nvGrpSpPr>
        <p:grpSpPr>
          <a:xfrm>
            <a:off x="2983" y="6571410"/>
            <a:ext cx="12174329" cy="194601"/>
            <a:chOff x="0" y="3109250"/>
            <a:chExt cx="5760261" cy="92075"/>
          </a:xfrm>
        </p:grpSpPr>
        <p:sp>
          <p:nvSpPr>
            <p:cNvPr id="658" name="Google Shape;658;p1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659" name="Google Shape;659;p1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660" name="Google Shape;660;p1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663" name="Google Shape;663;p1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26</a:t>
            </a:fld>
            <a:r>
              <a:rPr lang="en-US"/>
              <a:t> / 46</a:t>
            </a:r>
            <a:endParaRPr/>
          </a:p>
        </p:txBody>
      </p:sp>
      <p:pic>
        <p:nvPicPr>
          <p:cNvPr id="664" name="Google Shape;664;p18" descr="A screenshot of a cell phone  Description automatically generated"/>
          <p:cNvPicPr preferRelativeResize="0">
            <a:picLocks noGrp="1"/>
          </p:cNvPicPr>
          <p:nvPr>
            <p:ph type="body" idx="1"/>
          </p:nvPr>
        </p:nvPicPr>
        <p:blipFill rotWithShape="1">
          <a:blip r:embed="rId3">
            <a:alphaModFix/>
          </a:blip>
          <a:srcRect l="1654" t="2135" r="39745" b="2438"/>
          <a:stretch/>
        </p:blipFill>
        <p:spPr>
          <a:xfrm>
            <a:off x="8988302" y="178576"/>
            <a:ext cx="3186987" cy="2853525"/>
          </a:xfrm>
          <a:prstGeom prst="rect">
            <a:avLst/>
          </a:prstGeom>
          <a:noFill/>
          <a:ln>
            <a:noFill/>
          </a:ln>
        </p:spPr>
      </p:pic>
      <p:pic>
        <p:nvPicPr>
          <p:cNvPr id="665" name="Google Shape;665;p18" descr="TP_tmp.png"/>
          <p:cNvPicPr preferRelativeResize="0"/>
          <p:nvPr/>
        </p:nvPicPr>
        <p:blipFill rotWithShape="1">
          <a:blip r:embed="rId4">
            <a:alphaModFix/>
          </a:blip>
          <a:srcRect/>
          <a:stretch/>
        </p:blipFill>
        <p:spPr>
          <a:xfrm>
            <a:off x="364607" y="1756415"/>
            <a:ext cx="203949" cy="322518"/>
          </a:xfrm>
          <a:prstGeom prst="rect">
            <a:avLst/>
          </a:prstGeom>
          <a:noFill/>
          <a:ln>
            <a:noFill/>
          </a:ln>
        </p:spPr>
      </p:pic>
      <p:pic>
        <p:nvPicPr>
          <p:cNvPr id="666" name="Google Shape;666;p18"/>
          <p:cNvPicPr preferRelativeResize="0"/>
          <p:nvPr/>
        </p:nvPicPr>
        <p:blipFill rotWithShape="1">
          <a:blip r:embed="rId5">
            <a:alphaModFix/>
          </a:blip>
          <a:srcRect/>
          <a:stretch/>
        </p:blipFill>
        <p:spPr>
          <a:xfrm>
            <a:off x="1123247" y="1115162"/>
            <a:ext cx="535435" cy="556722"/>
          </a:xfrm>
          <a:prstGeom prst="rect">
            <a:avLst/>
          </a:prstGeom>
          <a:noFill/>
          <a:ln>
            <a:noFill/>
          </a:ln>
        </p:spPr>
      </p:pic>
      <p:pic>
        <p:nvPicPr>
          <p:cNvPr id="667" name="Google Shape;667;p18"/>
          <p:cNvPicPr preferRelativeResize="0"/>
          <p:nvPr/>
        </p:nvPicPr>
        <p:blipFill rotWithShape="1">
          <a:blip r:embed="rId6">
            <a:alphaModFix/>
          </a:blip>
          <a:srcRect/>
          <a:stretch/>
        </p:blipFill>
        <p:spPr>
          <a:xfrm>
            <a:off x="2509775" y="1035634"/>
            <a:ext cx="568088" cy="636251"/>
          </a:xfrm>
          <a:prstGeom prst="rect">
            <a:avLst/>
          </a:prstGeom>
          <a:noFill/>
          <a:ln>
            <a:noFill/>
          </a:ln>
        </p:spPr>
      </p:pic>
      <p:pic>
        <p:nvPicPr>
          <p:cNvPr id="668" name="Google Shape;668;p18"/>
          <p:cNvPicPr preferRelativeResize="0"/>
          <p:nvPr/>
        </p:nvPicPr>
        <p:blipFill rotWithShape="1">
          <a:blip r:embed="rId7">
            <a:alphaModFix/>
          </a:blip>
          <a:srcRect/>
          <a:stretch/>
        </p:blipFill>
        <p:spPr>
          <a:xfrm>
            <a:off x="1821735" y="1077450"/>
            <a:ext cx="585286" cy="583232"/>
          </a:xfrm>
          <a:prstGeom prst="rect">
            <a:avLst/>
          </a:prstGeom>
          <a:noFill/>
          <a:ln>
            <a:noFill/>
          </a:ln>
        </p:spPr>
      </p:pic>
      <p:sp>
        <p:nvSpPr>
          <p:cNvPr id="669" name="Google Shape;669;p18"/>
          <p:cNvSpPr/>
          <p:nvPr/>
        </p:nvSpPr>
        <p:spPr>
          <a:xfrm>
            <a:off x="657828" y="3005348"/>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670" name="Google Shape;670;p18"/>
          <p:cNvSpPr/>
          <p:nvPr/>
        </p:nvSpPr>
        <p:spPr>
          <a:xfrm>
            <a:off x="690038" y="2276822"/>
            <a:ext cx="2928770" cy="455253"/>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671" name="Google Shape;671;p18"/>
          <p:cNvSpPr/>
          <p:nvPr/>
        </p:nvSpPr>
        <p:spPr>
          <a:xfrm>
            <a:off x="696040" y="1667731"/>
            <a:ext cx="2928770" cy="455257"/>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pic>
        <p:nvPicPr>
          <p:cNvPr id="672" name="Google Shape;672;p18" descr="TP_tmp.png"/>
          <p:cNvPicPr preferRelativeResize="0"/>
          <p:nvPr/>
        </p:nvPicPr>
        <p:blipFill rotWithShape="1">
          <a:blip r:embed="rId8">
            <a:alphaModFix/>
          </a:blip>
          <a:srcRect/>
          <a:stretch/>
        </p:blipFill>
        <p:spPr>
          <a:xfrm>
            <a:off x="346553" y="2375833"/>
            <a:ext cx="183630" cy="323298"/>
          </a:xfrm>
          <a:prstGeom prst="rect">
            <a:avLst/>
          </a:prstGeom>
          <a:noFill/>
          <a:ln>
            <a:noFill/>
          </a:ln>
        </p:spPr>
      </p:pic>
      <p:pic>
        <p:nvPicPr>
          <p:cNvPr id="673" name="Google Shape;673;p18" descr="TP_tmp.png"/>
          <p:cNvPicPr preferRelativeResize="0"/>
          <p:nvPr/>
        </p:nvPicPr>
        <p:blipFill rotWithShape="1">
          <a:blip r:embed="rId9">
            <a:alphaModFix/>
          </a:blip>
          <a:srcRect/>
          <a:stretch/>
        </p:blipFill>
        <p:spPr>
          <a:xfrm>
            <a:off x="353872" y="3017816"/>
            <a:ext cx="204441" cy="323298"/>
          </a:xfrm>
          <a:prstGeom prst="rect">
            <a:avLst/>
          </a:prstGeom>
          <a:noFill/>
          <a:ln>
            <a:noFill/>
          </a:ln>
        </p:spPr>
      </p:pic>
      <p:sp>
        <p:nvSpPr>
          <p:cNvPr id="674" name="Google Shape;674;p18"/>
          <p:cNvSpPr txBox="1"/>
          <p:nvPr/>
        </p:nvSpPr>
        <p:spPr>
          <a:xfrm>
            <a:off x="1098665" y="1667735"/>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0             0             0 ……..</a:t>
            </a:r>
            <a:endParaRPr sz="634">
              <a:solidFill>
                <a:srgbClr val="000000"/>
              </a:solidFill>
              <a:latin typeface="Arial"/>
              <a:ea typeface="Arial"/>
              <a:cs typeface="Arial"/>
              <a:sym typeface="Arial"/>
            </a:endParaRPr>
          </a:p>
        </p:txBody>
      </p:sp>
      <p:sp>
        <p:nvSpPr>
          <p:cNvPr id="675" name="Google Shape;675;p18"/>
          <p:cNvSpPr txBox="1"/>
          <p:nvPr/>
        </p:nvSpPr>
        <p:spPr>
          <a:xfrm>
            <a:off x="1068904" y="2276821"/>
            <a:ext cx="2623690" cy="715459"/>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2             1.9            0……….</a:t>
            </a:r>
            <a:endParaRPr sz="634">
              <a:solidFill>
                <a:srgbClr val="000000"/>
              </a:solidFill>
              <a:latin typeface="Arial"/>
              <a:ea typeface="Arial"/>
              <a:cs typeface="Arial"/>
              <a:sym typeface="Arial"/>
            </a:endParaRPr>
          </a:p>
        </p:txBody>
      </p:sp>
      <p:sp>
        <p:nvSpPr>
          <p:cNvPr id="676" name="Google Shape;676;p18"/>
          <p:cNvSpPr txBox="1"/>
          <p:nvPr/>
        </p:nvSpPr>
        <p:spPr>
          <a:xfrm>
            <a:off x="1060452" y="2950779"/>
            <a:ext cx="2623703" cy="1496058"/>
          </a:xfrm>
          <a:prstGeom prst="rect">
            <a:avLst/>
          </a:prstGeom>
          <a:noFill/>
          <a:ln>
            <a:noFill/>
          </a:ln>
        </p:spPr>
        <p:txBody>
          <a:bodyPr spcFirstLastPara="1" wrap="square" lIns="193227" tIns="96587" rIns="193227" bIns="96587" anchor="t" anchorCtr="0">
            <a:spAutoFit/>
          </a:bodyPr>
          <a:lstStyle/>
          <a:p>
            <a:pPr>
              <a:buClr>
                <a:schemeClr val="dk1"/>
              </a:buClr>
              <a:buSzPts val="2800"/>
            </a:pPr>
            <a:r>
              <a:rPr lang="en-US" sz="1691">
                <a:solidFill>
                  <a:schemeClr val="dk1"/>
                </a:solidFill>
                <a:latin typeface="Calibri"/>
                <a:ea typeface="Calibri"/>
                <a:cs typeface="Calibri"/>
                <a:sym typeface="Calibri"/>
              </a:rPr>
              <a:t>  </a:t>
            </a:r>
            <a:r>
              <a:rPr lang="en-US" sz="1691">
                <a:solidFill>
                  <a:schemeClr val="dk1"/>
                </a:solidFill>
                <a:highlight>
                  <a:srgbClr val="FFFF00"/>
                </a:highlight>
                <a:latin typeface="Calibri"/>
                <a:ea typeface="Calibri"/>
                <a:cs typeface="Calibri"/>
                <a:sym typeface="Calibri"/>
              </a:rPr>
              <a:t>3.75</a:t>
            </a:r>
            <a:r>
              <a:rPr lang="en-US" sz="1691">
                <a:solidFill>
                  <a:schemeClr val="dk1"/>
                </a:solidFill>
                <a:latin typeface="Calibri"/>
                <a:ea typeface="Calibri"/>
                <a:cs typeface="Calibri"/>
                <a:sym typeface="Calibri"/>
              </a:rPr>
              <a:t>        3.54        0 ………</a:t>
            </a:r>
            <a:endParaRPr sz="3804">
              <a:solidFill>
                <a:schemeClr val="dk1"/>
              </a:solidFill>
            </a:endParaRPr>
          </a:p>
          <a:p>
            <a:pPr>
              <a:buClr>
                <a:schemeClr val="dk1"/>
              </a:buClr>
              <a:buSzPts val="2800"/>
            </a:pPr>
            <a:endParaRPr sz="1691">
              <a:solidFill>
                <a:schemeClr val="dk1"/>
              </a:solidFill>
              <a:latin typeface="Calibri"/>
              <a:ea typeface="Calibri"/>
              <a:cs typeface="Calibri"/>
              <a:sym typeface="Calibri"/>
            </a:endParaRPr>
          </a:p>
          <a:p>
            <a:pPr>
              <a:buClr>
                <a:schemeClr val="dk1"/>
              </a:buClr>
              <a:buSzPts val="2800"/>
            </a:pPr>
            <a:r>
              <a:rPr lang="en-US" sz="1691">
                <a:solidFill>
                  <a:schemeClr val="dk1"/>
                </a:solidFill>
                <a:latin typeface="Calibri"/>
                <a:ea typeface="Calibri"/>
                <a:cs typeface="Calibri"/>
                <a:sym typeface="Calibri"/>
              </a:rPr>
              <a:t>…….</a:t>
            </a:r>
            <a:endParaRPr sz="634">
              <a:solidFill>
                <a:schemeClr val="dk1"/>
              </a:solidFill>
            </a:endParaRPr>
          </a:p>
          <a:p>
            <a:pPr>
              <a:buClr>
                <a:srgbClr val="000000"/>
              </a:buClr>
              <a:buSzPts val="2800"/>
            </a:pPr>
            <a:endParaRPr sz="1691">
              <a:solidFill>
                <a:schemeClr val="dk1"/>
              </a:solidFill>
              <a:latin typeface="Calibri"/>
              <a:ea typeface="Calibri"/>
              <a:cs typeface="Calibri"/>
              <a:sym typeface="Calibri"/>
            </a:endParaRPr>
          </a:p>
        </p:txBody>
      </p:sp>
      <p:sp>
        <p:nvSpPr>
          <p:cNvPr id="677" name="Google Shape;677;p18"/>
          <p:cNvSpPr/>
          <p:nvPr/>
        </p:nvSpPr>
        <p:spPr>
          <a:xfrm>
            <a:off x="8548944" y="2756566"/>
            <a:ext cx="396569" cy="112734"/>
          </a:xfrm>
          <a:prstGeom prst="rightArrow">
            <a:avLst>
              <a:gd name="adj1" fmla="val 50000"/>
              <a:gd name="adj2" fmla="val 50000"/>
            </a:avLst>
          </a:prstGeom>
          <a:solidFill>
            <a:srgbClr val="E9A820"/>
          </a:solidFill>
          <a:ln w="25400" cap="flat" cmpd="sng">
            <a:solidFill>
              <a:srgbClr val="E9A820"/>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lt1"/>
              </a:solidFill>
              <a:latin typeface="Arial"/>
              <a:ea typeface="Arial"/>
              <a:cs typeface="Arial"/>
              <a:sym typeface="Arial"/>
            </a:endParaRPr>
          </a:p>
        </p:txBody>
      </p:sp>
      <p:pic>
        <p:nvPicPr>
          <p:cNvPr id="678" name="Google Shape;678;p18"/>
          <p:cNvPicPr preferRelativeResize="0"/>
          <p:nvPr/>
        </p:nvPicPr>
        <p:blipFill rotWithShape="1">
          <a:blip r:embed="rId10">
            <a:alphaModFix/>
          </a:blip>
          <a:srcRect/>
          <a:stretch/>
        </p:blipFill>
        <p:spPr>
          <a:xfrm>
            <a:off x="7217220" y="3254172"/>
            <a:ext cx="4960091" cy="3006946"/>
          </a:xfrm>
          <a:prstGeom prst="rect">
            <a:avLst/>
          </a:prstGeom>
          <a:noFill/>
          <a:ln>
            <a:noFill/>
          </a:ln>
        </p:spPr>
      </p:pic>
      <p:pic>
        <p:nvPicPr>
          <p:cNvPr id="679" name="Google Shape;679;p18"/>
          <p:cNvPicPr preferRelativeResize="0"/>
          <p:nvPr/>
        </p:nvPicPr>
        <p:blipFill rotWithShape="1">
          <a:blip r:embed="rId11">
            <a:alphaModFix/>
          </a:blip>
          <a:srcRect/>
          <a:stretch/>
        </p:blipFill>
        <p:spPr>
          <a:xfrm>
            <a:off x="9909066" y="684827"/>
            <a:ext cx="672728" cy="262364"/>
          </a:xfrm>
          <a:prstGeom prst="rect">
            <a:avLst/>
          </a:prstGeom>
          <a:noFill/>
          <a:ln>
            <a:noFill/>
          </a:ln>
        </p:spPr>
      </p:pic>
      <p:sp>
        <p:nvSpPr>
          <p:cNvPr id="680" name="Google Shape;680;p18"/>
          <p:cNvSpPr/>
          <p:nvPr/>
        </p:nvSpPr>
        <p:spPr>
          <a:xfrm>
            <a:off x="6050456" y="841601"/>
            <a:ext cx="778978" cy="512157"/>
          </a:xfrm>
          <a:prstGeom prst="triangle">
            <a:avLst>
              <a:gd name="adj" fmla="val 50000"/>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681" name="Google Shape;681;p18"/>
          <p:cNvSpPr/>
          <p:nvPr/>
        </p:nvSpPr>
        <p:spPr>
          <a:xfrm>
            <a:off x="6892541" y="1813470"/>
            <a:ext cx="625462" cy="437850"/>
          </a:xfrm>
          <a:prstGeom prst="ellipse">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682" name="Google Shape;682;p18"/>
          <p:cNvSpPr/>
          <p:nvPr/>
        </p:nvSpPr>
        <p:spPr>
          <a:xfrm>
            <a:off x="5047781" y="1829569"/>
            <a:ext cx="625462" cy="437850"/>
          </a:xfrm>
          <a:prstGeom prst="ellipse">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683" name="Google Shape;683;p18"/>
          <p:cNvSpPr/>
          <p:nvPr/>
        </p:nvSpPr>
        <p:spPr>
          <a:xfrm>
            <a:off x="4725108" y="2628430"/>
            <a:ext cx="590200" cy="417406"/>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684" name="Google Shape;684;p18"/>
          <p:cNvSpPr/>
          <p:nvPr/>
        </p:nvSpPr>
        <p:spPr>
          <a:xfrm>
            <a:off x="6425087" y="2628427"/>
            <a:ext cx="590200" cy="417406"/>
          </a:xfrm>
          <a:prstGeom prst="rect">
            <a:avLst/>
          </a:prstGeom>
          <a:blipFill rotWithShape="1">
            <a:blip r:embed="rId16">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685" name="Google Shape;685;p18"/>
          <p:cNvSpPr/>
          <p:nvPr/>
        </p:nvSpPr>
        <p:spPr>
          <a:xfrm>
            <a:off x="7633305" y="2635890"/>
            <a:ext cx="590200" cy="417406"/>
          </a:xfrm>
          <a:prstGeom prst="rect">
            <a:avLst/>
          </a:prstGeom>
          <a:blipFill rotWithShape="1">
            <a:blip r:embed="rId17">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cxnSp>
        <p:nvCxnSpPr>
          <p:cNvPr id="686" name="Google Shape;686;p18"/>
          <p:cNvCxnSpPr>
            <a:stCxn id="680" idx="3"/>
            <a:endCxn id="682" idx="7"/>
          </p:cNvCxnSpPr>
          <p:nvPr/>
        </p:nvCxnSpPr>
        <p:spPr>
          <a:xfrm flipH="1">
            <a:off x="5581440" y="1353758"/>
            <a:ext cx="858505" cy="540211"/>
          </a:xfrm>
          <a:prstGeom prst="straightConnector1">
            <a:avLst/>
          </a:prstGeom>
          <a:noFill/>
          <a:ln w="9525" cap="flat" cmpd="sng">
            <a:solidFill>
              <a:schemeClr val="dk1"/>
            </a:solidFill>
            <a:prstDash val="solid"/>
            <a:miter lim="800000"/>
            <a:headEnd type="none" w="sm" len="sm"/>
            <a:tailEnd type="triangle" w="med" len="med"/>
          </a:ln>
        </p:spPr>
      </p:cxnSp>
      <p:cxnSp>
        <p:nvCxnSpPr>
          <p:cNvPr id="687" name="Google Shape;687;p18"/>
          <p:cNvCxnSpPr>
            <a:stCxn id="680" idx="3"/>
            <a:endCxn id="681" idx="1"/>
          </p:cNvCxnSpPr>
          <p:nvPr/>
        </p:nvCxnSpPr>
        <p:spPr>
          <a:xfrm>
            <a:off x="6439945" y="1353758"/>
            <a:ext cx="544016" cy="523726"/>
          </a:xfrm>
          <a:prstGeom prst="straightConnector1">
            <a:avLst/>
          </a:prstGeom>
          <a:noFill/>
          <a:ln w="9525" cap="flat" cmpd="sng">
            <a:solidFill>
              <a:schemeClr val="dk1"/>
            </a:solidFill>
            <a:prstDash val="solid"/>
            <a:miter lim="800000"/>
            <a:headEnd type="none" w="sm" len="sm"/>
            <a:tailEnd type="triangle" w="med" len="med"/>
          </a:ln>
        </p:spPr>
      </p:cxnSp>
      <p:cxnSp>
        <p:nvCxnSpPr>
          <p:cNvPr id="688" name="Google Shape;688;p18"/>
          <p:cNvCxnSpPr>
            <a:stCxn id="682" idx="4"/>
            <a:endCxn id="683" idx="0"/>
          </p:cNvCxnSpPr>
          <p:nvPr/>
        </p:nvCxnSpPr>
        <p:spPr>
          <a:xfrm flipH="1">
            <a:off x="5020026" y="2267419"/>
            <a:ext cx="340485" cy="360775"/>
          </a:xfrm>
          <a:prstGeom prst="straightConnector1">
            <a:avLst/>
          </a:prstGeom>
          <a:noFill/>
          <a:ln w="9525" cap="flat" cmpd="sng">
            <a:solidFill>
              <a:schemeClr val="dk1"/>
            </a:solidFill>
            <a:prstDash val="solid"/>
            <a:miter lim="800000"/>
            <a:headEnd type="none" w="sm" len="sm"/>
            <a:tailEnd type="triangle" w="med" len="med"/>
          </a:ln>
        </p:spPr>
      </p:cxnSp>
      <p:cxnSp>
        <p:nvCxnSpPr>
          <p:cNvPr id="689" name="Google Shape;689;p18"/>
          <p:cNvCxnSpPr>
            <a:stCxn id="681" idx="4"/>
            <a:endCxn id="685" idx="0"/>
          </p:cNvCxnSpPr>
          <p:nvPr/>
        </p:nvCxnSpPr>
        <p:spPr>
          <a:xfrm>
            <a:off x="7205272" y="2251320"/>
            <a:ext cx="722818" cy="384869"/>
          </a:xfrm>
          <a:prstGeom prst="straightConnector1">
            <a:avLst/>
          </a:prstGeom>
          <a:noFill/>
          <a:ln w="9525" cap="flat" cmpd="sng">
            <a:solidFill>
              <a:schemeClr val="dk1"/>
            </a:solidFill>
            <a:prstDash val="solid"/>
            <a:miter lim="800000"/>
            <a:headEnd type="none" w="sm" len="sm"/>
            <a:tailEnd type="triangle" w="med" len="med"/>
          </a:ln>
        </p:spPr>
      </p:cxnSp>
      <p:cxnSp>
        <p:nvCxnSpPr>
          <p:cNvPr id="690" name="Google Shape;690;p18"/>
          <p:cNvCxnSpPr>
            <a:stCxn id="681" idx="4"/>
            <a:endCxn id="684" idx="0"/>
          </p:cNvCxnSpPr>
          <p:nvPr/>
        </p:nvCxnSpPr>
        <p:spPr>
          <a:xfrm flipH="1">
            <a:off x="6720223" y="2251320"/>
            <a:ext cx="485049" cy="377260"/>
          </a:xfrm>
          <a:prstGeom prst="straightConnector1">
            <a:avLst/>
          </a:prstGeom>
          <a:noFill/>
          <a:ln w="9525" cap="flat" cmpd="sng">
            <a:solidFill>
              <a:schemeClr val="dk1"/>
            </a:solidFill>
            <a:prstDash val="solid"/>
            <a:miter lim="800000"/>
            <a:headEnd type="none" w="sm" len="sm"/>
            <a:tailEnd type="triangle" w="med" len="med"/>
          </a:ln>
        </p:spPr>
      </p:cxnSp>
      <p:cxnSp>
        <p:nvCxnSpPr>
          <p:cNvPr id="691" name="Google Shape;691;p18"/>
          <p:cNvCxnSpPr/>
          <p:nvPr/>
        </p:nvCxnSpPr>
        <p:spPr>
          <a:xfrm flipH="1">
            <a:off x="4851542" y="3045832"/>
            <a:ext cx="158880" cy="452015"/>
          </a:xfrm>
          <a:prstGeom prst="straightConnector1">
            <a:avLst/>
          </a:prstGeom>
          <a:noFill/>
          <a:ln w="19050" cap="flat" cmpd="sng">
            <a:solidFill>
              <a:schemeClr val="dk1"/>
            </a:solidFill>
            <a:prstDash val="dash"/>
            <a:miter lim="800000"/>
            <a:headEnd type="none" w="sm" len="sm"/>
            <a:tailEnd type="triangle" w="med" len="med"/>
          </a:ln>
        </p:spPr>
      </p:cxnSp>
      <p:cxnSp>
        <p:nvCxnSpPr>
          <p:cNvPr id="692" name="Google Shape;692;p18"/>
          <p:cNvCxnSpPr/>
          <p:nvPr/>
        </p:nvCxnSpPr>
        <p:spPr>
          <a:xfrm flipH="1">
            <a:off x="6543567" y="3033158"/>
            <a:ext cx="183589" cy="433112"/>
          </a:xfrm>
          <a:prstGeom prst="straightConnector1">
            <a:avLst/>
          </a:prstGeom>
          <a:noFill/>
          <a:ln w="19050" cap="flat" cmpd="sng">
            <a:solidFill>
              <a:schemeClr val="dk1"/>
            </a:solidFill>
            <a:prstDash val="dash"/>
            <a:miter lim="800000"/>
            <a:headEnd type="none" w="sm" len="sm"/>
            <a:tailEnd type="triangle" w="med" len="med"/>
          </a:ln>
        </p:spPr>
      </p:cxnSp>
      <p:cxnSp>
        <p:nvCxnSpPr>
          <p:cNvPr id="693" name="Google Shape;693;p18"/>
          <p:cNvCxnSpPr/>
          <p:nvPr/>
        </p:nvCxnSpPr>
        <p:spPr>
          <a:xfrm flipH="1">
            <a:off x="7828110" y="3073739"/>
            <a:ext cx="41034" cy="424108"/>
          </a:xfrm>
          <a:prstGeom prst="straightConnector1">
            <a:avLst/>
          </a:prstGeom>
          <a:noFill/>
          <a:ln w="19050" cap="flat" cmpd="sng">
            <a:solidFill>
              <a:schemeClr val="dk1"/>
            </a:solidFill>
            <a:prstDash val="dash"/>
            <a:miter lim="800000"/>
            <a:headEnd type="none" w="sm" len="sm"/>
            <a:tailEnd type="triangle" w="med" len="med"/>
          </a:ln>
        </p:spPr>
      </p:cxnSp>
      <p:cxnSp>
        <p:nvCxnSpPr>
          <p:cNvPr id="694" name="Google Shape;694;p18"/>
          <p:cNvCxnSpPr/>
          <p:nvPr/>
        </p:nvCxnSpPr>
        <p:spPr>
          <a:xfrm>
            <a:off x="7925654" y="3086515"/>
            <a:ext cx="433553" cy="379754"/>
          </a:xfrm>
          <a:prstGeom prst="straightConnector1">
            <a:avLst/>
          </a:prstGeom>
          <a:noFill/>
          <a:ln w="19050" cap="flat" cmpd="sng">
            <a:solidFill>
              <a:schemeClr val="dk1"/>
            </a:solidFill>
            <a:prstDash val="dash"/>
            <a:miter lim="800000"/>
            <a:headEnd type="none" w="sm" len="sm"/>
            <a:tailEnd type="triangle" w="med" len="med"/>
          </a:ln>
        </p:spPr>
      </p:cxnSp>
      <p:cxnSp>
        <p:nvCxnSpPr>
          <p:cNvPr id="695" name="Google Shape;695;p18"/>
          <p:cNvCxnSpPr/>
          <p:nvPr/>
        </p:nvCxnSpPr>
        <p:spPr>
          <a:xfrm>
            <a:off x="6785608" y="3026279"/>
            <a:ext cx="309685" cy="439991"/>
          </a:xfrm>
          <a:prstGeom prst="straightConnector1">
            <a:avLst/>
          </a:prstGeom>
          <a:noFill/>
          <a:ln w="19050" cap="flat" cmpd="sng">
            <a:solidFill>
              <a:schemeClr val="dk1"/>
            </a:solidFill>
            <a:prstDash val="dash"/>
            <a:miter lim="800000"/>
            <a:headEnd type="none" w="sm" len="sm"/>
            <a:tailEnd type="triangle" w="med" len="med"/>
          </a:ln>
        </p:spPr>
      </p:cxnSp>
      <p:cxnSp>
        <p:nvCxnSpPr>
          <p:cNvPr id="696" name="Google Shape;696;p18"/>
          <p:cNvCxnSpPr/>
          <p:nvPr/>
        </p:nvCxnSpPr>
        <p:spPr>
          <a:xfrm>
            <a:off x="5065488" y="3045832"/>
            <a:ext cx="336093" cy="452015"/>
          </a:xfrm>
          <a:prstGeom prst="straightConnector1">
            <a:avLst/>
          </a:prstGeom>
          <a:noFill/>
          <a:ln w="19050" cap="flat" cmpd="sng">
            <a:solidFill>
              <a:schemeClr val="dk1"/>
            </a:solidFill>
            <a:prstDash val="dash"/>
            <a:miter lim="800000"/>
            <a:headEnd type="none" w="sm" len="sm"/>
            <a:tailEnd type="triangle" w="med" len="med"/>
          </a:ln>
        </p:spPr>
      </p:cxnSp>
      <p:sp>
        <p:nvSpPr>
          <p:cNvPr id="697" name="Google Shape;697;p18"/>
          <p:cNvSpPr txBox="1"/>
          <p:nvPr/>
        </p:nvSpPr>
        <p:spPr>
          <a:xfrm>
            <a:off x="4551997" y="3695288"/>
            <a:ext cx="4926580" cy="455260"/>
          </a:xfrm>
          <a:prstGeom prst="rect">
            <a:avLst/>
          </a:prstGeom>
          <a:noFill/>
          <a:ln>
            <a:noFill/>
          </a:ln>
        </p:spPr>
        <p:txBody>
          <a:bodyPr spcFirstLastPara="1" wrap="square" lIns="193227" tIns="96587" rIns="193227" bIns="96587" anchor="t" anchorCtr="0">
            <a:spAutoFit/>
          </a:bodyPr>
          <a:lstStyle/>
          <a:p>
            <a:r>
              <a:rPr lang="en-US" sz="1691" b="1">
                <a:solidFill>
                  <a:srgbClr val="00B050"/>
                </a:solidFill>
                <a:latin typeface="Arial"/>
                <a:ea typeface="Arial"/>
                <a:cs typeface="Arial"/>
                <a:sym typeface="Arial"/>
              </a:rPr>
              <a:t>   1.0                        0.5               0.5</a:t>
            </a:r>
            <a:endParaRPr sz="1691" b="1">
              <a:solidFill>
                <a:srgbClr val="00B050"/>
              </a:solidFill>
              <a:latin typeface="Arial"/>
              <a:ea typeface="Arial"/>
              <a:cs typeface="Arial"/>
              <a:sym typeface="Arial"/>
            </a:endParaRPr>
          </a:p>
        </p:txBody>
      </p:sp>
      <p:sp>
        <p:nvSpPr>
          <p:cNvPr id="698" name="Google Shape;698;p18"/>
          <p:cNvSpPr txBox="1"/>
          <p:nvPr/>
        </p:nvSpPr>
        <p:spPr>
          <a:xfrm>
            <a:off x="4725109" y="3419748"/>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+1                         +2                +2</a:t>
            </a:r>
            <a:endParaRPr sz="1691" b="1">
              <a:solidFill>
                <a:srgbClr val="C00000"/>
              </a:solidFill>
              <a:latin typeface="Arial"/>
              <a:ea typeface="Arial"/>
              <a:cs typeface="Arial"/>
              <a:sym typeface="Arial"/>
            </a:endParaRPr>
          </a:p>
        </p:txBody>
      </p:sp>
      <p:sp>
        <p:nvSpPr>
          <p:cNvPr id="699" name="Google Shape;699;p18"/>
          <p:cNvSpPr txBox="1"/>
          <p:nvPr/>
        </p:nvSpPr>
        <p:spPr>
          <a:xfrm>
            <a:off x="4458062" y="2178177"/>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	cool          warm</a:t>
            </a:r>
            <a:endParaRPr sz="1691" b="1">
              <a:solidFill>
                <a:srgbClr val="C00000"/>
              </a:solidFill>
              <a:latin typeface="Arial"/>
              <a:ea typeface="Arial"/>
              <a:cs typeface="Arial"/>
              <a:sym typeface="Arial"/>
            </a:endParaRPr>
          </a:p>
        </p:txBody>
      </p:sp>
      <p:sp>
        <p:nvSpPr>
          <p:cNvPr id="700" name="Google Shape;700;p18"/>
          <p:cNvSpPr txBox="1"/>
          <p:nvPr/>
        </p:nvSpPr>
        <p:spPr>
          <a:xfrm>
            <a:off x="5429049" y="877001"/>
            <a:ext cx="948196"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a:t>
            </a:r>
            <a:endParaRPr sz="1691" b="1">
              <a:solidFill>
                <a:srgbClr val="C00000"/>
              </a:solidFill>
              <a:latin typeface="Arial"/>
              <a:ea typeface="Arial"/>
              <a:cs typeface="Arial"/>
              <a:sym typeface="Arial"/>
            </a:endParaRPr>
          </a:p>
        </p:txBody>
      </p:sp>
      <p:sp>
        <p:nvSpPr>
          <p:cNvPr id="701" name="Google Shape;701;p18"/>
          <p:cNvSpPr/>
          <p:nvPr/>
        </p:nvSpPr>
        <p:spPr>
          <a:xfrm>
            <a:off x="685840" y="3929621"/>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702" name="Google Shape;702;p18"/>
          <p:cNvSpPr txBox="1"/>
          <p:nvPr/>
        </p:nvSpPr>
        <p:spPr>
          <a:xfrm>
            <a:off x="855362" y="3875090"/>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a:t>
            </a:r>
            <a:r>
              <a:rPr lang="en-US" sz="1691">
                <a:solidFill>
                  <a:schemeClr val="dk1"/>
                </a:solidFill>
                <a:highlight>
                  <a:srgbClr val="FFFF00"/>
                </a:highlight>
                <a:latin typeface="Calibri"/>
                <a:ea typeface="Calibri"/>
                <a:cs typeface="Calibri"/>
                <a:sym typeface="Calibri"/>
              </a:rPr>
              <a:t>15.44</a:t>
            </a:r>
            <a:r>
              <a:rPr lang="en-US" sz="1691">
                <a:solidFill>
                  <a:schemeClr val="dk1"/>
                </a:solidFill>
                <a:latin typeface="Calibri"/>
                <a:ea typeface="Calibri"/>
                <a:cs typeface="Calibri"/>
                <a:sym typeface="Calibri"/>
              </a:rPr>
              <a:t>        ~14.44        0</a:t>
            </a:r>
            <a:endParaRPr sz="634">
              <a:solidFill>
                <a:srgbClr val="000000"/>
              </a:solidFill>
              <a:latin typeface="Arial"/>
              <a:ea typeface="Arial"/>
              <a:cs typeface="Arial"/>
              <a:sym typeface="Arial"/>
            </a:endParaRPr>
          </a:p>
        </p:txBody>
      </p:sp>
      <p:sp>
        <p:nvSpPr>
          <p:cNvPr id="703" name="Google Shape;703;p18"/>
          <p:cNvSpPr txBox="1"/>
          <p:nvPr/>
        </p:nvSpPr>
        <p:spPr>
          <a:xfrm>
            <a:off x="3795556" y="4525802"/>
            <a:ext cx="3543076" cy="1878352"/>
          </a:xfrm>
          <a:prstGeom prst="rect">
            <a:avLst/>
          </a:prstGeom>
          <a:noFill/>
          <a:ln>
            <a:noFill/>
          </a:ln>
        </p:spPr>
        <p:txBody>
          <a:bodyPr spcFirstLastPara="1" wrap="square" lIns="0" tIns="24147" rIns="0" bIns="0" anchor="t" anchorCtr="0">
            <a:spAutoFit/>
          </a:bodyPr>
          <a:lstStyle/>
          <a:p>
            <a:pPr marL="80524" indent="-127497">
              <a:buClr>
                <a:srgbClr val="000000"/>
              </a:buClr>
              <a:buSzPts val="950"/>
              <a:buFont typeface="Arial"/>
              <a:buChar char="•"/>
            </a:pPr>
            <a:r>
              <a:rPr lang="en-US" sz="2008">
                <a:solidFill>
                  <a:srgbClr val="000000"/>
                </a:solidFill>
                <a:latin typeface="Arial"/>
                <a:ea typeface="Arial"/>
                <a:cs typeface="Arial"/>
                <a:sym typeface="Arial"/>
              </a:rPr>
              <a:t>After convergence extract the policy</a:t>
            </a:r>
            <a:r>
              <a:rPr lang="en-US" sz="2008"/>
              <a:t> by c</a:t>
            </a:r>
            <a:r>
              <a:rPr lang="en-US" sz="2008">
                <a:solidFill>
                  <a:srgbClr val="000000"/>
                </a:solidFill>
                <a:latin typeface="Arial"/>
                <a:ea typeface="Arial"/>
                <a:cs typeface="Arial"/>
                <a:sym typeface="Arial"/>
              </a:rPr>
              <a:t>hoos</a:t>
            </a:r>
            <a:r>
              <a:rPr lang="en-US" sz="2008"/>
              <a:t>ing</a:t>
            </a:r>
            <a:r>
              <a:rPr lang="en-US" sz="2008">
                <a:solidFill>
                  <a:srgbClr val="000000"/>
                </a:solidFill>
                <a:latin typeface="Arial"/>
                <a:ea typeface="Arial"/>
                <a:cs typeface="Arial"/>
                <a:sym typeface="Arial"/>
              </a:rPr>
              <a:t> the action that lead to </a:t>
            </a:r>
            <a:r>
              <a:rPr lang="en-US" sz="2008"/>
              <a:t>the </a:t>
            </a:r>
            <a:r>
              <a:rPr lang="en-US" sz="2008">
                <a:solidFill>
                  <a:srgbClr val="000000"/>
                </a:solidFill>
                <a:latin typeface="Arial"/>
                <a:ea typeface="Arial"/>
                <a:cs typeface="Arial"/>
                <a:sym typeface="Arial"/>
              </a:rPr>
              <a:t>converged</a:t>
            </a:r>
            <a:r>
              <a:rPr lang="en-US" sz="2008"/>
              <a:t> maximum value here from V40th iteration</a:t>
            </a:r>
            <a:endParaRPr sz="2008">
              <a:solidFill>
                <a:srgbClr val="000000"/>
              </a:solidFill>
              <a:latin typeface="Arial"/>
              <a:ea typeface="Arial"/>
              <a:cs typeface="Arial"/>
              <a:sym typeface="Arial"/>
            </a:endParaRPr>
          </a:p>
          <a:p>
            <a:pPr marL="80524">
              <a:buClr>
                <a:srgbClr val="000000"/>
              </a:buClr>
              <a:buSzPts val="950"/>
            </a:pPr>
            <a:endParaRPr sz="2008">
              <a:solidFill>
                <a:srgbClr val="000000"/>
              </a:solidFill>
              <a:latin typeface="Arial"/>
              <a:ea typeface="Arial"/>
              <a:cs typeface="Arial"/>
              <a:sym typeface="Arial"/>
            </a:endParaRPr>
          </a:p>
        </p:txBody>
      </p:sp>
      <p:sp>
        <p:nvSpPr>
          <p:cNvPr id="704" name="Google Shape;704;p18"/>
          <p:cNvSpPr txBox="1"/>
          <p:nvPr/>
        </p:nvSpPr>
        <p:spPr>
          <a:xfrm>
            <a:off x="192597" y="3908796"/>
            <a:ext cx="882895" cy="455260"/>
          </a:xfrm>
          <a:prstGeom prst="rect">
            <a:avLst/>
          </a:prstGeom>
          <a:noFill/>
          <a:ln>
            <a:noFill/>
          </a:ln>
        </p:spPr>
        <p:txBody>
          <a:bodyPr spcFirstLastPara="1" wrap="square" lIns="193227" tIns="96587" rIns="193227" bIns="96587" anchor="t" anchorCtr="0">
            <a:spAutoFit/>
          </a:bodyPr>
          <a:lstStyle/>
          <a:p>
            <a:r>
              <a:rPr lang="en-US" sz="1691">
                <a:solidFill>
                  <a:srgbClr val="000000"/>
                </a:solidFill>
                <a:latin typeface="Arial"/>
                <a:ea typeface="Arial"/>
                <a:cs typeface="Arial"/>
                <a:sym typeface="Arial"/>
              </a:rPr>
              <a:t>V</a:t>
            </a:r>
            <a:r>
              <a:rPr lang="en-US" sz="1691" baseline="-25000">
                <a:solidFill>
                  <a:srgbClr val="000000"/>
                </a:solidFill>
                <a:latin typeface="Arial"/>
                <a:ea typeface="Arial"/>
                <a:cs typeface="Arial"/>
                <a:sym typeface="Arial"/>
              </a:rPr>
              <a:t>40</a:t>
            </a:r>
            <a:endParaRPr sz="1691" baseline="-25000">
              <a:solidFill>
                <a:srgbClr val="000000"/>
              </a:solidFill>
              <a:latin typeface="Arial"/>
              <a:ea typeface="Arial"/>
              <a:cs typeface="Arial"/>
              <a:sym typeface="Arial"/>
            </a:endParaRPr>
          </a:p>
        </p:txBody>
      </p:sp>
      <p:sp>
        <p:nvSpPr>
          <p:cNvPr id="705" name="Google Shape;705;p18"/>
          <p:cNvSpPr/>
          <p:nvPr/>
        </p:nvSpPr>
        <p:spPr>
          <a:xfrm>
            <a:off x="9725008" y="732982"/>
            <a:ext cx="1277936" cy="487769"/>
          </a:xfrm>
          <a:prstGeom prst="rect">
            <a:avLst/>
          </a:prstGeom>
          <a:noFill/>
          <a:ln>
            <a:noFill/>
          </a:ln>
        </p:spPr>
        <p:txBody>
          <a:bodyPr spcFirstLastPara="1" wrap="square" lIns="193227" tIns="96587" rIns="193227" bIns="96587" anchor="t" anchorCtr="0">
            <a:spAutoFit/>
          </a:bodyPr>
          <a:lstStyle/>
          <a:p>
            <a:r>
              <a:rPr lang="en-US" sz="1902">
                <a:solidFill>
                  <a:srgbClr val="000000"/>
                </a:solidFill>
                <a:latin typeface="Arial"/>
                <a:ea typeface="Arial"/>
                <a:cs typeface="Arial"/>
                <a:sym typeface="Arial"/>
              </a:rPr>
              <a:t>ɵ = 0.01</a:t>
            </a:r>
            <a:endParaRPr sz="1902">
              <a:solidFill>
                <a:srgbClr val="000000"/>
              </a:solidFill>
              <a:latin typeface="Arial"/>
              <a:ea typeface="Arial"/>
              <a:cs typeface="Arial"/>
              <a:sym typeface="Arial"/>
            </a:endParaRPr>
          </a:p>
        </p:txBody>
      </p:sp>
      <p:graphicFrame>
        <p:nvGraphicFramePr>
          <p:cNvPr id="706" name="Google Shape;706;p18"/>
          <p:cNvGraphicFramePr/>
          <p:nvPr/>
        </p:nvGraphicFramePr>
        <p:xfrm>
          <a:off x="633104" y="4853184"/>
          <a:ext cx="2953514" cy="1687520"/>
        </p:xfrm>
        <a:graphic>
          <a:graphicData uri="http://schemas.openxmlformats.org/drawingml/2006/table">
            <a:tbl>
              <a:tblPr firstRow="1" bandRow="1">
                <a:noFill/>
              </a:tblPr>
              <a:tblGrid>
                <a:gridCol w="1476757">
                  <a:extLst>
                    <a:ext uri="{9D8B030D-6E8A-4147-A177-3AD203B41FA5}">
                      <a16:colId xmlns:a16="http://schemas.microsoft.com/office/drawing/2014/main" val="20000"/>
                    </a:ext>
                  </a:extLst>
                </a:gridCol>
                <a:gridCol w="1476757">
                  <a:extLst>
                    <a:ext uri="{9D8B030D-6E8A-4147-A177-3AD203B41FA5}">
                      <a16:colId xmlns:a16="http://schemas.microsoft.com/office/drawing/2014/main" val="20001"/>
                    </a:ext>
                  </a:extLst>
                </a:gridCol>
              </a:tblGrid>
              <a:tr h="418748">
                <a:tc>
                  <a:txBody>
                    <a:bodyPr/>
                    <a:lstStyle/>
                    <a:p>
                      <a:pPr marL="0" marR="0" lvl="0" indent="0" algn="l" rtl="0">
                        <a:lnSpc>
                          <a:spcPct val="100000"/>
                        </a:lnSpc>
                        <a:spcBef>
                          <a:spcPts val="0"/>
                        </a:spcBef>
                        <a:spcAft>
                          <a:spcPts val="0"/>
                        </a:spcAft>
                        <a:buNone/>
                      </a:pPr>
                      <a:r>
                        <a:rPr lang="en-US" sz="1500" u="none" strike="noStrike" cap="none"/>
                        <a:t>State</a:t>
                      </a:r>
                      <a:endParaRPr sz="1500" u="none" strike="noStrike" cap="none"/>
                    </a:p>
                  </a:txBody>
                  <a:tcPr marL="193280" marR="193280" marT="96640" marB="96640"/>
                </a:tc>
                <a:tc>
                  <a:txBody>
                    <a:bodyPr/>
                    <a:lstStyle/>
                    <a:p>
                      <a:pPr marL="0" marR="0" lvl="0" indent="0" algn="l" rtl="0">
                        <a:lnSpc>
                          <a:spcPct val="100000"/>
                        </a:lnSpc>
                        <a:spcBef>
                          <a:spcPts val="0"/>
                        </a:spcBef>
                        <a:spcAft>
                          <a:spcPts val="0"/>
                        </a:spcAft>
                        <a:buNone/>
                      </a:pPr>
                      <a:r>
                        <a:rPr lang="en-US" sz="1500" u="none" strike="noStrike" cap="none"/>
                        <a:t>Best Action</a:t>
                      </a:r>
                      <a:endParaRPr sz="1500" u="none" strike="noStrike" cap="none"/>
                    </a:p>
                  </a:txBody>
                  <a:tcPr marL="193280" marR="193280" marT="96640" marB="96640"/>
                </a:tc>
                <a:extLst>
                  <a:ext uri="{0D108BD9-81ED-4DB2-BD59-A6C34878D82A}">
                    <a16:rowId xmlns:a16="http://schemas.microsoft.com/office/drawing/2014/main" val="10000"/>
                  </a:ext>
                </a:extLst>
              </a:tr>
              <a:tr h="418748">
                <a:tc>
                  <a:txBody>
                    <a:bodyPr/>
                    <a:lstStyle/>
                    <a:p>
                      <a:pPr marL="0" marR="0" lvl="0" indent="0" algn="l" rtl="0">
                        <a:lnSpc>
                          <a:spcPct val="100000"/>
                        </a:lnSpc>
                        <a:spcBef>
                          <a:spcPts val="0"/>
                        </a:spcBef>
                        <a:spcAft>
                          <a:spcPts val="0"/>
                        </a:spcAft>
                        <a:buNone/>
                      </a:pPr>
                      <a:r>
                        <a:rPr lang="en-US" sz="1500" u="none" strike="noStrike" cap="none"/>
                        <a:t>Cool</a:t>
                      </a:r>
                      <a:endParaRPr sz="1500" u="none" strike="noStrike" cap="none"/>
                    </a:p>
                  </a:txBody>
                  <a:tcPr marL="193280" marR="193280" marT="96640" marB="96640"/>
                </a:tc>
                <a:tc>
                  <a:txBody>
                    <a:bodyPr/>
                    <a:lstStyle/>
                    <a:p>
                      <a:pPr marL="0" marR="0" lvl="0" indent="0" algn="l" rtl="0">
                        <a:lnSpc>
                          <a:spcPct val="100000"/>
                        </a:lnSpc>
                        <a:spcBef>
                          <a:spcPts val="0"/>
                        </a:spcBef>
                        <a:spcAft>
                          <a:spcPts val="0"/>
                        </a:spcAft>
                        <a:buNone/>
                      </a:pPr>
                      <a:r>
                        <a:rPr lang="en-US" sz="1500" u="none" strike="noStrike" cap="none"/>
                        <a:t>Fast</a:t>
                      </a:r>
                      <a:endParaRPr sz="1500" u="none" strike="noStrike" cap="none"/>
                    </a:p>
                  </a:txBody>
                  <a:tcPr marL="193280" marR="193280" marT="96640" marB="96640"/>
                </a:tc>
                <a:extLst>
                  <a:ext uri="{0D108BD9-81ED-4DB2-BD59-A6C34878D82A}">
                    <a16:rowId xmlns:a16="http://schemas.microsoft.com/office/drawing/2014/main" val="10001"/>
                  </a:ext>
                </a:extLst>
              </a:tr>
              <a:tr h="418748">
                <a:tc>
                  <a:txBody>
                    <a:bodyPr/>
                    <a:lstStyle/>
                    <a:p>
                      <a:pPr marL="0" marR="0" lvl="0" indent="0" algn="l" rtl="0">
                        <a:lnSpc>
                          <a:spcPct val="100000"/>
                        </a:lnSpc>
                        <a:spcBef>
                          <a:spcPts val="0"/>
                        </a:spcBef>
                        <a:spcAft>
                          <a:spcPts val="0"/>
                        </a:spcAft>
                        <a:buNone/>
                      </a:pPr>
                      <a:r>
                        <a:rPr lang="en-US" sz="1500" u="none" strike="noStrike" cap="none"/>
                        <a:t>Warm</a:t>
                      </a:r>
                      <a:endParaRPr sz="1500" u="none" strike="noStrike" cap="none"/>
                    </a:p>
                  </a:txBody>
                  <a:tcPr marL="193280" marR="193280" marT="96640" marB="96640"/>
                </a:tc>
                <a:tc>
                  <a:txBody>
                    <a:bodyPr/>
                    <a:lstStyle/>
                    <a:p>
                      <a:pPr marL="0" marR="0" lvl="0" indent="0" algn="l" rtl="0">
                        <a:lnSpc>
                          <a:spcPct val="100000"/>
                        </a:lnSpc>
                        <a:spcBef>
                          <a:spcPts val="0"/>
                        </a:spcBef>
                        <a:spcAft>
                          <a:spcPts val="0"/>
                        </a:spcAft>
                        <a:buNone/>
                      </a:pPr>
                      <a:r>
                        <a:rPr lang="en-US" sz="1500" u="none" strike="noStrike" cap="none"/>
                        <a:t>Slow</a:t>
                      </a:r>
                      <a:endParaRPr sz="1500" u="none" strike="noStrike" cap="none"/>
                    </a:p>
                  </a:txBody>
                  <a:tcPr marL="193280" marR="193280" marT="96640" marB="96640"/>
                </a:tc>
                <a:extLst>
                  <a:ext uri="{0D108BD9-81ED-4DB2-BD59-A6C34878D82A}">
                    <a16:rowId xmlns:a16="http://schemas.microsoft.com/office/drawing/2014/main" val="10002"/>
                  </a:ext>
                </a:extLst>
              </a:tr>
              <a:tr h="418748">
                <a:tc>
                  <a:txBody>
                    <a:bodyPr/>
                    <a:lstStyle/>
                    <a:p>
                      <a:pPr marL="0" marR="0" lvl="0" indent="0" algn="l" rtl="0">
                        <a:lnSpc>
                          <a:spcPct val="100000"/>
                        </a:lnSpc>
                        <a:spcBef>
                          <a:spcPts val="0"/>
                        </a:spcBef>
                        <a:spcAft>
                          <a:spcPts val="0"/>
                        </a:spcAft>
                        <a:buNone/>
                      </a:pPr>
                      <a:r>
                        <a:rPr lang="en-US" sz="1500" u="none" strike="noStrike" cap="none"/>
                        <a:t>Overheated</a:t>
                      </a:r>
                      <a:endParaRPr sz="1500" u="none" strike="noStrike" cap="none"/>
                    </a:p>
                  </a:txBody>
                  <a:tcPr marL="193280" marR="193280" marT="96640" marB="96640"/>
                </a:tc>
                <a:tc>
                  <a:txBody>
                    <a:bodyPr/>
                    <a:lstStyle/>
                    <a:p>
                      <a:pPr marL="0" marR="0" lvl="0" indent="0" algn="l" rtl="0">
                        <a:lnSpc>
                          <a:spcPct val="100000"/>
                        </a:lnSpc>
                        <a:spcBef>
                          <a:spcPts val="0"/>
                        </a:spcBef>
                        <a:spcAft>
                          <a:spcPts val="0"/>
                        </a:spcAft>
                        <a:buNone/>
                      </a:pPr>
                      <a:r>
                        <a:rPr lang="en-US" sz="1500" u="none" strike="noStrike" cap="none"/>
                        <a:t>-</a:t>
                      </a:r>
                      <a:endParaRPr sz="1500" u="none" strike="noStrike" cap="none"/>
                    </a:p>
                  </a:txBody>
                  <a:tcPr marL="193280" marR="193280" marT="96640" marB="96640"/>
                </a:tc>
                <a:extLst>
                  <a:ext uri="{0D108BD9-81ED-4DB2-BD59-A6C34878D82A}">
                    <a16:rowId xmlns:a16="http://schemas.microsoft.com/office/drawing/2014/main" val="10003"/>
                  </a:ext>
                </a:extLst>
              </a:tr>
            </a:tbl>
          </a:graphicData>
        </a:graphic>
      </p:graphicFrame>
      <p:sp>
        <p:nvSpPr>
          <p:cNvPr id="708" name="Google Shape;708;p18"/>
          <p:cNvSpPr txBox="1"/>
          <p:nvPr/>
        </p:nvSpPr>
        <p:spPr>
          <a:xfrm>
            <a:off x="4790198" y="1336714"/>
            <a:ext cx="3299495" cy="455260"/>
          </a:xfrm>
          <a:prstGeom prst="rect">
            <a:avLst/>
          </a:prstGeom>
          <a:noFill/>
          <a:ln>
            <a:noFill/>
          </a:ln>
        </p:spPr>
        <p:txBody>
          <a:bodyPr spcFirstLastPara="1" wrap="square" lIns="193227" tIns="96587" rIns="193227" bIns="96587" anchor="t" anchorCtr="0">
            <a:spAutoFit/>
          </a:bodyPr>
          <a:lstStyle/>
          <a:p>
            <a:r>
              <a:rPr lang="en-US" sz="1691" b="1">
                <a:solidFill>
                  <a:schemeClr val="dk1"/>
                </a:solidFill>
                <a:latin typeface="Arial"/>
                <a:ea typeface="Arial"/>
                <a:cs typeface="Arial"/>
                <a:sym typeface="Arial"/>
              </a:rPr>
              <a:t>Go Slow	Go Fast</a:t>
            </a:r>
            <a:endParaRPr sz="1691" b="1">
              <a:solidFill>
                <a:schemeClr val="dk1"/>
              </a:solidFill>
              <a:latin typeface="Arial"/>
              <a:ea typeface="Arial"/>
              <a:cs typeface="Arial"/>
              <a:sym typeface="Arial"/>
            </a:endParaRPr>
          </a:p>
        </p:txBody>
      </p:sp>
      <p:sp>
        <p:nvSpPr>
          <p:cNvPr id="709" name="Google Shape;709;p18"/>
          <p:cNvSpPr txBox="1"/>
          <p:nvPr/>
        </p:nvSpPr>
        <p:spPr>
          <a:xfrm>
            <a:off x="9373570" y="5694887"/>
            <a:ext cx="2734661" cy="488219"/>
          </a:xfrm>
          <a:prstGeom prst="rect">
            <a:avLst/>
          </a:prstGeom>
          <a:solidFill>
            <a:srgbClr val="F0C040"/>
          </a:solidFill>
          <a:ln>
            <a:noFill/>
          </a:ln>
        </p:spPr>
        <p:txBody>
          <a:bodyPr spcFirstLastPara="1" wrap="square" lIns="193227" tIns="193227" rIns="193227" bIns="193227" anchor="t" anchorCtr="0">
            <a:noAutofit/>
          </a:bodyPr>
          <a:lstStyle/>
          <a:p>
            <a:r>
              <a:rPr lang="en-US" sz="1585" b="1">
                <a:solidFill>
                  <a:srgbClr val="1B1472"/>
                </a:solidFill>
              </a:rPr>
              <a:t>Asynchronous Updates</a:t>
            </a:r>
            <a:endParaRPr sz="1585" b="1">
              <a:solidFill>
                <a:srgbClr val="1B1472"/>
              </a:solidFill>
            </a:endParaRPr>
          </a:p>
        </p:txBody>
      </p:sp>
      <p:sp>
        <p:nvSpPr>
          <p:cNvPr id="2" name="Footer">
            <a:extLst>
              <a:ext uri="{FF2B5EF4-FFF2-40B4-BE49-F238E27FC236}">
                <a16:creationId xmlns:a16="http://schemas.microsoft.com/office/drawing/2014/main" id="{8C80A5C4-AD96-42A1-1DE7-CEF4E9F00540}"/>
              </a:ext>
            </a:extLst>
          </p:cNvPr>
          <p:cNvSpPr txBox="1">
            <a:spLocks/>
          </p:cNvSpPr>
          <p:nvPr/>
        </p:nvSpPr>
        <p:spPr>
          <a:xfrm>
            <a:off x="2986528" y="6624963"/>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6"/>
                                        </p:tgtEl>
                                        <p:attrNameLst>
                                          <p:attrName>style.visibility</p:attrName>
                                        </p:attrNameLst>
                                      </p:cBhvr>
                                      <p:to>
                                        <p:strVal val="visible"/>
                                      </p:to>
                                    </p:set>
                                    <p:animEffect transition="in" filter="fade">
                                      <p:cBhvr>
                                        <p:cTn id="7" dur="500"/>
                                        <p:tgtEl>
                                          <p:spTgt spid="7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13"/>
        <p:cNvGrpSpPr/>
        <p:nvPr/>
      </p:nvGrpSpPr>
      <p:grpSpPr>
        <a:xfrm>
          <a:off x="0" y="0"/>
          <a:ext cx="0" cy="0"/>
          <a:chOff x="0" y="0"/>
          <a:chExt cx="0" cy="0"/>
        </a:xfrm>
      </p:grpSpPr>
      <p:sp>
        <p:nvSpPr>
          <p:cNvPr id="714" name="Google Shape;714;p19"/>
          <p:cNvSpPr txBox="1">
            <a:spLocks noGrp="1"/>
          </p:cNvSpPr>
          <p:nvPr>
            <p:ph type="title"/>
          </p:nvPr>
        </p:nvSpPr>
        <p:spPr>
          <a:xfrm>
            <a:off x="177559" y="231524"/>
            <a:ext cx="10448049" cy="552908"/>
          </a:xfrm>
          <a:prstGeom prst="rect">
            <a:avLst/>
          </a:prstGeom>
          <a:noFill/>
          <a:ln>
            <a:noFill/>
          </a:ln>
        </p:spPr>
        <p:txBody>
          <a:bodyPr spcFirstLastPara="1" wrap="square" lIns="0" tIns="0" rIns="0" bIns="0" anchor="t" anchorCtr="0">
            <a:spAutoFit/>
          </a:bodyPr>
          <a:lstStyle/>
          <a:p>
            <a:endParaRPr/>
          </a:p>
        </p:txBody>
      </p:sp>
      <p:sp>
        <p:nvSpPr>
          <p:cNvPr id="715" name="Google Shape;715;p19"/>
          <p:cNvSpPr txBox="1">
            <a:spLocks noGrp="1"/>
          </p:cNvSpPr>
          <p:nvPr>
            <p:ph type="body" idx="1"/>
          </p:nvPr>
        </p:nvSpPr>
        <p:spPr>
          <a:xfrm>
            <a:off x="1887213" y="1090840"/>
            <a:ext cx="8057814" cy="4684167"/>
          </a:xfrm>
          <a:prstGeom prst="rect">
            <a:avLst/>
          </a:prstGeom>
          <a:noFill/>
          <a:ln>
            <a:noFill/>
          </a:ln>
        </p:spPr>
        <p:txBody>
          <a:bodyPr spcFirstLastPara="1" wrap="square" lIns="0" tIns="0" rIns="0" bIns="0" anchor="t" anchorCtr="0">
            <a:spAutoFit/>
          </a:bodyPr>
          <a:lstStyle/>
          <a:p>
            <a:pPr algn="ctr"/>
            <a:r>
              <a:rPr lang="en-US" sz="3382" b="1"/>
              <a:t>Dynamic Programming Solution </a:t>
            </a:r>
            <a:endParaRPr/>
          </a:p>
          <a:p>
            <a:pPr algn="ctr"/>
            <a:endParaRPr sz="3382" b="1"/>
          </a:p>
          <a:p>
            <a:pPr algn="ctr"/>
            <a:endParaRPr sz="3382" b="1"/>
          </a:p>
          <a:p>
            <a:pPr algn="ctr"/>
            <a:endParaRPr sz="3382" b="1"/>
          </a:p>
          <a:p>
            <a:pPr algn="ctr"/>
            <a:endParaRPr sz="3382" b="1"/>
          </a:p>
          <a:p>
            <a:pPr algn="ctr"/>
            <a:endParaRPr sz="3382" b="1"/>
          </a:p>
          <a:p>
            <a:pPr algn="ctr"/>
            <a:endParaRPr sz="3382" b="1"/>
          </a:p>
          <a:p>
            <a:pPr algn="ctr"/>
            <a:endParaRPr sz="3382" b="1"/>
          </a:p>
          <a:p>
            <a:pPr algn="ctr"/>
            <a:r>
              <a:rPr lang="en-US" sz="3382" b="1">
                <a:solidFill>
                  <a:schemeClr val="dk1"/>
                </a:solidFill>
              </a:rPr>
              <a:t>Policy Iteration Algorithm</a:t>
            </a:r>
            <a:endParaRPr sz="3382" b="1">
              <a:solidFill>
                <a:schemeClr val="dk1"/>
              </a:solidFill>
            </a:endParaRPr>
          </a:p>
        </p:txBody>
      </p:sp>
      <p:pic>
        <p:nvPicPr>
          <p:cNvPr id="716" name="Google Shape;716;p19"/>
          <p:cNvPicPr preferRelativeResize="0"/>
          <p:nvPr/>
        </p:nvPicPr>
        <p:blipFill rotWithShape="1">
          <a:blip r:embed="rId3">
            <a:alphaModFix/>
          </a:blip>
          <a:srcRect/>
          <a:stretch/>
        </p:blipFill>
        <p:spPr>
          <a:xfrm>
            <a:off x="1887213" y="5774343"/>
            <a:ext cx="8998609" cy="966294"/>
          </a:xfrm>
          <a:prstGeom prst="rect">
            <a:avLst/>
          </a:prstGeom>
          <a:noFill/>
          <a:ln>
            <a:noFill/>
          </a:ln>
        </p:spPr>
      </p:pic>
      <p:sp>
        <p:nvSpPr>
          <p:cNvPr id="717" name="Google Shape;717;p19"/>
          <p:cNvSpPr txBox="1"/>
          <p:nvPr/>
        </p:nvSpPr>
        <p:spPr>
          <a:xfrm>
            <a:off x="283069" y="2396903"/>
            <a:ext cx="3949201" cy="2147133"/>
          </a:xfrm>
          <a:prstGeom prst="rect">
            <a:avLst/>
          </a:prstGeom>
          <a:noFill/>
          <a:ln>
            <a:noFill/>
          </a:ln>
        </p:spPr>
        <p:txBody>
          <a:bodyPr spcFirstLastPara="1" wrap="square" lIns="193227" tIns="96587" rIns="193227" bIns="96587" anchor="t" anchorCtr="0">
            <a:spAutoFit/>
          </a:bodyPr>
          <a:lstStyle/>
          <a:p>
            <a:pPr algn="just"/>
            <a:r>
              <a:rPr lang="en-US" sz="2114">
                <a:solidFill>
                  <a:srgbClr val="0070C0"/>
                </a:solidFill>
                <a:latin typeface="Arial"/>
                <a:ea typeface="Arial"/>
                <a:cs typeface="Arial"/>
                <a:sym typeface="Arial"/>
              </a:rPr>
              <a:t>In many cases, sometimes policies is observed to converge faster than value! </a:t>
            </a:r>
            <a:endParaRPr sz="3804"/>
          </a:p>
          <a:p>
            <a:pPr algn="just"/>
            <a:endParaRPr sz="2114">
              <a:solidFill>
                <a:srgbClr val="0070C0"/>
              </a:solidFill>
              <a:latin typeface="Arial"/>
              <a:ea typeface="Arial"/>
              <a:cs typeface="Arial"/>
              <a:sym typeface="Arial"/>
            </a:endParaRPr>
          </a:p>
          <a:p>
            <a:pPr algn="just"/>
            <a:r>
              <a:rPr lang="en-US" sz="2114">
                <a:solidFill>
                  <a:srgbClr val="0070C0"/>
                </a:solidFill>
                <a:latin typeface="Arial"/>
                <a:ea typeface="Arial"/>
                <a:cs typeface="Arial"/>
                <a:sym typeface="Arial"/>
              </a:rPr>
              <a:t>So why wait for entire value updates?</a:t>
            </a:r>
            <a:endParaRPr sz="2114">
              <a:solidFill>
                <a:srgbClr val="0070C0"/>
              </a:solidFill>
              <a:latin typeface="Arial"/>
              <a:ea typeface="Arial"/>
              <a:cs typeface="Arial"/>
              <a:sym typeface="Arial"/>
            </a:endParaRPr>
          </a:p>
        </p:txBody>
      </p:sp>
      <p:sp>
        <p:nvSpPr>
          <p:cNvPr id="2" name="Footer">
            <a:extLst>
              <a:ext uri="{FF2B5EF4-FFF2-40B4-BE49-F238E27FC236}">
                <a16:creationId xmlns:a16="http://schemas.microsoft.com/office/drawing/2014/main" id="{3BA45AC5-453E-C919-D5EA-B49E85100249}"/>
              </a:ext>
            </a:extLst>
          </p:cNvPr>
          <p:cNvSpPr txBox="1">
            <a:spLocks/>
          </p:cNvSpPr>
          <p:nvPr/>
        </p:nvSpPr>
        <p:spPr>
          <a:xfrm>
            <a:off x="3013208" y="6626476"/>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p20"/>
          <p:cNvSpPr txBox="1">
            <a:spLocks noGrp="1"/>
          </p:cNvSpPr>
          <p:nvPr>
            <p:ph type="title"/>
          </p:nvPr>
        </p:nvSpPr>
        <p:spPr>
          <a:xfrm>
            <a:off x="177559" y="231524"/>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a:t>
            </a:r>
            <a:endParaRPr/>
          </a:p>
        </p:txBody>
      </p:sp>
      <p:pic>
        <p:nvPicPr>
          <p:cNvPr id="723" name="Google Shape;723;p20"/>
          <p:cNvPicPr preferRelativeResize="0"/>
          <p:nvPr/>
        </p:nvPicPr>
        <p:blipFill rotWithShape="1">
          <a:blip r:embed="rId3">
            <a:alphaModFix/>
          </a:blip>
          <a:srcRect/>
          <a:stretch/>
        </p:blipFill>
        <p:spPr>
          <a:xfrm>
            <a:off x="465845" y="1233298"/>
            <a:ext cx="256281" cy="256281"/>
          </a:xfrm>
          <a:prstGeom prst="rect">
            <a:avLst/>
          </a:prstGeom>
          <a:noFill/>
          <a:ln>
            <a:noFill/>
          </a:ln>
        </p:spPr>
      </p:pic>
      <p:sp>
        <p:nvSpPr>
          <p:cNvPr id="724" name="Google Shape;724;p20"/>
          <p:cNvSpPr txBox="1"/>
          <p:nvPr/>
        </p:nvSpPr>
        <p:spPr>
          <a:xfrm>
            <a:off x="522803" y="1212478"/>
            <a:ext cx="142260" cy="220835"/>
          </a:xfrm>
          <a:prstGeom prst="rect">
            <a:avLst/>
          </a:prstGeom>
          <a:noFill/>
          <a:ln>
            <a:noFill/>
          </a:ln>
        </p:spPr>
        <p:txBody>
          <a:bodyPr spcFirstLastPara="1" wrap="square" lIns="0" tIns="25468" rIns="0" bIns="0" anchor="t" anchorCtr="0">
            <a:spAutoFit/>
          </a:bodyPr>
          <a:lstStyle/>
          <a:p>
            <a:pPr marL="26841">
              <a:buClr>
                <a:srgbClr val="000000"/>
              </a:buClr>
              <a:buSzPts val="600"/>
            </a:pPr>
            <a:r>
              <a:rPr lang="en-US" sz="1268">
                <a:solidFill>
                  <a:srgbClr val="FFFFFF"/>
                </a:solidFill>
                <a:latin typeface="Calibri"/>
                <a:ea typeface="Calibri"/>
                <a:cs typeface="Calibri"/>
                <a:sym typeface="Calibri"/>
              </a:rPr>
              <a:t>1</a:t>
            </a:r>
            <a:endParaRPr sz="1268">
              <a:solidFill>
                <a:srgbClr val="000000"/>
              </a:solidFill>
              <a:latin typeface="Calibri"/>
              <a:ea typeface="Calibri"/>
              <a:cs typeface="Calibri"/>
              <a:sym typeface="Calibri"/>
            </a:endParaRPr>
          </a:p>
        </p:txBody>
      </p:sp>
      <p:sp>
        <p:nvSpPr>
          <p:cNvPr id="725" name="Google Shape;725;p20"/>
          <p:cNvSpPr txBox="1"/>
          <p:nvPr/>
        </p:nvSpPr>
        <p:spPr>
          <a:xfrm>
            <a:off x="862402" y="1135604"/>
            <a:ext cx="2245290" cy="375383"/>
          </a:xfrm>
          <a:prstGeom prst="rect">
            <a:avLst/>
          </a:prstGeom>
          <a:noFill/>
          <a:ln>
            <a:noFill/>
          </a:ln>
        </p:spPr>
        <p:txBody>
          <a:bodyPr spcFirstLastPara="1" wrap="square" lIns="0" tIns="33552" rIns="0" bIns="0" anchor="t" anchorCtr="0">
            <a:spAutoFit/>
          </a:bodyPr>
          <a:lstStyle/>
          <a:p>
            <a:pPr marL="26841">
              <a:buClr>
                <a:srgbClr val="000000"/>
              </a:buClr>
              <a:buSzPts val="1050"/>
            </a:pPr>
            <a:r>
              <a:rPr lang="en-US" sz="2219">
                <a:solidFill>
                  <a:srgbClr val="1B1472"/>
                </a:solidFill>
                <a:latin typeface="Arial"/>
                <a:ea typeface="Arial"/>
                <a:cs typeface="Arial"/>
                <a:sym typeface="Arial"/>
              </a:rPr>
              <a:t>Given</a:t>
            </a:r>
            <a:endParaRPr sz="2219">
              <a:solidFill>
                <a:srgbClr val="000000"/>
              </a:solidFill>
              <a:latin typeface="Arial"/>
              <a:ea typeface="Arial"/>
              <a:cs typeface="Arial"/>
              <a:sym typeface="Arial"/>
            </a:endParaRPr>
          </a:p>
        </p:txBody>
      </p:sp>
      <p:sp>
        <p:nvSpPr>
          <p:cNvPr id="726" name="Google Shape;726;p20"/>
          <p:cNvSpPr txBox="1"/>
          <p:nvPr/>
        </p:nvSpPr>
        <p:spPr>
          <a:xfrm>
            <a:off x="1136774" y="1548735"/>
            <a:ext cx="5275694" cy="333378"/>
          </a:xfrm>
          <a:prstGeom prst="rect">
            <a:avLst/>
          </a:prstGeom>
          <a:noFill/>
          <a:ln>
            <a:noFill/>
          </a:ln>
        </p:spPr>
        <p:txBody>
          <a:bodyPr spcFirstLastPara="1" wrap="square" lIns="0" tIns="24147" rIns="0" bIns="0" anchor="t" anchorCtr="0">
            <a:spAutoFit/>
          </a:bodyPr>
          <a:lstStyle/>
          <a:p>
            <a:pPr marL="80524" indent="-127497">
              <a:buClr>
                <a:srgbClr val="000000"/>
              </a:buClr>
              <a:buSzPts val="950"/>
              <a:buFont typeface="Arial"/>
              <a:buChar char="•"/>
            </a:pPr>
            <a:r>
              <a:rPr lang="en-US" sz="2008">
                <a:solidFill>
                  <a:srgbClr val="000000"/>
                </a:solidFill>
                <a:latin typeface="Arial"/>
                <a:ea typeface="Arial"/>
                <a:cs typeface="Arial"/>
                <a:sym typeface="Arial"/>
              </a:rPr>
              <a:t>P(s` | s, a) , R(s, a, s`) , P(s`, r | s, a) </a:t>
            </a:r>
            <a:endParaRPr sz="2008">
              <a:solidFill>
                <a:srgbClr val="000000"/>
              </a:solidFill>
              <a:latin typeface="Arial"/>
              <a:ea typeface="Arial"/>
              <a:cs typeface="Arial"/>
              <a:sym typeface="Arial"/>
            </a:endParaRPr>
          </a:p>
        </p:txBody>
      </p:sp>
      <p:grpSp>
        <p:nvGrpSpPr>
          <p:cNvPr id="727" name="Google Shape;727;p20"/>
          <p:cNvGrpSpPr/>
          <p:nvPr/>
        </p:nvGrpSpPr>
        <p:grpSpPr>
          <a:xfrm>
            <a:off x="465845" y="2094371"/>
            <a:ext cx="256281" cy="1117329"/>
            <a:chOff x="456996" y="1391780"/>
            <a:chExt cx="121259" cy="528662"/>
          </a:xfrm>
        </p:grpSpPr>
        <p:pic>
          <p:nvPicPr>
            <p:cNvPr id="728" name="Google Shape;728;p20"/>
            <p:cNvPicPr preferRelativeResize="0"/>
            <p:nvPr/>
          </p:nvPicPr>
          <p:blipFill rotWithShape="1">
            <a:blip r:embed="rId4">
              <a:alphaModFix/>
            </a:blip>
            <a:srcRect/>
            <a:stretch/>
          </p:blipFill>
          <p:spPr>
            <a:xfrm>
              <a:off x="456996" y="1391780"/>
              <a:ext cx="121259" cy="121259"/>
            </a:xfrm>
            <a:prstGeom prst="rect">
              <a:avLst/>
            </a:prstGeom>
            <a:noFill/>
            <a:ln>
              <a:noFill/>
            </a:ln>
          </p:spPr>
        </p:pic>
        <p:pic>
          <p:nvPicPr>
            <p:cNvPr id="729" name="Google Shape;729;p20"/>
            <p:cNvPicPr preferRelativeResize="0"/>
            <p:nvPr/>
          </p:nvPicPr>
          <p:blipFill rotWithShape="1">
            <a:blip r:embed="rId5">
              <a:alphaModFix/>
            </a:blip>
            <a:srcRect/>
            <a:stretch/>
          </p:blipFill>
          <p:spPr>
            <a:xfrm>
              <a:off x="456996" y="1799183"/>
              <a:ext cx="121259" cy="121259"/>
            </a:xfrm>
            <a:prstGeom prst="rect">
              <a:avLst/>
            </a:prstGeom>
            <a:noFill/>
            <a:ln>
              <a:noFill/>
            </a:ln>
          </p:spPr>
        </p:pic>
      </p:grpSp>
      <p:sp>
        <p:nvSpPr>
          <p:cNvPr id="730" name="Google Shape;730;p20"/>
          <p:cNvSpPr txBox="1"/>
          <p:nvPr/>
        </p:nvSpPr>
        <p:spPr>
          <a:xfrm>
            <a:off x="522803" y="2073553"/>
            <a:ext cx="142260" cy="220835"/>
          </a:xfrm>
          <a:prstGeom prst="rect">
            <a:avLst/>
          </a:prstGeom>
          <a:noFill/>
          <a:ln>
            <a:noFill/>
          </a:ln>
        </p:spPr>
        <p:txBody>
          <a:bodyPr spcFirstLastPara="1" wrap="square" lIns="0" tIns="25468" rIns="0" bIns="0" anchor="t" anchorCtr="0">
            <a:spAutoFit/>
          </a:bodyPr>
          <a:lstStyle/>
          <a:p>
            <a:pPr marL="26841">
              <a:buClr>
                <a:srgbClr val="000000"/>
              </a:buClr>
              <a:buSzPts val="600"/>
            </a:pPr>
            <a:r>
              <a:rPr lang="en-US" sz="1268">
                <a:solidFill>
                  <a:srgbClr val="FFFFFF"/>
                </a:solidFill>
                <a:latin typeface="Calibri"/>
                <a:ea typeface="Calibri"/>
                <a:cs typeface="Calibri"/>
                <a:sym typeface="Calibri"/>
              </a:rPr>
              <a:t>2</a:t>
            </a:r>
            <a:endParaRPr sz="1268">
              <a:solidFill>
                <a:srgbClr val="000000"/>
              </a:solidFill>
              <a:latin typeface="Calibri"/>
              <a:ea typeface="Calibri"/>
              <a:cs typeface="Calibri"/>
              <a:sym typeface="Calibri"/>
            </a:endParaRPr>
          </a:p>
        </p:txBody>
      </p:sp>
      <p:sp>
        <p:nvSpPr>
          <p:cNvPr id="731" name="Google Shape;731;p20"/>
          <p:cNvSpPr txBox="1"/>
          <p:nvPr/>
        </p:nvSpPr>
        <p:spPr>
          <a:xfrm>
            <a:off x="862401" y="1996652"/>
            <a:ext cx="2760647" cy="375383"/>
          </a:xfrm>
          <a:prstGeom prst="rect">
            <a:avLst/>
          </a:prstGeom>
          <a:noFill/>
          <a:ln>
            <a:noFill/>
          </a:ln>
        </p:spPr>
        <p:txBody>
          <a:bodyPr spcFirstLastPara="1" wrap="square" lIns="0" tIns="33552" rIns="0" bIns="0" anchor="t" anchorCtr="0">
            <a:spAutoFit/>
          </a:bodyPr>
          <a:lstStyle/>
          <a:p>
            <a:pPr marL="26841">
              <a:buClr>
                <a:srgbClr val="000000"/>
              </a:buClr>
              <a:buSzPts val="1050"/>
            </a:pPr>
            <a:r>
              <a:rPr lang="en-US" sz="2219">
                <a:solidFill>
                  <a:srgbClr val="1B1472"/>
                </a:solidFill>
                <a:latin typeface="Arial"/>
                <a:ea typeface="Arial"/>
                <a:cs typeface="Arial"/>
                <a:sym typeface="Arial"/>
              </a:rPr>
              <a:t>To find</a:t>
            </a:r>
            <a:endParaRPr sz="2219">
              <a:solidFill>
                <a:srgbClr val="000000"/>
              </a:solidFill>
              <a:latin typeface="Arial"/>
              <a:ea typeface="Arial"/>
              <a:cs typeface="Arial"/>
              <a:sym typeface="Arial"/>
            </a:endParaRPr>
          </a:p>
        </p:txBody>
      </p:sp>
      <p:sp>
        <p:nvSpPr>
          <p:cNvPr id="732" name="Google Shape;732;p20"/>
          <p:cNvSpPr txBox="1"/>
          <p:nvPr/>
        </p:nvSpPr>
        <p:spPr>
          <a:xfrm>
            <a:off x="1136774" y="2409810"/>
            <a:ext cx="5667580" cy="333378"/>
          </a:xfrm>
          <a:prstGeom prst="rect">
            <a:avLst/>
          </a:prstGeom>
          <a:noFill/>
          <a:ln>
            <a:noFill/>
          </a:ln>
        </p:spPr>
        <p:txBody>
          <a:bodyPr spcFirstLastPara="1" wrap="square" lIns="0" tIns="24147" rIns="0" bIns="0" anchor="t" anchorCtr="0">
            <a:spAutoFit/>
          </a:bodyPr>
          <a:lstStyle/>
          <a:p>
            <a:pPr marL="80524" indent="-127497">
              <a:buClr>
                <a:srgbClr val="000000"/>
              </a:buClr>
              <a:buSzPts val="950"/>
              <a:buFont typeface="Arial"/>
              <a:buChar char="•"/>
            </a:pPr>
            <a:r>
              <a:rPr lang="en-US" sz="2008">
                <a:solidFill>
                  <a:srgbClr val="000000"/>
                </a:solidFill>
                <a:latin typeface="Arial"/>
                <a:ea typeface="Arial"/>
                <a:cs typeface="Arial"/>
                <a:sym typeface="Arial"/>
              </a:rPr>
              <a:t>Policy π </a:t>
            </a:r>
            <a:endParaRPr sz="2008">
              <a:solidFill>
                <a:srgbClr val="000000"/>
              </a:solidFill>
              <a:latin typeface="Arial"/>
              <a:ea typeface="Arial"/>
              <a:cs typeface="Arial"/>
              <a:sym typeface="Arial"/>
            </a:endParaRPr>
          </a:p>
        </p:txBody>
      </p:sp>
      <p:sp>
        <p:nvSpPr>
          <p:cNvPr id="733" name="Google Shape;733;p20"/>
          <p:cNvSpPr txBox="1"/>
          <p:nvPr/>
        </p:nvSpPr>
        <p:spPr>
          <a:xfrm>
            <a:off x="522803" y="2934601"/>
            <a:ext cx="142260" cy="220835"/>
          </a:xfrm>
          <a:prstGeom prst="rect">
            <a:avLst/>
          </a:prstGeom>
          <a:noFill/>
          <a:ln>
            <a:noFill/>
          </a:ln>
        </p:spPr>
        <p:txBody>
          <a:bodyPr spcFirstLastPara="1" wrap="square" lIns="0" tIns="25468" rIns="0" bIns="0" anchor="t" anchorCtr="0">
            <a:spAutoFit/>
          </a:bodyPr>
          <a:lstStyle/>
          <a:p>
            <a:pPr marL="26841">
              <a:buClr>
                <a:srgbClr val="000000"/>
              </a:buClr>
              <a:buSzPts val="600"/>
            </a:pPr>
            <a:r>
              <a:rPr lang="en-US" sz="1268">
                <a:solidFill>
                  <a:srgbClr val="FFFFFF"/>
                </a:solidFill>
                <a:latin typeface="Calibri"/>
                <a:ea typeface="Calibri"/>
                <a:cs typeface="Calibri"/>
                <a:sym typeface="Calibri"/>
              </a:rPr>
              <a:t>3</a:t>
            </a:r>
            <a:endParaRPr sz="1268">
              <a:solidFill>
                <a:srgbClr val="000000"/>
              </a:solidFill>
              <a:latin typeface="Calibri"/>
              <a:ea typeface="Calibri"/>
              <a:cs typeface="Calibri"/>
              <a:sym typeface="Calibri"/>
            </a:endParaRPr>
          </a:p>
        </p:txBody>
      </p:sp>
      <p:sp>
        <p:nvSpPr>
          <p:cNvPr id="734" name="Google Shape;734;p20"/>
          <p:cNvSpPr txBox="1"/>
          <p:nvPr/>
        </p:nvSpPr>
        <p:spPr>
          <a:xfrm>
            <a:off x="862401" y="2857727"/>
            <a:ext cx="2751252" cy="375383"/>
          </a:xfrm>
          <a:prstGeom prst="rect">
            <a:avLst/>
          </a:prstGeom>
          <a:noFill/>
          <a:ln>
            <a:noFill/>
          </a:ln>
        </p:spPr>
        <p:txBody>
          <a:bodyPr spcFirstLastPara="1" wrap="square" lIns="0" tIns="33552" rIns="0" bIns="0" anchor="t" anchorCtr="0">
            <a:spAutoFit/>
          </a:bodyPr>
          <a:lstStyle/>
          <a:p>
            <a:pPr marL="26841">
              <a:buClr>
                <a:srgbClr val="000000"/>
              </a:buClr>
              <a:buSzPts val="1050"/>
            </a:pPr>
            <a:r>
              <a:rPr lang="en-US" sz="2219">
                <a:solidFill>
                  <a:srgbClr val="1B1472"/>
                </a:solidFill>
                <a:latin typeface="Arial"/>
                <a:ea typeface="Arial"/>
                <a:cs typeface="Arial"/>
                <a:sym typeface="Arial"/>
              </a:rPr>
              <a:t>Solution</a:t>
            </a:r>
            <a:endParaRPr sz="2219">
              <a:solidFill>
                <a:srgbClr val="000000"/>
              </a:solidFill>
              <a:latin typeface="Arial"/>
              <a:ea typeface="Arial"/>
              <a:cs typeface="Arial"/>
              <a:sym typeface="Arial"/>
            </a:endParaRPr>
          </a:p>
        </p:txBody>
      </p:sp>
      <p:sp>
        <p:nvSpPr>
          <p:cNvPr id="735" name="Google Shape;735;p20"/>
          <p:cNvSpPr txBox="1"/>
          <p:nvPr/>
        </p:nvSpPr>
        <p:spPr>
          <a:xfrm>
            <a:off x="180306" y="3270886"/>
            <a:ext cx="11325542" cy="3125616"/>
          </a:xfrm>
          <a:prstGeom prst="rect">
            <a:avLst/>
          </a:prstGeom>
          <a:noFill/>
          <a:ln>
            <a:noFill/>
          </a:ln>
        </p:spPr>
        <p:txBody>
          <a:bodyPr spcFirstLastPara="1" wrap="square" lIns="0" tIns="24147" rIns="0" bIns="0" anchor="t" anchorCtr="0">
            <a:spAutoFit/>
          </a:bodyPr>
          <a:lstStyle/>
          <a:p>
            <a:pPr marL="1036078" indent="-127497">
              <a:buClr>
                <a:srgbClr val="000000"/>
              </a:buClr>
              <a:buSzPts val="950"/>
              <a:buFont typeface="Arial"/>
              <a:buChar char="•"/>
            </a:pPr>
            <a:r>
              <a:rPr lang="en-US" sz="2008">
                <a:solidFill>
                  <a:srgbClr val="000000"/>
                </a:solidFill>
                <a:latin typeface="Arial"/>
                <a:ea typeface="Arial"/>
                <a:cs typeface="Arial"/>
                <a:sym typeface="Arial"/>
              </a:rPr>
              <a:t>Policy Iteration (PI): Prefer this in a relatively smaller state space where intermediate termination provides explicit interpretable policy</a:t>
            </a:r>
            <a:endParaRPr sz="3804"/>
          </a:p>
          <a:p>
            <a:pPr marL="1036078" indent="-127497">
              <a:buClr>
                <a:srgbClr val="000000"/>
              </a:buClr>
              <a:buSzPts val="950"/>
              <a:buFont typeface="Arial"/>
              <a:buChar char="•"/>
            </a:pPr>
            <a:r>
              <a:rPr lang="en-US" sz="2008">
                <a:solidFill>
                  <a:srgbClr val="000000"/>
                </a:solidFill>
                <a:latin typeface="Arial"/>
                <a:ea typeface="Arial"/>
                <a:cs typeface="Arial"/>
                <a:sym typeface="Arial"/>
              </a:rPr>
              <a:t>Value Iteration (VI): Prefer this in a relatively larger state space where fast convergence to optimal policy is obtained at the end</a:t>
            </a:r>
            <a:endParaRPr sz="3804"/>
          </a:p>
          <a:p>
            <a:pPr marL="1036078">
              <a:buClr>
                <a:srgbClr val="000000"/>
              </a:buClr>
              <a:buSzPts val="950"/>
            </a:pPr>
            <a:endParaRPr sz="2008">
              <a:solidFill>
                <a:srgbClr val="000000"/>
              </a:solidFill>
              <a:latin typeface="Arial"/>
              <a:ea typeface="Arial"/>
              <a:cs typeface="Arial"/>
              <a:sym typeface="Arial"/>
            </a:endParaRPr>
          </a:p>
          <a:p>
            <a:pPr marL="1036078">
              <a:buClr>
                <a:srgbClr val="000000"/>
              </a:buClr>
              <a:buSzPts val="950"/>
            </a:pPr>
            <a:endParaRPr sz="2008">
              <a:solidFill>
                <a:srgbClr val="000000"/>
              </a:solidFill>
              <a:latin typeface="Arial"/>
              <a:ea typeface="Arial"/>
              <a:cs typeface="Arial"/>
              <a:sym typeface="Arial"/>
            </a:endParaRPr>
          </a:p>
          <a:p>
            <a:pPr marL="80524">
              <a:spcBef>
                <a:spcPts val="2198"/>
              </a:spcBef>
              <a:buClr>
                <a:srgbClr val="000000"/>
              </a:buClr>
              <a:buSzPts val="1050"/>
            </a:pPr>
            <a:endParaRPr sz="2219">
              <a:solidFill>
                <a:srgbClr val="000000"/>
              </a:solidFill>
              <a:latin typeface="Arial"/>
              <a:ea typeface="Arial"/>
              <a:cs typeface="Arial"/>
              <a:sym typeface="Arial"/>
            </a:endParaRPr>
          </a:p>
          <a:p>
            <a:pPr marL="80524">
              <a:spcBef>
                <a:spcPts val="2198"/>
              </a:spcBef>
              <a:buClr>
                <a:srgbClr val="000000"/>
              </a:buClr>
              <a:buSzPts val="1050"/>
            </a:pPr>
            <a:r>
              <a:rPr lang="en-US" sz="2219">
                <a:solidFill>
                  <a:srgbClr val="000000"/>
                </a:solidFill>
                <a:latin typeface="Arial"/>
                <a:ea typeface="Arial"/>
                <a:cs typeface="Arial"/>
                <a:sym typeface="Arial"/>
              </a:rPr>
              <a:t>VI can be thought of truncated PI where evaluation is done fully before improvement.</a:t>
            </a:r>
            <a:endParaRPr sz="2219">
              <a:solidFill>
                <a:srgbClr val="000000"/>
              </a:solidFill>
              <a:latin typeface="Arial"/>
              <a:ea typeface="Arial"/>
              <a:cs typeface="Arial"/>
              <a:sym typeface="Arial"/>
            </a:endParaRPr>
          </a:p>
        </p:txBody>
      </p:sp>
      <p:grpSp>
        <p:nvGrpSpPr>
          <p:cNvPr id="736" name="Google Shape;736;p20"/>
          <p:cNvGrpSpPr/>
          <p:nvPr/>
        </p:nvGrpSpPr>
        <p:grpSpPr>
          <a:xfrm>
            <a:off x="2983" y="6571410"/>
            <a:ext cx="12174329" cy="194601"/>
            <a:chOff x="0" y="3109250"/>
            <a:chExt cx="5760261" cy="92075"/>
          </a:xfrm>
        </p:grpSpPr>
        <p:sp>
          <p:nvSpPr>
            <p:cNvPr id="737" name="Google Shape;737;p20"/>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738" name="Google Shape;738;p20"/>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739" name="Google Shape;739;p20"/>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741" name="Google Shape;741;p20"/>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28</a:t>
            </a:fld>
            <a:r>
              <a:rPr lang="en-US"/>
              <a:t> / 46</a:t>
            </a:r>
            <a:endParaRPr/>
          </a:p>
        </p:txBody>
      </p:sp>
      <p:grpSp>
        <p:nvGrpSpPr>
          <p:cNvPr id="742" name="Google Shape;742;p20"/>
          <p:cNvGrpSpPr/>
          <p:nvPr/>
        </p:nvGrpSpPr>
        <p:grpSpPr>
          <a:xfrm>
            <a:off x="429715" y="4631374"/>
            <a:ext cx="313240" cy="346480"/>
            <a:chOff x="134127" y="2262704"/>
            <a:chExt cx="266997" cy="178837"/>
          </a:xfrm>
        </p:grpSpPr>
        <p:pic>
          <p:nvPicPr>
            <p:cNvPr id="743" name="Google Shape;743;p20"/>
            <p:cNvPicPr preferRelativeResize="0"/>
            <p:nvPr/>
          </p:nvPicPr>
          <p:blipFill rotWithShape="1">
            <a:blip r:embed="rId6">
              <a:alphaModFix/>
            </a:blip>
            <a:srcRect/>
            <a:stretch/>
          </p:blipFill>
          <p:spPr>
            <a:xfrm>
              <a:off x="134127" y="2262704"/>
              <a:ext cx="266997" cy="178837"/>
            </a:xfrm>
            <a:prstGeom prst="rect">
              <a:avLst/>
            </a:prstGeom>
            <a:noFill/>
            <a:ln>
              <a:noFill/>
            </a:ln>
          </p:spPr>
        </p:pic>
        <p:sp>
          <p:nvSpPr>
            <p:cNvPr id="744" name="Google Shape;744;p20"/>
            <p:cNvSpPr txBox="1"/>
            <p:nvPr/>
          </p:nvSpPr>
          <p:spPr>
            <a:xfrm>
              <a:off x="209626" y="2275554"/>
              <a:ext cx="148209" cy="113985"/>
            </a:xfrm>
            <a:prstGeom prst="rect">
              <a:avLst/>
            </a:prstGeom>
            <a:noFill/>
            <a:ln>
              <a:noFill/>
            </a:ln>
          </p:spPr>
          <p:txBody>
            <a:bodyPr spcFirstLastPara="1" wrap="square" lIns="0" tIns="25468" rIns="0" bIns="0" anchor="t" anchorCtr="0">
              <a:spAutoFit/>
            </a:bodyPr>
            <a:lstStyle/>
            <a:p>
              <a:pPr marL="26841">
                <a:buClr>
                  <a:srgbClr val="000000"/>
                </a:buClr>
                <a:buSzPts val="600"/>
              </a:pPr>
              <a:r>
                <a:rPr lang="en-US" sz="1268">
                  <a:solidFill>
                    <a:srgbClr val="FFFFFF"/>
                  </a:solidFill>
                  <a:latin typeface="Calibri"/>
                  <a:ea typeface="Calibri"/>
                  <a:cs typeface="Calibri"/>
                  <a:sym typeface="Calibri"/>
                </a:rPr>
                <a:t>4</a:t>
              </a:r>
              <a:endParaRPr sz="1268">
                <a:solidFill>
                  <a:srgbClr val="000000"/>
                </a:solidFill>
                <a:latin typeface="Calibri"/>
                <a:ea typeface="Calibri"/>
                <a:cs typeface="Calibri"/>
                <a:sym typeface="Calibri"/>
              </a:endParaRPr>
            </a:p>
          </p:txBody>
        </p:sp>
      </p:grpSp>
      <p:sp>
        <p:nvSpPr>
          <p:cNvPr id="745" name="Google Shape;745;p20"/>
          <p:cNvSpPr txBox="1"/>
          <p:nvPr/>
        </p:nvSpPr>
        <p:spPr>
          <a:xfrm>
            <a:off x="893288" y="4594840"/>
            <a:ext cx="2245290" cy="375383"/>
          </a:xfrm>
          <a:prstGeom prst="rect">
            <a:avLst/>
          </a:prstGeom>
          <a:noFill/>
          <a:ln>
            <a:noFill/>
          </a:ln>
        </p:spPr>
        <p:txBody>
          <a:bodyPr spcFirstLastPara="1" wrap="square" lIns="0" tIns="33552" rIns="0" bIns="0" anchor="t" anchorCtr="0">
            <a:spAutoFit/>
          </a:bodyPr>
          <a:lstStyle/>
          <a:p>
            <a:pPr marL="26841">
              <a:buClr>
                <a:srgbClr val="000000"/>
              </a:buClr>
              <a:buSzPts val="1050"/>
            </a:pPr>
            <a:r>
              <a:rPr lang="en-US" sz="2219">
                <a:solidFill>
                  <a:srgbClr val="1B1472"/>
                </a:solidFill>
                <a:latin typeface="Arial"/>
                <a:ea typeface="Arial"/>
                <a:cs typeface="Arial"/>
                <a:sym typeface="Arial"/>
              </a:rPr>
              <a:t>Idea</a:t>
            </a:r>
            <a:endParaRPr sz="2219">
              <a:solidFill>
                <a:srgbClr val="000000"/>
              </a:solidFill>
              <a:latin typeface="Arial"/>
              <a:ea typeface="Arial"/>
              <a:cs typeface="Arial"/>
              <a:sym typeface="Arial"/>
            </a:endParaRPr>
          </a:p>
        </p:txBody>
      </p:sp>
      <p:sp>
        <p:nvSpPr>
          <p:cNvPr id="746" name="Google Shape;746;p20"/>
          <p:cNvSpPr txBox="1"/>
          <p:nvPr/>
        </p:nvSpPr>
        <p:spPr>
          <a:xfrm>
            <a:off x="1167660" y="5007971"/>
            <a:ext cx="6578908" cy="951368"/>
          </a:xfrm>
          <a:prstGeom prst="rect">
            <a:avLst/>
          </a:prstGeom>
          <a:noFill/>
          <a:ln>
            <a:noFill/>
          </a:ln>
        </p:spPr>
        <p:txBody>
          <a:bodyPr spcFirstLastPara="1" wrap="square" lIns="0" tIns="24147" rIns="0" bIns="0" anchor="t" anchorCtr="0">
            <a:spAutoFit/>
          </a:bodyPr>
          <a:lstStyle/>
          <a:p>
            <a:pPr marL="80524" indent="-127497">
              <a:buClr>
                <a:srgbClr val="000000"/>
              </a:buClr>
              <a:buSzPts val="950"/>
              <a:buFont typeface="Arial"/>
              <a:buChar char="•"/>
            </a:pPr>
            <a:r>
              <a:rPr lang="en-US" sz="2008">
                <a:solidFill>
                  <a:srgbClr val="000000"/>
                </a:solidFill>
                <a:latin typeface="Arial"/>
                <a:ea typeface="Arial"/>
                <a:cs typeface="Arial"/>
                <a:sym typeface="Arial"/>
              </a:rPr>
              <a:t>PI : One Step Look ahead 🡪 Evaluate 🡪 Improve</a:t>
            </a:r>
            <a:endParaRPr sz="3804"/>
          </a:p>
          <a:p>
            <a:pPr marL="80524" indent="-127497">
              <a:buClr>
                <a:srgbClr val="000000"/>
              </a:buClr>
              <a:buSzPts val="950"/>
              <a:buFont typeface="Arial"/>
              <a:buChar char="•"/>
            </a:pPr>
            <a:r>
              <a:rPr lang="en-US" sz="2008">
                <a:solidFill>
                  <a:srgbClr val="000000"/>
                </a:solidFill>
                <a:latin typeface="Arial"/>
                <a:ea typeface="Arial"/>
                <a:cs typeface="Arial"/>
                <a:sym typeface="Arial"/>
              </a:rPr>
              <a:t>VI : One Step Look ahead 🡪 Control </a:t>
            </a:r>
            <a:endParaRPr sz="2008">
              <a:solidFill>
                <a:srgbClr val="000000"/>
              </a:solidFill>
              <a:latin typeface="Arial"/>
              <a:ea typeface="Arial"/>
              <a:cs typeface="Arial"/>
              <a:sym typeface="Arial"/>
            </a:endParaRPr>
          </a:p>
          <a:p>
            <a:pPr marL="80524">
              <a:buClr>
                <a:srgbClr val="000000"/>
              </a:buClr>
              <a:buSzPts val="950"/>
            </a:pPr>
            <a:endParaRPr sz="2008">
              <a:solidFill>
                <a:srgbClr val="000000"/>
              </a:solidFill>
              <a:latin typeface="Arial"/>
              <a:ea typeface="Arial"/>
              <a:cs typeface="Arial"/>
              <a:sym typeface="Arial"/>
            </a:endParaRPr>
          </a:p>
        </p:txBody>
      </p:sp>
      <p:sp>
        <p:nvSpPr>
          <p:cNvPr id="748" name="Google Shape;748;p20"/>
          <p:cNvSpPr/>
          <p:nvPr/>
        </p:nvSpPr>
        <p:spPr>
          <a:xfrm>
            <a:off x="722125" y="3181542"/>
            <a:ext cx="10337790" cy="762837"/>
          </a:xfrm>
          <a:prstGeom prst="rect">
            <a:avLst/>
          </a:prstGeom>
          <a:noFill/>
          <a:ln w="25400" cap="flat" cmpd="sng">
            <a:solidFill>
              <a:schemeClr val="accent6"/>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dk1"/>
              </a:solidFill>
              <a:latin typeface="Arial"/>
              <a:ea typeface="Arial"/>
              <a:cs typeface="Arial"/>
              <a:sym typeface="Arial"/>
            </a:endParaRPr>
          </a:p>
        </p:txBody>
      </p:sp>
      <p:sp>
        <p:nvSpPr>
          <p:cNvPr id="749" name="Google Shape;749;p20"/>
          <p:cNvSpPr/>
          <p:nvPr/>
        </p:nvSpPr>
        <p:spPr>
          <a:xfrm>
            <a:off x="992362" y="5029411"/>
            <a:ext cx="5964766" cy="329945"/>
          </a:xfrm>
          <a:prstGeom prst="rect">
            <a:avLst/>
          </a:prstGeom>
          <a:noFill/>
          <a:ln w="25400" cap="flat" cmpd="sng">
            <a:solidFill>
              <a:schemeClr val="accent6"/>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dk1"/>
              </a:solidFill>
              <a:latin typeface="Arial"/>
              <a:ea typeface="Arial"/>
              <a:cs typeface="Arial"/>
              <a:sym typeface="Arial"/>
            </a:endParaRPr>
          </a:p>
        </p:txBody>
      </p:sp>
      <p:sp>
        <p:nvSpPr>
          <p:cNvPr id="750" name="Google Shape;750;p20"/>
          <p:cNvSpPr txBox="1"/>
          <p:nvPr/>
        </p:nvSpPr>
        <p:spPr>
          <a:xfrm>
            <a:off x="7132426" y="4923910"/>
            <a:ext cx="5020415" cy="1235858"/>
          </a:xfrm>
          <a:prstGeom prst="rect">
            <a:avLst/>
          </a:prstGeom>
          <a:noFill/>
          <a:ln>
            <a:noFill/>
          </a:ln>
        </p:spPr>
        <p:txBody>
          <a:bodyPr spcFirstLastPara="1" wrap="square" lIns="193227" tIns="96587" rIns="193227" bIns="96587" anchor="t" anchorCtr="0">
            <a:spAutoFit/>
          </a:bodyPr>
          <a:lstStyle/>
          <a:p>
            <a:r>
              <a:rPr lang="en-US" sz="1691" i="1">
                <a:solidFill>
                  <a:srgbClr val="0070C0"/>
                </a:solidFill>
                <a:latin typeface="Arial"/>
                <a:ea typeface="Arial"/>
                <a:cs typeface="Arial"/>
                <a:sym typeface="Arial"/>
              </a:rPr>
              <a:t>🡨 Number of state sweeps (updates) can be controlled if required (similar to mini-batch /stochastic processing). Evaluate &amp; Imp</a:t>
            </a:r>
            <a:r>
              <a:rPr lang="en-US" sz="1691" i="1">
                <a:solidFill>
                  <a:srgbClr val="0070C0"/>
                </a:solidFill>
              </a:rPr>
              <a:t>rove steps are alternatively are done .</a:t>
            </a:r>
            <a:endParaRPr sz="1691" i="1">
              <a:solidFill>
                <a:srgbClr val="0070C0"/>
              </a:solidFill>
              <a:latin typeface="Arial"/>
              <a:ea typeface="Arial"/>
              <a:cs typeface="Arial"/>
              <a:sym typeface="Arial"/>
            </a:endParaRPr>
          </a:p>
        </p:txBody>
      </p:sp>
      <p:sp>
        <p:nvSpPr>
          <p:cNvPr id="2" name="Footer">
            <a:extLst>
              <a:ext uri="{FF2B5EF4-FFF2-40B4-BE49-F238E27FC236}">
                <a16:creationId xmlns:a16="http://schemas.microsoft.com/office/drawing/2014/main" id="{74665E38-972E-056F-BDBF-C7C273C0EDC4}"/>
              </a:ext>
            </a:extLst>
          </p:cNvPr>
          <p:cNvSpPr txBox="1">
            <a:spLocks/>
          </p:cNvSpPr>
          <p:nvPr/>
        </p:nvSpPr>
        <p:spPr>
          <a:xfrm>
            <a:off x="3002398" y="6567163"/>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74662" y="231524"/>
            <a:ext cx="10453163" cy="430887"/>
          </a:xfrm>
        </p:spPr>
        <p:txBody>
          <a:bodyPr/>
          <a:lstStyle/>
          <a:p>
            <a:r>
              <a:rPr lang="en-US" sz="2800" dirty="0">
                <a:solidFill>
                  <a:schemeClr val="bg1"/>
                </a:solidFill>
              </a:rPr>
              <a:t>Policy Evaluation (Prediction)</a:t>
            </a:r>
          </a:p>
        </p:txBody>
      </p:sp>
      <p:sp>
        <p:nvSpPr>
          <p:cNvPr id="10" name="CardBg10"/>
          <p:cNvSpPr>
            <a:spLocks noGrp="1"/>
          </p:cNvSpPr>
          <p:nvPr/>
        </p:nvSpPr>
        <p:spPr>
          <a:xfrm>
            <a:off x="457200" y="1080000"/>
            <a:ext cx="5000000" cy="2000000"/>
          </a:xfrm>
          <a:prstGeom prst="roundRect">
            <a:avLst>
              <a:gd name="adj" fmla="val 16667"/>
            </a:avLst>
          </a:prstGeom>
          <a:solidFill>
            <a:srgbClr val="EEF0FB"/>
          </a:solidFill>
          <a:ln>
            <a:noFill/>
          </a:ln>
        </p:spPr>
        <p:txBody>
          <a:bodyPr/>
          <a:lstStyle/>
          <a:p>
            <a:endParaRPr/>
          </a:p>
        </p:txBody>
      </p:sp>
      <p:sp>
        <p:nvSpPr>
          <p:cNvPr id="11" name="CardLbl11"/>
          <p:cNvSpPr txBox="1"/>
          <p:nvPr/>
        </p:nvSpPr>
        <p:spPr>
          <a:xfrm>
            <a:off x="457200" y="1080000"/>
            <a:ext cx="5000000" cy="400000"/>
          </a:xfrm>
          <a:prstGeom prst="rect">
            <a:avLst/>
          </a:prstGeom>
          <a:solidFill>
            <a:srgbClr val="1B1472"/>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Goal</a:t>
            </a:r>
          </a:p>
        </p:txBody>
      </p:sp>
      <p:sp>
        <p:nvSpPr>
          <p:cNvPr id="12" name="CardTxt12"/>
          <p:cNvSpPr txBox="1"/>
          <p:nvPr/>
        </p:nvSpPr>
        <p:spPr>
          <a:xfrm>
            <a:off x="548640" y="1520000"/>
            <a:ext cx="4817120" cy="1076570"/>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Given policy π, compute Vᵄ(s) for all s ∈ S.</a:t>
            </a:r>
          </a:p>
          <a:p>
            <a:pPr>
              <a:lnSpc>
                <a:spcPts val="2000"/>
              </a:lnSpc>
            </a:pPr>
            <a:r>
              <a:rPr lang="en-US" sz="1600" dirty="0">
                <a:solidFill>
                  <a:srgbClr val="1E1E2E"/>
                </a:solidFill>
                <a:latin typeface="Calibri"/>
              </a:rPr>
              <a:t>Produces the state-value function consistent with π.</a:t>
            </a:r>
          </a:p>
          <a:p>
            <a:pPr>
              <a:lnSpc>
                <a:spcPts val="2000"/>
              </a:lnSpc>
            </a:pPr>
            <a:r>
              <a:rPr lang="en-US" sz="1600" dirty="0">
                <a:solidFill>
                  <a:srgbClr val="1E1E2E"/>
                </a:solidFill>
                <a:latin typeface="Calibri"/>
              </a:rPr>
              <a:t>Convergence guaranteed by Bellman contraction mapping.</a:t>
            </a:r>
          </a:p>
        </p:txBody>
      </p:sp>
      <p:sp>
        <p:nvSpPr>
          <p:cNvPr id="20" name="CardBg20"/>
          <p:cNvSpPr>
            <a:spLocks noGrp="1"/>
          </p:cNvSpPr>
          <p:nvPr/>
        </p:nvSpPr>
        <p:spPr>
          <a:xfrm>
            <a:off x="5700000" y="1080000"/>
            <a:ext cx="5990000" cy="2000000"/>
          </a:xfrm>
          <a:prstGeom prst="roundRect">
            <a:avLst>
              <a:gd name="adj" fmla="val 16667"/>
            </a:avLst>
          </a:prstGeom>
          <a:solidFill>
            <a:srgbClr val="EEF0FB"/>
          </a:solidFill>
          <a:ln>
            <a:noFill/>
          </a:ln>
        </p:spPr>
        <p:txBody>
          <a:bodyPr/>
          <a:lstStyle/>
          <a:p>
            <a:endParaRPr/>
          </a:p>
        </p:txBody>
      </p:sp>
      <p:sp>
        <p:nvSpPr>
          <p:cNvPr id="21" name="CardLbl21"/>
          <p:cNvSpPr txBox="1"/>
          <p:nvPr/>
        </p:nvSpPr>
        <p:spPr>
          <a:xfrm>
            <a:off x="5700000" y="1080000"/>
            <a:ext cx="5990000" cy="400000"/>
          </a:xfrm>
          <a:prstGeom prst="rect">
            <a:avLst/>
          </a:prstGeom>
          <a:solidFill>
            <a:srgbClr val="2D3091"/>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Key Properties</a:t>
            </a:r>
          </a:p>
        </p:txBody>
      </p:sp>
      <p:sp>
        <p:nvSpPr>
          <p:cNvPr id="22" name="CardTxt22"/>
          <p:cNvSpPr txBox="1"/>
          <p:nvPr/>
        </p:nvSpPr>
        <p:spPr>
          <a:xfrm>
            <a:off x="5791440" y="1520000"/>
            <a:ext cx="5807120" cy="818422"/>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Synchronous DP: all states updated each sweep.</a:t>
            </a:r>
          </a:p>
          <a:p>
            <a:pPr>
              <a:lnSpc>
                <a:spcPts val="2000"/>
              </a:lnSpc>
            </a:pPr>
            <a:r>
              <a:rPr lang="en-US" sz="1600" dirty="0">
                <a:solidFill>
                  <a:srgbClr val="1E1E2E"/>
                </a:solidFill>
                <a:latin typeface="Calibri"/>
              </a:rPr>
              <a:t>Convergence: Vₖ → Vᵄ as k → ∞ (geometric rate).</a:t>
            </a:r>
          </a:p>
          <a:p>
            <a:pPr>
              <a:lnSpc>
                <a:spcPts val="2000"/>
              </a:lnSpc>
            </a:pPr>
            <a:r>
              <a:rPr lang="en-US" sz="1600" dirty="0">
                <a:solidFill>
                  <a:srgbClr val="1E1E2E"/>
                </a:solidFill>
                <a:latin typeface="Calibri"/>
              </a:rPr>
              <a:t>Stop when maxₛ |Vₖ₊₁(s) − Vₖ(s)| &lt; θ (small threshold).</a:t>
            </a:r>
          </a:p>
        </p:txBody>
      </p:sp>
      <p:sp>
        <p:nvSpPr>
          <p:cNvPr id="30" name="AlgBg"/>
          <p:cNvSpPr>
            <a:spLocks noGrp="1"/>
          </p:cNvSpPr>
          <p:nvPr/>
        </p:nvSpPr>
        <p:spPr>
          <a:xfrm>
            <a:off x="457200" y="3220000"/>
            <a:ext cx="5000000" cy="3100000"/>
          </a:xfrm>
          <a:prstGeom prst="roundRect">
            <a:avLst>
              <a:gd name="adj" fmla="val 16667"/>
            </a:avLst>
          </a:prstGeom>
          <a:solidFill>
            <a:srgbClr val="F5F5FF"/>
          </a:solidFill>
          <a:ln>
            <a:noFill/>
          </a:ln>
        </p:spPr>
        <p:txBody>
          <a:bodyPr/>
          <a:lstStyle/>
          <a:p>
            <a:endParaRPr/>
          </a:p>
        </p:txBody>
      </p:sp>
      <p:sp>
        <p:nvSpPr>
          <p:cNvPr id="31" name="AlgBorder"/>
          <p:cNvSpPr>
            <a:spLocks noGrp="1"/>
          </p:cNvSpPr>
          <p:nvPr/>
        </p:nvSpPr>
        <p:spPr>
          <a:xfrm>
            <a:off x="457200" y="3220000"/>
            <a:ext cx="4908560" cy="3100000"/>
          </a:xfrm>
          <a:prstGeom prst="rect">
            <a:avLst/>
          </a:prstGeom>
          <a:noFill/>
          <a:ln w="19050">
            <a:solidFill>
              <a:srgbClr val="1B1472"/>
            </a:solidFill>
          </a:ln>
        </p:spPr>
        <p:txBody>
          <a:bodyPr/>
          <a:lstStyle/>
          <a:p>
            <a:endParaRPr/>
          </a:p>
        </p:txBody>
      </p:sp>
      <p:sp>
        <p:nvSpPr>
          <p:cNvPr id="32" name="AlgLbl"/>
          <p:cNvSpPr txBox="1"/>
          <p:nvPr/>
        </p:nvSpPr>
        <p:spPr>
          <a:xfrm>
            <a:off x="457200" y="3220000"/>
            <a:ext cx="4908560" cy="420000"/>
          </a:xfrm>
          <a:prstGeom prst="rect">
            <a:avLst/>
          </a:prstGeom>
          <a:solidFill>
            <a:srgbClr val="1B1472"/>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Iterative Policy Evaluation Algorithm</a:t>
            </a:r>
          </a:p>
        </p:txBody>
      </p:sp>
      <p:sp>
        <p:nvSpPr>
          <p:cNvPr id="40" name="AlgLine3720000"/>
          <p:cNvSpPr txBox="1"/>
          <p:nvPr/>
        </p:nvSpPr>
        <p:spPr>
          <a:xfrm>
            <a:off x="700000" y="3720000"/>
            <a:ext cx="10800000" cy="299921"/>
          </a:xfrm>
          <a:prstGeom prst="rect">
            <a:avLst/>
          </a:prstGeom>
          <a:noFill/>
          <a:ln>
            <a:noFill/>
          </a:ln>
        </p:spPr>
        <p:txBody>
          <a:bodyPr wrap="square" lIns="60000" tIns="10000" rIns="91440" bIns="45720" anchor="t">
            <a:spAutoFit/>
          </a:bodyPr>
          <a:lstStyle/>
          <a:p>
            <a:pPr>
              <a:lnSpc>
                <a:spcPts val="1900"/>
              </a:lnSpc>
            </a:pPr>
            <a:r>
              <a:rPr lang="en-US" sz="1600" dirty="0">
                <a:solidFill>
                  <a:srgbClr val="1E1E2E"/>
                </a:solidFill>
                <a:latin typeface="Calibri"/>
              </a:rPr>
              <a:t>Initialise  V(s) = 0 for all s ∈ S ;  V(terminal) = 0</a:t>
            </a:r>
          </a:p>
        </p:txBody>
      </p:sp>
      <p:sp>
        <p:nvSpPr>
          <p:cNvPr id="41" name="AlgLine4050000"/>
          <p:cNvSpPr txBox="1"/>
          <p:nvPr/>
        </p:nvSpPr>
        <p:spPr>
          <a:xfrm>
            <a:off x="700000" y="4050000"/>
            <a:ext cx="10800000" cy="299921"/>
          </a:xfrm>
          <a:prstGeom prst="rect">
            <a:avLst/>
          </a:prstGeom>
          <a:noFill/>
          <a:ln>
            <a:noFill/>
          </a:ln>
        </p:spPr>
        <p:txBody>
          <a:bodyPr wrap="square" lIns="60000" tIns="10000" rIns="91440" bIns="45720" anchor="t">
            <a:spAutoFit/>
          </a:bodyPr>
          <a:lstStyle/>
          <a:p>
            <a:pPr>
              <a:lnSpc>
                <a:spcPts val="1900"/>
              </a:lnSpc>
            </a:pPr>
            <a:r>
              <a:rPr lang="en-US" sz="1600" b="1" dirty="0">
                <a:solidFill>
                  <a:srgbClr val="1B1472"/>
                </a:solidFill>
                <a:latin typeface="Calibri"/>
              </a:rPr>
              <a:t>Repeat:</a:t>
            </a:r>
          </a:p>
        </p:txBody>
      </p:sp>
      <p:sp>
        <p:nvSpPr>
          <p:cNvPr id="42" name="AlgLine4380000"/>
          <p:cNvSpPr txBox="1"/>
          <p:nvPr/>
        </p:nvSpPr>
        <p:spPr>
          <a:xfrm>
            <a:off x="700000" y="4380000"/>
            <a:ext cx="10800000" cy="299921"/>
          </a:xfrm>
          <a:prstGeom prst="rect">
            <a:avLst/>
          </a:prstGeom>
          <a:noFill/>
          <a:ln>
            <a:noFill/>
          </a:ln>
        </p:spPr>
        <p:txBody>
          <a:bodyPr wrap="square" lIns="60000" tIns="10000" rIns="91440" bIns="45720" anchor="t">
            <a:spAutoFit/>
          </a:bodyPr>
          <a:lstStyle/>
          <a:p>
            <a:pPr>
              <a:lnSpc>
                <a:spcPts val="1900"/>
              </a:lnSpc>
            </a:pPr>
            <a:r>
              <a:rPr lang="en-US" sz="1600" dirty="0">
                <a:solidFill>
                  <a:srgbClr val="1E1E2E"/>
                </a:solidFill>
                <a:latin typeface="Calibri"/>
              </a:rPr>
              <a:t>  δ ← 0</a:t>
            </a:r>
          </a:p>
        </p:txBody>
      </p:sp>
      <p:sp>
        <p:nvSpPr>
          <p:cNvPr id="43" name="AlgLine4710000"/>
          <p:cNvSpPr txBox="1"/>
          <p:nvPr/>
        </p:nvSpPr>
        <p:spPr>
          <a:xfrm>
            <a:off x="700000" y="4710000"/>
            <a:ext cx="10800000" cy="299921"/>
          </a:xfrm>
          <a:prstGeom prst="rect">
            <a:avLst/>
          </a:prstGeom>
          <a:noFill/>
          <a:ln>
            <a:noFill/>
          </a:ln>
        </p:spPr>
        <p:txBody>
          <a:bodyPr wrap="square" lIns="60000" tIns="10000" rIns="91440" bIns="45720" anchor="t">
            <a:spAutoFit/>
          </a:bodyPr>
          <a:lstStyle/>
          <a:p>
            <a:pPr>
              <a:lnSpc>
                <a:spcPts val="1900"/>
              </a:lnSpc>
            </a:pPr>
            <a:r>
              <a:rPr lang="en-US" sz="1600" dirty="0">
                <a:solidFill>
                  <a:srgbClr val="1E1E2E"/>
                </a:solidFill>
                <a:latin typeface="Calibri"/>
              </a:rPr>
              <a:t>  For each s ∈ S:</a:t>
            </a:r>
          </a:p>
        </p:txBody>
      </p:sp>
      <p:sp>
        <p:nvSpPr>
          <p:cNvPr id="44" name="AlgLine5040000"/>
          <p:cNvSpPr txBox="1"/>
          <p:nvPr/>
        </p:nvSpPr>
        <p:spPr>
          <a:xfrm>
            <a:off x="700000" y="5040000"/>
            <a:ext cx="10800000" cy="299921"/>
          </a:xfrm>
          <a:prstGeom prst="rect">
            <a:avLst/>
          </a:prstGeom>
          <a:noFill/>
          <a:ln>
            <a:noFill/>
          </a:ln>
        </p:spPr>
        <p:txBody>
          <a:bodyPr wrap="square" lIns="60000" tIns="10000" rIns="91440" bIns="45720" anchor="t">
            <a:spAutoFit/>
          </a:bodyPr>
          <a:lstStyle/>
          <a:p>
            <a:pPr>
              <a:lnSpc>
                <a:spcPts val="1900"/>
              </a:lnSpc>
            </a:pPr>
            <a:r>
              <a:rPr lang="en-US" sz="1600" dirty="0">
                <a:solidFill>
                  <a:srgbClr val="1E1E2E"/>
                </a:solidFill>
                <a:latin typeface="Calibri"/>
              </a:rPr>
              <a:t>    v ← V(s)</a:t>
            </a:r>
          </a:p>
        </p:txBody>
      </p:sp>
      <p:sp>
        <p:nvSpPr>
          <p:cNvPr id="45" name="AlgLine5370000"/>
          <p:cNvSpPr txBox="1"/>
          <p:nvPr/>
        </p:nvSpPr>
        <p:spPr>
          <a:xfrm>
            <a:off x="700000" y="5370000"/>
            <a:ext cx="10800000" cy="299921"/>
          </a:xfrm>
          <a:prstGeom prst="rect">
            <a:avLst/>
          </a:prstGeom>
          <a:noFill/>
          <a:ln>
            <a:noFill/>
          </a:ln>
        </p:spPr>
        <p:txBody>
          <a:bodyPr wrap="square" lIns="60000" tIns="10000" rIns="91440" bIns="45720" anchor="t">
            <a:spAutoFit/>
          </a:bodyPr>
          <a:lstStyle/>
          <a:p>
            <a:pPr>
              <a:lnSpc>
                <a:spcPts val="1900"/>
              </a:lnSpc>
            </a:pPr>
            <a:r>
              <a:rPr lang="en-US" sz="1600" dirty="0">
                <a:solidFill>
                  <a:srgbClr val="1E1E2E"/>
                </a:solidFill>
                <a:latin typeface="Calibri"/>
              </a:rPr>
              <a:t>    V(s) ←  Σₐ π(a|s)  Σₛ’,ᵣ  p(s’,r|s,a) [ r + γ V(s’) ]</a:t>
            </a:r>
          </a:p>
        </p:txBody>
      </p:sp>
      <p:sp>
        <p:nvSpPr>
          <p:cNvPr id="46" name="AlgLine5700000"/>
          <p:cNvSpPr txBox="1"/>
          <p:nvPr/>
        </p:nvSpPr>
        <p:spPr>
          <a:xfrm>
            <a:off x="700000" y="5700000"/>
            <a:ext cx="10800000" cy="299921"/>
          </a:xfrm>
          <a:prstGeom prst="rect">
            <a:avLst/>
          </a:prstGeom>
          <a:noFill/>
          <a:ln>
            <a:noFill/>
          </a:ln>
        </p:spPr>
        <p:txBody>
          <a:bodyPr wrap="square" lIns="60000" tIns="10000" rIns="91440" bIns="45720" anchor="t">
            <a:spAutoFit/>
          </a:bodyPr>
          <a:lstStyle/>
          <a:p>
            <a:pPr>
              <a:lnSpc>
                <a:spcPts val="1900"/>
              </a:lnSpc>
            </a:pPr>
            <a:r>
              <a:rPr lang="en-US" sz="1600" dirty="0">
                <a:solidFill>
                  <a:srgbClr val="1E1E2E"/>
                </a:solidFill>
                <a:latin typeface="Calibri"/>
              </a:rPr>
              <a:t>    δ ← max(δ ,  |v − V(s)|)</a:t>
            </a:r>
          </a:p>
        </p:txBody>
      </p:sp>
      <p:sp>
        <p:nvSpPr>
          <p:cNvPr id="47" name="AlgLine6030000"/>
          <p:cNvSpPr txBox="1"/>
          <p:nvPr/>
        </p:nvSpPr>
        <p:spPr>
          <a:xfrm>
            <a:off x="700000" y="6030000"/>
            <a:ext cx="10800000" cy="299921"/>
          </a:xfrm>
          <a:prstGeom prst="rect">
            <a:avLst/>
          </a:prstGeom>
          <a:noFill/>
          <a:ln>
            <a:noFill/>
          </a:ln>
        </p:spPr>
        <p:txBody>
          <a:bodyPr wrap="square" lIns="60000" tIns="10000" rIns="91440" bIns="45720" anchor="t">
            <a:spAutoFit/>
          </a:bodyPr>
          <a:lstStyle/>
          <a:p>
            <a:pPr>
              <a:lnSpc>
                <a:spcPts val="1900"/>
              </a:lnSpc>
            </a:pPr>
            <a:r>
              <a:rPr lang="en-US" sz="1600" b="1" dirty="0">
                <a:solidFill>
                  <a:srgbClr val="1B1472"/>
                </a:solidFill>
                <a:latin typeface="Calibri"/>
              </a:rPr>
              <a:t>Until δ &lt; θ</a:t>
            </a:r>
          </a:p>
        </p:txBody>
      </p:sp>
      <p:sp>
        <p:nvSpPr>
          <p:cNvPr id="3" name="Footer"/>
          <p:cNvSpPr>
            <a:spLocks noGrp="1"/>
          </p:cNvSpPr>
          <p:nvPr>
            <p:ph type="ftr" idx="10"/>
          </p:nvPr>
        </p:nvSpPr>
        <p:spPr/>
        <p:txBody>
          <a:bodyPr/>
          <a:lstStyle/>
          <a:p>
            <a:r>
              <a:rPr lang="en-IN"/>
              <a:t>Faculty Development Workshop on Deep Reinforcement Learning - 9 &amp; 10 March,2026</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74662" y="231524"/>
            <a:ext cx="10453163" cy="430887"/>
          </a:xfrm>
        </p:spPr>
        <p:txBody>
          <a:bodyPr/>
          <a:lstStyle/>
          <a:p>
            <a:r>
              <a:rPr lang="en-US" sz="2800" dirty="0">
                <a:solidFill>
                  <a:schemeClr val="bg1"/>
                </a:solidFill>
              </a:rPr>
              <a:t>Policy Improvement</a:t>
            </a:r>
          </a:p>
        </p:txBody>
      </p:sp>
      <p:sp>
        <p:nvSpPr>
          <p:cNvPr id="10" name="ThmBg"/>
          <p:cNvSpPr>
            <a:spLocks noGrp="1"/>
          </p:cNvSpPr>
          <p:nvPr/>
        </p:nvSpPr>
        <p:spPr>
          <a:xfrm>
            <a:off x="457200" y="1080000"/>
            <a:ext cx="11277600" cy="1041196"/>
          </a:xfrm>
          <a:prstGeom prst="roundRect">
            <a:avLst>
              <a:gd name="adj" fmla="val 16667"/>
            </a:avLst>
          </a:prstGeom>
          <a:solidFill>
            <a:srgbClr val="1B1472"/>
          </a:solidFill>
          <a:ln>
            <a:noFill/>
          </a:ln>
        </p:spPr>
        <p:txBody>
          <a:bodyPr/>
          <a:lstStyle/>
          <a:p>
            <a:endParaRPr/>
          </a:p>
        </p:txBody>
      </p:sp>
      <p:sp>
        <p:nvSpPr>
          <p:cNvPr id="11" name="ThmTitle"/>
          <p:cNvSpPr txBox="1"/>
          <p:nvPr/>
        </p:nvSpPr>
        <p:spPr>
          <a:xfrm>
            <a:off x="700000" y="1120000"/>
            <a:ext cx="10800000" cy="364843"/>
          </a:xfrm>
          <a:prstGeom prst="rect">
            <a:avLst/>
          </a:prstGeom>
          <a:noFill/>
          <a:ln>
            <a:noFill/>
          </a:ln>
        </p:spPr>
        <p:txBody>
          <a:bodyPr wrap="square" lIns="91440" tIns="45720" rIns="91440" bIns="45720" anchor="t">
            <a:spAutoFit/>
          </a:bodyPr>
          <a:lstStyle/>
          <a:p>
            <a:pPr>
              <a:lnSpc>
                <a:spcPts val="2200"/>
              </a:lnSpc>
            </a:pPr>
            <a:r>
              <a:rPr lang="en-US" sz="1700" b="1" dirty="0">
                <a:solidFill>
                  <a:srgbClr val="D4A017"/>
                </a:solidFill>
                <a:latin typeface="Calibri"/>
              </a:rPr>
              <a:t>Policy Improvement </a:t>
            </a:r>
            <a:r>
              <a:rPr lang="en-US" b="1" dirty="0">
                <a:solidFill>
                  <a:srgbClr val="D4A017"/>
                </a:solidFill>
                <a:latin typeface="Calibri"/>
              </a:rPr>
              <a:t>Theorem</a:t>
            </a:r>
            <a:endParaRPr lang="en-US" sz="1700" b="1" dirty="0">
              <a:solidFill>
                <a:srgbClr val="D4A017"/>
              </a:solidFill>
              <a:latin typeface="Calibri"/>
            </a:endParaRPr>
          </a:p>
        </p:txBody>
      </p:sp>
      <p:sp>
        <p:nvSpPr>
          <p:cNvPr id="12" name="ThmTxt"/>
          <p:cNvSpPr txBox="1"/>
          <p:nvPr/>
        </p:nvSpPr>
        <p:spPr>
          <a:xfrm>
            <a:off x="700000" y="1500000"/>
            <a:ext cx="10800000" cy="621196"/>
          </a:xfrm>
          <a:prstGeom prst="rect">
            <a:avLst/>
          </a:prstGeom>
          <a:noFill/>
          <a:ln>
            <a:noFill/>
          </a:ln>
        </p:spPr>
        <p:txBody>
          <a:bodyPr wrap="square" lIns="91440" tIns="45720" rIns="91440" bIns="45720" anchor="t">
            <a:spAutoFit/>
          </a:bodyPr>
          <a:lstStyle/>
          <a:p>
            <a:pPr>
              <a:lnSpc>
                <a:spcPts val="2100"/>
              </a:lnSpc>
            </a:pPr>
            <a:r>
              <a:rPr lang="en-US" sz="1700" b="1" dirty="0">
                <a:solidFill>
                  <a:srgbClr val="FFFFFF"/>
                </a:solidFill>
                <a:latin typeface="Calibri"/>
              </a:rPr>
              <a:t>If  Qᵄ(s, π’(s)) ≥ Vᵄ(s)  for all s, then  Vπ’(s) ≥ Vᵄ(s)  for all s.</a:t>
            </a:r>
          </a:p>
          <a:p>
            <a:pPr>
              <a:lnSpc>
                <a:spcPts val="2100"/>
              </a:lnSpc>
            </a:pPr>
            <a:endParaRPr lang="en-US" sz="1700" b="1" dirty="0">
              <a:solidFill>
                <a:srgbClr val="FFFFFF"/>
              </a:solidFill>
              <a:latin typeface="Calibri"/>
            </a:endParaRPr>
          </a:p>
        </p:txBody>
      </p:sp>
      <p:sp>
        <p:nvSpPr>
          <p:cNvPr id="20" name="CardBg20"/>
          <p:cNvSpPr>
            <a:spLocks noGrp="1"/>
          </p:cNvSpPr>
          <p:nvPr/>
        </p:nvSpPr>
        <p:spPr>
          <a:xfrm>
            <a:off x="457200" y="2750000"/>
            <a:ext cx="5400000" cy="3600000"/>
          </a:xfrm>
          <a:prstGeom prst="roundRect">
            <a:avLst>
              <a:gd name="adj" fmla="val 16667"/>
            </a:avLst>
          </a:prstGeom>
          <a:solidFill>
            <a:srgbClr val="EEF0FB"/>
          </a:solidFill>
          <a:ln>
            <a:noFill/>
          </a:ln>
        </p:spPr>
        <p:txBody>
          <a:bodyPr/>
          <a:lstStyle/>
          <a:p>
            <a:endParaRPr/>
          </a:p>
        </p:txBody>
      </p:sp>
      <p:sp>
        <p:nvSpPr>
          <p:cNvPr id="21" name="CardLbl21"/>
          <p:cNvSpPr txBox="1"/>
          <p:nvPr/>
        </p:nvSpPr>
        <p:spPr>
          <a:xfrm>
            <a:off x="457200" y="2750000"/>
            <a:ext cx="5400000" cy="420000"/>
          </a:xfrm>
          <a:prstGeom prst="rect">
            <a:avLst/>
          </a:prstGeom>
          <a:solidFill>
            <a:srgbClr val="1B1472"/>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Greedy Policy Improvement</a:t>
            </a:r>
          </a:p>
        </p:txBody>
      </p:sp>
      <p:sp>
        <p:nvSpPr>
          <p:cNvPr id="22" name="CardTxt22"/>
          <p:cNvSpPr txBox="1"/>
          <p:nvPr/>
        </p:nvSpPr>
        <p:spPr>
          <a:xfrm>
            <a:off x="548640" y="3210000"/>
            <a:ext cx="5217120" cy="1589915"/>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π’(s) = argmaxₐ Qᵄ(s,a)</a:t>
            </a:r>
          </a:p>
          <a:p>
            <a:pPr>
              <a:lnSpc>
                <a:spcPts val="2000"/>
              </a:lnSpc>
            </a:pPr>
            <a:r>
              <a:rPr lang="en-US" sz="1600" dirty="0">
                <a:solidFill>
                  <a:srgbClr val="1E1E2E"/>
                </a:solidFill>
                <a:latin typeface="Calibri"/>
              </a:rPr>
              <a:t>     = argmaxₐ Σₛ’,ᵣ p(s’,r|s,a)[r + γ Vᵄ(s’)]</a:t>
            </a:r>
          </a:p>
          <a:p>
            <a:pPr>
              <a:lnSpc>
                <a:spcPts val="2000"/>
              </a:lnSpc>
            </a:pPr>
            <a:endParaRPr lang="en-US" sz="1600" dirty="0">
              <a:solidFill>
                <a:srgbClr val="1E1E2E"/>
              </a:solidFill>
              <a:latin typeface="Calibri"/>
            </a:endParaRPr>
          </a:p>
          <a:p>
            <a:pPr>
              <a:lnSpc>
                <a:spcPts val="2000"/>
              </a:lnSpc>
            </a:pPr>
            <a:r>
              <a:rPr lang="en-US" sz="1600" dirty="0">
                <a:solidFill>
                  <a:srgbClr val="1E1E2E"/>
                </a:solidFill>
                <a:latin typeface="Calibri"/>
              </a:rPr>
              <a:t>If π’ = π after improvement:</a:t>
            </a:r>
          </a:p>
          <a:p>
            <a:pPr>
              <a:lnSpc>
                <a:spcPts val="2000"/>
              </a:lnSpc>
            </a:pPr>
            <a:r>
              <a:rPr lang="en-US" sz="1600" dirty="0">
                <a:solidFill>
                  <a:srgbClr val="1E1E2E"/>
                </a:solidFill>
                <a:latin typeface="Calibri"/>
              </a:rPr>
              <a:t>  ⇒ Bellman optimality holds for all s</a:t>
            </a:r>
          </a:p>
          <a:p>
            <a:pPr>
              <a:lnSpc>
                <a:spcPts val="2000"/>
              </a:lnSpc>
            </a:pPr>
            <a:r>
              <a:rPr lang="en-US" sz="1600" dirty="0">
                <a:solidFill>
                  <a:srgbClr val="1E1E2E"/>
                </a:solidFill>
                <a:latin typeface="Calibri"/>
              </a:rPr>
              <a:t>  ⇒ Vᵄ = V*  and  π is already OPTIMAL</a:t>
            </a:r>
          </a:p>
        </p:txBody>
      </p:sp>
      <p:sp>
        <p:nvSpPr>
          <p:cNvPr id="30" name="CardBg30"/>
          <p:cNvSpPr>
            <a:spLocks noGrp="1"/>
          </p:cNvSpPr>
          <p:nvPr/>
        </p:nvSpPr>
        <p:spPr>
          <a:xfrm>
            <a:off x="6200000" y="2750000"/>
            <a:ext cx="5535000" cy="3600000"/>
          </a:xfrm>
          <a:prstGeom prst="roundRect">
            <a:avLst>
              <a:gd name="adj" fmla="val 16667"/>
            </a:avLst>
          </a:prstGeom>
          <a:solidFill>
            <a:srgbClr val="EEF0FB"/>
          </a:solidFill>
          <a:ln>
            <a:noFill/>
          </a:ln>
        </p:spPr>
        <p:txBody>
          <a:bodyPr/>
          <a:lstStyle/>
          <a:p>
            <a:endParaRPr/>
          </a:p>
        </p:txBody>
      </p:sp>
      <p:sp>
        <p:nvSpPr>
          <p:cNvPr id="31" name="CardLbl31"/>
          <p:cNvSpPr txBox="1"/>
          <p:nvPr/>
        </p:nvSpPr>
        <p:spPr>
          <a:xfrm>
            <a:off x="6200000" y="2750000"/>
            <a:ext cx="5535000" cy="420000"/>
          </a:xfrm>
          <a:prstGeom prst="rect">
            <a:avLst/>
          </a:prstGeom>
          <a:solidFill>
            <a:srgbClr val="2D3091"/>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Policy Iteration Algorithm</a:t>
            </a:r>
          </a:p>
        </p:txBody>
      </p:sp>
      <p:sp>
        <p:nvSpPr>
          <p:cNvPr id="32" name="CardTxt32"/>
          <p:cNvSpPr txBox="1"/>
          <p:nvPr/>
        </p:nvSpPr>
        <p:spPr>
          <a:xfrm>
            <a:off x="6291440" y="3210000"/>
            <a:ext cx="5352120" cy="1846011"/>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1.  Initialise π arbitrarily for all s ∈ S.</a:t>
            </a:r>
          </a:p>
          <a:p>
            <a:pPr>
              <a:lnSpc>
                <a:spcPts val="2000"/>
              </a:lnSpc>
            </a:pPr>
            <a:r>
              <a:rPr lang="en-US" sz="1600" dirty="0">
                <a:solidFill>
                  <a:srgbClr val="1E1E2E"/>
                </a:solidFill>
                <a:latin typeface="Calibri"/>
              </a:rPr>
              <a:t>2.  Policy Evaluation:  compute Vᵄ until convergence.</a:t>
            </a:r>
          </a:p>
          <a:p>
            <a:pPr>
              <a:lnSpc>
                <a:spcPts val="2000"/>
              </a:lnSpc>
            </a:pPr>
            <a:r>
              <a:rPr lang="en-US" sz="1600" dirty="0">
                <a:solidFill>
                  <a:srgbClr val="1E1E2E"/>
                </a:solidFill>
                <a:latin typeface="Calibri"/>
              </a:rPr>
              <a:t>3.  Policy Improvement:  π’(s) = argmaxₐ Qᵄ(s,a).</a:t>
            </a:r>
          </a:p>
          <a:p>
            <a:pPr>
              <a:lnSpc>
                <a:spcPts val="2000"/>
              </a:lnSpc>
            </a:pPr>
            <a:r>
              <a:rPr lang="en-US" sz="1600" dirty="0">
                <a:solidFill>
                  <a:srgbClr val="1E1E2E"/>
                </a:solidFill>
                <a:latin typeface="Calibri"/>
              </a:rPr>
              <a:t>4.  If π’ ≠ π: set π ← π’, goto Step 2.</a:t>
            </a:r>
          </a:p>
          <a:p>
            <a:pPr>
              <a:lnSpc>
                <a:spcPts val="2000"/>
              </a:lnSpc>
            </a:pPr>
            <a:r>
              <a:rPr lang="en-US" sz="1600" dirty="0">
                <a:solidFill>
                  <a:srgbClr val="1E1E2E"/>
                </a:solidFill>
                <a:latin typeface="Calibri"/>
              </a:rPr>
              <a:t>5.  Else: STOP — π is optimal.</a:t>
            </a:r>
          </a:p>
          <a:p>
            <a:pPr>
              <a:lnSpc>
                <a:spcPts val="2000"/>
              </a:lnSpc>
            </a:pPr>
            <a:endParaRPr lang="en-US" sz="1600" dirty="0">
              <a:solidFill>
                <a:srgbClr val="1E1E2E"/>
              </a:solidFill>
              <a:latin typeface="Calibri"/>
            </a:endParaRPr>
          </a:p>
          <a:p>
            <a:pPr>
              <a:lnSpc>
                <a:spcPts val="2000"/>
              </a:lnSpc>
            </a:pPr>
            <a:r>
              <a:rPr lang="en-US" sz="1600" dirty="0">
                <a:solidFill>
                  <a:srgbClr val="1E1E2E"/>
                </a:solidFill>
                <a:latin typeface="Calibri"/>
              </a:rPr>
              <a:t>Converges in finite steps for finite MDPs.</a:t>
            </a:r>
          </a:p>
        </p:txBody>
      </p:sp>
      <p:sp>
        <p:nvSpPr>
          <p:cNvPr id="3" name="Footer"/>
          <p:cNvSpPr>
            <a:spLocks noGrp="1"/>
          </p:cNvSpPr>
          <p:nvPr>
            <p:ph type="ftr" idx="10"/>
          </p:nvPr>
        </p:nvSpPr>
        <p:spPr/>
        <p:txBody>
          <a:bodyPr/>
          <a:lstStyle/>
          <a:p>
            <a:r>
              <a:rPr lang="en-IN"/>
              <a:t>Faculty Development Workshop on Deep Reinforcement Learning - 9 &amp; 10 March,2026</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21"/>
          <p:cNvSpPr txBox="1">
            <a:spLocks noGrp="1"/>
          </p:cNvSpPr>
          <p:nvPr>
            <p:ph type="title"/>
          </p:nvPr>
        </p:nvSpPr>
        <p:spPr>
          <a:xfrm>
            <a:off x="177559" y="231525"/>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 – Policy Iteration</a:t>
            </a:r>
            <a:endParaRPr/>
          </a:p>
        </p:txBody>
      </p:sp>
      <p:sp>
        <p:nvSpPr>
          <p:cNvPr id="756" name="Google Shape;756;p21"/>
          <p:cNvSpPr/>
          <p:nvPr/>
        </p:nvSpPr>
        <p:spPr>
          <a:xfrm>
            <a:off x="11044484" y="1148949"/>
            <a:ext cx="0" cy="8848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nvGrpSpPr>
          <p:cNvPr id="757" name="Google Shape;757;p21"/>
          <p:cNvGrpSpPr/>
          <p:nvPr/>
        </p:nvGrpSpPr>
        <p:grpSpPr>
          <a:xfrm>
            <a:off x="2983" y="6571410"/>
            <a:ext cx="12174329" cy="194601"/>
            <a:chOff x="0" y="3109250"/>
            <a:chExt cx="5760261" cy="92075"/>
          </a:xfrm>
        </p:grpSpPr>
        <p:sp>
          <p:nvSpPr>
            <p:cNvPr id="758" name="Google Shape;758;p21"/>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759" name="Google Shape;759;p21"/>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760" name="Google Shape;760;p21"/>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762" name="Google Shape;762;p21"/>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31</a:t>
            </a:fld>
            <a:r>
              <a:rPr lang="en-US"/>
              <a:t> / 46</a:t>
            </a:r>
            <a:endParaRPr/>
          </a:p>
        </p:txBody>
      </p:sp>
      <p:pic>
        <p:nvPicPr>
          <p:cNvPr id="763" name="Google Shape;763;p21" descr="TP_tmp.png"/>
          <p:cNvPicPr preferRelativeResize="0"/>
          <p:nvPr/>
        </p:nvPicPr>
        <p:blipFill rotWithShape="1">
          <a:blip r:embed="rId3">
            <a:alphaModFix/>
          </a:blip>
          <a:srcRect/>
          <a:stretch/>
        </p:blipFill>
        <p:spPr>
          <a:xfrm>
            <a:off x="364607" y="1756415"/>
            <a:ext cx="203949" cy="322518"/>
          </a:xfrm>
          <a:prstGeom prst="rect">
            <a:avLst/>
          </a:prstGeom>
          <a:noFill/>
          <a:ln>
            <a:noFill/>
          </a:ln>
        </p:spPr>
      </p:pic>
      <p:pic>
        <p:nvPicPr>
          <p:cNvPr id="764" name="Google Shape;764;p21"/>
          <p:cNvPicPr preferRelativeResize="0"/>
          <p:nvPr/>
        </p:nvPicPr>
        <p:blipFill rotWithShape="1">
          <a:blip r:embed="rId4">
            <a:alphaModFix/>
          </a:blip>
          <a:srcRect/>
          <a:stretch/>
        </p:blipFill>
        <p:spPr>
          <a:xfrm>
            <a:off x="1123247" y="1115162"/>
            <a:ext cx="535435" cy="556722"/>
          </a:xfrm>
          <a:prstGeom prst="rect">
            <a:avLst/>
          </a:prstGeom>
          <a:noFill/>
          <a:ln>
            <a:noFill/>
          </a:ln>
        </p:spPr>
      </p:pic>
      <p:pic>
        <p:nvPicPr>
          <p:cNvPr id="765" name="Google Shape;765;p21"/>
          <p:cNvPicPr preferRelativeResize="0"/>
          <p:nvPr/>
        </p:nvPicPr>
        <p:blipFill rotWithShape="1">
          <a:blip r:embed="rId5">
            <a:alphaModFix/>
          </a:blip>
          <a:srcRect/>
          <a:stretch/>
        </p:blipFill>
        <p:spPr>
          <a:xfrm>
            <a:off x="2509775" y="1035634"/>
            <a:ext cx="568088" cy="636251"/>
          </a:xfrm>
          <a:prstGeom prst="rect">
            <a:avLst/>
          </a:prstGeom>
          <a:noFill/>
          <a:ln>
            <a:noFill/>
          </a:ln>
        </p:spPr>
      </p:pic>
      <p:pic>
        <p:nvPicPr>
          <p:cNvPr id="766" name="Google Shape;766;p21"/>
          <p:cNvPicPr preferRelativeResize="0"/>
          <p:nvPr/>
        </p:nvPicPr>
        <p:blipFill rotWithShape="1">
          <a:blip r:embed="rId6">
            <a:alphaModFix/>
          </a:blip>
          <a:srcRect/>
          <a:stretch/>
        </p:blipFill>
        <p:spPr>
          <a:xfrm>
            <a:off x="1821735" y="1077450"/>
            <a:ext cx="585286" cy="583232"/>
          </a:xfrm>
          <a:prstGeom prst="rect">
            <a:avLst/>
          </a:prstGeom>
          <a:noFill/>
          <a:ln>
            <a:noFill/>
          </a:ln>
        </p:spPr>
      </p:pic>
      <p:sp>
        <p:nvSpPr>
          <p:cNvPr id="767" name="Google Shape;767;p21"/>
          <p:cNvSpPr/>
          <p:nvPr/>
        </p:nvSpPr>
        <p:spPr>
          <a:xfrm>
            <a:off x="657828" y="3005348"/>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768" name="Google Shape;768;p21"/>
          <p:cNvSpPr/>
          <p:nvPr/>
        </p:nvSpPr>
        <p:spPr>
          <a:xfrm>
            <a:off x="690038" y="2276822"/>
            <a:ext cx="2928770" cy="455253"/>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769" name="Google Shape;769;p21"/>
          <p:cNvSpPr/>
          <p:nvPr/>
        </p:nvSpPr>
        <p:spPr>
          <a:xfrm>
            <a:off x="696040" y="1667731"/>
            <a:ext cx="2928770" cy="455257"/>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pic>
        <p:nvPicPr>
          <p:cNvPr id="770" name="Google Shape;770;p21" descr="TP_tmp.png"/>
          <p:cNvPicPr preferRelativeResize="0"/>
          <p:nvPr/>
        </p:nvPicPr>
        <p:blipFill rotWithShape="1">
          <a:blip r:embed="rId7">
            <a:alphaModFix/>
          </a:blip>
          <a:srcRect/>
          <a:stretch/>
        </p:blipFill>
        <p:spPr>
          <a:xfrm>
            <a:off x="346553" y="2375833"/>
            <a:ext cx="183630" cy="323298"/>
          </a:xfrm>
          <a:prstGeom prst="rect">
            <a:avLst/>
          </a:prstGeom>
          <a:noFill/>
          <a:ln>
            <a:noFill/>
          </a:ln>
        </p:spPr>
      </p:pic>
      <p:pic>
        <p:nvPicPr>
          <p:cNvPr id="771" name="Google Shape;771;p21" descr="TP_tmp.png"/>
          <p:cNvPicPr preferRelativeResize="0"/>
          <p:nvPr/>
        </p:nvPicPr>
        <p:blipFill rotWithShape="1">
          <a:blip r:embed="rId8">
            <a:alphaModFix/>
          </a:blip>
          <a:srcRect/>
          <a:stretch/>
        </p:blipFill>
        <p:spPr>
          <a:xfrm>
            <a:off x="353872" y="3017816"/>
            <a:ext cx="204441" cy="323298"/>
          </a:xfrm>
          <a:prstGeom prst="rect">
            <a:avLst/>
          </a:prstGeom>
          <a:noFill/>
          <a:ln>
            <a:noFill/>
          </a:ln>
        </p:spPr>
      </p:pic>
      <p:sp>
        <p:nvSpPr>
          <p:cNvPr id="772" name="Google Shape;772;p21"/>
          <p:cNvSpPr txBox="1"/>
          <p:nvPr/>
        </p:nvSpPr>
        <p:spPr>
          <a:xfrm>
            <a:off x="1098665" y="1667735"/>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0             0             0 ……..</a:t>
            </a:r>
            <a:endParaRPr sz="634">
              <a:solidFill>
                <a:srgbClr val="000000"/>
              </a:solidFill>
              <a:latin typeface="Arial"/>
              <a:ea typeface="Arial"/>
              <a:cs typeface="Arial"/>
              <a:sym typeface="Arial"/>
            </a:endParaRPr>
          </a:p>
        </p:txBody>
      </p:sp>
      <p:pic>
        <p:nvPicPr>
          <p:cNvPr id="773" name="Google Shape;773;p21"/>
          <p:cNvPicPr preferRelativeResize="0"/>
          <p:nvPr/>
        </p:nvPicPr>
        <p:blipFill rotWithShape="1">
          <a:blip r:embed="rId9">
            <a:alphaModFix/>
          </a:blip>
          <a:srcRect/>
          <a:stretch/>
        </p:blipFill>
        <p:spPr>
          <a:xfrm>
            <a:off x="7217220" y="3254172"/>
            <a:ext cx="4960091" cy="3006946"/>
          </a:xfrm>
          <a:prstGeom prst="rect">
            <a:avLst/>
          </a:prstGeom>
          <a:noFill/>
          <a:ln>
            <a:noFill/>
          </a:ln>
        </p:spPr>
      </p:pic>
      <p:sp>
        <p:nvSpPr>
          <p:cNvPr id="774" name="Google Shape;774;p21"/>
          <p:cNvSpPr/>
          <p:nvPr/>
        </p:nvSpPr>
        <p:spPr>
          <a:xfrm>
            <a:off x="6050456" y="841601"/>
            <a:ext cx="778978" cy="512157"/>
          </a:xfrm>
          <a:prstGeom prst="triangle">
            <a:avLst>
              <a:gd name="adj" fmla="val 50000"/>
            </a:avLst>
          </a:prstGeom>
          <a:blipFill rotWithShape="1">
            <a:blip r:embed="rId10">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775" name="Google Shape;775;p21"/>
          <p:cNvSpPr/>
          <p:nvPr/>
        </p:nvSpPr>
        <p:spPr>
          <a:xfrm>
            <a:off x="6892541" y="1813470"/>
            <a:ext cx="625462" cy="437850"/>
          </a:xfrm>
          <a:prstGeom prst="ellipse">
            <a:avLst/>
          </a:prstGeom>
          <a:blipFill rotWithShape="1">
            <a:blip r:embed="rId11">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776" name="Google Shape;776;p21"/>
          <p:cNvSpPr/>
          <p:nvPr/>
        </p:nvSpPr>
        <p:spPr>
          <a:xfrm>
            <a:off x="5047781" y="1829569"/>
            <a:ext cx="625462" cy="437850"/>
          </a:xfrm>
          <a:prstGeom prst="ellipse">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777" name="Google Shape;777;p21"/>
          <p:cNvSpPr/>
          <p:nvPr/>
        </p:nvSpPr>
        <p:spPr>
          <a:xfrm>
            <a:off x="4725108" y="2628430"/>
            <a:ext cx="590200" cy="417406"/>
          </a:xfrm>
          <a:prstGeom prst="rect">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778" name="Google Shape;778;p21"/>
          <p:cNvSpPr/>
          <p:nvPr/>
        </p:nvSpPr>
        <p:spPr>
          <a:xfrm>
            <a:off x="6425087" y="2628427"/>
            <a:ext cx="590200" cy="417406"/>
          </a:xfrm>
          <a:prstGeom prst="rect">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779" name="Google Shape;779;p21"/>
          <p:cNvSpPr/>
          <p:nvPr/>
        </p:nvSpPr>
        <p:spPr>
          <a:xfrm>
            <a:off x="7633305" y="2635890"/>
            <a:ext cx="590200" cy="417406"/>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cxnSp>
        <p:nvCxnSpPr>
          <p:cNvPr id="780" name="Google Shape;780;p21"/>
          <p:cNvCxnSpPr>
            <a:stCxn id="774" idx="3"/>
            <a:endCxn id="776" idx="7"/>
          </p:cNvCxnSpPr>
          <p:nvPr/>
        </p:nvCxnSpPr>
        <p:spPr>
          <a:xfrm flipH="1">
            <a:off x="5581440" y="1353758"/>
            <a:ext cx="858505" cy="540211"/>
          </a:xfrm>
          <a:prstGeom prst="straightConnector1">
            <a:avLst/>
          </a:prstGeom>
          <a:noFill/>
          <a:ln w="9525" cap="flat" cmpd="sng">
            <a:solidFill>
              <a:schemeClr val="dk1"/>
            </a:solidFill>
            <a:prstDash val="solid"/>
            <a:miter lim="800000"/>
            <a:headEnd type="none" w="sm" len="sm"/>
            <a:tailEnd type="triangle" w="med" len="med"/>
          </a:ln>
        </p:spPr>
      </p:cxnSp>
      <p:cxnSp>
        <p:nvCxnSpPr>
          <p:cNvPr id="781" name="Google Shape;781;p21"/>
          <p:cNvCxnSpPr>
            <a:stCxn id="774" idx="3"/>
            <a:endCxn id="775" idx="1"/>
          </p:cNvCxnSpPr>
          <p:nvPr/>
        </p:nvCxnSpPr>
        <p:spPr>
          <a:xfrm>
            <a:off x="6439945" y="1353758"/>
            <a:ext cx="544016" cy="523726"/>
          </a:xfrm>
          <a:prstGeom prst="straightConnector1">
            <a:avLst/>
          </a:prstGeom>
          <a:noFill/>
          <a:ln w="9525" cap="flat" cmpd="sng">
            <a:solidFill>
              <a:schemeClr val="dk1"/>
            </a:solidFill>
            <a:prstDash val="solid"/>
            <a:miter lim="800000"/>
            <a:headEnd type="none" w="sm" len="sm"/>
            <a:tailEnd type="triangle" w="med" len="med"/>
          </a:ln>
        </p:spPr>
      </p:cxnSp>
      <p:cxnSp>
        <p:nvCxnSpPr>
          <p:cNvPr id="782" name="Google Shape;782;p21"/>
          <p:cNvCxnSpPr>
            <a:stCxn id="776" idx="4"/>
            <a:endCxn id="777" idx="0"/>
          </p:cNvCxnSpPr>
          <p:nvPr/>
        </p:nvCxnSpPr>
        <p:spPr>
          <a:xfrm flipH="1">
            <a:off x="5020026" y="2267419"/>
            <a:ext cx="340485" cy="360775"/>
          </a:xfrm>
          <a:prstGeom prst="straightConnector1">
            <a:avLst/>
          </a:prstGeom>
          <a:noFill/>
          <a:ln w="9525" cap="flat" cmpd="sng">
            <a:solidFill>
              <a:schemeClr val="dk1"/>
            </a:solidFill>
            <a:prstDash val="solid"/>
            <a:miter lim="800000"/>
            <a:headEnd type="none" w="sm" len="sm"/>
            <a:tailEnd type="triangle" w="med" len="med"/>
          </a:ln>
        </p:spPr>
      </p:cxnSp>
      <p:cxnSp>
        <p:nvCxnSpPr>
          <p:cNvPr id="783" name="Google Shape;783;p21"/>
          <p:cNvCxnSpPr>
            <a:stCxn id="775" idx="4"/>
            <a:endCxn id="779" idx="0"/>
          </p:cNvCxnSpPr>
          <p:nvPr/>
        </p:nvCxnSpPr>
        <p:spPr>
          <a:xfrm>
            <a:off x="7205272" y="2251320"/>
            <a:ext cx="722818" cy="384869"/>
          </a:xfrm>
          <a:prstGeom prst="straightConnector1">
            <a:avLst/>
          </a:prstGeom>
          <a:noFill/>
          <a:ln w="9525" cap="flat" cmpd="sng">
            <a:solidFill>
              <a:schemeClr val="dk1"/>
            </a:solidFill>
            <a:prstDash val="solid"/>
            <a:miter lim="800000"/>
            <a:headEnd type="none" w="sm" len="sm"/>
            <a:tailEnd type="triangle" w="med" len="med"/>
          </a:ln>
        </p:spPr>
      </p:cxnSp>
      <p:cxnSp>
        <p:nvCxnSpPr>
          <p:cNvPr id="784" name="Google Shape;784;p21"/>
          <p:cNvCxnSpPr>
            <a:stCxn id="775" idx="4"/>
            <a:endCxn id="778" idx="0"/>
          </p:cNvCxnSpPr>
          <p:nvPr/>
        </p:nvCxnSpPr>
        <p:spPr>
          <a:xfrm flipH="1">
            <a:off x="6720223" y="2251320"/>
            <a:ext cx="485049" cy="377260"/>
          </a:xfrm>
          <a:prstGeom prst="straightConnector1">
            <a:avLst/>
          </a:prstGeom>
          <a:noFill/>
          <a:ln w="9525" cap="flat" cmpd="sng">
            <a:solidFill>
              <a:schemeClr val="dk1"/>
            </a:solidFill>
            <a:prstDash val="solid"/>
            <a:miter lim="800000"/>
            <a:headEnd type="none" w="sm" len="sm"/>
            <a:tailEnd type="triangle" w="med" len="med"/>
          </a:ln>
        </p:spPr>
      </p:cxnSp>
      <p:cxnSp>
        <p:nvCxnSpPr>
          <p:cNvPr id="785" name="Google Shape;785;p21"/>
          <p:cNvCxnSpPr/>
          <p:nvPr/>
        </p:nvCxnSpPr>
        <p:spPr>
          <a:xfrm flipH="1">
            <a:off x="4851542" y="3045832"/>
            <a:ext cx="158880" cy="452015"/>
          </a:xfrm>
          <a:prstGeom prst="straightConnector1">
            <a:avLst/>
          </a:prstGeom>
          <a:noFill/>
          <a:ln w="19050" cap="flat" cmpd="sng">
            <a:solidFill>
              <a:schemeClr val="dk1"/>
            </a:solidFill>
            <a:prstDash val="dash"/>
            <a:miter lim="800000"/>
            <a:headEnd type="none" w="sm" len="sm"/>
            <a:tailEnd type="triangle" w="med" len="med"/>
          </a:ln>
        </p:spPr>
      </p:cxnSp>
      <p:cxnSp>
        <p:nvCxnSpPr>
          <p:cNvPr id="786" name="Google Shape;786;p21"/>
          <p:cNvCxnSpPr/>
          <p:nvPr/>
        </p:nvCxnSpPr>
        <p:spPr>
          <a:xfrm flipH="1">
            <a:off x="6543567" y="3033158"/>
            <a:ext cx="183589" cy="433112"/>
          </a:xfrm>
          <a:prstGeom prst="straightConnector1">
            <a:avLst/>
          </a:prstGeom>
          <a:noFill/>
          <a:ln w="19050" cap="flat" cmpd="sng">
            <a:solidFill>
              <a:schemeClr val="dk1"/>
            </a:solidFill>
            <a:prstDash val="dash"/>
            <a:miter lim="800000"/>
            <a:headEnd type="none" w="sm" len="sm"/>
            <a:tailEnd type="triangle" w="med" len="med"/>
          </a:ln>
        </p:spPr>
      </p:cxnSp>
      <p:cxnSp>
        <p:nvCxnSpPr>
          <p:cNvPr id="787" name="Google Shape;787;p21"/>
          <p:cNvCxnSpPr/>
          <p:nvPr/>
        </p:nvCxnSpPr>
        <p:spPr>
          <a:xfrm flipH="1">
            <a:off x="7828110" y="3073739"/>
            <a:ext cx="41034" cy="424108"/>
          </a:xfrm>
          <a:prstGeom prst="straightConnector1">
            <a:avLst/>
          </a:prstGeom>
          <a:noFill/>
          <a:ln w="19050" cap="flat" cmpd="sng">
            <a:solidFill>
              <a:schemeClr val="dk1"/>
            </a:solidFill>
            <a:prstDash val="dash"/>
            <a:miter lim="800000"/>
            <a:headEnd type="none" w="sm" len="sm"/>
            <a:tailEnd type="triangle" w="med" len="med"/>
          </a:ln>
        </p:spPr>
      </p:cxnSp>
      <p:cxnSp>
        <p:nvCxnSpPr>
          <p:cNvPr id="788" name="Google Shape;788;p21"/>
          <p:cNvCxnSpPr/>
          <p:nvPr/>
        </p:nvCxnSpPr>
        <p:spPr>
          <a:xfrm>
            <a:off x="7925654" y="3086515"/>
            <a:ext cx="433553" cy="379754"/>
          </a:xfrm>
          <a:prstGeom prst="straightConnector1">
            <a:avLst/>
          </a:prstGeom>
          <a:noFill/>
          <a:ln w="19050" cap="flat" cmpd="sng">
            <a:solidFill>
              <a:schemeClr val="dk1"/>
            </a:solidFill>
            <a:prstDash val="dash"/>
            <a:miter lim="800000"/>
            <a:headEnd type="none" w="sm" len="sm"/>
            <a:tailEnd type="triangle" w="med" len="med"/>
          </a:ln>
        </p:spPr>
      </p:cxnSp>
      <p:cxnSp>
        <p:nvCxnSpPr>
          <p:cNvPr id="789" name="Google Shape;789;p21"/>
          <p:cNvCxnSpPr/>
          <p:nvPr/>
        </p:nvCxnSpPr>
        <p:spPr>
          <a:xfrm>
            <a:off x="6785608" y="3026279"/>
            <a:ext cx="309685" cy="439991"/>
          </a:xfrm>
          <a:prstGeom prst="straightConnector1">
            <a:avLst/>
          </a:prstGeom>
          <a:noFill/>
          <a:ln w="19050" cap="flat" cmpd="sng">
            <a:solidFill>
              <a:schemeClr val="dk1"/>
            </a:solidFill>
            <a:prstDash val="dash"/>
            <a:miter lim="800000"/>
            <a:headEnd type="none" w="sm" len="sm"/>
            <a:tailEnd type="triangle" w="med" len="med"/>
          </a:ln>
        </p:spPr>
      </p:cxnSp>
      <p:cxnSp>
        <p:nvCxnSpPr>
          <p:cNvPr id="790" name="Google Shape;790;p21"/>
          <p:cNvCxnSpPr/>
          <p:nvPr/>
        </p:nvCxnSpPr>
        <p:spPr>
          <a:xfrm>
            <a:off x="5065488" y="3045832"/>
            <a:ext cx="336093" cy="452015"/>
          </a:xfrm>
          <a:prstGeom prst="straightConnector1">
            <a:avLst/>
          </a:prstGeom>
          <a:noFill/>
          <a:ln w="19050" cap="flat" cmpd="sng">
            <a:solidFill>
              <a:schemeClr val="dk1"/>
            </a:solidFill>
            <a:prstDash val="dash"/>
            <a:miter lim="800000"/>
            <a:headEnd type="none" w="sm" len="sm"/>
            <a:tailEnd type="triangle" w="med" len="med"/>
          </a:ln>
        </p:spPr>
      </p:cxnSp>
      <p:sp>
        <p:nvSpPr>
          <p:cNvPr id="791" name="Google Shape;791;p21"/>
          <p:cNvSpPr txBox="1"/>
          <p:nvPr/>
        </p:nvSpPr>
        <p:spPr>
          <a:xfrm>
            <a:off x="4551997" y="3695288"/>
            <a:ext cx="4926580" cy="455260"/>
          </a:xfrm>
          <a:prstGeom prst="rect">
            <a:avLst/>
          </a:prstGeom>
          <a:noFill/>
          <a:ln>
            <a:noFill/>
          </a:ln>
        </p:spPr>
        <p:txBody>
          <a:bodyPr spcFirstLastPara="1" wrap="square" lIns="193227" tIns="96587" rIns="193227" bIns="96587" anchor="t" anchorCtr="0">
            <a:spAutoFit/>
          </a:bodyPr>
          <a:lstStyle/>
          <a:p>
            <a:r>
              <a:rPr lang="en-US" sz="1691" b="1">
                <a:solidFill>
                  <a:srgbClr val="00B050"/>
                </a:solidFill>
                <a:latin typeface="Arial"/>
                <a:ea typeface="Arial"/>
                <a:cs typeface="Arial"/>
                <a:sym typeface="Arial"/>
              </a:rPr>
              <a:t>   1.0                        0.5               0.5</a:t>
            </a:r>
            <a:endParaRPr sz="1691" b="1">
              <a:solidFill>
                <a:srgbClr val="00B050"/>
              </a:solidFill>
              <a:latin typeface="Arial"/>
              <a:ea typeface="Arial"/>
              <a:cs typeface="Arial"/>
              <a:sym typeface="Arial"/>
            </a:endParaRPr>
          </a:p>
        </p:txBody>
      </p:sp>
      <p:sp>
        <p:nvSpPr>
          <p:cNvPr id="792" name="Google Shape;792;p21"/>
          <p:cNvSpPr txBox="1"/>
          <p:nvPr/>
        </p:nvSpPr>
        <p:spPr>
          <a:xfrm>
            <a:off x="4725109" y="3419748"/>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+1                         +2                +2</a:t>
            </a:r>
            <a:endParaRPr sz="1691" b="1">
              <a:solidFill>
                <a:srgbClr val="C00000"/>
              </a:solidFill>
              <a:latin typeface="Arial"/>
              <a:ea typeface="Arial"/>
              <a:cs typeface="Arial"/>
              <a:sym typeface="Arial"/>
            </a:endParaRPr>
          </a:p>
        </p:txBody>
      </p:sp>
      <p:sp>
        <p:nvSpPr>
          <p:cNvPr id="793" name="Google Shape;793;p21"/>
          <p:cNvSpPr txBox="1"/>
          <p:nvPr/>
        </p:nvSpPr>
        <p:spPr>
          <a:xfrm>
            <a:off x="4458062" y="2178177"/>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	cool          warm</a:t>
            </a:r>
            <a:endParaRPr sz="1691" b="1">
              <a:solidFill>
                <a:srgbClr val="C00000"/>
              </a:solidFill>
              <a:latin typeface="Arial"/>
              <a:ea typeface="Arial"/>
              <a:cs typeface="Arial"/>
              <a:sym typeface="Arial"/>
            </a:endParaRPr>
          </a:p>
        </p:txBody>
      </p:sp>
      <p:sp>
        <p:nvSpPr>
          <p:cNvPr id="794" name="Google Shape;794;p21"/>
          <p:cNvSpPr txBox="1"/>
          <p:nvPr/>
        </p:nvSpPr>
        <p:spPr>
          <a:xfrm>
            <a:off x="5429049" y="877001"/>
            <a:ext cx="948196"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a:t>
            </a:r>
            <a:endParaRPr sz="1691" b="1">
              <a:solidFill>
                <a:srgbClr val="C00000"/>
              </a:solidFill>
              <a:latin typeface="Arial"/>
              <a:ea typeface="Arial"/>
              <a:cs typeface="Arial"/>
              <a:sym typeface="Arial"/>
            </a:endParaRPr>
          </a:p>
        </p:txBody>
      </p:sp>
      <p:sp>
        <p:nvSpPr>
          <p:cNvPr id="795" name="Google Shape;795;p21"/>
          <p:cNvSpPr txBox="1"/>
          <p:nvPr/>
        </p:nvSpPr>
        <p:spPr>
          <a:xfrm>
            <a:off x="4790198" y="1336714"/>
            <a:ext cx="3299495" cy="455260"/>
          </a:xfrm>
          <a:prstGeom prst="rect">
            <a:avLst/>
          </a:prstGeom>
          <a:noFill/>
          <a:ln>
            <a:noFill/>
          </a:ln>
        </p:spPr>
        <p:txBody>
          <a:bodyPr spcFirstLastPara="1" wrap="square" lIns="193227" tIns="96587" rIns="193227" bIns="96587" anchor="t" anchorCtr="0">
            <a:spAutoFit/>
          </a:bodyPr>
          <a:lstStyle/>
          <a:p>
            <a:r>
              <a:rPr lang="en-US" sz="1691" b="1">
                <a:solidFill>
                  <a:schemeClr val="dk1"/>
                </a:solidFill>
                <a:latin typeface="Arial"/>
                <a:ea typeface="Arial"/>
                <a:cs typeface="Arial"/>
                <a:sym typeface="Arial"/>
              </a:rPr>
              <a:t>Go Slow	              Go Fast</a:t>
            </a:r>
            <a:endParaRPr sz="1691" b="1">
              <a:solidFill>
                <a:schemeClr val="dk1"/>
              </a:solidFill>
              <a:latin typeface="Arial"/>
              <a:ea typeface="Arial"/>
              <a:cs typeface="Arial"/>
              <a:sym typeface="Arial"/>
            </a:endParaRPr>
          </a:p>
        </p:txBody>
      </p:sp>
      <p:pic>
        <p:nvPicPr>
          <p:cNvPr id="797" name="Google Shape;797;p21"/>
          <p:cNvPicPr preferRelativeResize="0"/>
          <p:nvPr/>
        </p:nvPicPr>
        <p:blipFill rotWithShape="1">
          <a:blip r:embed="rId16">
            <a:alphaModFix/>
          </a:blip>
          <a:srcRect/>
          <a:stretch/>
        </p:blipFill>
        <p:spPr>
          <a:xfrm>
            <a:off x="8412950" y="174164"/>
            <a:ext cx="3801188" cy="2804468"/>
          </a:xfrm>
          <a:prstGeom prst="rect">
            <a:avLst/>
          </a:prstGeom>
          <a:noFill/>
          <a:ln>
            <a:noFill/>
          </a:ln>
        </p:spPr>
      </p:pic>
      <p:sp>
        <p:nvSpPr>
          <p:cNvPr id="798" name="Google Shape;798;p21"/>
          <p:cNvSpPr/>
          <p:nvPr/>
        </p:nvSpPr>
        <p:spPr>
          <a:xfrm>
            <a:off x="8072254" y="553000"/>
            <a:ext cx="396569" cy="112734"/>
          </a:xfrm>
          <a:prstGeom prst="rightArrow">
            <a:avLst>
              <a:gd name="adj1" fmla="val 50000"/>
              <a:gd name="adj2" fmla="val 50000"/>
            </a:avLst>
          </a:prstGeom>
          <a:solidFill>
            <a:srgbClr val="E9A820"/>
          </a:solidFill>
          <a:ln w="25400" cap="flat" cmpd="sng">
            <a:solidFill>
              <a:srgbClr val="E9A820"/>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lt1"/>
              </a:solidFill>
              <a:latin typeface="Arial"/>
              <a:ea typeface="Arial"/>
              <a:cs typeface="Arial"/>
              <a:sym typeface="Arial"/>
            </a:endParaRPr>
          </a:p>
        </p:txBody>
      </p:sp>
      <p:pic>
        <p:nvPicPr>
          <p:cNvPr id="799" name="Google Shape;799;p21"/>
          <p:cNvPicPr preferRelativeResize="0"/>
          <p:nvPr/>
        </p:nvPicPr>
        <p:blipFill rotWithShape="1">
          <a:blip r:embed="rId17">
            <a:alphaModFix/>
          </a:blip>
          <a:srcRect/>
          <a:stretch/>
        </p:blipFill>
        <p:spPr>
          <a:xfrm>
            <a:off x="10858343" y="546570"/>
            <a:ext cx="672728" cy="262364"/>
          </a:xfrm>
          <a:prstGeom prst="rect">
            <a:avLst/>
          </a:prstGeom>
          <a:noFill/>
          <a:ln>
            <a:noFill/>
          </a:ln>
        </p:spPr>
      </p:pic>
      <p:sp>
        <p:nvSpPr>
          <p:cNvPr id="800" name="Google Shape;800;p21"/>
          <p:cNvSpPr/>
          <p:nvPr/>
        </p:nvSpPr>
        <p:spPr>
          <a:xfrm>
            <a:off x="10674266" y="594739"/>
            <a:ext cx="1554059" cy="455260"/>
          </a:xfrm>
          <a:prstGeom prst="rect">
            <a:avLst/>
          </a:prstGeom>
          <a:noFill/>
          <a:ln>
            <a:noFill/>
          </a:ln>
        </p:spPr>
        <p:txBody>
          <a:bodyPr spcFirstLastPara="1" wrap="square" lIns="193227" tIns="96587" rIns="193227" bIns="96587" anchor="t" anchorCtr="0">
            <a:spAutoFit/>
          </a:bodyPr>
          <a:lstStyle/>
          <a:p>
            <a:r>
              <a:rPr lang="en-US" sz="1691" b="1">
                <a:solidFill>
                  <a:srgbClr val="000000"/>
                </a:solidFill>
                <a:latin typeface="Arial"/>
                <a:ea typeface="Arial"/>
                <a:cs typeface="Arial"/>
                <a:sym typeface="Arial"/>
              </a:rPr>
              <a:t>ɵ = 0.01</a:t>
            </a:r>
            <a:endParaRPr sz="1691" b="1">
              <a:solidFill>
                <a:srgbClr val="000000"/>
              </a:solidFill>
              <a:latin typeface="Arial"/>
              <a:ea typeface="Arial"/>
              <a:cs typeface="Arial"/>
              <a:sym typeface="Arial"/>
            </a:endParaRPr>
          </a:p>
        </p:txBody>
      </p:sp>
      <p:graphicFrame>
        <p:nvGraphicFramePr>
          <p:cNvPr id="801" name="Google Shape;801;p21"/>
          <p:cNvGraphicFramePr/>
          <p:nvPr/>
        </p:nvGraphicFramePr>
        <p:xfrm>
          <a:off x="633104" y="4853184"/>
          <a:ext cx="2953514" cy="1687520"/>
        </p:xfrm>
        <a:graphic>
          <a:graphicData uri="http://schemas.openxmlformats.org/drawingml/2006/table">
            <a:tbl>
              <a:tblPr firstRow="1" bandRow="1">
                <a:noFill/>
              </a:tblPr>
              <a:tblGrid>
                <a:gridCol w="1476757">
                  <a:extLst>
                    <a:ext uri="{9D8B030D-6E8A-4147-A177-3AD203B41FA5}">
                      <a16:colId xmlns:a16="http://schemas.microsoft.com/office/drawing/2014/main" val="20000"/>
                    </a:ext>
                  </a:extLst>
                </a:gridCol>
                <a:gridCol w="1476757">
                  <a:extLst>
                    <a:ext uri="{9D8B030D-6E8A-4147-A177-3AD203B41FA5}">
                      <a16:colId xmlns:a16="http://schemas.microsoft.com/office/drawing/2014/main" val="20001"/>
                    </a:ext>
                  </a:extLst>
                </a:gridCol>
              </a:tblGrid>
              <a:tr h="418748">
                <a:tc>
                  <a:txBody>
                    <a:bodyPr/>
                    <a:lstStyle/>
                    <a:p>
                      <a:pPr marL="0" marR="0" lvl="0" indent="0" algn="l" rtl="0">
                        <a:lnSpc>
                          <a:spcPct val="100000"/>
                        </a:lnSpc>
                        <a:spcBef>
                          <a:spcPts val="0"/>
                        </a:spcBef>
                        <a:spcAft>
                          <a:spcPts val="0"/>
                        </a:spcAft>
                        <a:buNone/>
                      </a:pPr>
                      <a:r>
                        <a:rPr lang="en-US" sz="1500" u="none" strike="noStrike" cap="none"/>
                        <a:t>State</a:t>
                      </a:r>
                      <a:endParaRPr sz="1500" u="none" strike="noStrike" cap="none"/>
                    </a:p>
                  </a:txBody>
                  <a:tcPr marL="193280" marR="193280" marT="96640" marB="96640"/>
                </a:tc>
                <a:tc>
                  <a:txBody>
                    <a:bodyPr/>
                    <a:lstStyle/>
                    <a:p>
                      <a:pPr marL="0" marR="0" lvl="0" indent="0" algn="l" rtl="0">
                        <a:lnSpc>
                          <a:spcPct val="100000"/>
                        </a:lnSpc>
                        <a:spcBef>
                          <a:spcPts val="0"/>
                        </a:spcBef>
                        <a:spcAft>
                          <a:spcPts val="0"/>
                        </a:spcAft>
                        <a:buNone/>
                      </a:pPr>
                      <a:r>
                        <a:rPr lang="en-US" sz="1500" u="none" strike="noStrike" cap="none"/>
                        <a:t>Best Action</a:t>
                      </a:r>
                      <a:endParaRPr sz="1500" u="none" strike="noStrike" cap="none"/>
                    </a:p>
                  </a:txBody>
                  <a:tcPr marL="193280" marR="193280" marT="96640" marB="96640"/>
                </a:tc>
                <a:extLst>
                  <a:ext uri="{0D108BD9-81ED-4DB2-BD59-A6C34878D82A}">
                    <a16:rowId xmlns:a16="http://schemas.microsoft.com/office/drawing/2014/main" val="10000"/>
                  </a:ext>
                </a:extLst>
              </a:tr>
              <a:tr h="418748">
                <a:tc>
                  <a:txBody>
                    <a:bodyPr/>
                    <a:lstStyle/>
                    <a:p>
                      <a:pPr marL="0" marR="0" lvl="0" indent="0" algn="l" rtl="0">
                        <a:lnSpc>
                          <a:spcPct val="100000"/>
                        </a:lnSpc>
                        <a:spcBef>
                          <a:spcPts val="0"/>
                        </a:spcBef>
                        <a:spcAft>
                          <a:spcPts val="0"/>
                        </a:spcAft>
                        <a:buNone/>
                      </a:pPr>
                      <a:r>
                        <a:rPr lang="en-US" sz="1500" u="none" strike="noStrike" cap="none"/>
                        <a:t>Cool</a:t>
                      </a:r>
                      <a:endParaRPr sz="1500" u="none" strike="noStrike" cap="none"/>
                    </a:p>
                  </a:txBody>
                  <a:tcPr marL="193280" marR="193280" marT="96640" marB="96640"/>
                </a:tc>
                <a:tc>
                  <a:txBody>
                    <a:bodyPr/>
                    <a:lstStyle/>
                    <a:p>
                      <a:pPr marL="0" marR="0" lvl="0" indent="0" algn="l" rtl="0">
                        <a:lnSpc>
                          <a:spcPct val="100000"/>
                        </a:lnSpc>
                        <a:spcBef>
                          <a:spcPts val="0"/>
                        </a:spcBef>
                        <a:spcAft>
                          <a:spcPts val="0"/>
                        </a:spcAft>
                        <a:buNone/>
                      </a:pPr>
                      <a:r>
                        <a:rPr lang="en-US" sz="1500" u="none" strike="noStrike" cap="none"/>
                        <a:t>Slow</a:t>
                      </a:r>
                      <a:endParaRPr sz="1500" u="none" strike="noStrike" cap="none"/>
                    </a:p>
                  </a:txBody>
                  <a:tcPr marL="193280" marR="193280" marT="96640" marB="96640"/>
                </a:tc>
                <a:extLst>
                  <a:ext uri="{0D108BD9-81ED-4DB2-BD59-A6C34878D82A}">
                    <a16:rowId xmlns:a16="http://schemas.microsoft.com/office/drawing/2014/main" val="10001"/>
                  </a:ext>
                </a:extLst>
              </a:tr>
              <a:tr h="418748">
                <a:tc>
                  <a:txBody>
                    <a:bodyPr/>
                    <a:lstStyle/>
                    <a:p>
                      <a:pPr marL="0" marR="0" lvl="0" indent="0" algn="l" rtl="0">
                        <a:lnSpc>
                          <a:spcPct val="100000"/>
                        </a:lnSpc>
                        <a:spcBef>
                          <a:spcPts val="0"/>
                        </a:spcBef>
                        <a:spcAft>
                          <a:spcPts val="0"/>
                        </a:spcAft>
                        <a:buNone/>
                      </a:pPr>
                      <a:r>
                        <a:rPr lang="en-US" sz="1500" u="none" strike="noStrike" cap="none"/>
                        <a:t>Warm</a:t>
                      </a:r>
                      <a:endParaRPr sz="1500" u="none" strike="noStrike" cap="none"/>
                    </a:p>
                  </a:txBody>
                  <a:tcPr marL="193280" marR="193280" marT="96640" marB="96640"/>
                </a:tc>
                <a:tc>
                  <a:txBody>
                    <a:bodyPr/>
                    <a:lstStyle/>
                    <a:p>
                      <a:pPr marL="0" marR="0" lvl="0" indent="0" algn="l" rtl="0">
                        <a:lnSpc>
                          <a:spcPct val="100000"/>
                        </a:lnSpc>
                        <a:spcBef>
                          <a:spcPts val="0"/>
                        </a:spcBef>
                        <a:spcAft>
                          <a:spcPts val="0"/>
                        </a:spcAft>
                        <a:buNone/>
                      </a:pPr>
                      <a:r>
                        <a:rPr lang="en-US" sz="1500" u="none" strike="noStrike" cap="none"/>
                        <a:t>Slow</a:t>
                      </a:r>
                      <a:endParaRPr sz="1500" u="none" strike="noStrike" cap="none"/>
                    </a:p>
                  </a:txBody>
                  <a:tcPr marL="193280" marR="193280" marT="96640" marB="96640"/>
                </a:tc>
                <a:extLst>
                  <a:ext uri="{0D108BD9-81ED-4DB2-BD59-A6C34878D82A}">
                    <a16:rowId xmlns:a16="http://schemas.microsoft.com/office/drawing/2014/main" val="10002"/>
                  </a:ext>
                </a:extLst>
              </a:tr>
              <a:tr h="418748">
                <a:tc>
                  <a:txBody>
                    <a:bodyPr/>
                    <a:lstStyle/>
                    <a:p>
                      <a:pPr marL="0" marR="0" lvl="0" indent="0" algn="l" rtl="0">
                        <a:lnSpc>
                          <a:spcPct val="100000"/>
                        </a:lnSpc>
                        <a:spcBef>
                          <a:spcPts val="0"/>
                        </a:spcBef>
                        <a:spcAft>
                          <a:spcPts val="0"/>
                        </a:spcAft>
                        <a:buNone/>
                      </a:pPr>
                      <a:r>
                        <a:rPr lang="en-US" sz="1500" u="none" strike="noStrike" cap="none"/>
                        <a:t>Overheated</a:t>
                      </a:r>
                      <a:endParaRPr sz="1500" u="none" strike="noStrike" cap="none"/>
                    </a:p>
                  </a:txBody>
                  <a:tcPr marL="193280" marR="193280" marT="96640" marB="96640"/>
                </a:tc>
                <a:tc>
                  <a:txBody>
                    <a:bodyPr/>
                    <a:lstStyle/>
                    <a:p>
                      <a:pPr marL="0" marR="0" lvl="0" indent="0" algn="l" rtl="0">
                        <a:lnSpc>
                          <a:spcPct val="100000"/>
                        </a:lnSpc>
                        <a:spcBef>
                          <a:spcPts val="0"/>
                        </a:spcBef>
                        <a:spcAft>
                          <a:spcPts val="0"/>
                        </a:spcAft>
                        <a:buNone/>
                      </a:pPr>
                      <a:r>
                        <a:rPr lang="en-US" sz="1500" u="none" strike="noStrike" cap="none"/>
                        <a:t>-</a:t>
                      </a:r>
                      <a:endParaRPr sz="1500" u="none" strike="noStrike" cap="none"/>
                    </a:p>
                  </a:txBody>
                  <a:tcPr marL="193280" marR="193280" marT="96640" marB="96640"/>
                </a:tc>
                <a:extLst>
                  <a:ext uri="{0D108BD9-81ED-4DB2-BD59-A6C34878D82A}">
                    <a16:rowId xmlns:a16="http://schemas.microsoft.com/office/drawing/2014/main" val="10003"/>
                  </a:ext>
                </a:extLst>
              </a:tr>
            </a:tbl>
          </a:graphicData>
        </a:graphic>
      </p:graphicFrame>
      <p:sp>
        <p:nvSpPr>
          <p:cNvPr id="802" name="Google Shape;802;p21"/>
          <p:cNvSpPr txBox="1"/>
          <p:nvPr/>
        </p:nvSpPr>
        <p:spPr>
          <a:xfrm>
            <a:off x="1681910" y="4293585"/>
            <a:ext cx="880073" cy="650442"/>
          </a:xfrm>
          <a:prstGeom prst="rect">
            <a:avLst/>
          </a:prstGeom>
          <a:noFill/>
          <a:ln>
            <a:noFill/>
          </a:ln>
        </p:spPr>
        <p:txBody>
          <a:bodyPr spcFirstLastPara="1" wrap="square" lIns="193227" tIns="96587" rIns="193227" bIns="96587" anchor="t" anchorCtr="0">
            <a:spAutoFit/>
          </a:bodyPr>
          <a:lstStyle/>
          <a:p>
            <a:r>
              <a:rPr lang="en-US" sz="2959" b="1">
                <a:solidFill>
                  <a:schemeClr val="dk1"/>
                </a:solidFill>
                <a:latin typeface="Arial"/>
                <a:ea typeface="Arial"/>
                <a:cs typeface="Arial"/>
                <a:sym typeface="Arial"/>
              </a:rPr>
              <a:t>π</a:t>
            </a:r>
            <a:r>
              <a:rPr lang="en-US" sz="2959" b="1" baseline="-25000">
                <a:solidFill>
                  <a:schemeClr val="dk1"/>
                </a:solidFill>
                <a:latin typeface="Arial"/>
                <a:ea typeface="Arial"/>
                <a:cs typeface="Arial"/>
                <a:sym typeface="Arial"/>
              </a:rPr>
              <a:t>0</a:t>
            </a:r>
            <a:endParaRPr sz="2959" b="1" baseline="-25000">
              <a:solidFill>
                <a:schemeClr val="dk1"/>
              </a:solidFill>
              <a:latin typeface="Arial"/>
              <a:ea typeface="Arial"/>
              <a:cs typeface="Arial"/>
              <a:sym typeface="Arial"/>
            </a:endParaRPr>
          </a:p>
        </p:txBody>
      </p:sp>
      <p:sp>
        <p:nvSpPr>
          <p:cNvPr id="803" name="Google Shape;803;p21"/>
          <p:cNvSpPr txBox="1"/>
          <p:nvPr/>
        </p:nvSpPr>
        <p:spPr>
          <a:xfrm>
            <a:off x="3652896" y="4150603"/>
            <a:ext cx="3552587" cy="2377691"/>
          </a:xfrm>
          <a:prstGeom prst="rect">
            <a:avLst/>
          </a:prstGeom>
          <a:solidFill>
            <a:srgbClr val="F0C040"/>
          </a:solidFill>
          <a:ln>
            <a:noFill/>
          </a:ln>
        </p:spPr>
        <p:txBody>
          <a:bodyPr spcFirstLastPara="1" wrap="square" lIns="193227" tIns="193227" rIns="193227" bIns="193227" anchor="t" anchorCtr="0">
            <a:noAutofit/>
          </a:bodyPr>
          <a:lstStyle/>
          <a:p>
            <a:r>
              <a:rPr lang="en-US" sz="1585" b="1">
                <a:solidFill>
                  <a:srgbClr val="1B1472"/>
                </a:solidFill>
              </a:rPr>
              <a:t>We will use asynchronous for updates in this example. Note that even though above backup diagram depicts all possible transition, this algorithm computes value from only one of the action as given by the initialized policy at the start of every iteration!!!</a:t>
            </a:r>
            <a:endParaRPr sz="1585" b="1">
              <a:solidFill>
                <a:srgbClr val="1B1472"/>
              </a:solidFill>
            </a:endParaRPr>
          </a:p>
        </p:txBody>
      </p:sp>
      <p:sp>
        <p:nvSpPr>
          <p:cNvPr id="2" name="Footer">
            <a:extLst>
              <a:ext uri="{FF2B5EF4-FFF2-40B4-BE49-F238E27FC236}">
                <a16:creationId xmlns:a16="http://schemas.microsoft.com/office/drawing/2014/main" id="{A96AA797-D522-4817-10AB-1B70FE89F23B}"/>
              </a:ext>
            </a:extLst>
          </p:cNvPr>
          <p:cNvSpPr txBox="1">
            <a:spLocks/>
          </p:cNvSpPr>
          <p:nvPr/>
        </p:nvSpPr>
        <p:spPr>
          <a:xfrm>
            <a:off x="2986528" y="6580857"/>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801"/>
                                        </p:tgtEl>
                                        <p:attrNameLst>
                                          <p:attrName>style.visibility</p:attrName>
                                        </p:attrNameLst>
                                      </p:cBhvr>
                                      <p:to>
                                        <p:strVal val="visible"/>
                                      </p:to>
                                    </p:set>
                                    <p:animEffect transition="in" filter="fade">
                                      <p:cBhvr>
                                        <p:cTn id="11" dur="500"/>
                                        <p:tgtEl>
                                          <p:spTgt spid="8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22"/>
          <p:cNvSpPr txBox="1">
            <a:spLocks noGrp="1"/>
          </p:cNvSpPr>
          <p:nvPr>
            <p:ph type="title"/>
          </p:nvPr>
        </p:nvSpPr>
        <p:spPr>
          <a:xfrm>
            <a:off x="177559" y="231525"/>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 – Policy Iteration</a:t>
            </a:r>
            <a:endParaRPr/>
          </a:p>
        </p:txBody>
      </p:sp>
      <p:grpSp>
        <p:nvGrpSpPr>
          <p:cNvPr id="809" name="Google Shape;809;p22"/>
          <p:cNvGrpSpPr/>
          <p:nvPr/>
        </p:nvGrpSpPr>
        <p:grpSpPr>
          <a:xfrm>
            <a:off x="2983" y="6571410"/>
            <a:ext cx="12174329" cy="194601"/>
            <a:chOff x="0" y="3109250"/>
            <a:chExt cx="5760261" cy="92075"/>
          </a:xfrm>
        </p:grpSpPr>
        <p:sp>
          <p:nvSpPr>
            <p:cNvPr id="810" name="Google Shape;810;p22"/>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811" name="Google Shape;811;p22"/>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812" name="Google Shape;812;p22"/>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814" name="Google Shape;814;p22"/>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32</a:t>
            </a:fld>
            <a:r>
              <a:rPr lang="en-US"/>
              <a:t> / 46</a:t>
            </a:r>
            <a:endParaRPr/>
          </a:p>
        </p:txBody>
      </p:sp>
      <p:pic>
        <p:nvPicPr>
          <p:cNvPr id="815" name="Google Shape;815;p22" descr="TP_tmp.png"/>
          <p:cNvPicPr preferRelativeResize="0"/>
          <p:nvPr/>
        </p:nvPicPr>
        <p:blipFill rotWithShape="1">
          <a:blip r:embed="rId3">
            <a:alphaModFix/>
          </a:blip>
          <a:srcRect/>
          <a:stretch/>
        </p:blipFill>
        <p:spPr>
          <a:xfrm>
            <a:off x="364607" y="1756415"/>
            <a:ext cx="203949" cy="322518"/>
          </a:xfrm>
          <a:prstGeom prst="rect">
            <a:avLst/>
          </a:prstGeom>
          <a:noFill/>
          <a:ln>
            <a:noFill/>
          </a:ln>
        </p:spPr>
      </p:pic>
      <p:pic>
        <p:nvPicPr>
          <p:cNvPr id="816" name="Google Shape;816;p22"/>
          <p:cNvPicPr preferRelativeResize="0"/>
          <p:nvPr/>
        </p:nvPicPr>
        <p:blipFill rotWithShape="1">
          <a:blip r:embed="rId4">
            <a:alphaModFix/>
          </a:blip>
          <a:srcRect/>
          <a:stretch/>
        </p:blipFill>
        <p:spPr>
          <a:xfrm>
            <a:off x="1123247" y="1115162"/>
            <a:ext cx="535435" cy="556722"/>
          </a:xfrm>
          <a:prstGeom prst="rect">
            <a:avLst/>
          </a:prstGeom>
          <a:noFill/>
          <a:ln>
            <a:noFill/>
          </a:ln>
        </p:spPr>
      </p:pic>
      <p:pic>
        <p:nvPicPr>
          <p:cNvPr id="817" name="Google Shape;817;p22"/>
          <p:cNvPicPr preferRelativeResize="0"/>
          <p:nvPr/>
        </p:nvPicPr>
        <p:blipFill rotWithShape="1">
          <a:blip r:embed="rId5">
            <a:alphaModFix/>
          </a:blip>
          <a:srcRect/>
          <a:stretch/>
        </p:blipFill>
        <p:spPr>
          <a:xfrm>
            <a:off x="2509775" y="1035634"/>
            <a:ext cx="568088" cy="636251"/>
          </a:xfrm>
          <a:prstGeom prst="rect">
            <a:avLst/>
          </a:prstGeom>
          <a:noFill/>
          <a:ln>
            <a:noFill/>
          </a:ln>
        </p:spPr>
      </p:pic>
      <p:pic>
        <p:nvPicPr>
          <p:cNvPr id="818" name="Google Shape;818;p22"/>
          <p:cNvPicPr preferRelativeResize="0"/>
          <p:nvPr/>
        </p:nvPicPr>
        <p:blipFill rotWithShape="1">
          <a:blip r:embed="rId6">
            <a:alphaModFix/>
          </a:blip>
          <a:srcRect/>
          <a:stretch/>
        </p:blipFill>
        <p:spPr>
          <a:xfrm>
            <a:off x="1821735" y="1077450"/>
            <a:ext cx="585286" cy="583232"/>
          </a:xfrm>
          <a:prstGeom prst="rect">
            <a:avLst/>
          </a:prstGeom>
          <a:noFill/>
          <a:ln>
            <a:noFill/>
          </a:ln>
        </p:spPr>
      </p:pic>
      <p:sp>
        <p:nvSpPr>
          <p:cNvPr id="819" name="Google Shape;819;p22"/>
          <p:cNvSpPr/>
          <p:nvPr/>
        </p:nvSpPr>
        <p:spPr>
          <a:xfrm>
            <a:off x="657828" y="3005348"/>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820" name="Google Shape;820;p22"/>
          <p:cNvSpPr/>
          <p:nvPr/>
        </p:nvSpPr>
        <p:spPr>
          <a:xfrm>
            <a:off x="690038" y="2276822"/>
            <a:ext cx="2928770" cy="455253"/>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821" name="Google Shape;821;p22"/>
          <p:cNvSpPr/>
          <p:nvPr/>
        </p:nvSpPr>
        <p:spPr>
          <a:xfrm>
            <a:off x="696040" y="1667731"/>
            <a:ext cx="2928770" cy="455257"/>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pic>
        <p:nvPicPr>
          <p:cNvPr id="822" name="Google Shape;822;p22" descr="TP_tmp.png"/>
          <p:cNvPicPr preferRelativeResize="0"/>
          <p:nvPr/>
        </p:nvPicPr>
        <p:blipFill rotWithShape="1">
          <a:blip r:embed="rId7">
            <a:alphaModFix/>
          </a:blip>
          <a:srcRect/>
          <a:stretch/>
        </p:blipFill>
        <p:spPr>
          <a:xfrm>
            <a:off x="346553" y="2375833"/>
            <a:ext cx="183630" cy="323298"/>
          </a:xfrm>
          <a:prstGeom prst="rect">
            <a:avLst/>
          </a:prstGeom>
          <a:noFill/>
          <a:ln>
            <a:noFill/>
          </a:ln>
        </p:spPr>
      </p:pic>
      <p:pic>
        <p:nvPicPr>
          <p:cNvPr id="823" name="Google Shape;823;p22" descr="TP_tmp.png"/>
          <p:cNvPicPr preferRelativeResize="0"/>
          <p:nvPr/>
        </p:nvPicPr>
        <p:blipFill rotWithShape="1">
          <a:blip r:embed="rId8">
            <a:alphaModFix/>
          </a:blip>
          <a:srcRect/>
          <a:stretch/>
        </p:blipFill>
        <p:spPr>
          <a:xfrm>
            <a:off x="353872" y="3017816"/>
            <a:ext cx="204441" cy="323298"/>
          </a:xfrm>
          <a:prstGeom prst="rect">
            <a:avLst/>
          </a:prstGeom>
          <a:noFill/>
          <a:ln>
            <a:noFill/>
          </a:ln>
        </p:spPr>
      </p:pic>
      <p:sp>
        <p:nvSpPr>
          <p:cNvPr id="824" name="Google Shape;824;p22"/>
          <p:cNvSpPr txBox="1"/>
          <p:nvPr/>
        </p:nvSpPr>
        <p:spPr>
          <a:xfrm>
            <a:off x="1098665" y="1667735"/>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0             0             0 ……..</a:t>
            </a:r>
            <a:endParaRPr sz="634">
              <a:solidFill>
                <a:srgbClr val="000000"/>
              </a:solidFill>
              <a:latin typeface="Arial"/>
              <a:ea typeface="Arial"/>
              <a:cs typeface="Arial"/>
              <a:sym typeface="Arial"/>
            </a:endParaRPr>
          </a:p>
        </p:txBody>
      </p:sp>
      <p:sp>
        <p:nvSpPr>
          <p:cNvPr id="825" name="Google Shape;825;p22"/>
          <p:cNvSpPr txBox="1"/>
          <p:nvPr/>
        </p:nvSpPr>
        <p:spPr>
          <a:xfrm>
            <a:off x="1068904" y="2276821"/>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b="1">
                <a:solidFill>
                  <a:srgbClr val="FF0000"/>
                </a:solidFill>
                <a:latin typeface="Calibri"/>
                <a:ea typeface="Calibri"/>
                <a:cs typeface="Calibri"/>
                <a:sym typeface="Calibri"/>
              </a:rPr>
              <a:t>  1             </a:t>
            </a:r>
            <a:r>
              <a:rPr lang="en-US" sz="1691">
                <a:solidFill>
                  <a:schemeClr val="dk1"/>
                </a:solidFill>
                <a:latin typeface="Calibri"/>
                <a:ea typeface="Calibri"/>
                <a:cs typeface="Calibri"/>
                <a:sym typeface="Calibri"/>
              </a:rPr>
              <a:t>1.45        0……….</a:t>
            </a:r>
            <a:endParaRPr sz="634">
              <a:solidFill>
                <a:srgbClr val="000000"/>
              </a:solidFill>
              <a:latin typeface="Arial"/>
              <a:ea typeface="Arial"/>
              <a:cs typeface="Arial"/>
              <a:sym typeface="Arial"/>
            </a:endParaRPr>
          </a:p>
        </p:txBody>
      </p:sp>
      <p:pic>
        <p:nvPicPr>
          <p:cNvPr id="826" name="Google Shape;826;p22"/>
          <p:cNvPicPr preferRelativeResize="0"/>
          <p:nvPr/>
        </p:nvPicPr>
        <p:blipFill rotWithShape="1">
          <a:blip r:embed="rId9">
            <a:alphaModFix/>
          </a:blip>
          <a:srcRect/>
          <a:stretch/>
        </p:blipFill>
        <p:spPr>
          <a:xfrm>
            <a:off x="7217220" y="3254172"/>
            <a:ext cx="4960091" cy="3006946"/>
          </a:xfrm>
          <a:prstGeom prst="rect">
            <a:avLst/>
          </a:prstGeom>
          <a:noFill/>
          <a:ln>
            <a:noFill/>
          </a:ln>
        </p:spPr>
      </p:pic>
      <p:sp>
        <p:nvSpPr>
          <p:cNvPr id="827" name="Google Shape;827;p22"/>
          <p:cNvSpPr/>
          <p:nvPr/>
        </p:nvSpPr>
        <p:spPr>
          <a:xfrm>
            <a:off x="6050456" y="841601"/>
            <a:ext cx="778978" cy="512157"/>
          </a:xfrm>
          <a:prstGeom prst="triangle">
            <a:avLst>
              <a:gd name="adj" fmla="val 50000"/>
            </a:avLst>
          </a:prstGeom>
          <a:blipFill rotWithShape="1">
            <a:blip r:embed="rId10">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828" name="Google Shape;828;p22"/>
          <p:cNvSpPr/>
          <p:nvPr/>
        </p:nvSpPr>
        <p:spPr>
          <a:xfrm>
            <a:off x="6892541" y="1813470"/>
            <a:ext cx="625462" cy="437850"/>
          </a:xfrm>
          <a:prstGeom prst="ellipse">
            <a:avLst/>
          </a:prstGeom>
          <a:blipFill rotWithShape="1">
            <a:blip r:embed="rId11">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829" name="Google Shape;829;p22"/>
          <p:cNvSpPr/>
          <p:nvPr/>
        </p:nvSpPr>
        <p:spPr>
          <a:xfrm>
            <a:off x="5047781" y="1829569"/>
            <a:ext cx="625462" cy="437850"/>
          </a:xfrm>
          <a:prstGeom prst="ellipse">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830" name="Google Shape;830;p22"/>
          <p:cNvSpPr/>
          <p:nvPr/>
        </p:nvSpPr>
        <p:spPr>
          <a:xfrm>
            <a:off x="4725108" y="2628430"/>
            <a:ext cx="590200" cy="417406"/>
          </a:xfrm>
          <a:prstGeom prst="rect">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831" name="Google Shape;831;p22"/>
          <p:cNvSpPr/>
          <p:nvPr/>
        </p:nvSpPr>
        <p:spPr>
          <a:xfrm>
            <a:off x="6425087" y="2628427"/>
            <a:ext cx="590200" cy="417406"/>
          </a:xfrm>
          <a:prstGeom prst="rect">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832" name="Google Shape;832;p22"/>
          <p:cNvSpPr/>
          <p:nvPr/>
        </p:nvSpPr>
        <p:spPr>
          <a:xfrm>
            <a:off x="7633305" y="2635890"/>
            <a:ext cx="590200" cy="417406"/>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cxnSp>
        <p:nvCxnSpPr>
          <p:cNvPr id="833" name="Google Shape;833;p22"/>
          <p:cNvCxnSpPr>
            <a:stCxn id="827" idx="3"/>
            <a:endCxn id="829" idx="7"/>
          </p:cNvCxnSpPr>
          <p:nvPr/>
        </p:nvCxnSpPr>
        <p:spPr>
          <a:xfrm flipH="1">
            <a:off x="5581440" y="1353758"/>
            <a:ext cx="858505" cy="540211"/>
          </a:xfrm>
          <a:prstGeom prst="straightConnector1">
            <a:avLst/>
          </a:prstGeom>
          <a:noFill/>
          <a:ln w="9525" cap="flat" cmpd="sng">
            <a:solidFill>
              <a:schemeClr val="dk1"/>
            </a:solidFill>
            <a:prstDash val="solid"/>
            <a:miter lim="800000"/>
            <a:headEnd type="none" w="sm" len="sm"/>
            <a:tailEnd type="triangle" w="med" len="med"/>
          </a:ln>
        </p:spPr>
      </p:cxnSp>
      <p:cxnSp>
        <p:nvCxnSpPr>
          <p:cNvPr id="834" name="Google Shape;834;p22"/>
          <p:cNvCxnSpPr>
            <a:stCxn id="827" idx="3"/>
            <a:endCxn id="828" idx="1"/>
          </p:cNvCxnSpPr>
          <p:nvPr/>
        </p:nvCxnSpPr>
        <p:spPr>
          <a:xfrm>
            <a:off x="6439945" y="1353758"/>
            <a:ext cx="544016" cy="523726"/>
          </a:xfrm>
          <a:prstGeom prst="straightConnector1">
            <a:avLst/>
          </a:prstGeom>
          <a:noFill/>
          <a:ln w="9525" cap="flat" cmpd="sng">
            <a:solidFill>
              <a:schemeClr val="dk1"/>
            </a:solidFill>
            <a:prstDash val="solid"/>
            <a:miter lim="800000"/>
            <a:headEnd type="none" w="sm" len="sm"/>
            <a:tailEnd type="triangle" w="med" len="med"/>
          </a:ln>
        </p:spPr>
      </p:cxnSp>
      <p:cxnSp>
        <p:nvCxnSpPr>
          <p:cNvPr id="835" name="Google Shape;835;p22"/>
          <p:cNvCxnSpPr>
            <a:stCxn id="829" idx="4"/>
            <a:endCxn id="830" idx="0"/>
          </p:cNvCxnSpPr>
          <p:nvPr/>
        </p:nvCxnSpPr>
        <p:spPr>
          <a:xfrm flipH="1">
            <a:off x="5020026" y="2267419"/>
            <a:ext cx="340485" cy="360775"/>
          </a:xfrm>
          <a:prstGeom prst="straightConnector1">
            <a:avLst/>
          </a:prstGeom>
          <a:noFill/>
          <a:ln w="9525" cap="flat" cmpd="sng">
            <a:solidFill>
              <a:schemeClr val="dk1"/>
            </a:solidFill>
            <a:prstDash val="solid"/>
            <a:miter lim="800000"/>
            <a:headEnd type="none" w="sm" len="sm"/>
            <a:tailEnd type="triangle" w="med" len="med"/>
          </a:ln>
        </p:spPr>
      </p:cxnSp>
      <p:cxnSp>
        <p:nvCxnSpPr>
          <p:cNvPr id="836" name="Google Shape;836;p22"/>
          <p:cNvCxnSpPr>
            <a:stCxn id="828" idx="4"/>
            <a:endCxn id="832" idx="0"/>
          </p:cNvCxnSpPr>
          <p:nvPr/>
        </p:nvCxnSpPr>
        <p:spPr>
          <a:xfrm>
            <a:off x="7205272" y="2251320"/>
            <a:ext cx="722818" cy="384869"/>
          </a:xfrm>
          <a:prstGeom prst="straightConnector1">
            <a:avLst/>
          </a:prstGeom>
          <a:noFill/>
          <a:ln w="9525" cap="flat" cmpd="sng">
            <a:solidFill>
              <a:schemeClr val="dk1"/>
            </a:solidFill>
            <a:prstDash val="solid"/>
            <a:miter lim="800000"/>
            <a:headEnd type="none" w="sm" len="sm"/>
            <a:tailEnd type="triangle" w="med" len="med"/>
          </a:ln>
        </p:spPr>
      </p:cxnSp>
      <p:cxnSp>
        <p:nvCxnSpPr>
          <p:cNvPr id="837" name="Google Shape;837;p22"/>
          <p:cNvCxnSpPr>
            <a:stCxn id="828" idx="4"/>
            <a:endCxn id="831" idx="0"/>
          </p:cNvCxnSpPr>
          <p:nvPr/>
        </p:nvCxnSpPr>
        <p:spPr>
          <a:xfrm flipH="1">
            <a:off x="6720223" y="2251320"/>
            <a:ext cx="485049" cy="377260"/>
          </a:xfrm>
          <a:prstGeom prst="straightConnector1">
            <a:avLst/>
          </a:prstGeom>
          <a:noFill/>
          <a:ln w="9525" cap="flat" cmpd="sng">
            <a:solidFill>
              <a:schemeClr val="dk1"/>
            </a:solidFill>
            <a:prstDash val="solid"/>
            <a:miter lim="800000"/>
            <a:headEnd type="none" w="sm" len="sm"/>
            <a:tailEnd type="triangle" w="med" len="med"/>
          </a:ln>
        </p:spPr>
      </p:cxnSp>
      <p:cxnSp>
        <p:nvCxnSpPr>
          <p:cNvPr id="838" name="Google Shape;838;p22"/>
          <p:cNvCxnSpPr/>
          <p:nvPr/>
        </p:nvCxnSpPr>
        <p:spPr>
          <a:xfrm flipH="1">
            <a:off x="4851542" y="3045832"/>
            <a:ext cx="158880" cy="452015"/>
          </a:xfrm>
          <a:prstGeom prst="straightConnector1">
            <a:avLst/>
          </a:prstGeom>
          <a:noFill/>
          <a:ln w="19050" cap="flat" cmpd="sng">
            <a:solidFill>
              <a:schemeClr val="dk1"/>
            </a:solidFill>
            <a:prstDash val="dash"/>
            <a:miter lim="800000"/>
            <a:headEnd type="none" w="sm" len="sm"/>
            <a:tailEnd type="triangle" w="med" len="med"/>
          </a:ln>
        </p:spPr>
      </p:cxnSp>
      <p:cxnSp>
        <p:nvCxnSpPr>
          <p:cNvPr id="839" name="Google Shape;839;p22"/>
          <p:cNvCxnSpPr/>
          <p:nvPr/>
        </p:nvCxnSpPr>
        <p:spPr>
          <a:xfrm flipH="1">
            <a:off x="6543567" y="3033158"/>
            <a:ext cx="183589" cy="433112"/>
          </a:xfrm>
          <a:prstGeom prst="straightConnector1">
            <a:avLst/>
          </a:prstGeom>
          <a:noFill/>
          <a:ln w="19050" cap="flat" cmpd="sng">
            <a:solidFill>
              <a:schemeClr val="dk1"/>
            </a:solidFill>
            <a:prstDash val="dash"/>
            <a:miter lim="800000"/>
            <a:headEnd type="none" w="sm" len="sm"/>
            <a:tailEnd type="triangle" w="med" len="med"/>
          </a:ln>
        </p:spPr>
      </p:cxnSp>
      <p:cxnSp>
        <p:nvCxnSpPr>
          <p:cNvPr id="840" name="Google Shape;840;p22"/>
          <p:cNvCxnSpPr/>
          <p:nvPr/>
        </p:nvCxnSpPr>
        <p:spPr>
          <a:xfrm flipH="1">
            <a:off x="7828110" y="3073739"/>
            <a:ext cx="41034" cy="424108"/>
          </a:xfrm>
          <a:prstGeom prst="straightConnector1">
            <a:avLst/>
          </a:prstGeom>
          <a:noFill/>
          <a:ln w="19050" cap="flat" cmpd="sng">
            <a:solidFill>
              <a:schemeClr val="dk1"/>
            </a:solidFill>
            <a:prstDash val="dash"/>
            <a:miter lim="800000"/>
            <a:headEnd type="none" w="sm" len="sm"/>
            <a:tailEnd type="triangle" w="med" len="med"/>
          </a:ln>
        </p:spPr>
      </p:cxnSp>
      <p:cxnSp>
        <p:nvCxnSpPr>
          <p:cNvPr id="841" name="Google Shape;841;p22"/>
          <p:cNvCxnSpPr/>
          <p:nvPr/>
        </p:nvCxnSpPr>
        <p:spPr>
          <a:xfrm>
            <a:off x="7925654" y="3086515"/>
            <a:ext cx="433553" cy="379754"/>
          </a:xfrm>
          <a:prstGeom prst="straightConnector1">
            <a:avLst/>
          </a:prstGeom>
          <a:noFill/>
          <a:ln w="19050" cap="flat" cmpd="sng">
            <a:solidFill>
              <a:schemeClr val="dk1"/>
            </a:solidFill>
            <a:prstDash val="dash"/>
            <a:miter lim="800000"/>
            <a:headEnd type="none" w="sm" len="sm"/>
            <a:tailEnd type="triangle" w="med" len="med"/>
          </a:ln>
        </p:spPr>
      </p:cxnSp>
      <p:cxnSp>
        <p:nvCxnSpPr>
          <p:cNvPr id="842" name="Google Shape;842;p22"/>
          <p:cNvCxnSpPr/>
          <p:nvPr/>
        </p:nvCxnSpPr>
        <p:spPr>
          <a:xfrm>
            <a:off x="6785608" y="3026279"/>
            <a:ext cx="309685" cy="439991"/>
          </a:xfrm>
          <a:prstGeom prst="straightConnector1">
            <a:avLst/>
          </a:prstGeom>
          <a:noFill/>
          <a:ln w="19050" cap="flat" cmpd="sng">
            <a:solidFill>
              <a:schemeClr val="dk1"/>
            </a:solidFill>
            <a:prstDash val="dash"/>
            <a:miter lim="800000"/>
            <a:headEnd type="none" w="sm" len="sm"/>
            <a:tailEnd type="triangle" w="med" len="med"/>
          </a:ln>
        </p:spPr>
      </p:cxnSp>
      <p:cxnSp>
        <p:nvCxnSpPr>
          <p:cNvPr id="843" name="Google Shape;843;p22"/>
          <p:cNvCxnSpPr/>
          <p:nvPr/>
        </p:nvCxnSpPr>
        <p:spPr>
          <a:xfrm>
            <a:off x="5065488" y="3045832"/>
            <a:ext cx="336093" cy="452015"/>
          </a:xfrm>
          <a:prstGeom prst="straightConnector1">
            <a:avLst/>
          </a:prstGeom>
          <a:noFill/>
          <a:ln w="19050" cap="flat" cmpd="sng">
            <a:solidFill>
              <a:schemeClr val="dk1"/>
            </a:solidFill>
            <a:prstDash val="dash"/>
            <a:miter lim="800000"/>
            <a:headEnd type="none" w="sm" len="sm"/>
            <a:tailEnd type="triangle" w="med" len="med"/>
          </a:ln>
        </p:spPr>
      </p:cxnSp>
      <p:sp>
        <p:nvSpPr>
          <p:cNvPr id="844" name="Google Shape;844;p22"/>
          <p:cNvSpPr txBox="1"/>
          <p:nvPr/>
        </p:nvSpPr>
        <p:spPr>
          <a:xfrm>
            <a:off x="4551997" y="3695288"/>
            <a:ext cx="4926580" cy="455260"/>
          </a:xfrm>
          <a:prstGeom prst="rect">
            <a:avLst/>
          </a:prstGeom>
          <a:noFill/>
          <a:ln>
            <a:noFill/>
          </a:ln>
        </p:spPr>
        <p:txBody>
          <a:bodyPr spcFirstLastPara="1" wrap="square" lIns="193227" tIns="96587" rIns="193227" bIns="96587" anchor="t" anchorCtr="0">
            <a:spAutoFit/>
          </a:bodyPr>
          <a:lstStyle/>
          <a:p>
            <a:r>
              <a:rPr lang="en-US" sz="1691" b="1">
                <a:solidFill>
                  <a:srgbClr val="00B050"/>
                </a:solidFill>
                <a:latin typeface="Arial"/>
                <a:ea typeface="Arial"/>
                <a:cs typeface="Arial"/>
                <a:sym typeface="Arial"/>
              </a:rPr>
              <a:t>   1.0                        0.5               0.5</a:t>
            </a:r>
            <a:endParaRPr sz="1691" b="1">
              <a:solidFill>
                <a:srgbClr val="00B050"/>
              </a:solidFill>
              <a:latin typeface="Arial"/>
              <a:ea typeface="Arial"/>
              <a:cs typeface="Arial"/>
              <a:sym typeface="Arial"/>
            </a:endParaRPr>
          </a:p>
        </p:txBody>
      </p:sp>
      <p:sp>
        <p:nvSpPr>
          <p:cNvPr id="845" name="Google Shape;845;p22"/>
          <p:cNvSpPr txBox="1"/>
          <p:nvPr/>
        </p:nvSpPr>
        <p:spPr>
          <a:xfrm>
            <a:off x="4725109" y="3419748"/>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+1                         +2                +2</a:t>
            </a:r>
            <a:endParaRPr sz="1691" b="1">
              <a:solidFill>
                <a:srgbClr val="C00000"/>
              </a:solidFill>
              <a:latin typeface="Arial"/>
              <a:ea typeface="Arial"/>
              <a:cs typeface="Arial"/>
              <a:sym typeface="Arial"/>
            </a:endParaRPr>
          </a:p>
        </p:txBody>
      </p:sp>
      <p:sp>
        <p:nvSpPr>
          <p:cNvPr id="846" name="Google Shape;846;p22"/>
          <p:cNvSpPr txBox="1"/>
          <p:nvPr/>
        </p:nvSpPr>
        <p:spPr>
          <a:xfrm>
            <a:off x="4458062" y="2178177"/>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	cool          warm</a:t>
            </a:r>
            <a:endParaRPr sz="1691" b="1">
              <a:solidFill>
                <a:srgbClr val="C00000"/>
              </a:solidFill>
              <a:latin typeface="Arial"/>
              <a:ea typeface="Arial"/>
              <a:cs typeface="Arial"/>
              <a:sym typeface="Arial"/>
            </a:endParaRPr>
          </a:p>
        </p:txBody>
      </p:sp>
      <p:sp>
        <p:nvSpPr>
          <p:cNvPr id="847" name="Google Shape;847;p22"/>
          <p:cNvSpPr txBox="1"/>
          <p:nvPr/>
        </p:nvSpPr>
        <p:spPr>
          <a:xfrm>
            <a:off x="5429049" y="877001"/>
            <a:ext cx="948196"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a:t>
            </a:r>
            <a:endParaRPr sz="1691" b="1">
              <a:solidFill>
                <a:srgbClr val="C00000"/>
              </a:solidFill>
              <a:latin typeface="Arial"/>
              <a:ea typeface="Arial"/>
              <a:cs typeface="Arial"/>
              <a:sym typeface="Arial"/>
            </a:endParaRPr>
          </a:p>
        </p:txBody>
      </p:sp>
      <p:sp>
        <p:nvSpPr>
          <p:cNvPr id="848" name="Google Shape;848;p22"/>
          <p:cNvSpPr txBox="1"/>
          <p:nvPr/>
        </p:nvSpPr>
        <p:spPr>
          <a:xfrm>
            <a:off x="10282" y="3899057"/>
            <a:ext cx="2991830" cy="761882"/>
          </a:xfrm>
          <a:prstGeom prst="rect">
            <a:avLst/>
          </a:prstGeom>
          <a:blipFill rotWithShape="1">
            <a:blip r:embed="rId16">
              <a:alphaModFix/>
            </a:blip>
            <a:stretch>
              <a:fillRect l="-1722" t="-235566" r="-28447" b="-330478"/>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849" name="Google Shape;849;p22"/>
          <p:cNvSpPr txBox="1"/>
          <p:nvPr/>
        </p:nvSpPr>
        <p:spPr>
          <a:xfrm>
            <a:off x="2983" y="5805918"/>
            <a:ext cx="10725169" cy="761882"/>
          </a:xfrm>
          <a:prstGeom prst="rect">
            <a:avLst/>
          </a:prstGeom>
          <a:blipFill rotWithShape="1">
            <a:blip r:embed="rId17">
              <a:alphaModFix/>
            </a:blip>
            <a:stretch>
              <a:fillRect l="-480" t="-235566" b="-330478"/>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850" name="Google Shape;850;p22"/>
          <p:cNvSpPr txBox="1"/>
          <p:nvPr/>
        </p:nvSpPr>
        <p:spPr>
          <a:xfrm>
            <a:off x="-3361" y="4835698"/>
            <a:ext cx="6943810" cy="761882"/>
          </a:xfrm>
          <a:prstGeom prst="rect">
            <a:avLst/>
          </a:prstGeom>
          <a:blipFill rotWithShape="1">
            <a:blip r:embed="rId18">
              <a:alphaModFix/>
            </a:blip>
            <a:stretch>
              <a:fillRect l="-371" t="-233875" b="-332170"/>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851" name="Google Shape;851;p22"/>
          <p:cNvSpPr txBox="1"/>
          <p:nvPr/>
        </p:nvSpPr>
        <p:spPr>
          <a:xfrm>
            <a:off x="83380" y="3466326"/>
            <a:ext cx="4641730" cy="707262"/>
          </a:xfrm>
          <a:prstGeom prst="rect">
            <a:avLst/>
          </a:prstGeom>
          <a:noFill/>
          <a:ln>
            <a:noFill/>
          </a:ln>
        </p:spPr>
        <p:txBody>
          <a:bodyPr spcFirstLastPara="1" wrap="square" lIns="0" tIns="24147" rIns="0" bIns="0" anchor="t" anchorCtr="0">
            <a:spAutoFit/>
          </a:bodyPr>
          <a:lstStyle/>
          <a:p>
            <a:pPr marL="80524" indent="-127497">
              <a:buClr>
                <a:srgbClr val="000000"/>
              </a:buClr>
              <a:buSzPts val="950"/>
              <a:buFont typeface="Arial"/>
              <a:buChar char="•"/>
            </a:pPr>
            <a:r>
              <a:rPr lang="en-US" sz="1479">
                <a:solidFill>
                  <a:srgbClr val="0070C0"/>
                </a:solidFill>
                <a:latin typeface="Arial"/>
                <a:ea typeface="Arial"/>
                <a:cs typeface="Arial"/>
                <a:sym typeface="Arial"/>
              </a:rPr>
              <a:t>The value uses the initialized policy to select only one action GREEDILY. Hence below cancelled equations differentiated PI vs VI</a:t>
            </a:r>
            <a:endParaRPr sz="1479">
              <a:solidFill>
                <a:srgbClr val="0070C0"/>
              </a:solidFill>
              <a:latin typeface="Arial"/>
              <a:ea typeface="Arial"/>
              <a:cs typeface="Arial"/>
              <a:sym typeface="Arial"/>
            </a:endParaRPr>
          </a:p>
        </p:txBody>
      </p:sp>
      <p:sp>
        <p:nvSpPr>
          <p:cNvPr id="853" name="Google Shape;853;p22"/>
          <p:cNvSpPr/>
          <p:nvPr/>
        </p:nvSpPr>
        <p:spPr>
          <a:xfrm>
            <a:off x="11044484" y="1148949"/>
            <a:ext cx="0" cy="8848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pic>
        <p:nvPicPr>
          <p:cNvPr id="854" name="Google Shape;854;p22"/>
          <p:cNvPicPr preferRelativeResize="0"/>
          <p:nvPr/>
        </p:nvPicPr>
        <p:blipFill rotWithShape="1">
          <a:blip r:embed="rId19">
            <a:alphaModFix/>
          </a:blip>
          <a:srcRect/>
          <a:stretch/>
        </p:blipFill>
        <p:spPr>
          <a:xfrm>
            <a:off x="8412950" y="174164"/>
            <a:ext cx="3801188" cy="2804468"/>
          </a:xfrm>
          <a:prstGeom prst="rect">
            <a:avLst/>
          </a:prstGeom>
          <a:noFill/>
          <a:ln>
            <a:noFill/>
          </a:ln>
        </p:spPr>
      </p:pic>
      <p:sp>
        <p:nvSpPr>
          <p:cNvPr id="855" name="Google Shape;855;p22"/>
          <p:cNvSpPr/>
          <p:nvPr/>
        </p:nvSpPr>
        <p:spPr>
          <a:xfrm>
            <a:off x="8114446" y="958155"/>
            <a:ext cx="396569" cy="112734"/>
          </a:xfrm>
          <a:prstGeom prst="rightArrow">
            <a:avLst>
              <a:gd name="adj1" fmla="val 50000"/>
              <a:gd name="adj2" fmla="val 50000"/>
            </a:avLst>
          </a:prstGeom>
          <a:solidFill>
            <a:srgbClr val="E9A820"/>
          </a:solidFill>
          <a:ln w="25400" cap="flat" cmpd="sng">
            <a:solidFill>
              <a:srgbClr val="E9A820"/>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lt1"/>
              </a:solidFill>
              <a:latin typeface="Arial"/>
              <a:ea typeface="Arial"/>
              <a:cs typeface="Arial"/>
              <a:sym typeface="Arial"/>
            </a:endParaRPr>
          </a:p>
        </p:txBody>
      </p:sp>
      <p:pic>
        <p:nvPicPr>
          <p:cNvPr id="856" name="Google Shape;856;p22"/>
          <p:cNvPicPr preferRelativeResize="0"/>
          <p:nvPr/>
        </p:nvPicPr>
        <p:blipFill rotWithShape="1">
          <a:blip r:embed="rId20">
            <a:alphaModFix/>
          </a:blip>
          <a:srcRect/>
          <a:stretch/>
        </p:blipFill>
        <p:spPr>
          <a:xfrm>
            <a:off x="10858343" y="546570"/>
            <a:ext cx="672728" cy="262364"/>
          </a:xfrm>
          <a:prstGeom prst="rect">
            <a:avLst/>
          </a:prstGeom>
          <a:noFill/>
          <a:ln>
            <a:noFill/>
          </a:ln>
        </p:spPr>
      </p:pic>
      <p:sp>
        <p:nvSpPr>
          <p:cNvPr id="857" name="Google Shape;857;p22"/>
          <p:cNvSpPr/>
          <p:nvPr/>
        </p:nvSpPr>
        <p:spPr>
          <a:xfrm>
            <a:off x="10674268" y="594741"/>
            <a:ext cx="1421542" cy="455260"/>
          </a:xfrm>
          <a:prstGeom prst="rect">
            <a:avLst/>
          </a:prstGeom>
          <a:noFill/>
          <a:ln>
            <a:noFill/>
          </a:ln>
        </p:spPr>
        <p:txBody>
          <a:bodyPr spcFirstLastPara="1" wrap="square" lIns="193227" tIns="96587" rIns="193227" bIns="96587" anchor="t" anchorCtr="0">
            <a:spAutoFit/>
          </a:bodyPr>
          <a:lstStyle/>
          <a:p>
            <a:r>
              <a:rPr lang="en-US" sz="1691" b="1">
                <a:solidFill>
                  <a:srgbClr val="000000"/>
                </a:solidFill>
                <a:latin typeface="Arial"/>
                <a:ea typeface="Arial"/>
                <a:cs typeface="Arial"/>
                <a:sym typeface="Arial"/>
              </a:rPr>
              <a:t>ɵ = 0.01</a:t>
            </a:r>
            <a:endParaRPr sz="1691" b="1">
              <a:solidFill>
                <a:srgbClr val="000000"/>
              </a:solidFill>
              <a:latin typeface="Arial"/>
              <a:ea typeface="Arial"/>
              <a:cs typeface="Arial"/>
              <a:sym typeface="Arial"/>
            </a:endParaRPr>
          </a:p>
        </p:txBody>
      </p:sp>
      <p:sp>
        <p:nvSpPr>
          <p:cNvPr id="858" name="Google Shape;858;p22"/>
          <p:cNvSpPr txBox="1"/>
          <p:nvPr/>
        </p:nvSpPr>
        <p:spPr>
          <a:xfrm>
            <a:off x="179822" y="282490"/>
            <a:ext cx="4278239" cy="520406"/>
          </a:xfrm>
          <a:prstGeom prst="rect">
            <a:avLst/>
          </a:prstGeom>
          <a:solidFill>
            <a:srgbClr val="F0C040"/>
          </a:solidFill>
          <a:ln>
            <a:noFill/>
          </a:ln>
        </p:spPr>
        <p:txBody>
          <a:bodyPr spcFirstLastPara="1" wrap="square" lIns="193227" tIns="96587" rIns="193227" bIns="96587" anchor="t" anchorCtr="0">
            <a:spAutoFit/>
          </a:bodyPr>
          <a:lstStyle/>
          <a:p>
            <a:pPr algn="just"/>
            <a:r>
              <a:rPr lang="en-US" sz="2114">
                <a:solidFill>
                  <a:srgbClr val="0070C0"/>
                </a:solidFill>
                <a:latin typeface="Arial"/>
                <a:ea typeface="Arial"/>
                <a:cs typeface="Arial"/>
                <a:sym typeface="Arial"/>
              </a:rPr>
              <a:t>Policy Evaluation Starts</a:t>
            </a:r>
            <a:endParaRPr sz="2114">
              <a:solidFill>
                <a:srgbClr val="0070C0"/>
              </a:solidFill>
              <a:latin typeface="Arial"/>
              <a:ea typeface="Arial"/>
              <a:cs typeface="Arial"/>
              <a:sym typeface="Arial"/>
            </a:endParaRPr>
          </a:p>
        </p:txBody>
      </p:sp>
      <p:sp>
        <p:nvSpPr>
          <p:cNvPr id="859" name="Google Shape;859;p22"/>
          <p:cNvSpPr txBox="1"/>
          <p:nvPr/>
        </p:nvSpPr>
        <p:spPr>
          <a:xfrm>
            <a:off x="4790198" y="1336714"/>
            <a:ext cx="3299495" cy="455260"/>
          </a:xfrm>
          <a:prstGeom prst="rect">
            <a:avLst/>
          </a:prstGeom>
          <a:noFill/>
          <a:ln>
            <a:noFill/>
          </a:ln>
        </p:spPr>
        <p:txBody>
          <a:bodyPr spcFirstLastPara="1" wrap="square" lIns="193227" tIns="96587" rIns="193227" bIns="96587" anchor="t" anchorCtr="0">
            <a:spAutoFit/>
          </a:bodyPr>
          <a:lstStyle/>
          <a:p>
            <a:r>
              <a:rPr lang="en-US" sz="1691" b="1">
                <a:solidFill>
                  <a:schemeClr val="dk1"/>
                </a:solidFill>
                <a:latin typeface="Arial"/>
                <a:ea typeface="Arial"/>
                <a:cs typeface="Arial"/>
                <a:sym typeface="Arial"/>
              </a:rPr>
              <a:t>Go Slow	              Go Fast</a:t>
            </a:r>
            <a:endParaRPr sz="1691" b="1">
              <a:solidFill>
                <a:schemeClr val="dk1"/>
              </a:solidFill>
              <a:latin typeface="Arial"/>
              <a:ea typeface="Arial"/>
              <a:cs typeface="Arial"/>
              <a:sym typeface="Arial"/>
            </a:endParaRPr>
          </a:p>
        </p:txBody>
      </p:sp>
      <p:sp>
        <p:nvSpPr>
          <p:cNvPr id="860" name="Google Shape;860;p22"/>
          <p:cNvSpPr txBox="1"/>
          <p:nvPr/>
        </p:nvSpPr>
        <p:spPr>
          <a:xfrm>
            <a:off x="4790147" y="3116705"/>
            <a:ext cx="3552587" cy="1655507"/>
          </a:xfrm>
          <a:prstGeom prst="rect">
            <a:avLst/>
          </a:prstGeom>
          <a:solidFill>
            <a:srgbClr val="F0C040"/>
          </a:solidFill>
          <a:ln>
            <a:noFill/>
          </a:ln>
        </p:spPr>
        <p:txBody>
          <a:bodyPr spcFirstLastPara="1" wrap="square" lIns="193227" tIns="193227" rIns="193227" bIns="193227" anchor="t" anchorCtr="0">
            <a:noAutofit/>
          </a:bodyPr>
          <a:lstStyle/>
          <a:p>
            <a:r>
              <a:rPr lang="en-US" sz="1374" b="1">
                <a:solidFill>
                  <a:srgbClr val="1B1472"/>
                </a:solidFill>
              </a:rPr>
              <a:t>This slide show what change from Value iteration to Policy iteration algorithm in the Evaluation step!. Since only action needs to be assessed, MAX of all actions outcome is no longer required in this PE cycle!</a:t>
            </a:r>
            <a:endParaRPr sz="1374" b="1">
              <a:solidFill>
                <a:srgbClr val="1B1472"/>
              </a:solidFill>
            </a:endParaRPr>
          </a:p>
        </p:txBody>
      </p:sp>
      <p:sp>
        <p:nvSpPr>
          <p:cNvPr id="2" name="Footer">
            <a:extLst>
              <a:ext uri="{FF2B5EF4-FFF2-40B4-BE49-F238E27FC236}">
                <a16:creationId xmlns:a16="http://schemas.microsoft.com/office/drawing/2014/main" id="{554042A8-2EF0-3AC9-E6D1-40AE134D439A}"/>
              </a:ext>
            </a:extLst>
          </p:cNvPr>
          <p:cNvSpPr txBox="1">
            <a:spLocks/>
          </p:cNvSpPr>
          <p:nvPr/>
        </p:nvSpPr>
        <p:spPr>
          <a:xfrm>
            <a:off x="2911690" y="6564161"/>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23"/>
          <p:cNvSpPr txBox="1">
            <a:spLocks noGrp="1"/>
          </p:cNvSpPr>
          <p:nvPr>
            <p:ph type="title"/>
          </p:nvPr>
        </p:nvSpPr>
        <p:spPr>
          <a:xfrm>
            <a:off x="177559" y="231525"/>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 – Policy Iteration</a:t>
            </a:r>
            <a:endParaRPr/>
          </a:p>
        </p:txBody>
      </p:sp>
      <p:grpSp>
        <p:nvGrpSpPr>
          <p:cNvPr id="866" name="Google Shape;866;p23"/>
          <p:cNvGrpSpPr/>
          <p:nvPr/>
        </p:nvGrpSpPr>
        <p:grpSpPr>
          <a:xfrm>
            <a:off x="2983" y="6571410"/>
            <a:ext cx="12174329" cy="194601"/>
            <a:chOff x="0" y="3109250"/>
            <a:chExt cx="5760261" cy="92075"/>
          </a:xfrm>
        </p:grpSpPr>
        <p:sp>
          <p:nvSpPr>
            <p:cNvPr id="867" name="Google Shape;867;p23"/>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868" name="Google Shape;868;p23"/>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869" name="Google Shape;869;p23"/>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871" name="Google Shape;871;p23"/>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33</a:t>
            </a:fld>
            <a:r>
              <a:rPr lang="en-US"/>
              <a:t> / 46</a:t>
            </a:r>
            <a:endParaRPr/>
          </a:p>
        </p:txBody>
      </p:sp>
      <p:pic>
        <p:nvPicPr>
          <p:cNvPr id="872" name="Google Shape;872;p23" descr="TP_tmp.png"/>
          <p:cNvPicPr preferRelativeResize="0"/>
          <p:nvPr/>
        </p:nvPicPr>
        <p:blipFill rotWithShape="1">
          <a:blip r:embed="rId3">
            <a:alphaModFix/>
          </a:blip>
          <a:srcRect/>
          <a:stretch/>
        </p:blipFill>
        <p:spPr>
          <a:xfrm>
            <a:off x="364607" y="1756415"/>
            <a:ext cx="203949" cy="322518"/>
          </a:xfrm>
          <a:prstGeom prst="rect">
            <a:avLst/>
          </a:prstGeom>
          <a:noFill/>
          <a:ln>
            <a:noFill/>
          </a:ln>
        </p:spPr>
      </p:pic>
      <p:pic>
        <p:nvPicPr>
          <p:cNvPr id="873" name="Google Shape;873;p23"/>
          <p:cNvPicPr preferRelativeResize="0"/>
          <p:nvPr/>
        </p:nvPicPr>
        <p:blipFill rotWithShape="1">
          <a:blip r:embed="rId4">
            <a:alphaModFix/>
          </a:blip>
          <a:srcRect/>
          <a:stretch/>
        </p:blipFill>
        <p:spPr>
          <a:xfrm>
            <a:off x="1123247" y="1115162"/>
            <a:ext cx="535435" cy="556722"/>
          </a:xfrm>
          <a:prstGeom prst="rect">
            <a:avLst/>
          </a:prstGeom>
          <a:noFill/>
          <a:ln>
            <a:noFill/>
          </a:ln>
        </p:spPr>
      </p:pic>
      <p:pic>
        <p:nvPicPr>
          <p:cNvPr id="874" name="Google Shape;874;p23"/>
          <p:cNvPicPr preferRelativeResize="0"/>
          <p:nvPr/>
        </p:nvPicPr>
        <p:blipFill rotWithShape="1">
          <a:blip r:embed="rId5">
            <a:alphaModFix/>
          </a:blip>
          <a:srcRect/>
          <a:stretch/>
        </p:blipFill>
        <p:spPr>
          <a:xfrm>
            <a:off x="2509775" y="1035634"/>
            <a:ext cx="568088" cy="636251"/>
          </a:xfrm>
          <a:prstGeom prst="rect">
            <a:avLst/>
          </a:prstGeom>
          <a:noFill/>
          <a:ln>
            <a:noFill/>
          </a:ln>
        </p:spPr>
      </p:pic>
      <p:pic>
        <p:nvPicPr>
          <p:cNvPr id="875" name="Google Shape;875;p23"/>
          <p:cNvPicPr preferRelativeResize="0"/>
          <p:nvPr/>
        </p:nvPicPr>
        <p:blipFill rotWithShape="1">
          <a:blip r:embed="rId6">
            <a:alphaModFix/>
          </a:blip>
          <a:srcRect/>
          <a:stretch/>
        </p:blipFill>
        <p:spPr>
          <a:xfrm>
            <a:off x="1821735" y="1077450"/>
            <a:ext cx="585286" cy="583232"/>
          </a:xfrm>
          <a:prstGeom prst="rect">
            <a:avLst/>
          </a:prstGeom>
          <a:noFill/>
          <a:ln>
            <a:noFill/>
          </a:ln>
        </p:spPr>
      </p:pic>
      <p:sp>
        <p:nvSpPr>
          <p:cNvPr id="876" name="Google Shape;876;p23"/>
          <p:cNvSpPr/>
          <p:nvPr/>
        </p:nvSpPr>
        <p:spPr>
          <a:xfrm>
            <a:off x="657828" y="3005348"/>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877" name="Google Shape;877;p23"/>
          <p:cNvSpPr/>
          <p:nvPr/>
        </p:nvSpPr>
        <p:spPr>
          <a:xfrm>
            <a:off x="690038" y="2276822"/>
            <a:ext cx="2928770" cy="455253"/>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878" name="Google Shape;878;p23"/>
          <p:cNvSpPr/>
          <p:nvPr/>
        </p:nvSpPr>
        <p:spPr>
          <a:xfrm>
            <a:off x="696040" y="1667731"/>
            <a:ext cx="2928770" cy="455257"/>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pic>
        <p:nvPicPr>
          <p:cNvPr id="879" name="Google Shape;879;p23" descr="TP_tmp.png"/>
          <p:cNvPicPr preferRelativeResize="0"/>
          <p:nvPr/>
        </p:nvPicPr>
        <p:blipFill rotWithShape="1">
          <a:blip r:embed="rId7">
            <a:alphaModFix/>
          </a:blip>
          <a:srcRect/>
          <a:stretch/>
        </p:blipFill>
        <p:spPr>
          <a:xfrm>
            <a:off x="346553" y="2375833"/>
            <a:ext cx="183630" cy="323298"/>
          </a:xfrm>
          <a:prstGeom prst="rect">
            <a:avLst/>
          </a:prstGeom>
          <a:noFill/>
          <a:ln>
            <a:noFill/>
          </a:ln>
        </p:spPr>
      </p:pic>
      <p:pic>
        <p:nvPicPr>
          <p:cNvPr id="880" name="Google Shape;880;p23" descr="TP_tmp.png"/>
          <p:cNvPicPr preferRelativeResize="0"/>
          <p:nvPr/>
        </p:nvPicPr>
        <p:blipFill rotWithShape="1">
          <a:blip r:embed="rId8">
            <a:alphaModFix/>
          </a:blip>
          <a:srcRect/>
          <a:stretch/>
        </p:blipFill>
        <p:spPr>
          <a:xfrm>
            <a:off x="353872" y="3017816"/>
            <a:ext cx="204441" cy="323298"/>
          </a:xfrm>
          <a:prstGeom prst="rect">
            <a:avLst/>
          </a:prstGeom>
          <a:noFill/>
          <a:ln>
            <a:noFill/>
          </a:ln>
        </p:spPr>
      </p:pic>
      <p:sp>
        <p:nvSpPr>
          <p:cNvPr id="881" name="Google Shape;881;p23"/>
          <p:cNvSpPr txBox="1"/>
          <p:nvPr/>
        </p:nvSpPr>
        <p:spPr>
          <a:xfrm>
            <a:off x="1098665" y="1667735"/>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0             0             0 ……..</a:t>
            </a:r>
            <a:endParaRPr sz="634">
              <a:solidFill>
                <a:srgbClr val="000000"/>
              </a:solidFill>
              <a:latin typeface="Arial"/>
              <a:ea typeface="Arial"/>
              <a:cs typeface="Arial"/>
              <a:sym typeface="Arial"/>
            </a:endParaRPr>
          </a:p>
        </p:txBody>
      </p:sp>
      <p:pic>
        <p:nvPicPr>
          <p:cNvPr id="882" name="Google Shape;882;p23"/>
          <p:cNvPicPr preferRelativeResize="0"/>
          <p:nvPr/>
        </p:nvPicPr>
        <p:blipFill rotWithShape="1">
          <a:blip r:embed="rId9">
            <a:alphaModFix/>
          </a:blip>
          <a:srcRect/>
          <a:stretch/>
        </p:blipFill>
        <p:spPr>
          <a:xfrm>
            <a:off x="7217220" y="3254172"/>
            <a:ext cx="4960091" cy="3006946"/>
          </a:xfrm>
          <a:prstGeom prst="rect">
            <a:avLst/>
          </a:prstGeom>
          <a:noFill/>
          <a:ln>
            <a:noFill/>
          </a:ln>
        </p:spPr>
      </p:pic>
      <p:sp>
        <p:nvSpPr>
          <p:cNvPr id="883" name="Google Shape;883;p23"/>
          <p:cNvSpPr/>
          <p:nvPr/>
        </p:nvSpPr>
        <p:spPr>
          <a:xfrm>
            <a:off x="6050456" y="841601"/>
            <a:ext cx="778978" cy="512157"/>
          </a:xfrm>
          <a:prstGeom prst="triangle">
            <a:avLst>
              <a:gd name="adj" fmla="val 50000"/>
            </a:avLst>
          </a:prstGeom>
          <a:blipFill rotWithShape="1">
            <a:blip r:embed="rId10">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884" name="Google Shape;884;p23"/>
          <p:cNvSpPr/>
          <p:nvPr/>
        </p:nvSpPr>
        <p:spPr>
          <a:xfrm>
            <a:off x="6892541" y="1813470"/>
            <a:ext cx="625462" cy="437850"/>
          </a:xfrm>
          <a:prstGeom prst="ellipse">
            <a:avLst/>
          </a:prstGeom>
          <a:blipFill rotWithShape="1">
            <a:blip r:embed="rId11">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885" name="Google Shape;885;p23"/>
          <p:cNvSpPr/>
          <p:nvPr/>
        </p:nvSpPr>
        <p:spPr>
          <a:xfrm>
            <a:off x="5047781" y="1829569"/>
            <a:ext cx="625462" cy="437850"/>
          </a:xfrm>
          <a:prstGeom prst="ellipse">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886" name="Google Shape;886;p23"/>
          <p:cNvSpPr/>
          <p:nvPr/>
        </p:nvSpPr>
        <p:spPr>
          <a:xfrm>
            <a:off x="4725108" y="2628430"/>
            <a:ext cx="590200" cy="417406"/>
          </a:xfrm>
          <a:prstGeom prst="rect">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887" name="Google Shape;887;p23"/>
          <p:cNvSpPr/>
          <p:nvPr/>
        </p:nvSpPr>
        <p:spPr>
          <a:xfrm>
            <a:off x="6425087" y="2628427"/>
            <a:ext cx="590200" cy="417406"/>
          </a:xfrm>
          <a:prstGeom prst="rect">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888" name="Google Shape;888;p23"/>
          <p:cNvSpPr/>
          <p:nvPr/>
        </p:nvSpPr>
        <p:spPr>
          <a:xfrm>
            <a:off x="7633305" y="2635890"/>
            <a:ext cx="590200" cy="417406"/>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cxnSp>
        <p:nvCxnSpPr>
          <p:cNvPr id="889" name="Google Shape;889;p23"/>
          <p:cNvCxnSpPr>
            <a:stCxn id="883" idx="3"/>
            <a:endCxn id="885" idx="7"/>
          </p:cNvCxnSpPr>
          <p:nvPr/>
        </p:nvCxnSpPr>
        <p:spPr>
          <a:xfrm flipH="1">
            <a:off x="5581440" y="1353758"/>
            <a:ext cx="858505" cy="540211"/>
          </a:xfrm>
          <a:prstGeom prst="straightConnector1">
            <a:avLst/>
          </a:prstGeom>
          <a:noFill/>
          <a:ln w="9525" cap="flat" cmpd="sng">
            <a:solidFill>
              <a:schemeClr val="dk1"/>
            </a:solidFill>
            <a:prstDash val="solid"/>
            <a:miter lim="800000"/>
            <a:headEnd type="none" w="sm" len="sm"/>
            <a:tailEnd type="triangle" w="med" len="med"/>
          </a:ln>
        </p:spPr>
      </p:cxnSp>
      <p:cxnSp>
        <p:nvCxnSpPr>
          <p:cNvPr id="890" name="Google Shape;890;p23"/>
          <p:cNvCxnSpPr>
            <a:stCxn id="883" idx="3"/>
            <a:endCxn id="884" idx="1"/>
          </p:cNvCxnSpPr>
          <p:nvPr/>
        </p:nvCxnSpPr>
        <p:spPr>
          <a:xfrm>
            <a:off x="6439945" y="1353758"/>
            <a:ext cx="544016" cy="523726"/>
          </a:xfrm>
          <a:prstGeom prst="straightConnector1">
            <a:avLst/>
          </a:prstGeom>
          <a:noFill/>
          <a:ln w="9525" cap="flat" cmpd="sng">
            <a:solidFill>
              <a:schemeClr val="dk1"/>
            </a:solidFill>
            <a:prstDash val="solid"/>
            <a:miter lim="800000"/>
            <a:headEnd type="none" w="sm" len="sm"/>
            <a:tailEnd type="triangle" w="med" len="med"/>
          </a:ln>
        </p:spPr>
      </p:cxnSp>
      <p:cxnSp>
        <p:nvCxnSpPr>
          <p:cNvPr id="891" name="Google Shape;891;p23"/>
          <p:cNvCxnSpPr>
            <a:stCxn id="885" idx="4"/>
            <a:endCxn id="886" idx="0"/>
          </p:cNvCxnSpPr>
          <p:nvPr/>
        </p:nvCxnSpPr>
        <p:spPr>
          <a:xfrm flipH="1">
            <a:off x="5020026" y="2267419"/>
            <a:ext cx="340485" cy="360775"/>
          </a:xfrm>
          <a:prstGeom prst="straightConnector1">
            <a:avLst/>
          </a:prstGeom>
          <a:noFill/>
          <a:ln w="9525" cap="flat" cmpd="sng">
            <a:solidFill>
              <a:schemeClr val="dk1"/>
            </a:solidFill>
            <a:prstDash val="solid"/>
            <a:miter lim="800000"/>
            <a:headEnd type="none" w="sm" len="sm"/>
            <a:tailEnd type="triangle" w="med" len="med"/>
          </a:ln>
        </p:spPr>
      </p:cxnSp>
      <p:cxnSp>
        <p:nvCxnSpPr>
          <p:cNvPr id="892" name="Google Shape;892;p23"/>
          <p:cNvCxnSpPr>
            <a:stCxn id="884" idx="4"/>
            <a:endCxn id="888" idx="0"/>
          </p:cNvCxnSpPr>
          <p:nvPr/>
        </p:nvCxnSpPr>
        <p:spPr>
          <a:xfrm>
            <a:off x="7205272" y="2251320"/>
            <a:ext cx="722818" cy="384869"/>
          </a:xfrm>
          <a:prstGeom prst="straightConnector1">
            <a:avLst/>
          </a:prstGeom>
          <a:noFill/>
          <a:ln w="9525" cap="flat" cmpd="sng">
            <a:solidFill>
              <a:schemeClr val="dk1"/>
            </a:solidFill>
            <a:prstDash val="solid"/>
            <a:miter lim="800000"/>
            <a:headEnd type="none" w="sm" len="sm"/>
            <a:tailEnd type="triangle" w="med" len="med"/>
          </a:ln>
        </p:spPr>
      </p:cxnSp>
      <p:cxnSp>
        <p:nvCxnSpPr>
          <p:cNvPr id="893" name="Google Shape;893;p23"/>
          <p:cNvCxnSpPr>
            <a:stCxn id="884" idx="4"/>
            <a:endCxn id="887" idx="0"/>
          </p:cNvCxnSpPr>
          <p:nvPr/>
        </p:nvCxnSpPr>
        <p:spPr>
          <a:xfrm flipH="1">
            <a:off x="6720223" y="2251320"/>
            <a:ext cx="485049" cy="377260"/>
          </a:xfrm>
          <a:prstGeom prst="straightConnector1">
            <a:avLst/>
          </a:prstGeom>
          <a:noFill/>
          <a:ln w="9525" cap="flat" cmpd="sng">
            <a:solidFill>
              <a:schemeClr val="dk1"/>
            </a:solidFill>
            <a:prstDash val="solid"/>
            <a:miter lim="800000"/>
            <a:headEnd type="none" w="sm" len="sm"/>
            <a:tailEnd type="triangle" w="med" len="med"/>
          </a:ln>
        </p:spPr>
      </p:cxnSp>
      <p:cxnSp>
        <p:nvCxnSpPr>
          <p:cNvPr id="894" name="Google Shape;894;p23"/>
          <p:cNvCxnSpPr/>
          <p:nvPr/>
        </p:nvCxnSpPr>
        <p:spPr>
          <a:xfrm flipH="1">
            <a:off x="4851542" y="3045832"/>
            <a:ext cx="158880" cy="452015"/>
          </a:xfrm>
          <a:prstGeom prst="straightConnector1">
            <a:avLst/>
          </a:prstGeom>
          <a:noFill/>
          <a:ln w="19050" cap="flat" cmpd="sng">
            <a:solidFill>
              <a:schemeClr val="dk1"/>
            </a:solidFill>
            <a:prstDash val="dash"/>
            <a:miter lim="800000"/>
            <a:headEnd type="none" w="sm" len="sm"/>
            <a:tailEnd type="triangle" w="med" len="med"/>
          </a:ln>
        </p:spPr>
      </p:cxnSp>
      <p:cxnSp>
        <p:nvCxnSpPr>
          <p:cNvPr id="895" name="Google Shape;895;p23"/>
          <p:cNvCxnSpPr/>
          <p:nvPr/>
        </p:nvCxnSpPr>
        <p:spPr>
          <a:xfrm flipH="1">
            <a:off x="6543567" y="3033158"/>
            <a:ext cx="183589" cy="433112"/>
          </a:xfrm>
          <a:prstGeom prst="straightConnector1">
            <a:avLst/>
          </a:prstGeom>
          <a:noFill/>
          <a:ln w="19050" cap="flat" cmpd="sng">
            <a:solidFill>
              <a:schemeClr val="dk1"/>
            </a:solidFill>
            <a:prstDash val="dash"/>
            <a:miter lim="800000"/>
            <a:headEnd type="none" w="sm" len="sm"/>
            <a:tailEnd type="triangle" w="med" len="med"/>
          </a:ln>
        </p:spPr>
      </p:cxnSp>
      <p:cxnSp>
        <p:nvCxnSpPr>
          <p:cNvPr id="896" name="Google Shape;896;p23"/>
          <p:cNvCxnSpPr/>
          <p:nvPr/>
        </p:nvCxnSpPr>
        <p:spPr>
          <a:xfrm flipH="1">
            <a:off x="7828110" y="3073739"/>
            <a:ext cx="41034" cy="424108"/>
          </a:xfrm>
          <a:prstGeom prst="straightConnector1">
            <a:avLst/>
          </a:prstGeom>
          <a:noFill/>
          <a:ln w="19050" cap="flat" cmpd="sng">
            <a:solidFill>
              <a:schemeClr val="dk1"/>
            </a:solidFill>
            <a:prstDash val="dash"/>
            <a:miter lim="800000"/>
            <a:headEnd type="none" w="sm" len="sm"/>
            <a:tailEnd type="triangle" w="med" len="med"/>
          </a:ln>
        </p:spPr>
      </p:cxnSp>
      <p:cxnSp>
        <p:nvCxnSpPr>
          <p:cNvPr id="897" name="Google Shape;897;p23"/>
          <p:cNvCxnSpPr/>
          <p:nvPr/>
        </p:nvCxnSpPr>
        <p:spPr>
          <a:xfrm>
            <a:off x="7925654" y="3086515"/>
            <a:ext cx="433553" cy="379754"/>
          </a:xfrm>
          <a:prstGeom prst="straightConnector1">
            <a:avLst/>
          </a:prstGeom>
          <a:noFill/>
          <a:ln w="19050" cap="flat" cmpd="sng">
            <a:solidFill>
              <a:schemeClr val="dk1"/>
            </a:solidFill>
            <a:prstDash val="dash"/>
            <a:miter lim="800000"/>
            <a:headEnd type="none" w="sm" len="sm"/>
            <a:tailEnd type="triangle" w="med" len="med"/>
          </a:ln>
        </p:spPr>
      </p:cxnSp>
      <p:cxnSp>
        <p:nvCxnSpPr>
          <p:cNvPr id="898" name="Google Shape;898;p23"/>
          <p:cNvCxnSpPr/>
          <p:nvPr/>
        </p:nvCxnSpPr>
        <p:spPr>
          <a:xfrm>
            <a:off x="6785608" y="3026279"/>
            <a:ext cx="309685" cy="439991"/>
          </a:xfrm>
          <a:prstGeom prst="straightConnector1">
            <a:avLst/>
          </a:prstGeom>
          <a:noFill/>
          <a:ln w="19050" cap="flat" cmpd="sng">
            <a:solidFill>
              <a:schemeClr val="dk1"/>
            </a:solidFill>
            <a:prstDash val="dash"/>
            <a:miter lim="800000"/>
            <a:headEnd type="none" w="sm" len="sm"/>
            <a:tailEnd type="triangle" w="med" len="med"/>
          </a:ln>
        </p:spPr>
      </p:cxnSp>
      <p:cxnSp>
        <p:nvCxnSpPr>
          <p:cNvPr id="899" name="Google Shape;899;p23"/>
          <p:cNvCxnSpPr/>
          <p:nvPr/>
        </p:nvCxnSpPr>
        <p:spPr>
          <a:xfrm>
            <a:off x="5065488" y="3045832"/>
            <a:ext cx="336093" cy="452015"/>
          </a:xfrm>
          <a:prstGeom prst="straightConnector1">
            <a:avLst/>
          </a:prstGeom>
          <a:noFill/>
          <a:ln w="19050" cap="flat" cmpd="sng">
            <a:solidFill>
              <a:schemeClr val="dk1"/>
            </a:solidFill>
            <a:prstDash val="dash"/>
            <a:miter lim="800000"/>
            <a:headEnd type="none" w="sm" len="sm"/>
            <a:tailEnd type="triangle" w="med" len="med"/>
          </a:ln>
        </p:spPr>
      </p:cxnSp>
      <p:sp>
        <p:nvSpPr>
          <p:cNvPr id="900" name="Google Shape;900;p23"/>
          <p:cNvSpPr txBox="1"/>
          <p:nvPr/>
        </p:nvSpPr>
        <p:spPr>
          <a:xfrm>
            <a:off x="4551997" y="3695288"/>
            <a:ext cx="4926580" cy="455260"/>
          </a:xfrm>
          <a:prstGeom prst="rect">
            <a:avLst/>
          </a:prstGeom>
          <a:noFill/>
          <a:ln>
            <a:noFill/>
          </a:ln>
        </p:spPr>
        <p:txBody>
          <a:bodyPr spcFirstLastPara="1" wrap="square" lIns="193227" tIns="96587" rIns="193227" bIns="96587" anchor="t" anchorCtr="0">
            <a:spAutoFit/>
          </a:bodyPr>
          <a:lstStyle/>
          <a:p>
            <a:r>
              <a:rPr lang="en-US" sz="1691" b="1">
                <a:solidFill>
                  <a:srgbClr val="00B050"/>
                </a:solidFill>
                <a:latin typeface="Arial"/>
                <a:ea typeface="Arial"/>
                <a:cs typeface="Arial"/>
                <a:sym typeface="Arial"/>
              </a:rPr>
              <a:t>   1.0                        0.5               0.5</a:t>
            </a:r>
            <a:endParaRPr sz="1691" b="1">
              <a:solidFill>
                <a:srgbClr val="00B050"/>
              </a:solidFill>
              <a:latin typeface="Arial"/>
              <a:ea typeface="Arial"/>
              <a:cs typeface="Arial"/>
              <a:sym typeface="Arial"/>
            </a:endParaRPr>
          </a:p>
        </p:txBody>
      </p:sp>
      <p:sp>
        <p:nvSpPr>
          <p:cNvPr id="901" name="Google Shape;901;p23"/>
          <p:cNvSpPr txBox="1"/>
          <p:nvPr/>
        </p:nvSpPr>
        <p:spPr>
          <a:xfrm>
            <a:off x="4725109" y="3419748"/>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+1                         +2                +2</a:t>
            </a:r>
            <a:endParaRPr sz="1691" b="1">
              <a:solidFill>
                <a:srgbClr val="C00000"/>
              </a:solidFill>
              <a:latin typeface="Arial"/>
              <a:ea typeface="Arial"/>
              <a:cs typeface="Arial"/>
              <a:sym typeface="Arial"/>
            </a:endParaRPr>
          </a:p>
        </p:txBody>
      </p:sp>
      <p:sp>
        <p:nvSpPr>
          <p:cNvPr id="902" name="Google Shape;902;p23"/>
          <p:cNvSpPr txBox="1"/>
          <p:nvPr/>
        </p:nvSpPr>
        <p:spPr>
          <a:xfrm>
            <a:off x="4458062" y="2178177"/>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	cool          warm</a:t>
            </a:r>
            <a:endParaRPr sz="1691" b="1">
              <a:solidFill>
                <a:srgbClr val="C00000"/>
              </a:solidFill>
              <a:latin typeface="Arial"/>
              <a:ea typeface="Arial"/>
              <a:cs typeface="Arial"/>
              <a:sym typeface="Arial"/>
            </a:endParaRPr>
          </a:p>
        </p:txBody>
      </p:sp>
      <p:sp>
        <p:nvSpPr>
          <p:cNvPr id="903" name="Google Shape;903;p23"/>
          <p:cNvSpPr txBox="1"/>
          <p:nvPr/>
        </p:nvSpPr>
        <p:spPr>
          <a:xfrm>
            <a:off x="5429049" y="877001"/>
            <a:ext cx="948196"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a:t>
            </a:r>
            <a:endParaRPr sz="1691" b="1">
              <a:solidFill>
                <a:srgbClr val="C00000"/>
              </a:solidFill>
              <a:latin typeface="Arial"/>
              <a:ea typeface="Arial"/>
              <a:cs typeface="Arial"/>
              <a:sym typeface="Arial"/>
            </a:endParaRPr>
          </a:p>
        </p:txBody>
      </p:sp>
      <p:sp>
        <p:nvSpPr>
          <p:cNvPr id="905" name="Google Shape;905;p23"/>
          <p:cNvSpPr txBox="1">
            <a:spLocks noGrp="1"/>
          </p:cNvSpPr>
          <p:nvPr>
            <p:ph type="body" idx="1"/>
          </p:nvPr>
        </p:nvSpPr>
        <p:spPr>
          <a:xfrm>
            <a:off x="278059" y="4191589"/>
            <a:ext cx="7354990" cy="2162964"/>
          </a:xfrm>
          <a:prstGeom prst="rect">
            <a:avLst/>
          </a:prstGeom>
          <a:noFill/>
          <a:ln>
            <a:noFill/>
          </a:ln>
        </p:spPr>
        <p:txBody>
          <a:bodyPr spcFirstLastPara="1" wrap="square" lIns="0" tIns="0" rIns="0" bIns="0" anchor="t" anchorCtr="0">
            <a:spAutoFit/>
          </a:bodyPr>
          <a:lstStyle/>
          <a:p>
            <a:pPr indent="-469725">
              <a:buSzPts val="1300"/>
              <a:buFont typeface="Arial"/>
              <a:buChar char="•"/>
            </a:pPr>
            <a:r>
              <a:rPr lang="en-US" sz="2008">
                <a:solidFill>
                  <a:schemeClr val="dk1"/>
                </a:solidFill>
              </a:rPr>
              <a:t>In PE, either synchronous or asynchronous value updates can be followed</a:t>
            </a:r>
            <a:endParaRPr sz="2008"/>
          </a:p>
          <a:p>
            <a:pPr indent="-469725">
              <a:buSzPts val="1300"/>
              <a:buFont typeface="Arial"/>
              <a:buChar char="•"/>
            </a:pPr>
            <a:r>
              <a:rPr lang="en-US" sz="2008">
                <a:solidFill>
                  <a:schemeClr val="dk1"/>
                </a:solidFill>
              </a:rPr>
              <a:t>If Threshold of 0.01 is applied then approx., at 46</a:t>
            </a:r>
            <a:r>
              <a:rPr lang="en-US" sz="2008" baseline="30000">
                <a:solidFill>
                  <a:schemeClr val="dk1"/>
                </a:solidFill>
              </a:rPr>
              <a:t>th</a:t>
            </a:r>
            <a:r>
              <a:rPr lang="en-US" sz="2008">
                <a:solidFill>
                  <a:schemeClr val="dk1"/>
                </a:solidFill>
              </a:rPr>
              <a:t> iteration algorithm converges</a:t>
            </a:r>
            <a:endParaRPr sz="2008"/>
          </a:p>
          <a:p>
            <a:pPr indent="-469725">
              <a:buSzPts val="1300"/>
              <a:buFont typeface="Arial"/>
              <a:buChar char="•"/>
            </a:pPr>
            <a:r>
              <a:rPr lang="en-US" sz="2008">
                <a:solidFill>
                  <a:srgbClr val="FF0000"/>
                </a:solidFill>
              </a:rPr>
              <a:t>Assume</a:t>
            </a:r>
            <a:r>
              <a:rPr lang="en-US" sz="2008">
                <a:solidFill>
                  <a:schemeClr val="dk1"/>
                </a:solidFill>
              </a:rPr>
              <a:t> that Asynchronous method is used &amp; Thresholding is not applied. In this case at approx., near 225</a:t>
            </a:r>
            <a:r>
              <a:rPr lang="en-US" sz="2008" baseline="30000">
                <a:solidFill>
                  <a:schemeClr val="dk1"/>
                </a:solidFill>
              </a:rPr>
              <a:t>th</a:t>
            </a:r>
            <a:r>
              <a:rPr lang="en-US" sz="2008">
                <a:solidFill>
                  <a:schemeClr val="dk1"/>
                </a:solidFill>
              </a:rPr>
              <a:t> iteration values converge</a:t>
            </a:r>
            <a:endParaRPr sz="2008">
              <a:solidFill>
                <a:schemeClr val="dk1"/>
              </a:solidFill>
            </a:endParaRPr>
          </a:p>
        </p:txBody>
      </p:sp>
      <p:sp>
        <p:nvSpPr>
          <p:cNvPr id="906" name="Google Shape;906;p23"/>
          <p:cNvSpPr/>
          <p:nvPr/>
        </p:nvSpPr>
        <p:spPr>
          <a:xfrm>
            <a:off x="11044484" y="1148949"/>
            <a:ext cx="0" cy="8848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pic>
        <p:nvPicPr>
          <p:cNvPr id="907" name="Google Shape;907;p23"/>
          <p:cNvPicPr preferRelativeResize="0"/>
          <p:nvPr/>
        </p:nvPicPr>
        <p:blipFill rotWithShape="1">
          <a:blip r:embed="rId16">
            <a:alphaModFix/>
          </a:blip>
          <a:srcRect/>
          <a:stretch/>
        </p:blipFill>
        <p:spPr>
          <a:xfrm>
            <a:off x="8412950" y="174164"/>
            <a:ext cx="3801188" cy="2804468"/>
          </a:xfrm>
          <a:prstGeom prst="rect">
            <a:avLst/>
          </a:prstGeom>
          <a:noFill/>
          <a:ln>
            <a:noFill/>
          </a:ln>
        </p:spPr>
      </p:pic>
      <p:sp>
        <p:nvSpPr>
          <p:cNvPr id="908" name="Google Shape;908;p23"/>
          <p:cNvSpPr/>
          <p:nvPr/>
        </p:nvSpPr>
        <p:spPr>
          <a:xfrm>
            <a:off x="8056253" y="1773202"/>
            <a:ext cx="396569" cy="112734"/>
          </a:xfrm>
          <a:prstGeom prst="rightArrow">
            <a:avLst>
              <a:gd name="adj1" fmla="val 50000"/>
              <a:gd name="adj2" fmla="val 50000"/>
            </a:avLst>
          </a:prstGeom>
          <a:solidFill>
            <a:srgbClr val="E9A820"/>
          </a:solidFill>
          <a:ln w="25400" cap="flat" cmpd="sng">
            <a:solidFill>
              <a:srgbClr val="E9A820"/>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lt1"/>
              </a:solidFill>
              <a:latin typeface="Arial"/>
              <a:ea typeface="Arial"/>
              <a:cs typeface="Arial"/>
              <a:sym typeface="Arial"/>
            </a:endParaRPr>
          </a:p>
        </p:txBody>
      </p:sp>
      <p:pic>
        <p:nvPicPr>
          <p:cNvPr id="909" name="Google Shape;909;p23"/>
          <p:cNvPicPr preferRelativeResize="0"/>
          <p:nvPr/>
        </p:nvPicPr>
        <p:blipFill rotWithShape="1">
          <a:blip r:embed="rId17">
            <a:alphaModFix/>
          </a:blip>
          <a:srcRect/>
          <a:stretch/>
        </p:blipFill>
        <p:spPr>
          <a:xfrm>
            <a:off x="10858343" y="546570"/>
            <a:ext cx="672728" cy="262364"/>
          </a:xfrm>
          <a:prstGeom prst="rect">
            <a:avLst/>
          </a:prstGeom>
          <a:noFill/>
          <a:ln>
            <a:noFill/>
          </a:ln>
        </p:spPr>
      </p:pic>
      <p:sp>
        <p:nvSpPr>
          <p:cNvPr id="910" name="Google Shape;910;p23"/>
          <p:cNvSpPr/>
          <p:nvPr/>
        </p:nvSpPr>
        <p:spPr>
          <a:xfrm>
            <a:off x="10674268" y="594739"/>
            <a:ext cx="1361941" cy="455260"/>
          </a:xfrm>
          <a:prstGeom prst="rect">
            <a:avLst/>
          </a:prstGeom>
          <a:noFill/>
          <a:ln>
            <a:noFill/>
          </a:ln>
        </p:spPr>
        <p:txBody>
          <a:bodyPr spcFirstLastPara="1" wrap="square" lIns="193227" tIns="96587" rIns="193227" bIns="96587" anchor="t" anchorCtr="0">
            <a:spAutoFit/>
          </a:bodyPr>
          <a:lstStyle/>
          <a:p>
            <a:r>
              <a:rPr lang="en-US" sz="1691" b="1">
                <a:solidFill>
                  <a:srgbClr val="000000"/>
                </a:solidFill>
                <a:latin typeface="Arial"/>
                <a:ea typeface="Arial"/>
                <a:cs typeface="Arial"/>
                <a:sym typeface="Arial"/>
              </a:rPr>
              <a:t>ɵ = 0.01</a:t>
            </a:r>
            <a:endParaRPr sz="1691" b="1">
              <a:solidFill>
                <a:srgbClr val="000000"/>
              </a:solidFill>
              <a:latin typeface="Arial"/>
              <a:ea typeface="Arial"/>
              <a:cs typeface="Arial"/>
              <a:sym typeface="Arial"/>
            </a:endParaRPr>
          </a:p>
        </p:txBody>
      </p:sp>
      <p:sp>
        <p:nvSpPr>
          <p:cNvPr id="911" name="Google Shape;911;p23"/>
          <p:cNvSpPr txBox="1"/>
          <p:nvPr/>
        </p:nvSpPr>
        <p:spPr>
          <a:xfrm>
            <a:off x="1068904" y="2276821"/>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b="1">
                <a:solidFill>
                  <a:srgbClr val="FF0000"/>
                </a:solidFill>
                <a:latin typeface="Calibri"/>
                <a:ea typeface="Calibri"/>
                <a:cs typeface="Calibri"/>
                <a:sym typeface="Calibri"/>
              </a:rPr>
              <a:t>  </a:t>
            </a:r>
            <a:r>
              <a:rPr lang="en-US" sz="1691" b="1">
                <a:solidFill>
                  <a:schemeClr val="dk1"/>
                </a:solidFill>
                <a:latin typeface="Calibri"/>
                <a:ea typeface="Calibri"/>
                <a:cs typeface="Calibri"/>
                <a:sym typeface="Calibri"/>
              </a:rPr>
              <a:t>1</a:t>
            </a:r>
            <a:r>
              <a:rPr lang="en-US" sz="1691" b="1">
                <a:solidFill>
                  <a:srgbClr val="FF0000"/>
                </a:solidFill>
                <a:latin typeface="Calibri"/>
                <a:ea typeface="Calibri"/>
                <a:cs typeface="Calibri"/>
                <a:sym typeface="Calibri"/>
              </a:rPr>
              <a:t>             </a:t>
            </a:r>
            <a:r>
              <a:rPr lang="en-US" sz="1691">
                <a:solidFill>
                  <a:schemeClr val="dk1"/>
                </a:solidFill>
                <a:latin typeface="Calibri"/>
                <a:ea typeface="Calibri"/>
                <a:cs typeface="Calibri"/>
                <a:sym typeface="Calibri"/>
              </a:rPr>
              <a:t>1.45        0……….</a:t>
            </a:r>
            <a:endParaRPr sz="634">
              <a:solidFill>
                <a:srgbClr val="000000"/>
              </a:solidFill>
              <a:latin typeface="Arial"/>
              <a:ea typeface="Arial"/>
              <a:cs typeface="Arial"/>
              <a:sym typeface="Arial"/>
            </a:endParaRPr>
          </a:p>
        </p:txBody>
      </p:sp>
      <p:sp>
        <p:nvSpPr>
          <p:cNvPr id="912" name="Google Shape;912;p23"/>
          <p:cNvSpPr txBox="1"/>
          <p:nvPr/>
        </p:nvSpPr>
        <p:spPr>
          <a:xfrm>
            <a:off x="1057631" y="2962788"/>
            <a:ext cx="2623690" cy="715459"/>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b="1">
                <a:solidFill>
                  <a:schemeClr val="dk1"/>
                </a:solidFill>
                <a:latin typeface="Calibri"/>
                <a:ea typeface="Calibri"/>
                <a:cs typeface="Calibri"/>
                <a:sym typeface="Calibri"/>
              </a:rPr>
              <a:t>  1.9           2.51</a:t>
            </a:r>
            <a:r>
              <a:rPr lang="en-US" sz="1691">
                <a:solidFill>
                  <a:schemeClr val="dk1"/>
                </a:solidFill>
                <a:latin typeface="Calibri"/>
                <a:ea typeface="Calibri"/>
                <a:cs typeface="Calibri"/>
                <a:sym typeface="Calibri"/>
              </a:rPr>
              <a:t>       0……….</a:t>
            </a:r>
            <a:endParaRPr sz="634">
              <a:solidFill>
                <a:srgbClr val="000000"/>
              </a:solidFill>
              <a:latin typeface="Arial"/>
              <a:ea typeface="Arial"/>
              <a:cs typeface="Arial"/>
              <a:sym typeface="Arial"/>
            </a:endParaRPr>
          </a:p>
        </p:txBody>
      </p:sp>
      <p:sp>
        <p:nvSpPr>
          <p:cNvPr id="913" name="Google Shape;913;p23"/>
          <p:cNvSpPr/>
          <p:nvPr/>
        </p:nvSpPr>
        <p:spPr>
          <a:xfrm>
            <a:off x="685840" y="3845597"/>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914" name="Google Shape;914;p23"/>
          <p:cNvSpPr txBox="1"/>
          <p:nvPr/>
        </p:nvSpPr>
        <p:spPr>
          <a:xfrm>
            <a:off x="855362" y="3791065"/>
            <a:ext cx="2623690" cy="455260"/>
          </a:xfrm>
          <a:prstGeom prst="rect">
            <a:avLst/>
          </a:prstGeom>
          <a:noFill/>
          <a:ln>
            <a:noFill/>
          </a:ln>
        </p:spPr>
        <p:txBody>
          <a:bodyPr spcFirstLastPara="1" wrap="square" lIns="193227" tIns="96587" rIns="193227" bIns="96587" anchor="t" anchorCtr="0">
            <a:spAutoFit/>
          </a:bodyPr>
          <a:lstStyle/>
          <a:p>
            <a:r>
              <a:rPr lang="en-US" sz="1691">
                <a:solidFill>
                  <a:schemeClr val="dk1"/>
                </a:solidFill>
                <a:latin typeface="Calibri"/>
                <a:ea typeface="Calibri"/>
                <a:cs typeface="Calibri"/>
                <a:sym typeface="Calibri"/>
              </a:rPr>
              <a:t>  ~</a:t>
            </a:r>
            <a:r>
              <a:rPr lang="en-US" sz="1691">
                <a:solidFill>
                  <a:schemeClr val="dk1"/>
                </a:solidFill>
                <a:highlight>
                  <a:srgbClr val="FFFF00"/>
                </a:highlight>
                <a:latin typeface="Calibri"/>
                <a:ea typeface="Calibri"/>
                <a:cs typeface="Calibri"/>
                <a:sym typeface="Calibri"/>
              </a:rPr>
              <a:t>10</a:t>
            </a:r>
            <a:r>
              <a:rPr lang="en-US" sz="1691">
                <a:solidFill>
                  <a:schemeClr val="dk1"/>
                </a:solidFill>
                <a:latin typeface="Calibri"/>
                <a:ea typeface="Calibri"/>
                <a:cs typeface="Calibri"/>
                <a:sym typeface="Calibri"/>
              </a:rPr>
              <a:t>             ~</a:t>
            </a:r>
            <a:r>
              <a:rPr lang="en-US" sz="1691">
                <a:solidFill>
                  <a:schemeClr val="dk1"/>
                </a:solidFill>
                <a:highlight>
                  <a:srgbClr val="FFFF00"/>
                </a:highlight>
                <a:latin typeface="Calibri"/>
                <a:ea typeface="Calibri"/>
                <a:cs typeface="Calibri"/>
                <a:sym typeface="Calibri"/>
              </a:rPr>
              <a:t> 10</a:t>
            </a:r>
            <a:r>
              <a:rPr lang="en-US" sz="1691">
                <a:solidFill>
                  <a:schemeClr val="dk1"/>
                </a:solidFill>
                <a:latin typeface="Calibri"/>
                <a:ea typeface="Calibri"/>
                <a:cs typeface="Calibri"/>
                <a:sym typeface="Calibri"/>
              </a:rPr>
              <a:t>        0</a:t>
            </a:r>
            <a:endParaRPr sz="634">
              <a:solidFill>
                <a:srgbClr val="000000"/>
              </a:solidFill>
              <a:latin typeface="Arial"/>
              <a:ea typeface="Arial"/>
              <a:cs typeface="Arial"/>
              <a:sym typeface="Arial"/>
            </a:endParaRPr>
          </a:p>
        </p:txBody>
      </p:sp>
      <p:sp>
        <p:nvSpPr>
          <p:cNvPr id="915" name="Google Shape;915;p23"/>
          <p:cNvSpPr txBox="1"/>
          <p:nvPr/>
        </p:nvSpPr>
        <p:spPr>
          <a:xfrm>
            <a:off x="80565" y="3824771"/>
            <a:ext cx="882895" cy="455260"/>
          </a:xfrm>
          <a:prstGeom prst="rect">
            <a:avLst/>
          </a:prstGeom>
          <a:noFill/>
          <a:ln>
            <a:noFill/>
          </a:ln>
        </p:spPr>
        <p:txBody>
          <a:bodyPr spcFirstLastPara="1" wrap="square" lIns="193227" tIns="96587" rIns="193227" bIns="96587" anchor="t" anchorCtr="0">
            <a:spAutoFit/>
          </a:bodyPr>
          <a:lstStyle/>
          <a:p>
            <a:r>
              <a:rPr lang="en-US" sz="1691">
                <a:solidFill>
                  <a:srgbClr val="000000"/>
                </a:solidFill>
                <a:latin typeface="Arial"/>
                <a:ea typeface="Arial"/>
                <a:cs typeface="Arial"/>
                <a:sym typeface="Arial"/>
              </a:rPr>
              <a:t>V</a:t>
            </a:r>
            <a:r>
              <a:rPr lang="en-US" sz="1691" baseline="-25000">
                <a:solidFill>
                  <a:srgbClr val="000000"/>
                </a:solidFill>
                <a:latin typeface="Arial"/>
                <a:ea typeface="Arial"/>
                <a:cs typeface="Arial"/>
                <a:sym typeface="Arial"/>
              </a:rPr>
              <a:t>225</a:t>
            </a:r>
            <a:endParaRPr sz="1691" baseline="-25000">
              <a:solidFill>
                <a:srgbClr val="000000"/>
              </a:solidFill>
              <a:latin typeface="Arial"/>
              <a:ea typeface="Arial"/>
              <a:cs typeface="Arial"/>
              <a:sym typeface="Arial"/>
            </a:endParaRPr>
          </a:p>
        </p:txBody>
      </p:sp>
      <p:sp>
        <p:nvSpPr>
          <p:cNvPr id="916" name="Google Shape;916;p23"/>
          <p:cNvSpPr txBox="1"/>
          <p:nvPr/>
        </p:nvSpPr>
        <p:spPr>
          <a:xfrm>
            <a:off x="179822" y="282490"/>
            <a:ext cx="4278239" cy="520406"/>
          </a:xfrm>
          <a:prstGeom prst="rect">
            <a:avLst/>
          </a:prstGeom>
          <a:solidFill>
            <a:srgbClr val="F0C040"/>
          </a:solidFill>
          <a:ln>
            <a:noFill/>
          </a:ln>
        </p:spPr>
        <p:txBody>
          <a:bodyPr spcFirstLastPara="1" wrap="square" lIns="193227" tIns="96587" rIns="193227" bIns="96587" anchor="t" anchorCtr="0">
            <a:spAutoFit/>
          </a:bodyPr>
          <a:lstStyle/>
          <a:p>
            <a:pPr algn="just"/>
            <a:r>
              <a:rPr lang="en-US" sz="2114">
                <a:solidFill>
                  <a:srgbClr val="0070C0"/>
                </a:solidFill>
                <a:latin typeface="Arial"/>
                <a:ea typeface="Arial"/>
                <a:cs typeface="Arial"/>
                <a:sym typeface="Arial"/>
              </a:rPr>
              <a:t>Policy Evaluation Completes</a:t>
            </a:r>
            <a:endParaRPr sz="2114">
              <a:solidFill>
                <a:srgbClr val="0070C0"/>
              </a:solidFill>
              <a:latin typeface="Arial"/>
              <a:ea typeface="Arial"/>
              <a:cs typeface="Arial"/>
              <a:sym typeface="Arial"/>
            </a:endParaRPr>
          </a:p>
        </p:txBody>
      </p:sp>
      <p:sp>
        <p:nvSpPr>
          <p:cNvPr id="917" name="Google Shape;917;p23"/>
          <p:cNvSpPr txBox="1"/>
          <p:nvPr/>
        </p:nvSpPr>
        <p:spPr>
          <a:xfrm>
            <a:off x="4790198" y="1336713"/>
            <a:ext cx="3299495" cy="455260"/>
          </a:xfrm>
          <a:prstGeom prst="rect">
            <a:avLst/>
          </a:prstGeom>
          <a:noFill/>
          <a:ln>
            <a:noFill/>
          </a:ln>
        </p:spPr>
        <p:txBody>
          <a:bodyPr spcFirstLastPara="1" wrap="square" lIns="193227" tIns="96587" rIns="193227" bIns="96587" anchor="t" anchorCtr="0">
            <a:spAutoFit/>
          </a:bodyPr>
          <a:lstStyle/>
          <a:p>
            <a:r>
              <a:rPr lang="en-US" sz="1691" b="1">
                <a:solidFill>
                  <a:schemeClr val="dk1"/>
                </a:solidFill>
                <a:latin typeface="Arial"/>
                <a:ea typeface="Arial"/>
                <a:cs typeface="Arial"/>
                <a:sym typeface="Arial"/>
              </a:rPr>
              <a:t>Go Slow   	Go Fast</a:t>
            </a:r>
            <a:endParaRPr sz="1691" b="1">
              <a:solidFill>
                <a:schemeClr val="dk1"/>
              </a:solidFill>
              <a:latin typeface="Arial"/>
              <a:ea typeface="Arial"/>
              <a:cs typeface="Arial"/>
              <a:sym typeface="Arial"/>
            </a:endParaRPr>
          </a:p>
        </p:txBody>
      </p:sp>
      <p:sp>
        <p:nvSpPr>
          <p:cNvPr id="2" name="Footer">
            <a:extLst>
              <a:ext uri="{FF2B5EF4-FFF2-40B4-BE49-F238E27FC236}">
                <a16:creationId xmlns:a16="http://schemas.microsoft.com/office/drawing/2014/main" id="{80E440BD-3BD2-F601-3C60-47CFCF2944E2}"/>
              </a:ext>
            </a:extLst>
          </p:cNvPr>
          <p:cNvSpPr txBox="1">
            <a:spLocks/>
          </p:cNvSpPr>
          <p:nvPr/>
        </p:nvSpPr>
        <p:spPr>
          <a:xfrm>
            <a:off x="2981648" y="6581345"/>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24"/>
          <p:cNvSpPr txBox="1">
            <a:spLocks noGrp="1"/>
          </p:cNvSpPr>
          <p:nvPr>
            <p:ph type="title"/>
          </p:nvPr>
        </p:nvSpPr>
        <p:spPr>
          <a:xfrm>
            <a:off x="177559" y="231525"/>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 – Policy Iteration</a:t>
            </a:r>
            <a:endParaRPr/>
          </a:p>
        </p:txBody>
      </p:sp>
      <p:grpSp>
        <p:nvGrpSpPr>
          <p:cNvPr id="923" name="Google Shape;923;p24"/>
          <p:cNvGrpSpPr/>
          <p:nvPr/>
        </p:nvGrpSpPr>
        <p:grpSpPr>
          <a:xfrm>
            <a:off x="2983" y="6571410"/>
            <a:ext cx="12174329" cy="194601"/>
            <a:chOff x="0" y="3109250"/>
            <a:chExt cx="5760261" cy="92075"/>
          </a:xfrm>
        </p:grpSpPr>
        <p:sp>
          <p:nvSpPr>
            <p:cNvPr id="924" name="Google Shape;924;p24"/>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925" name="Google Shape;925;p24"/>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926" name="Google Shape;926;p24"/>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928" name="Google Shape;928;p24"/>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34</a:t>
            </a:fld>
            <a:r>
              <a:rPr lang="en-US"/>
              <a:t> / 46</a:t>
            </a:r>
            <a:endParaRPr/>
          </a:p>
        </p:txBody>
      </p:sp>
      <p:pic>
        <p:nvPicPr>
          <p:cNvPr id="929" name="Google Shape;929;p24" descr="TP_tmp.png"/>
          <p:cNvPicPr preferRelativeResize="0"/>
          <p:nvPr/>
        </p:nvPicPr>
        <p:blipFill rotWithShape="1">
          <a:blip r:embed="rId3">
            <a:alphaModFix/>
          </a:blip>
          <a:srcRect/>
          <a:stretch/>
        </p:blipFill>
        <p:spPr>
          <a:xfrm>
            <a:off x="364607" y="1756415"/>
            <a:ext cx="203949" cy="322518"/>
          </a:xfrm>
          <a:prstGeom prst="rect">
            <a:avLst/>
          </a:prstGeom>
          <a:noFill/>
          <a:ln>
            <a:noFill/>
          </a:ln>
        </p:spPr>
      </p:pic>
      <p:pic>
        <p:nvPicPr>
          <p:cNvPr id="930" name="Google Shape;930;p24"/>
          <p:cNvPicPr preferRelativeResize="0"/>
          <p:nvPr/>
        </p:nvPicPr>
        <p:blipFill rotWithShape="1">
          <a:blip r:embed="rId4">
            <a:alphaModFix/>
          </a:blip>
          <a:srcRect/>
          <a:stretch/>
        </p:blipFill>
        <p:spPr>
          <a:xfrm>
            <a:off x="1123247" y="1115162"/>
            <a:ext cx="535435" cy="556722"/>
          </a:xfrm>
          <a:prstGeom prst="rect">
            <a:avLst/>
          </a:prstGeom>
          <a:noFill/>
          <a:ln>
            <a:noFill/>
          </a:ln>
        </p:spPr>
      </p:pic>
      <p:pic>
        <p:nvPicPr>
          <p:cNvPr id="931" name="Google Shape;931;p24"/>
          <p:cNvPicPr preferRelativeResize="0"/>
          <p:nvPr/>
        </p:nvPicPr>
        <p:blipFill rotWithShape="1">
          <a:blip r:embed="rId5">
            <a:alphaModFix/>
          </a:blip>
          <a:srcRect/>
          <a:stretch/>
        </p:blipFill>
        <p:spPr>
          <a:xfrm>
            <a:off x="2509775" y="1035634"/>
            <a:ext cx="568088" cy="636251"/>
          </a:xfrm>
          <a:prstGeom prst="rect">
            <a:avLst/>
          </a:prstGeom>
          <a:noFill/>
          <a:ln>
            <a:noFill/>
          </a:ln>
        </p:spPr>
      </p:pic>
      <p:pic>
        <p:nvPicPr>
          <p:cNvPr id="932" name="Google Shape;932;p24"/>
          <p:cNvPicPr preferRelativeResize="0"/>
          <p:nvPr/>
        </p:nvPicPr>
        <p:blipFill rotWithShape="1">
          <a:blip r:embed="rId6">
            <a:alphaModFix/>
          </a:blip>
          <a:srcRect/>
          <a:stretch/>
        </p:blipFill>
        <p:spPr>
          <a:xfrm>
            <a:off x="1821735" y="1077450"/>
            <a:ext cx="585286" cy="583232"/>
          </a:xfrm>
          <a:prstGeom prst="rect">
            <a:avLst/>
          </a:prstGeom>
          <a:noFill/>
          <a:ln>
            <a:noFill/>
          </a:ln>
        </p:spPr>
      </p:pic>
      <p:sp>
        <p:nvSpPr>
          <p:cNvPr id="933" name="Google Shape;933;p24"/>
          <p:cNvSpPr/>
          <p:nvPr/>
        </p:nvSpPr>
        <p:spPr>
          <a:xfrm>
            <a:off x="657828" y="3005348"/>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934" name="Google Shape;934;p24"/>
          <p:cNvSpPr/>
          <p:nvPr/>
        </p:nvSpPr>
        <p:spPr>
          <a:xfrm>
            <a:off x="690038" y="2276822"/>
            <a:ext cx="2928770" cy="455253"/>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935" name="Google Shape;935;p24"/>
          <p:cNvSpPr/>
          <p:nvPr/>
        </p:nvSpPr>
        <p:spPr>
          <a:xfrm>
            <a:off x="696040" y="1667731"/>
            <a:ext cx="2928770" cy="455257"/>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pic>
        <p:nvPicPr>
          <p:cNvPr id="936" name="Google Shape;936;p24" descr="TP_tmp.png"/>
          <p:cNvPicPr preferRelativeResize="0"/>
          <p:nvPr/>
        </p:nvPicPr>
        <p:blipFill rotWithShape="1">
          <a:blip r:embed="rId7">
            <a:alphaModFix/>
          </a:blip>
          <a:srcRect/>
          <a:stretch/>
        </p:blipFill>
        <p:spPr>
          <a:xfrm>
            <a:off x="346553" y="2375833"/>
            <a:ext cx="183630" cy="323298"/>
          </a:xfrm>
          <a:prstGeom prst="rect">
            <a:avLst/>
          </a:prstGeom>
          <a:noFill/>
          <a:ln>
            <a:noFill/>
          </a:ln>
        </p:spPr>
      </p:pic>
      <p:pic>
        <p:nvPicPr>
          <p:cNvPr id="937" name="Google Shape;937;p24" descr="TP_tmp.png"/>
          <p:cNvPicPr preferRelativeResize="0"/>
          <p:nvPr/>
        </p:nvPicPr>
        <p:blipFill rotWithShape="1">
          <a:blip r:embed="rId8">
            <a:alphaModFix/>
          </a:blip>
          <a:srcRect/>
          <a:stretch/>
        </p:blipFill>
        <p:spPr>
          <a:xfrm>
            <a:off x="353872" y="3017816"/>
            <a:ext cx="204441" cy="323298"/>
          </a:xfrm>
          <a:prstGeom prst="rect">
            <a:avLst/>
          </a:prstGeom>
          <a:noFill/>
          <a:ln>
            <a:noFill/>
          </a:ln>
        </p:spPr>
      </p:pic>
      <p:sp>
        <p:nvSpPr>
          <p:cNvPr id="938" name="Google Shape;938;p24"/>
          <p:cNvSpPr txBox="1"/>
          <p:nvPr/>
        </p:nvSpPr>
        <p:spPr>
          <a:xfrm>
            <a:off x="1098665" y="1667735"/>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0             0             0 ……..</a:t>
            </a:r>
            <a:endParaRPr sz="634">
              <a:solidFill>
                <a:srgbClr val="000000"/>
              </a:solidFill>
              <a:latin typeface="Arial"/>
              <a:ea typeface="Arial"/>
              <a:cs typeface="Arial"/>
              <a:sym typeface="Arial"/>
            </a:endParaRPr>
          </a:p>
        </p:txBody>
      </p:sp>
      <p:pic>
        <p:nvPicPr>
          <p:cNvPr id="939" name="Google Shape;939;p24"/>
          <p:cNvPicPr preferRelativeResize="0"/>
          <p:nvPr/>
        </p:nvPicPr>
        <p:blipFill rotWithShape="1">
          <a:blip r:embed="rId9">
            <a:alphaModFix/>
          </a:blip>
          <a:srcRect/>
          <a:stretch/>
        </p:blipFill>
        <p:spPr>
          <a:xfrm>
            <a:off x="7217220" y="3254172"/>
            <a:ext cx="4960091" cy="3006946"/>
          </a:xfrm>
          <a:prstGeom prst="rect">
            <a:avLst/>
          </a:prstGeom>
          <a:noFill/>
          <a:ln>
            <a:noFill/>
          </a:ln>
        </p:spPr>
      </p:pic>
      <p:sp>
        <p:nvSpPr>
          <p:cNvPr id="940" name="Google Shape;940;p24"/>
          <p:cNvSpPr/>
          <p:nvPr/>
        </p:nvSpPr>
        <p:spPr>
          <a:xfrm>
            <a:off x="6050456" y="841601"/>
            <a:ext cx="778978" cy="512157"/>
          </a:xfrm>
          <a:prstGeom prst="triangle">
            <a:avLst>
              <a:gd name="adj" fmla="val 50000"/>
            </a:avLst>
          </a:prstGeom>
          <a:blipFill rotWithShape="1">
            <a:blip r:embed="rId10">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941" name="Google Shape;941;p24"/>
          <p:cNvSpPr/>
          <p:nvPr/>
        </p:nvSpPr>
        <p:spPr>
          <a:xfrm>
            <a:off x="6892541" y="1813470"/>
            <a:ext cx="625462" cy="437850"/>
          </a:xfrm>
          <a:prstGeom prst="ellipse">
            <a:avLst/>
          </a:prstGeom>
          <a:blipFill rotWithShape="1">
            <a:blip r:embed="rId11">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942" name="Google Shape;942;p24"/>
          <p:cNvSpPr/>
          <p:nvPr/>
        </p:nvSpPr>
        <p:spPr>
          <a:xfrm>
            <a:off x="5047781" y="1829569"/>
            <a:ext cx="625462" cy="437850"/>
          </a:xfrm>
          <a:prstGeom prst="ellipse">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943" name="Google Shape;943;p24"/>
          <p:cNvSpPr/>
          <p:nvPr/>
        </p:nvSpPr>
        <p:spPr>
          <a:xfrm>
            <a:off x="4725108" y="2628430"/>
            <a:ext cx="590200" cy="417406"/>
          </a:xfrm>
          <a:prstGeom prst="rect">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944" name="Google Shape;944;p24"/>
          <p:cNvSpPr/>
          <p:nvPr/>
        </p:nvSpPr>
        <p:spPr>
          <a:xfrm>
            <a:off x="6425087" y="2628427"/>
            <a:ext cx="590200" cy="417406"/>
          </a:xfrm>
          <a:prstGeom prst="rect">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945" name="Google Shape;945;p24"/>
          <p:cNvSpPr/>
          <p:nvPr/>
        </p:nvSpPr>
        <p:spPr>
          <a:xfrm>
            <a:off x="7633305" y="2635890"/>
            <a:ext cx="590200" cy="417406"/>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cxnSp>
        <p:nvCxnSpPr>
          <p:cNvPr id="946" name="Google Shape;946;p24"/>
          <p:cNvCxnSpPr>
            <a:stCxn id="940" idx="3"/>
            <a:endCxn id="942" idx="7"/>
          </p:cNvCxnSpPr>
          <p:nvPr/>
        </p:nvCxnSpPr>
        <p:spPr>
          <a:xfrm flipH="1">
            <a:off x="5581440" y="1353758"/>
            <a:ext cx="858505" cy="540211"/>
          </a:xfrm>
          <a:prstGeom prst="straightConnector1">
            <a:avLst/>
          </a:prstGeom>
          <a:noFill/>
          <a:ln w="9525" cap="flat" cmpd="sng">
            <a:solidFill>
              <a:schemeClr val="dk1"/>
            </a:solidFill>
            <a:prstDash val="solid"/>
            <a:miter lim="800000"/>
            <a:headEnd type="none" w="sm" len="sm"/>
            <a:tailEnd type="triangle" w="med" len="med"/>
          </a:ln>
        </p:spPr>
      </p:cxnSp>
      <p:cxnSp>
        <p:nvCxnSpPr>
          <p:cNvPr id="947" name="Google Shape;947;p24"/>
          <p:cNvCxnSpPr>
            <a:stCxn id="940" idx="3"/>
            <a:endCxn id="941" idx="1"/>
          </p:cNvCxnSpPr>
          <p:nvPr/>
        </p:nvCxnSpPr>
        <p:spPr>
          <a:xfrm>
            <a:off x="6439945" y="1353758"/>
            <a:ext cx="544016" cy="523726"/>
          </a:xfrm>
          <a:prstGeom prst="straightConnector1">
            <a:avLst/>
          </a:prstGeom>
          <a:noFill/>
          <a:ln w="9525" cap="flat" cmpd="sng">
            <a:solidFill>
              <a:schemeClr val="dk1"/>
            </a:solidFill>
            <a:prstDash val="solid"/>
            <a:miter lim="800000"/>
            <a:headEnd type="none" w="sm" len="sm"/>
            <a:tailEnd type="triangle" w="med" len="med"/>
          </a:ln>
        </p:spPr>
      </p:cxnSp>
      <p:cxnSp>
        <p:nvCxnSpPr>
          <p:cNvPr id="948" name="Google Shape;948;p24"/>
          <p:cNvCxnSpPr>
            <a:stCxn id="942" idx="4"/>
            <a:endCxn id="943" idx="0"/>
          </p:cNvCxnSpPr>
          <p:nvPr/>
        </p:nvCxnSpPr>
        <p:spPr>
          <a:xfrm flipH="1">
            <a:off x="5020026" y="2267419"/>
            <a:ext cx="340485" cy="360775"/>
          </a:xfrm>
          <a:prstGeom prst="straightConnector1">
            <a:avLst/>
          </a:prstGeom>
          <a:noFill/>
          <a:ln w="9525" cap="flat" cmpd="sng">
            <a:solidFill>
              <a:schemeClr val="dk1"/>
            </a:solidFill>
            <a:prstDash val="solid"/>
            <a:miter lim="800000"/>
            <a:headEnd type="none" w="sm" len="sm"/>
            <a:tailEnd type="triangle" w="med" len="med"/>
          </a:ln>
        </p:spPr>
      </p:cxnSp>
      <p:cxnSp>
        <p:nvCxnSpPr>
          <p:cNvPr id="949" name="Google Shape;949;p24"/>
          <p:cNvCxnSpPr>
            <a:stCxn id="941" idx="4"/>
            <a:endCxn id="945" idx="0"/>
          </p:cNvCxnSpPr>
          <p:nvPr/>
        </p:nvCxnSpPr>
        <p:spPr>
          <a:xfrm>
            <a:off x="7205272" y="2251320"/>
            <a:ext cx="722818" cy="384869"/>
          </a:xfrm>
          <a:prstGeom prst="straightConnector1">
            <a:avLst/>
          </a:prstGeom>
          <a:noFill/>
          <a:ln w="9525" cap="flat" cmpd="sng">
            <a:solidFill>
              <a:schemeClr val="dk1"/>
            </a:solidFill>
            <a:prstDash val="solid"/>
            <a:miter lim="800000"/>
            <a:headEnd type="none" w="sm" len="sm"/>
            <a:tailEnd type="triangle" w="med" len="med"/>
          </a:ln>
        </p:spPr>
      </p:cxnSp>
      <p:cxnSp>
        <p:nvCxnSpPr>
          <p:cNvPr id="950" name="Google Shape;950;p24"/>
          <p:cNvCxnSpPr>
            <a:stCxn id="941" idx="4"/>
            <a:endCxn id="944" idx="0"/>
          </p:cNvCxnSpPr>
          <p:nvPr/>
        </p:nvCxnSpPr>
        <p:spPr>
          <a:xfrm flipH="1">
            <a:off x="6720223" y="2251320"/>
            <a:ext cx="485049" cy="377260"/>
          </a:xfrm>
          <a:prstGeom prst="straightConnector1">
            <a:avLst/>
          </a:prstGeom>
          <a:noFill/>
          <a:ln w="9525" cap="flat" cmpd="sng">
            <a:solidFill>
              <a:schemeClr val="dk1"/>
            </a:solidFill>
            <a:prstDash val="solid"/>
            <a:miter lim="800000"/>
            <a:headEnd type="none" w="sm" len="sm"/>
            <a:tailEnd type="triangle" w="med" len="med"/>
          </a:ln>
        </p:spPr>
      </p:cxnSp>
      <p:cxnSp>
        <p:nvCxnSpPr>
          <p:cNvPr id="951" name="Google Shape;951;p24"/>
          <p:cNvCxnSpPr/>
          <p:nvPr/>
        </p:nvCxnSpPr>
        <p:spPr>
          <a:xfrm flipH="1">
            <a:off x="4851542" y="3045832"/>
            <a:ext cx="158880" cy="452015"/>
          </a:xfrm>
          <a:prstGeom prst="straightConnector1">
            <a:avLst/>
          </a:prstGeom>
          <a:noFill/>
          <a:ln w="19050" cap="flat" cmpd="sng">
            <a:solidFill>
              <a:schemeClr val="dk1"/>
            </a:solidFill>
            <a:prstDash val="dash"/>
            <a:miter lim="800000"/>
            <a:headEnd type="none" w="sm" len="sm"/>
            <a:tailEnd type="triangle" w="med" len="med"/>
          </a:ln>
        </p:spPr>
      </p:cxnSp>
      <p:cxnSp>
        <p:nvCxnSpPr>
          <p:cNvPr id="952" name="Google Shape;952;p24"/>
          <p:cNvCxnSpPr/>
          <p:nvPr/>
        </p:nvCxnSpPr>
        <p:spPr>
          <a:xfrm flipH="1">
            <a:off x="6543567" y="3033158"/>
            <a:ext cx="183589" cy="433112"/>
          </a:xfrm>
          <a:prstGeom prst="straightConnector1">
            <a:avLst/>
          </a:prstGeom>
          <a:noFill/>
          <a:ln w="19050" cap="flat" cmpd="sng">
            <a:solidFill>
              <a:schemeClr val="dk1"/>
            </a:solidFill>
            <a:prstDash val="dash"/>
            <a:miter lim="800000"/>
            <a:headEnd type="none" w="sm" len="sm"/>
            <a:tailEnd type="triangle" w="med" len="med"/>
          </a:ln>
        </p:spPr>
      </p:cxnSp>
      <p:cxnSp>
        <p:nvCxnSpPr>
          <p:cNvPr id="953" name="Google Shape;953;p24"/>
          <p:cNvCxnSpPr/>
          <p:nvPr/>
        </p:nvCxnSpPr>
        <p:spPr>
          <a:xfrm flipH="1">
            <a:off x="7828110" y="3073739"/>
            <a:ext cx="41034" cy="424108"/>
          </a:xfrm>
          <a:prstGeom prst="straightConnector1">
            <a:avLst/>
          </a:prstGeom>
          <a:noFill/>
          <a:ln w="19050" cap="flat" cmpd="sng">
            <a:solidFill>
              <a:schemeClr val="dk1"/>
            </a:solidFill>
            <a:prstDash val="dash"/>
            <a:miter lim="800000"/>
            <a:headEnd type="none" w="sm" len="sm"/>
            <a:tailEnd type="triangle" w="med" len="med"/>
          </a:ln>
        </p:spPr>
      </p:cxnSp>
      <p:cxnSp>
        <p:nvCxnSpPr>
          <p:cNvPr id="954" name="Google Shape;954;p24"/>
          <p:cNvCxnSpPr/>
          <p:nvPr/>
        </p:nvCxnSpPr>
        <p:spPr>
          <a:xfrm>
            <a:off x="7925654" y="3086515"/>
            <a:ext cx="433553" cy="379754"/>
          </a:xfrm>
          <a:prstGeom prst="straightConnector1">
            <a:avLst/>
          </a:prstGeom>
          <a:noFill/>
          <a:ln w="19050" cap="flat" cmpd="sng">
            <a:solidFill>
              <a:schemeClr val="dk1"/>
            </a:solidFill>
            <a:prstDash val="dash"/>
            <a:miter lim="800000"/>
            <a:headEnd type="none" w="sm" len="sm"/>
            <a:tailEnd type="triangle" w="med" len="med"/>
          </a:ln>
        </p:spPr>
      </p:cxnSp>
      <p:cxnSp>
        <p:nvCxnSpPr>
          <p:cNvPr id="955" name="Google Shape;955;p24"/>
          <p:cNvCxnSpPr/>
          <p:nvPr/>
        </p:nvCxnSpPr>
        <p:spPr>
          <a:xfrm>
            <a:off x="6785608" y="3026279"/>
            <a:ext cx="309685" cy="439991"/>
          </a:xfrm>
          <a:prstGeom prst="straightConnector1">
            <a:avLst/>
          </a:prstGeom>
          <a:noFill/>
          <a:ln w="19050" cap="flat" cmpd="sng">
            <a:solidFill>
              <a:schemeClr val="dk1"/>
            </a:solidFill>
            <a:prstDash val="dash"/>
            <a:miter lim="800000"/>
            <a:headEnd type="none" w="sm" len="sm"/>
            <a:tailEnd type="triangle" w="med" len="med"/>
          </a:ln>
        </p:spPr>
      </p:cxnSp>
      <p:cxnSp>
        <p:nvCxnSpPr>
          <p:cNvPr id="956" name="Google Shape;956;p24"/>
          <p:cNvCxnSpPr/>
          <p:nvPr/>
        </p:nvCxnSpPr>
        <p:spPr>
          <a:xfrm>
            <a:off x="5065488" y="3045832"/>
            <a:ext cx="336093" cy="452015"/>
          </a:xfrm>
          <a:prstGeom prst="straightConnector1">
            <a:avLst/>
          </a:prstGeom>
          <a:noFill/>
          <a:ln w="19050" cap="flat" cmpd="sng">
            <a:solidFill>
              <a:schemeClr val="dk1"/>
            </a:solidFill>
            <a:prstDash val="dash"/>
            <a:miter lim="800000"/>
            <a:headEnd type="none" w="sm" len="sm"/>
            <a:tailEnd type="triangle" w="med" len="med"/>
          </a:ln>
        </p:spPr>
      </p:cxnSp>
      <p:sp>
        <p:nvSpPr>
          <p:cNvPr id="957" name="Google Shape;957;p24"/>
          <p:cNvSpPr txBox="1"/>
          <p:nvPr/>
        </p:nvSpPr>
        <p:spPr>
          <a:xfrm>
            <a:off x="4551997" y="3695288"/>
            <a:ext cx="4926580" cy="455260"/>
          </a:xfrm>
          <a:prstGeom prst="rect">
            <a:avLst/>
          </a:prstGeom>
          <a:noFill/>
          <a:ln>
            <a:noFill/>
          </a:ln>
        </p:spPr>
        <p:txBody>
          <a:bodyPr spcFirstLastPara="1" wrap="square" lIns="193227" tIns="96587" rIns="193227" bIns="96587" anchor="t" anchorCtr="0">
            <a:spAutoFit/>
          </a:bodyPr>
          <a:lstStyle/>
          <a:p>
            <a:r>
              <a:rPr lang="en-US" sz="1691" b="1">
                <a:solidFill>
                  <a:srgbClr val="00B050"/>
                </a:solidFill>
                <a:latin typeface="Arial"/>
                <a:ea typeface="Arial"/>
                <a:cs typeface="Arial"/>
                <a:sym typeface="Arial"/>
              </a:rPr>
              <a:t>   1.0                        0.5               0.5</a:t>
            </a:r>
            <a:endParaRPr sz="1691" b="1">
              <a:solidFill>
                <a:srgbClr val="00B050"/>
              </a:solidFill>
              <a:latin typeface="Arial"/>
              <a:ea typeface="Arial"/>
              <a:cs typeface="Arial"/>
              <a:sym typeface="Arial"/>
            </a:endParaRPr>
          </a:p>
        </p:txBody>
      </p:sp>
      <p:sp>
        <p:nvSpPr>
          <p:cNvPr id="958" name="Google Shape;958;p24"/>
          <p:cNvSpPr txBox="1"/>
          <p:nvPr/>
        </p:nvSpPr>
        <p:spPr>
          <a:xfrm>
            <a:off x="4725109" y="3419748"/>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+1                         +2                +2</a:t>
            </a:r>
            <a:endParaRPr sz="1691" b="1">
              <a:solidFill>
                <a:srgbClr val="C00000"/>
              </a:solidFill>
              <a:latin typeface="Arial"/>
              <a:ea typeface="Arial"/>
              <a:cs typeface="Arial"/>
              <a:sym typeface="Arial"/>
            </a:endParaRPr>
          </a:p>
        </p:txBody>
      </p:sp>
      <p:sp>
        <p:nvSpPr>
          <p:cNvPr id="959" name="Google Shape;959;p24"/>
          <p:cNvSpPr txBox="1"/>
          <p:nvPr/>
        </p:nvSpPr>
        <p:spPr>
          <a:xfrm>
            <a:off x="4458062" y="2178177"/>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	cool          warm</a:t>
            </a:r>
            <a:endParaRPr sz="1691" b="1">
              <a:solidFill>
                <a:srgbClr val="C00000"/>
              </a:solidFill>
              <a:latin typeface="Arial"/>
              <a:ea typeface="Arial"/>
              <a:cs typeface="Arial"/>
              <a:sym typeface="Arial"/>
            </a:endParaRPr>
          </a:p>
        </p:txBody>
      </p:sp>
      <p:sp>
        <p:nvSpPr>
          <p:cNvPr id="960" name="Google Shape;960;p24"/>
          <p:cNvSpPr txBox="1"/>
          <p:nvPr/>
        </p:nvSpPr>
        <p:spPr>
          <a:xfrm>
            <a:off x="5429049" y="877001"/>
            <a:ext cx="948196"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a:t>
            </a:r>
            <a:endParaRPr sz="1691" b="1">
              <a:solidFill>
                <a:srgbClr val="C00000"/>
              </a:solidFill>
              <a:latin typeface="Arial"/>
              <a:ea typeface="Arial"/>
              <a:cs typeface="Arial"/>
              <a:sym typeface="Arial"/>
            </a:endParaRPr>
          </a:p>
        </p:txBody>
      </p:sp>
      <p:sp>
        <p:nvSpPr>
          <p:cNvPr id="962" name="Google Shape;962;p24"/>
          <p:cNvSpPr/>
          <p:nvPr/>
        </p:nvSpPr>
        <p:spPr>
          <a:xfrm>
            <a:off x="11044484" y="1148949"/>
            <a:ext cx="0" cy="8848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pic>
        <p:nvPicPr>
          <p:cNvPr id="963" name="Google Shape;963;p24"/>
          <p:cNvPicPr preferRelativeResize="0"/>
          <p:nvPr/>
        </p:nvPicPr>
        <p:blipFill rotWithShape="1">
          <a:blip r:embed="rId16">
            <a:alphaModFix/>
          </a:blip>
          <a:srcRect/>
          <a:stretch/>
        </p:blipFill>
        <p:spPr>
          <a:xfrm>
            <a:off x="8412950" y="174164"/>
            <a:ext cx="3801188" cy="2804468"/>
          </a:xfrm>
          <a:prstGeom prst="rect">
            <a:avLst/>
          </a:prstGeom>
          <a:noFill/>
          <a:ln>
            <a:noFill/>
          </a:ln>
        </p:spPr>
      </p:pic>
      <p:sp>
        <p:nvSpPr>
          <p:cNvPr id="964" name="Google Shape;964;p24"/>
          <p:cNvSpPr/>
          <p:nvPr/>
        </p:nvSpPr>
        <p:spPr>
          <a:xfrm>
            <a:off x="8058231" y="2515692"/>
            <a:ext cx="396569" cy="112734"/>
          </a:xfrm>
          <a:prstGeom prst="rightArrow">
            <a:avLst>
              <a:gd name="adj1" fmla="val 50000"/>
              <a:gd name="adj2" fmla="val 50000"/>
            </a:avLst>
          </a:prstGeom>
          <a:solidFill>
            <a:srgbClr val="E9A820"/>
          </a:solidFill>
          <a:ln w="25400" cap="flat" cmpd="sng">
            <a:solidFill>
              <a:srgbClr val="E9A820"/>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lt1"/>
              </a:solidFill>
              <a:latin typeface="Arial"/>
              <a:ea typeface="Arial"/>
              <a:cs typeface="Arial"/>
              <a:sym typeface="Arial"/>
            </a:endParaRPr>
          </a:p>
        </p:txBody>
      </p:sp>
      <p:pic>
        <p:nvPicPr>
          <p:cNvPr id="965" name="Google Shape;965;p24"/>
          <p:cNvPicPr preferRelativeResize="0"/>
          <p:nvPr/>
        </p:nvPicPr>
        <p:blipFill rotWithShape="1">
          <a:blip r:embed="rId17">
            <a:alphaModFix/>
          </a:blip>
          <a:srcRect/>
          <a:stretch/>
        </p:blipFill>
        <p:spPr>
          <a:xfrm>
            <a:off x="10858343" y="546570"/>
            <a:ext cx="672728" cy="262364"/>
          </a:xfrm>
          <a:prstGeom prst="rect">
            <a:avLst/>
          </a:prstGeom>
          <a:noFill/>
          <a:ln>
            <a:noFill/>
          </a:ln>
        </p:spPr>
      </p:pic>
      <p:sp>
        <p:nvSpPr>
          <p:cNvPr id="966" name="Google Shape;966;p24"/>
          <p:cNvSpPr/>
          <p:nvPr/>
        </p:nvSpPr>
        <p:spPr>
          <a:xfrm>
            <a:off x="10674268" y="594741"/>
            <a:ext cx="1361941" cy="455260"/>
          </a:xfrm>
          <a:prstGeom prst="rect">
            <a:avLst/>
          </a:prstGeom>
          <a:noFill/>
          <a:ln>
            <a:noFill/>
          </a:ln>
        </p:spPr>
        <p:txBody>
          <a:bodyPr spcFirstLastPara="1" wrap="square" lIns="193227" tIns="96587" rIns="193227" bIns="96587" anchor="t" anchorCtr="0">
            <a:spAutoFit/>
          </a:bodyPr>
          <a:lstStyle/>
          <a:p>
            <a:r>
              <a:rPr lang="en-US" sz="1691" b="1">
                <a:solidFill>
                  <a:srgbClr val="000000"/>
                </a:solidFill>
                <a:latin typeface="Arial"/>
                <a:ea typeface="Arial"/>
                <a:cs typeface="Arial"/>
                <a:sym typeface="Arial"/>
              </a:rPr>
              <a:t>ɵ = 0.01</a:t>
            </a:r>
            <a:endParaRPr sz="1691" b="1">
              <a:solidFill>
                <a:srgbClr val="000000"/>
              </a:solidFill>
              <a:latin typeface="Arial"/>
              <a:ea typeface="Arial"/>
              <a:cs typeface="Arial"/>
              <a:sym typeface="Arial"/>
            </a:endParaRPr>
          </a:p>
        </p:txBody>
      </p:sp>
      <p:sp>
        <p:nvSpPr>
          <p:cNvPr id="967" name="Google Shape;967;p24"/>
          <p:cNvSpPr txBox="1"/>
          <p:nvPr/>
        </p:nvSpPr>
        <p:spPr>
          <a:xfrm>
            <a:off x="1068904" y="2276821"/>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b="1">
                <a:solidFill>
                  <a:srgbClr val="FF0000"/>
                </a:solidFill>
                <a:latin typeface="Calibri"/>
                <a:ea typeface="Calibri"/>
                <a:cs typeface="Calibri"/>
                <a:sym typeface="Calibri"/>
              </a:rPr>
              <a:t>  </a:t>
            </a:r>
            <a:r>
              <a:rPr lang="en-US" sz="1691" b="1">
                <a:solidFill>
                  <a:schemeClr val="dk1"/>
                </a:solidFill>
                <a:latin typeface="Calibri"/>
                <a:ea typeface="Calibri"/>
                <a:cs typeface="Calibri"/>
                <a:sym typeface="Calibri"/>
              </a:rPr>
              <a:t>1</a:t>
            </a:r>
            <a:r>
              <a:rPr lang="en-US" sz="1691" b="1">
                <a:solidFill>
                  <a:srgbClr val="FF0000"/>
                </a:solidFill>
                <a:latin typeface="Calibri"/>
                <a:ea typeface="Calibri"/>
                <a:cs typeface="Calibri"/>
                <a:sym typeface="Calibri"/>
              </a:rPr>
              <a:t>             </a:t>
            </a:r>
            <a:r>
              <a:rPr lang="en-US" sz="1691">
                <a:solidFill>
                  <a:schemeClr val="dk1"/>
                </a:solidFill>
                <a:latin typeface="Calibri"/>
                <a:ea typeface="Calibri"/>
                <a:cs typeface="Calibri"/>
                <a:sym typeface="Calibri"/>
              </a:rPr>
              <a:t>1.45        0……….</a:t>
            </a:r>
            <a:endParaRPr sz="634">
              <a:solidFill>
                <a:srgbClr val="000000"/>
              </a:solidFill>
              <a:latin typeface="Arial"/>
              <a:ea typeface="Arial"/>
              <a:cs typeface="Arial"/>
              <a:sym typeface="Arial"/>
            </a:endParaRPr>
          </a:p>
        </p:txBody>
      </p:sp>
      <p:sp>
        <p:nvSpPr>
          <p:cNvPr id="968" name="Google Shape;968;p24"/>
          <p:cNvSpPr txBox="1"/>
          <p:nvPr/>
        </p:nvSpPr>
        <p:spPr>
          <a:xfrm>
            <a:off x="1057631" y="2962788"/>
            <a:ext cx="2623690" cy="715459"/>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b="1">
                <a:solidFill>
                  <a:schemeClr val="dk1"/>
                </a:solidFill>
                <a:latin typeface="Calibri"/>
                <a:ea typeface="Calibri"/>
                <a:cs typeface="Calibri"/>
                <a:sym typeface="Calibri"/>
              </a:rPr>
              <a:t>  1.9           2.51</a:t>
            </a:r>
            <a:r>
              <a:rPr lang="en-US" sz="1691">
                <a:solidFill>
                  <a:schemeClr val="dk1"/>
                </a:solidFill>
                <a:latin typeface="Calibri"/>
                <a:ea typeface="Calibri"/>
                <a:cs typeface="Calibri"/>
                <a:sym typeface="Calibri"/>
              </a:rPr>
              <a:t>       0……….</a:t>
            </a:r>
            <a:endParaRPr sz="634">
              <a:solidFill>
                <a:srgbClr val="000000"/>
              </a:solidFill>
              <a:latin typeface="Arial"/>
              <a:ea typeface="Arial"/>
              <a:cs typeface="Arial"/>
              <a:sym typeface="Arial"/>
            </a:endParaRPr>
          </a:p>
        </p:txBody>
      </p:sp>
      <p:sp>
        <p:nvSpPr>
          <p:cNvPr id="969" name="Google Shape;969;p24"/>
          <p:cNvSpPr/>
          <p:nvPr/>
        </p:nvSpPr>
        <p:spPr>
          <a:xfrm>
            <a:off x="685840" y="3593523"/>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970" name="Google Shape;970;p24"/>
          <p:cNvSpPr txBox="1"/>
          <p:nvPr/>
        </p:nvSpPr>
        <p:spPr>
          <a:xfrm>
            <a:off x="855362" y="3538992"/>
            <a:ext cx="2623690" cy="455260"/>
          </a:xfrm>
          <a:prstGeom prst="rect">
            <a:avLst/>
          </a:prstGeom>
          <a:noFill/>
          <a:ln>
            <a:noFill/>
          </a:ln>
        </p:spPr>
        <p:txBody>
          <a:bodyPr spcFirstLastPara="1" wrap="square" lIns="193227" tIns="96587" rIns="193227" bIns="96587" anchor="t" anchorCtr="0">
            <a:spAutoFit/>
          </a:bodyPr>
          <a:lstStyle/>
          <a:p>
            <a:r>
              <a:rPr lang="en-US" sz="1691">
                <a:solidFill>
                  <a:schemeClr val="dk1"/>
                </a:solidFill>
                <a:latin typeface="Calibri"/>
                <a:ea typeface="Calibri"/>
                <a:cs typeface="Calibri"/>
                <a:sym typeface="Calibri"/>
              </a:rPr>
              <a:t>  ~</a:t>
            </a:r>
            <a:r>
              <a:rPr lang="en-US" sz="1691">
                <a:solidFill>
                  <a:schemeClr val="dk1"/>
                </a:solidFill>
                <a:highlight>
                  <a:srgbClr val="FFFF00"/>
                </a:highlight>
                <a:latin typeface="Calibri"/>
                <a:ea typeface="Calibri"/>
                <a:cs typeface="Calibri"/>
                <a:sym typeface="Calibri"/>
              </a:rPr>
              <a:t>10</a:t>
            </a:r>
            <a:r>
              <a:rPr lang="en-US" sz="1691">
                <a:solidFill>
                  <a:schemeClr val="dk1"/>
                </a:solidFill>
                <a:latin typeface="Calibri"/>
                <a:ea typeface="Calibri"/>
                <a:cs typeface="Calibri"/>
                <a:sym typeface="Calibri"/>
              </a:rPr>
              <a:t>             ~</a:t>
            </a:r>
            <a:r>
              <a:rPr lang="en-US" sz="1691">
                <a:solidFill>
                  <a:schemeClr val="dk1"/>
                </a:solidFill>
                <a:highlight>
                  <a:srgbClr val="FFFF00"/>
                </a:highlight>
                <a:latin typeface="Calibri"/>
                <a:ea typeface="Calibri"/>
                <a:cs typeface="Calibri"/>
                <a:sym typeface="Calibri"/>
              </a:rPr>
              <a:t> 10</a:t>
            </a:r>
            <a:r>
              <a:rPr lang="en-US" sz="1691">
                <a:solidFill>
                  <a:schemeClr val="dk1"/>
                </a:solidFill>
                <a:latin typeface="Calibri"/>
                <a:ea typeface="Calibri"/>
                <a:cs typeface="Calibri"/>
                <a:sym typeface="Calibri"/>
              </a:rPr>
              <a:t>        0</a:t>
            </a:r>
            <a:endParaRPr sz="634">
              <a:solidFill>
                <a:srgbClr val="000000"/>
              </a:solidFill>
              <a:latin typeface="Arial"/>
              <a:ea typeface="Arial"/>
              <a:cs typeface="Arial"/>
              <a:sym typeface="Arial"/>
            </a:endParaRPr>
          </a:p>
        </p:txBody>
      </p:sp>
      <p:sp>
        <p:nvSpPr>
          <p:cNvPr id="971" name="Google Shape;971;p24"/>
          <p:cNvSpPr txBox="1"/>
          <p:nvPr/>
        </p:nvSpPr>
        <p:spPr>
          <a:xfrm>
            <a:off x="80565" y="3572698"/>
            <a:ext cx="882895" cy="455260"/>
          </a:xfrm>
          <a:prstGeom prst="rect">
            <a:avLst/>
          </a:prstGeom>
          <a:noFill/>
          <a:ln>
            <a:noFill/>
          </a:ln>
        </p:spPr>
        <p:txBody>
          <a:bodyPr spcFirstLastPara="1" wrap="square" lIns="193227" tIns="96587" rIns="193227" bIns="96587" anchor="t" anchorCtr="0">
            <a:spAutoFit/>
          </a:bodyPr>
          <a:lstStyle/>
          <a:p>
            <a:r>
              <a:rPr lang="en-US" sz="1691">
                <a:solidFill>
                  <a:srgbClr val="000000"/>
                </a:solidFill>
                <a:latin typeface="Arial"/>
                <a:ea typeface="Arial"/>
                <a:cs typeface="Arial"/>
                <a:sym typeface="Arial"/>
              </a:rPr>
              <a:t>V</a:t>
            </a:r>
            <a:r>
              <a:rPr lang="en-US" sz="1691" baseline="-25000">
                <a:solidFill>
                  <a:srgbClr val="000000"/>
                </a:solidFill>
                <a:latin typeface="Arial"/>
                <a:ea typeface="Arial"/>
                <a:cs typeface="Arial"/>
                <a:sym typeface="Arial"/>
              </a:rPr>
              <a:t>225</a:t>
            </a:r>
            <a:endParaRPr sz="1691" baseline="-25000">
              <a:solidFill>
                <a:srgbClr val="000000"/>
              </a:solidFill>
              <a:latin typeface="Arial"/>
              <a:ea typeface="Arial"/>
              <a:cs typeface="Arial"/>
              <a:sym typeface="Arial"/>
            </a:endParaRPr>
          </a:p>
        </p:txBody>
      </p:sp>
      <p:sp>
        <p:nvSpPr>
          <p:cNvPr id="972" name="Google Shape;972;p24"/>
          <p:cNvSpPr txBox="1"/>
          <p:nvPr/>
        </p:nvSpPr>
        <p:spPr>
          <a:xfrm>
            <a:off x="179822" y="282489"/>
            <a:ext cx="4278239" cy="520406"/>
          </a:xfrm>
          <a:prstGeom prst="rect">
            <a:avLst/>
          </a:prstGeom>
          <a:solidFill>
            <a:srgbClr val="F0C040"/>
          </a:solidFill>
          <a:ln>
            <a:noFill/>
          </a:ln>
        </p:spPr>
        <p:txBody>
          <a:bodyPr spcFirstLastPara="1" wrap="square" lIns="193227" tIns="96587" rIns="193227" bIns="96587" anchor="t" anchorCtr="0">
            <a:spAutoFit/>
          </a:bodyPr>
          <a:lstStyle/>
          <a:p>
            <a:pPr algn="just"/>
            <a:r>
              <a:rPr lang="en-US" sz="2114">
                <a:solidFill>
                  <a:srgbClr val="0070C0"/>
                </a:solidFill>
                <a:latin typeface="Arial"/>
                <a:ea typeface="Arial"/>
                <a:cs typeface="Arial"/>
                <a:sym typeface="Arial"/>
              </a:rPr>
              <a:t>Policy Improvement</a:t>
            </a:r>
            <a:endParaRPr sz="2114">
              <a:solidFill>
                <a:srgbClr val="0070C0"/>
              </a:solidFill>
              <a:latin typeface="Arial"/>
              <a:ea typeface="Arial"/>
              <a:cs typeface="Arial"/>
              <a:sym typeface="Arial"/>
            </a:endParaRPr>
          </a:p>
        </p:txBody>
      </p:sp>
      <p:sp>
        <p:nvSpPr>
          <p:cNvPr id="973" name="Google Shape;973;p24"/>
          <p:cNvSpPr txBox="1"/>
          <p:nvPr/>
        </p:nvSpPr>
        <p:spPr>
          <a:xfrm>
            <a:off x="2983" y="5805918"/>
            <a:ext cx="10725169" cy="761882"/>
          </a:xfrm>
          <a:prstGeom prst="rect">
            <a:avLst/>
          </a:prstGeom>
          <a:blipFill rotWithShape="1">
            <a:blip r:embed="rId18">
              <a:alphaModFix/>
            </a:blip>
            <a:stretch>
              <a:fillRect l="-480" t="-235566" b="-330478"/>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974" name="Google Shape;974;p24"/>
          <p:cNvSpPr txBox="1"/>
          <p:nvPr/>
        </p:nvSpPr>
        <p:spPr>
          <a:xfrm>
            <a:off x="-3361" y="4835698"/>
            <a:ext cx="7262277" cy="761882"/>
          </a:xfrm>
          <a:prstGeom prst="rect">
            <a:avLst/>
          </a:prstGeom>
          <a:blipFill rotWithShape="1">
            <a:blip r:embed="rId19">
              <a:alphaModFix/>
            </a:blip>
            <a:stretch>
              <a:fillRect l="-354" t="-233875" b="-332170"/>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975" name="Google Shape;975;p24"/>
          <p:cNvSpPr txBox="1"/>
          <p:nvPr/>
        </p:nvSpPr>
        <p:spPr>
          <a:xfrm>
            <a:off x="10281" y="3899057"/>
            <a:ext cx="3151066" cy="761882"/>
          </a:xfrm>
          <a:prstGeom prst="rect">
            <a:avLst/>
          </a:prstGeom>
          <a:blipFill rotWithShape="1">
            <a:blip r:embed="rId20">
              <a:alphaModFix/>
            </a:blip>
            <a:stretch>
              <a:fillRect l="-1638" t="-235566" r="-22128" b="-330478"/>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976" name="Google Shape;976;p24"/>
          <p:cNvSpPr txBox="1"/>
          <p:nvPr/>
        </p:nvSpPr>
        <p:spPr>
          <a:xfrm>
            <a:off x="4790198" y="1336714"/>
            <a:ext cx="3299495" cy="455260"/>
          </a:xfrm>
          <a:prstGeom prst="rect">
            <a:avLst/>
          </a:prstGeom>
          <a:noFill/>
          <a:ln>
            <a:noFill/>
          </a:ln>
        </p:spPr>
        <p:txBody>
          <a:bodyPr spcFirstLastPara="1" wrap="square" lIns="193227" tIns="96587" rIns="193227" bIns="96587" anchor="t" anchorCtr="0">
            <a:spAutoFit/>
          </a:bodyPr>
          <a:lstStyle/>
          <a:p>
            <a:r>
              <a:rPr lang="en-US" sz="1691" b="1">
                <a:solidFill>
                  <a:schemeClr val="dk1"/>
                </a:solidFill>
                <a:latin typeface="Arial"/>
                <a:ea typeface="Arial"/>
                <a:cs typeface="Arial"/>
                <a:sym typeface="Arial"/>
              </a:rPr>
              <a:t>Go Slow	           Go Fast</a:t>
            </a:r>
            <a:endParaRPr sz="1691" b="1">
              <a:solidFill>
                <a:schemeClr val="dk1"/>
              </a:solidFill>
              <a:latin typeface="Arial"/>
              <a:ea typeface="Arial"/>
              <a:cs typeface="Arial"/>
              <a:sym typeface="Arial"/>
            </a:endParaRPr>
          </a:p>
        </p:txBody>
      </p:sp>
      <p:sp>
        <p:nvSpPr>
          <p:cNvPr id="977" name="Google Shape;977;p24"/>
          <p:cNvSpPr txBox="1"/>
          <p:nvPr/>
        </p:nvSpPr>
        <p:spPr>
          <a:xfrm>
            <a:off x="8415728" y="2936078"/>
            <a:ext cx="3801135" cy="1170649"/>
          </a:xfrm>
          <a:prstGeom prst="rect">
            <a:avLst/>
          </a:prstGeom>
          <a:solidFill>
            <a:srgbClr val="F0C040"/>
          </a:solidFill>
          <a:ln>
            <a:noFill/>
          </a:ln>
        </p:spPr>
        <p:txBody>
          <a:bodyPr spcFirstLastPara="1" wrap="square" lIns="193227" tIns="96587" rIns="193227" bIns="96587" anchor="t" anchorCtr="0">
            <a:spAutoFit/>
          </a:bodyPr>
          <a:lstStyle/>
          <a:p>
            <a:pPr algn="just"/>
            <a:r>
              <a:rPr lang="en-US" sz="1268">
                <a:solidFill>
                  <a:srgbClr val="0070C0"/>
                </a:solidFill>
              </a:rPr>
              <a:t>After PE is done, PI starts where the last value from PE is used to find the next best action. In this PI phase all actions are analysed and best action that MAXimises the value is chosen to update the policy</a:t>
            </a:r>
            <a:endParaRPr sz="1268">
              <a:solidFill>
                <a:srgbClr val="0070C0"/>
              </a:solidFill>
              <a:latin typeface="Arial"/>
              <a:ea typeface="Arial"/>
              <a:cs typeface="Arial"/>
              <a:sym typeface="Arial"/>
            </a:endParaRPr>
          </a:p>
        </p:txBody>
      </p:sp>
      <p:sp>
        <p:nvSpPr>
          <p:cNvPr id="2" name="Footer">
            <a:extLst>
              <a:ext uri="{FF2B5EF4-FFF2-40B4-BE49-F238E27FC236}">
                <a16:creationId xmlns:a16="http://schemas.microsoft.com/office/drawing/2014/main" id="{ECB5C33D-4146-4D4E-04CB-F5EC1090EBEF}"/>
              </a:ext>
            </a:extLst>
          </p:cNvPr>
          <p:cNvSpPr txBox="1">
            <a:spLocks/>
          </p:cNvSpPr>
          <p:nvPr/>
        </p:nvSpPr>
        <p:spPr>
          <a:xfrm>
            <a:off x="2879783" y="6582673"/>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p25"/>
          <p:cNvSpPr txBox="1">
            <a:spLocks noGrp="1"/>
          </p:cNvSpPr>
          <p:nvPr>
            <p:ph type="title"/>
          </p:nvPr>
        </p:nvSpPr>
        <p:spPr>
          <a:xfrm>
            <a:off x="177559" y="231525"/>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 – Policy Iteration</a:t>
            </a:r>
            <a:endParaRPr/>
          </a:p>
        </p:txBody>
      </p:sp>
      <p:grpSp>
        <p:nvGrpSpPr>
          <p:cNvPr id="983" name="Google Shape;983;p25"/>
          <p:cNvGrpSpPr/>
          <p:nvPr/>
        </p:nvGrpSpPr>
        <p:grpSpPr>
          <a:xfrm>
            <a:off x="2983" y="6571410"/>
            <a:ext cx="12174329" cy="194601"/>
            <a:chOff x="0" y="3109250"/>
            <a:chExt cx="5760261" cy="92075"/>
          </a:xfrm>
        </p:grpSpPr>
        <p:sp>
          <p:nvSpPr>
            <p:cNvPr id="984" name="Google Shape;984;p25"/>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985" name="Google Shape;985;p25"/>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986" name="Google Shape;986;p25"/>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988" name="Google Shape;988;p25"/>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35</a:t>
            </a:fld>
            <a:r>
              <a:rPr lang="en-US"/>
              <a:t> / 46</a:t>
            </a:r>
            <a:endParaRPr/>
          </a:p>
        </p:txBody>
      </p:sp>
      <p:pic>
        <p:nvPicPr>
          <p:cNvPr id="989" name="Google Shape;989;p25" descr="TP_tmp.png"/>
          <p:cNvPicPr preferRelativeResize="0"/>
          <p:nvPr/>
        </p:nvPicPr>
        <p:blipFill rotWithShape="1">
          <a:blip r:embed="rId3">
            <a:alphaModFix/>
          </a:blip>
          <a:srcRect/>
          <a:stretch/>
        </p:blipFill>
        <p:spPr>
          <a:xfrm>
            <a:off x="364607" y="1756415"/>
            <a:ext cx="203949" cy="322518"/>
          </a:xfrm>
          <a:prstGeom prst="rect">
            <a:avLst/>
          </a:prstGeom>
          <a:noFill/>
          <a:ln>
            <a:noFill/>
          </a:ln>
        </p:spPr>
      </p:pic>
      <p:pic>
        <p:nvPicPr>
          <p:cNvPr id="990" name="Google Shape;990;p25"/>
          <p:cNvPicPr preferRelativeResize="0"/>
          <p:nvPr/>
        </p:nvPicPr>
        <p:blipFill rotWithShape="1">
          <a:blip r:embed="rId4">
            <a:alphaModFix/>
          </a:blip>
          <a:srcRect/>
          <a:stretch/>
        </p:blipFill>
        <p:spPr>
          <a:xfrm>
            <a:off x="1123247" y="1115162"/>
            <a:ext cx="535435" cy="556722"/>
          </a:xfrm>
          <a:prstGeom prst="rect">
            <a:avLst/>
          </a:prstGeom>
          <a:noFill/>
          <a:ln>
            <a:noFill/>
          </a:ln>
        </p:spPr>
      </p:pic>
      <p:pic>
        <p:nvPicPr>
          <p:cNvPr id="991" name="Google Shape;991;p25"/>
          <p:cNvPicPr preferRelativeResize="0"/>
          <p:nvPr/>
        </p:nvPicPr>
        <p:blipFill rotWithShape="1">
          <a:blip r:embed="rId5">
            <a:alphaModFix/>
          </a:blip>
          <a:srcRect/>
          <a:stretch/>
        </p:blipFill>
        <p:spPr>
          <a:xfrm>
            <a:off x="2509775" y="1035634"/>
            <a:ext cx="568088" cy="636251"/>
          </a:xfrm>
          <a:prstGeom prst="rect">
            <a:avLst/>
          </a:prstGeom>
          <a:noFill/>
          <a:ln>
            <a:noFill/>
          </a:ln>
        </p:spPr>
      </p:pic>
      <p:pic>
        <p:nvPicPr>
          <p:cNvPr id="992" name="Google Shape;992;p25"/>
          <p:cNvPicPr preferRelativeResize="0"/>
          <p:nvPr/>
        </p:nvPicPr>
        <p:blipFill rotWithShape="1">
          <a:blip r:embed="rId6">
            <a:alphaModFix/>
          </a:blip>
          <a:srcRect/>
          <a:stretch/>
        </p:blipFill>
        <p:spPr>
          <a:xfrm>
            <a:off x="1821735" y="1077450"/>
            <a:ext cx="585286" cy="583232"/>
          </a:xfrm>
          <a:prstGeom prst="rect">
            <a:avLst/>
          </a:prstGeom>
          <a:noFill/>
          <a:ln>
            <a:noFill/>
          </a:ln>
        </p:spPr>
      </p:pic>
      <p:sp>
        <p:nvSpPr>
          <p:cNvPr id="993" name="Google Shape;993;p25"/>
          <p:cNvSpPr/>
          <p:nvPr/>
        </p:nvSpPr>
        <p:spPr>
          <a:xfrm>
            <a:off x="657828" y="3005348"/>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994" name="Google Shape;994;p25"/>
          <p:cNvSpPr/>
          <p:nvPr/>
        </p:nvSpPr>
        <p:spPr>
          <a:xfrm>
            <a:off x="690038" y="2276822"/>
            <a:ext cx="2928770" cy="455253"/>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995" name="Google Shape;995;p25"/>
          <p:cNvSpPr/>
          <p:nvPr/>
        </p:nvSpPr>
        <p:spPr>
          <a:xfrm>
            <a:off x="696040" y="1667731"/>
            <a:ext cx="2928770" cy="455257"/>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pic>
        <p:nvPicPr>
          <p:cNvPr id="996" name="Google Shape;996;p25" descr="TP_tmp.png"/>
          <p:cNvPicPr preferRelativeResize="0"/>
          <p:nvPr/>
        </p:nvPicPr>
        <p:blipFill rotWithShape="1">
          <a:blip r:embed="rId7">
            <a:alphaModFix/>
          </a:blip>
          <a:srcRect/>
          <a:stretch/>
        </p:blipFill>
        <p:spPr>
          <a:xfrm>
            <a:off x="346553" y="2375833"/>
            <a:ext cx="183630" cy="323298"/>
          </a:xfrm>
          <a:prstGeom prst="rect">
            <a:avLst/>
          </a:prstGeom>
          <a:noFill/>
          <a:ln>
            <a:noFill/>
          </a:ln>
        </p:spPr>
      </p:pic>
      <p:pic>
        <p:nvPicPr>
          <p:cNvPr id="997" name="Google Shape;997;p25" descr="TP_tmp.png"/>
          <p:cNvPicPr preferRelativeResize="0"/>
          <p:nvPr/>
        </p:nvPicPr>
        <p:blipFill rotWithShape="1">
          <a:blip r:embed="rId8">
            <a:alphaModFix/>
          </a:blip>
          <a:srcRect/>
          <a:stretch/>
        </p:blipFill>
        <p:spPr>
          <a:xfrm>
            <a:off x="353872" y="3017816"/>
            <a:ext cx="204441" cy="323298"/>
          </a:xfrm>
          <a:prstGeom prst="rect">
            <a:avLst/>
          </a:prstGeom>
          <a:noFill/>
          <a:ln>
            <a:noFill/>
          </a:ln>
        </p:spPr>
      </p:pic>
      <p:sp>
        <p:nvSpPr>
          <p:cNvPr id="998" name="Google Shape;998;p25"/>
          <p:cNvSpPr txBox="1"/>
          <p:nvPr/>
        </p:nvSpPr>
        <p:spPr>
          <a:xfrm>
            <a:off x="1098665" y="1667735"/>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0             0             0 ……..</a:t>
            </a:r>
            <a:endParaRPr sz="634">
              <a:solidFill>
                <a:srgbClr val="000000"/>
              </a:solidFill>
              <a:latin typeface="Arial"/>
              <a:ea typeface="Arial"/>
              <a:cs typeface="Arial"/>
              <a:sym typeface="Arial"/>
            </a:endParaRPr>
          </a:p>
        </p:txBody>
      </p:sp>
      <p:pic>
        <p:nvPicPr>
          <p:cNvPr id="999" name="Google Shape;999;p25"/>
          <p:cNvPicPr preferRelativeResize="0"/>
          <p:nvPr/>
        </p:nvPicPr>
        <p:blipFill rotWithShape="1">
          <a:blip r:embed="rId9">
            <a:alphaModFix/>
          </a:blip>
          <a:srcRect/>
          <a:stretch/>
        </p:blipFill>
        <p:spPr>
          <a:xfrm>
            <a:off x="7217220" y="3254172"/>
            <a:ext cx="4960091" cy="3006946"/>
          </a:xfrm>
          <a:prstGeom prst="rect">
            <a:avLst/>
          </a:prstGeom>
          <a:noFill/>
          <a:ln>
            <a:noFill/>
          </a:ln>
        </p:spPr>
      </p:pic>
      <p:sp>
        <p:nvSpPr>
          <p:cNvPr id="1000" name="Google Shape;1000;p25"/>
          <p:cNvSpPr/>
          <p:nvPr/>
        </p:nvSpPr>
        <p:spPr>
          <a:xfrm>
            <a:off x="6050456" y="841601"/>
            <a:ext cx="778978" cy="512157"/>
          </a:xfrm>
          <a:prstGeom prst="triangle">
            <a:avLst>
              <a:gd name="adj" fmla="val 50000"/>
            </a:avLst>
          </a:prstGeom>
          <a:blipFill rotWithShape="1">
            <a:blip r:embed="rId10">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1001" name="Google Shape;1001;p25"/>
          <p:cNvSpPr/>
          <p:nvPr/>
        </p:nvSpPr>
        <p:spPr>
          <a:xfrm>
            <a:off x="6892541" y="1813470"/>
            <a:ext cx="625462" cy="437850"/>
          </a:xfrm>
          <a:prstGeom prst="ellipse">
            <a:avLst/>
          </a:prstGeom>
          <a:blipFill rotWithShape="1">
            <a:blip r:embed="rId11">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1002" name="Google Shape;1002;p25"/>
          <p:cNvSpPr/>
          <p:nvPr/>
        </p:nvSpPr>
        <p:spPr>
          <a:xfrm>
            <a:off x="5047781" y="1829569"/>
            <a:ext cx="625462" cy="437850"/>
          </a:xfrm>
          <a:prstGeom prst="ellipse">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1003" name="Google Shape;1003;p25"/>
          <p:cNvSpPr/>
          <p:nvPr/>
        </p:nvSpPr>
        <p:spPr>
          <a:xfrm>
            <a:off x="4725108" y="2628430"/>
            <a:ext cx="590200" cy="417406"/>
          </a:xfrm>
          <a:prstGeom prst="rect">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1004" name="Google Shape;1004;p25"/>
          <p:cNvSpPr/>
          <p:nvPr/>
        </p:nvSpPr>
        <p:spPr>
          <a:xfrm>
            <a:off x="6425087" y="2628427"/>
            <a:ext cx="590200" cy="417406"/>
          </a:xfrm>
          <a:prstGeom prst="rect">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1005" name="Google Shape;1005;p25"/>
          <p:cNvSpPr/>
          <p:nvPr/>
        </p:nvSpPr>
        <p:spPr>
          <a:xfrm>
            <a:off x="7633305" y="2635890"/>
            <a:ext cx="590200" cy="417406"/>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cxnSp>
        <p:nvCxnSpPr>
          <p:cNvPr id="1006" name="Google Shape;1006;p25"/>
          <p:cNvCxnSpPr>
            <a:stCxn id="1000" idx="3"/>
            <a:endCxn id="1002" idx="7"/>
          </p:cNvCxnSpPr>
          <p:nvPr/>
        </p:nvCxnSpPr>
        <p:spPr>
          <a:xfrm flipH="1">
            <a:off x="5581440" y="1353758"/>
            <a:ext cx="858505" cy="540211"/>
          </a:xfrm>
          <a:prstGeom prst="straightConnector1">
            <a:avLst/>
          </a:prstGeom>
          <a:noFill/>
          <a:ln w="9525" cap="flat" cmpd="sng">
            <a:solidFill>
              <a:schemeClr val="dk1"/>
            </a:solidFill>
            <a:prstDash val="solid"/>
            <a:miter lim="800000"/>
            <a:headEnd type="none" w="sm" len="sm"/>
            <a:tailEnd type="triangle" w="med" len="med"/>
          </a:ln>
        </p:spPr>
      </p:cxnSp>
      <p:cxnSp>
        <p:nvCxnSpPr>
          <p:cNvPr id="1007" name="Google Shape;1007;p25"/>
          <p:cNvCxnSpPr>
            <a:stCxn id="1000" idx="3"/>
            <a:endCxn id="1001" idx="1"/>
          </p:cNvCxnSpPr>
          <p:nvPr/>
        </p:nvCxnSpPr>
        <p:spPr>
          <a:xfrm>
            <a:off x="6439945" y="1353758"/>
            <a:ext cx="544016" cy="523726"/>
          </a:xfrm>
          <a:prstGeom prst="straightConnector1">
            <a:avLst/>
          </a:prstGeom>
          <a:noFill/>
          <a:ln w="9525" cap="flat" cmpd="sng">
            <a:solidFill>
              <a:schemeClr val="dk1"/>
            </a:solidFill>
            <a:prstDash val="solid"/>
            <a:miter lim="800000"/>
            <a:headEnd type="none" w="sm" len="sm"/>
            <a:tailEnd type="triangle" w="med" len="med"/>
          </a:ln>
        </p:spPr>
      </p:cxnSp>
      <p:cxnSp>
        <p:nvCxnSpPr>
          <p:cNvPr id="1008" name="Google Shape;1008;p25"/>
          <p:cNvCxnSpPr>
            <a:stCxn id="1002" idx="4"/>
            <a:endCxn id="1003" idx="0"/>
          </p:cNvCxnSpPr>
          <p:nvPr/>
        </p:nvCxnSpPr>
        <p:spPr>
          <a:xfrm flipH="1">
            <a:off x="5020026" y="2267419"/>
            <a:ext cx="340485" cy="360775"/>
          </a:xfrm>
          <a:prstGeom prst="straightConnector1">
            <a:avLst/>
          </a:prstGeom>
          <a:noFill/>
          <a:ln w="9525" cap="flat" cmpd="sng">
            <a:solidFill>
              <a:schemeClr val="dk1"/>
            </a:solidFill>
            <a:prstDash val="solid"/>
            <a:miter lim="800000"/>
            <a:headEnd type="none" w="sm" len="sm"/>
            <a:tailEnd type="triangle" w="med" len="med"/>
          </a:ln>
        </p:spPr>
      </p:cxnSp>
      <p:cxnSp>
        <p:nvCxnSpPr>
          <p:cNvPr id="1009" name="Google Shape;1009;p25"/>
          <p:cNvCxnSpPr>
            <a:stCxn id="1001" idx="4"/>
            <a:endCxn id="1005" idx="0"/>
          </p:cNvCxnSpPr>
          <p:nvPr/>
        </p:nvCxnSpPr>
        <p:spPr>
          <a:xfrm>
            <a:off x="7205272" y="2251320"/>
            <a:ext cx="722818" cy="384869"/>
          </a:xfrm>
          <a:prstGeom prst="straightConnector1">
            <a:avLst/>
          </a:prstGeom>
          <a:noFill/>
          <a:ln w="9525" cap="flat" cmpd="sng">
            <a:solidFill>
              <a:schemeClr val="dk1"/>
            </a:solidFill>
            <a:prstDash val="solid"/>
            <a:miter lim="800000"/>
            <a:headEnd type="none" w="sm" len="sm"/>
            <a:tailEnd type="triangle" w="med" len="med"/>
          </a:ln>
        </p:spPr>
      </p:cxnSp>
      <p:cxnSp>
        <p:nvCxnSpPr>
          <p:cNvPr id="1010" name="Google Shape;1010;p25"/>
          <p:cNvCxnSpPr>
            <a:stCxn id="1001" idx="4"/>
            <a:endCxn id="1004" idx="0"/>
          </p:cNvCxnSpPr>
          <p:nvPr/>
        </p:nvCxnSpPr>
        <p:spPr>
          <a:xfrm flipH="1">
            <a:off x="6720223" y="2251320"/>
            <a:ext cx="485049" cy="377260"/>
          </a:xfrm>
          <a:prstGeom prst="straightConnector1">
            <a:avLst/>
          </a:prstGeom>
          <a:noFill/>
          <a:ln w="9525" cap="flat" cmpd="sng">
            <a:solidFill>
              <a:schemeClr val="dk1"/>
            </a:solidFill>
            <a:prstDash val="solid"/>
            <a:miter lim="800000"/>
            <a:headEnd type="none" w="sm" len="sm"/>
            <a:tailEnd type="triangle" w="med" len="med"/>
          </a:ln>
        </p:spPr>
      </p:cxnSp>
      <p:cxnSp>
        <p:nvCxnSpPr>
          <p:cNvPr id="1011" name="Google Shape;1011;p25"/>
          <p:cNvCxnSpPr/>
          <p:nvPr/>
        </p:nvCxnSpPr>
        <p:spPr>
          <a:xfrm flipH="1">
            <a:off x="4851542" y="3045832"/>
            <a:ext cx="158880" cy="452015"/>
          </a:xfrm>
          <a:prstGeom prst="straightConnector1">
            <a:avLst/>
          </a:prstGeom>
          <a:noFill/>
          <a:ln w="19050" cap="flat" cmpd="sng">
            <a:solidFill>
              <a:schemeClr val="dk1"/>
            </a:solidFill>
            <a:prstDash val="dash"/>
            <a:miter lim="800000"/>
            <a:headEnd type="none" w="sm" len="sm"/>
            <a:tailEnd type="triangle" w="med" len="med"/>
          </a:ln>
        </p:spPr>
      </p:cxnSp>
      <p:cxnSp>
        <p:nvCxnSpPr>
          <p:cNvPr id="1012" name="Google Shape;1012;p25"/>
          <p:cNvCxnSpPr/>
          <p:nvPr/>
        </p:nvCxnSpPr>
        <p:spPr>
          <a:xfrm flipH="1">
            <a:off x="6543567" y="3033158"/>
            <a:ext cx="183589" cy="433112"/>
          </a:xfrm>
          <a:prstGeom prst="straightConnector1">
            <a:avLst/>
          </a:prstGeom>
          <a:noFill/>
          <a:ln w="19050" cap="flat" cmpd="sng">
            <a:solidFill>
              <a:schemeClr val="dk1"/>
            </a:solidFill>
            <a:prstDash val="dash"/>
            <a:miter lim="800000"/>
            <a:headEnd type="none" w="sm" len="sm"/>
            <a:tailEnd type="triangle" w="med" len="med"/>
          </a:ln>
        </p:spPr>
      </p:cxnSp>
      <p:cxnSp>
        <p:nvCxnSpPr>
          <p:cNvPr id="1013" name="Google Shape;1013;p25"/>
          <p:cNvCxnSpPr/>
          <p:nvPr/>
        </p:nvCxnSpPr>
        <p:spPr>
          <a:xfrm flipH="1">
            <a:off x="7828110" y="3073739"/>
            <a:ext cx="41034" cy="424108"/>
          </a:xfrm>
          <a:prstGeom prst="straightConnector1">
            <a:avLst/>
          </a:prstGeom>
          <a:noFill/>
          <a:ln w="19050" cap="flat" cmpd="sng">
            <a:solidFill>
              <a:schemeClr val="dk1"/>
            </a:solidFill>
            <a:prstDash val="dash"/>
            <a:miter lim="800000"/>
            <a:headEnd type="none" w="sm" len="sm"/>
            <a:tailEnd type="triangle" w="med" len="med"/>
          </a:ln>
        </p:spPr>
      </p:cxnSp>
      <p:cxnSp>
        <p:nvCxnSpPr>
          <p:cNvPr id="1014" name="Google Shape;1014;p25"/>
          <p:cNvCxnSpPr/>
          <p:nvPr/>
        </p:nvCxnSpPr>
        <p:spPr>
          <a:xfrm>
            <a:off x="7925654" y="3086515"/>
            <a:ext cx="433553" cy="379754"/>
          </a:xfrm>
          <a:prstGeom prst="straightConnector1">
            <a:avLst/>
          </a:prstGeom>
          <a:noFill/>
          <a:ln w="19050" cap="flat" cmpd="sng">
            <a:solidFill>
              <a:schemeClr val="dk1"/>
            </a:solidFill>
            <a:prstDash val="dash"/>
            <a:miter lim="800000"/>
            <a:headEnd type="none" w="sm" len="sm"/>
            <a:tailEnd type="triangle" w="med" len="med"/>
          </a:ln>
        </p:spPr>
      </p:cxnSp>
      <p:cxnSp>
        <p:nvCxnSpPr>
          <p:cNvPr id="1015" name="Google Shape;1015;p25"/>
          <p:cNvCxnSpPr/>
          <p:nvPr/>
        </p:nvCxnSpPr>
        <p:spPr>
          <a:xfrm>
            <a:off x="6785608" y="3026279"/>
            <a:ext cx="309685" cy="439991"/>
          </a:xfrm>
          <a:prstGeom prst="straightConnector1">
            <a:avLst/>
          </a:prstGeom>
          <a:noFill/>
          <a:ln w="19050" cap="flat" cmpd="sng">
            <a:solidFill>
              <a:schemeClr val="dk1"/>
            </a:solidFill>
            <a:prstDash val="dash"/>
            <a:miter lim="800000"/>
            <a:headEnd type="none" w="sm" len="sm"/>
            <a:tailEnd type="triangle" w="med" len="med"/>
          </a:ln>
        </p:spPr>
      </p:cxnSp>
      <p:cxnSp>
        <p:nvCxnSpPr>
          <p:cNvPr id="1016" name="Google Shape;1016;p25"/>
          <p:cNvCxnSpPr/>
          <p:nvPr/>
        </p:nvCxnSpPr>
        <p:spPr>
          <a:xfrm>
            <a:off x="5065488" y="3045832"/>
            <a:ext cx="336093" cy="452015"/>
          </a:xfrm>
          <a:prstGeom prst="straightConnector1">
            <a:avLst/>
          </a:prstGeom>
          <a:noFill/>
          <a:ln w="19050" cap="flat" cmpd="sng">
            <a:solidFill>
              <a:schemeClr val="dk1"/>
            </a:solidFill>
            <a:prstDash val="dash"/>
            <a:miter lim="800000"/>
            <a:headEnd type="none" w="sm" len="sm"/>
            <a:tailEnd type="triangle" w="med" len="med"/>
          </a:ln>
        </p:spPr>
      </p:cxnSp>
      <p:sp>
        <p:nvSpPr>
          <p:cNvPr id="1017" name="Google Shape;1017;p25"/>
          <p:cNvSpPr txBox="1"/>
          <p:nvPr/>
        </p:nvSpPr>
        <p:spPr>
          <a:xfrm>
            <a:off x="4551997" y="3695288"/>
            <a:ext cx="4926580" cy="455260"/>
          </a:xfrm>
          <a:prstGeom prst="rect">
            <a:avLst/>
          </a:prstGeom>
          <a:noFill/>
          <a:ln>
            <a:noFill/>
          </a:ln>
        </p:spPr>
        <p:txBody>
          <a:bodyPr spcFirstLastPara="1" wrap="square" lIns="193227" tIns="96587" rIns="193227" bIns="96587" anchor="t" anchorCtr="0">
            <a:spAutoFit/>
          </a:bodyPr>
          <a:lstStyle/>
          <a:p>
            <a:r>
              <a:rPr lang="en-US" sz="1691" b="1">
                <a:solidFill>
                  <a:srgbClr val="00B050"/>
                </a:solidFill>
                <a:latin typeface="Arial"/>
                <a:ea typeface="Arial"/>
                <a:cs typeface="Arial"/>
                <a:sym typeface="Arial"/>
              </a:rPr>
              <a:t>   1.0                        0.5               0.5</a:t>
            </a:r>
            <a:endParaRPr sz="1691" b="1">
              <a:solidFill>
                <a:srgbClr val="00B050"/>
              </a:solidFill>
              <a:latin typeface="Arial"/>
              <a:ea typeface="Arial"/>
              <a:cs typeface="Arial"/>
              <a:sym typeface="Arial"/>
            </a:endParaRPr>
          </a:p>
        </p:txBody>
      </p:sp>
      <p:sp>
        <p:nvSpPr>
          <p:cNvPr id="1018" name="Google Shape;1018;p25"/>
          <p:cNvSpPr txBox="1"/>
          <p:nvPr/>
        </p:nvSpPr>
        <p:spPr>
          <a:xfrm>
            <a:off x="4725109" y="3419748"/>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+1                         +2                +2</a:t>
            </a:r>
            <a:endParaRPr sz="1691" b="1">
              <a:solidFill>
                <a:srgbClr val="C00000"/>
              </a:solidFill>
              <a:latin typeface="Arial"/>
              <a:ea typeface="Arial"/>
              <a:cs typeface="Arial"/>
              <a:sym typeface="Arial"/>
            </a:endParaRPr>
          </a:p>
        </p:txBody>
      </p:sp>
      <p:sp>
        <p:nvSpPr>
          <p:cNvPr id="1019" name="Google Shape;1019;p25"/>
          <p:cNvSpPr txBox="1"/>
          <p:nvPr/>
        </p:nvSpPr>
        <p:spPr>
          <a:xfrm>
            <a:off x="4458062" y="2178177"/>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	cool          warm</a:t>
            </a:r>
            <a:endParaRPr sz="1691" b="1">
              <a:solidFill>
                <a:srgbClr val="C00000"/>
              </a:solidFill>
              <a:latin typeface="Arial"/>
              <a:ea typeface="Arial"/>
              <a:cs typeface="Arial"/>
              <a:sym typeface="Arial"/>
            </a:endParaRPr>
          </a:p>
        </p:txBody>
      </p:sp>
      <p:sp>
        <p:nvSpPr>
          <p:cNvPr id="1020" name="Google Shape;1020;p25"/>
          <p:cNvSpPr txBox="1"/>
          <p:nvPr/>
        </p:nvSpPr>
        <p:spPr>
          <a:xfrm>
            <a:off x="5429049" y="877001"/>
            <a:ext cx="948196"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a:t>
            </a:r>
            <a:endParaRPr sz="1691" b="1">
              <a:solidFill>
                <a:srgbClr val="C00000"/>
              </a:solidFill>
              <a:latin typeface="Arial"/>
              <a:ea typeface="Arial"/>
              <a:cs typeface="Arial"/>
              <a:sym typeface="Arial"/>
            </a:endParaRPr>
          </a:p>
        </p:txBody>
      </p:sp>
      <p:sp>
        <p:nvSpPr>
          <p:cNvPr id="1022" name="Google Shape;1022;p25"/>
          <p:cNvSpPr/>
          <p:nvPr/>
        </p:nvSpPr>
        <p:spPr>
          <a:xfrm>
            <a:off x="11044484" y="1148949"/>
            <a:ext cx="0" cy="8848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pic>
        <p:nvPicPr>
          <p:cNvPr id="1023" name="Google Shape;1023;p25"/>
          <p:cNvPicPr preferRelativeResize="0"/>
          <p:nvPr/>
        </p:nvPicPr>
        <p:blipFill rotWithShape="1">
          <a:blip r:embed="rId16">
            <a:alphaModFix/>
          </a:blip>
          <a:srcRect/>
          <a:stretch/>
        </p:blipFill>
        <p:spPr>
          <a:xfrm>
            <a:off x="8412950" y="174164"/>
            <a:ext cx="3801188" cy="2804468"/>
          </a:xfrm>
          <a:prstGeom prst="rect">
            <a:avLst/>
          </a:prstGeom>
          <a:noFill/>
          <a:ln>
            <a:noFill/>
          </a:ln>
        </p:spPr>
      </p:pic>
      <p:sp>
        <p:nvSpPr>
          <p:cNvPr id="1024" name="Google Shape;1024;p25"/>
          <p:cNvSpPr/>
          <p:nvPr/>
        </p:nvSpPr>
        <p:spPr>
          <a:xfrm>
            <a:off x="8058231" y="2515692"/>
            <a:ext cx="396569" cy="112734"/>
          </a:xfrm>
          <a:prstGeom prst="rightArrow">
            <a:avLst>
              <a:gd name="adj1" fmla="val 50000"/>
              <a:gd name="adj2" fmla="val 50000"/>
            </a:avLst>
          </a:prstGeom>
          <a:solidFill>
            <a:srgbClr val="E9A820"/>
          </a:solidFill>
          <a:ln w="25400" cap="flat" cmpd="sng">
            <a:solidFill>
              <a:srgbClr val="E9A820"/>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lt1"/>
              </a:solidFill>
              <a:latin typeface="Arial"/>
              <a:ea typeface="Arial"/>
              <a:cs typeface="Arial"/>
              <a:sym typeface="Arial"/>
            </a:endParaRPr>
          </a:p>
        </p:txBody>
      </p:sp>
      <p:pic>
        <p:nvPicPr>
          <p:cNvPr id="1025" name="Google Shape;1025;p25"/>
          <p:cNvPicPr preferRelativeResize="0"/>
          <p:nvPr/>
        </p:nvPicPr>
        <p:blipFill rotWithShape="1">
          <a:blip r:embed="rId17">
            <a:alphaModFix/>
          </a:blip>
          <a:srcRect/>
          <a:stretch/>
        </p:blipFill>
        <p:spPr>
          <a:xfrm>
            <a:off x="10858343" y="546570"/>
            <a:ext cx="672728" cy="262364"/>
          </a:xfrm>
          <a:prstGeom prst="rect">
            <a:avLst/>
          </a:prstGeom>
          <a:noFill/>
          <a:ln>
            <a:noFill/>
          </a:ln>
        </p:spPr>
      </p:pic>
      <p:sp>
        <p:nvSpPr>
          <p:cNvPr id="1026" name="Google Shape;1026;p25"/>
          <p:cNvSpPr/>
          <p:nvPr/>
        </p:nvSpPr>
        <p:spPr>
          <a:xfrm>
            <a:off x="10674268" y="594741"/>
            <a:ext cx="1436759" cy="455260"/>
          </a:xfrm>
          <a:prstGeom prst="rect">
            <a:avLst/>
          </a:prstGeom>
          <a:noFill/>
          <a:ln>
            <a:noFill/>
          </a:ln>
        </p:spPr>
        <p:txBody>
          <a:bodyPr spcFirstLastPara="1" wrap="square" lIns="193227" tIns="96587" rIns="193227" bIns="96587" anchor="t" anchorCtr="0">
            <a:spAutoFit/>
          </a:bodyPr>
          <a:lstStyle/>
          <a:p>
            <a:r>
              <a:rPr lang="en-US" sz="1691" b="1">
                <a:solidFill>
                  <a:srgbClr val="000000"/>
                </a:solidFill>
                <a:latin typeface="Arial"/>
                <a:ea typeface="Arial"/>
                <a:cs typeface="Arial"/>
                <a:sym typeface="Arial"/>
              </a:rPr>
              <a:t>ɵ = 0.01</a:t>
            </a:r>
            <a:endParaRPr sz="1691" b="1">
              <a:solidFill>
                <a:srgbClr val="000000"/>
              </a:solidFill>
              <a:latin typeface="Arial"/>
              <a:ea typeface="Arial"/>
              <a:cs typeface="Arial"/>
              <a:sym typeface="Arial"/>
            </a:endParaRPr>
          </a:p>
        </p:txBody>
      </p:sp>
      <p:sp>
        <p:nvSpPr>
          <p:cNvPr id="1027" name="Google Shape;1027;p25"/>
          <p:cNvSpPr txBox="1"/>
          <p:nvPr/>
        </p:nvSpPr>
        <p:spPr>
          <a:xfrm>
            <a:off x="1068904" y="2276821"/>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b="1">
                <a:solidFill>
                  <a:srgbClr val="FF0000"/>
                </a:solidFill>
                <a:latin typeface="Calibri"/>
                <a:ea typeface="Calibri"/>
                <a:cs typeface="Calibri"/>
                <a:sym typeface="Calibri"/>
              </a:rPr>
              <a:t>  </a:t>
            </a:r>
            <a:r>
              <a:rPr lang="en-US" sz="1691" b="1">
                <a:solidFill>
                  <a:schemeClr val="dk1"/>
                </a:solidFill>
                <a:latin typeface="Calibri"/>
                <a:ea typeface="Calibri"/>
                <a:cs typeface="Calibri"/>
                <a:sym typeface="Calibri"/>
              </a:rPr>
              <a:t>1</a:t>
            </a:r>
            <a:r>
              <a:rPr lang="en-US" sz="1691" b="1">
                <a:solidFill>
                  <a:srgbClr val="FF0000"/>
                </a:solidFill>
                <a:latin typeface="Calibri"/>
                <a:ea typeface="Calibri"/>
                <a:cs typeface="Calibri"/>
                <a:sym typeface="Calibri"/>
              </a:rPr>
              <a:t>             </a:t>
            </a:r>
            <a:r>
              <a:rPr lang="en-US" sz="1691">
                <a:solidFill>
                  <a:schemeClr val="dk1"/>
                </a:solidFill>
                <a:latin typeface="Calibri"/>
                <a:ea typeface="Calibri"/>
                <a:cs typeface="Calibri"/>
                <a:sym typeface="Calibri"/>
              </a:rPr>
              <a:t>1.45        0……….</a:t>
            </a:r>
            <a:endParaRPr sz="634">
              <a:solidFill>
                <a:srgbClr val="000000"/>
              </a:solidFill>
              <a:latin typeface="Arial"/>
              <a:ea typeface="Arial"/>
              <a:cs typeface="Arial"/>
              <a:sym typeface="Arial"/>
            </a:endParaRPr>
          </a:p>
        </p:txBody>
      </p:sp>
      <p:sp>
        <p:nvSpPr>
          <p:cNvPr id="1028" name="Google Shape;1028;p25"/>
          <p:cNvSpPr txBox="1"/>
          <p:nvPr/>
        </p:nvSpPr>
        <p:spPr>
          <a:xfrm>
            <a:off x="1057631" y="2962788"/>
            <a:ext cx="2623690" cy="715459"/>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b="1">
                <a:solidFill>
                  <a:schemeClr val="dk1"/>
                </a:solidFill>
                <a:latin typeface="Calibri"/>
                <a:ea typeface="Calibri"/>
                <a:cs typeface="Calibri"/>
                <a:sym typeface="Calibri"/>
              </a:rPr>
              <a:t>  1.9           2.51</a:t>
            </a:r>
            <a:r>
              <a:rPr lang="en-US" sz="1691">
                <a:solidFill>
                  <a:schemeClr val="dk1"/>
                </a:solidFill>
                <a:latin typeface="Calibri"/>
                <a:ea typeface="Calibri"/>
                <a:cs typeface="Calibri"/>
                <a:sym typeface="Calibri"/>
              </a:rPr>
              <a:t>       0……….</a:t>
            </a:r>
            <a:endParaRPr sz="634">
              <a:solidFill>
                <a:srgbClr val="000000"/>
              </a:solidFill>
              <a:latin typeface="Arial"/>
              <a:ea typeface="Arial"/>
              <a:cs typeface="Arial"/>
              <a:sym typeface="Arial"/>
            </a:endParaRPr>
          </a:p>
        </p:txBody>
      </p:sp>
      <p:sp>
        <p:nvSpPr>
          <p:cNvPr id="1029" name="Google Shape;1029;p25"/>
          <p:cNvSpPr/>
          <p:nvPr/>
        </p:nvSpPr>
        <p:spPr>
          <a:xfrm>
            <a:off x="685840" y="3593523"/>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1030" name="Google Shape;1030;p25"/>
          <p:cNvSpPr txBox="1"/>
          <p:nvPr/>
        </p:nvSpPr>
        <p:spPr>
          <a:xfrm>
            <a:off x="855362" y="3538992"/>
            <a:ext cx="2623690" cy="455260"/>
          </a:xfrm>
          <a:prstGeom prst="rect">
            <a:avLst/>
          </a:prstGeom>
          <a:noFill/>
          <a:ln>
            <a:noFill/>
          </a:ln>
        </p:spPr>
        <p:txBody>
          <a:bodyPr spcFirstLastPara="1" wrap="square" lIns="193227" tIns="96587" rIns="193227" bIns="96587" anchor="t" anchorCtr="0">
            <a:spAutoFit/>
          </a:bodyPr>
          <a:lstStyle/>
          <a:p>
            <a:r>
              <a:rPr lang="en-US" sz="1691">
                <a:solidFill>
                  <a:schemeClr val="dk1"/>
                </a:solidFill>
                <a:latin typeface="Calibri"/>
                <a:ea typeface="Calibri"/>
                <a:cs typeface="Calibri"/>
                <a:sym typeface="Calibri"/>
              </a:rPr>
              <a:t>  ~</a:t>
            </a:r>
            <a:r>
              <a:rPr lang="en-US" sz="1691">
                <a:solidFill>
                  <a:schemeClr val="dk1"/>
                </a:solidFill>
                <a:highlight>
                  <a:srgbClr val="FFFF00"/>
                </a:highlight>
                <a:latin typeface="Calibri"/>
                <a:ea typeface="Calibri"/>
                <a:cs typeface="Calibri"/>
                <a:sym typeface="Calibri"/>
              </a:rPr>
              <a:t>10</a:t>
            </a:r>
            <a:r>
              <a:rPr lang="en-US" sz="1691">
                <a:solidFill>
                  <a:schemeClr val="dk1"/>
                </a:solidFill>
                <a:latin typeface="Calibri"/>
                <a:ea typeface="Calibri"/>
                <a:cs typeface="Calibri"/>
                <a:sym typeface="Calibri"/>
              </a:rPr>
              <a:t>             ~</a:t>
            </a:r>
            <a:r>
              <a:rPr lang="en-US" sz="1691">
                <a:solidFill>
                  <a:schemeClr val="dk1"/>
                </a:solidFill>
                <a:highlight>
                  <a:srgbClr val="FFFF00"/>
                </a:highlight>
                <a:latin typeface="Calibri"/>
                <a:ea typeface="Calibri"/>
                <a:cs typeface="Calibri"/>
                <a:sym typeface="Calibri"/>
              </a:rPr>
              <a:t> 10</a:t>
            </a:r>
            <a:r>
              <a:rPr lang="en-US" sz="1691">
                <a:solidFill>
                  <a:schemeClr val="dk1"/>
                </a:solidFill>
                <a:latin typeface="Calibri"/>
                <a:ea typeface="Calibri"/>
                <a:cs typeface="Calibri"/>
                <a:sym typeface="Calibri"/>
              </a:rPr>
              <a:t>        0</a:t>
            </a:r>
            <a:endParaRPr sz="634">
              <a:solidFill>
                <a:srgbClr val="000000"/>
              </a:solidFill>
              <a:latin typeface="Arial"/>
              <a:ea typeface="Arial"/>
              <a:cs typeface="Arial"/>
              <a:sym typeface="Arial"/>
            </a:endParaRPr>
          </a:p>
        </p:txBody>
      </p:sp>
      <p:sp>
        <p:nvSpPr>
          <p:cNvPr id="1031" name="Google Shape;1031;p25"/>
          <p:cNvSpPr txBox="1"/>
          <p:nvPr/>
        </p:nvSpPr>
        <p:spPr>
          <a:xfrm>
            <a:off x="80565" y="3572698"/>
            <a:ext cx="882895" cy="455260"/>
          </a:xfrm>
          <a:prstGeom prst="rect">
            <a:avLst/>
          </a:prstGeom>
          <a:noFill/>
          <a:ln>
            <a:noFill/>
          </a:ln>
        </p:spPr>
        <p:txBody>
          <a:bodyPr spcFirstLastPara="1" wrap="square" lIns="193227" tIns="96587" rIns="193227" bIns="96587" anchor="t" anchorCtr="0">
            <a:spAutoFit/>
          </a:bodyPr>
          <a:lstStyle/>
          <a:p>
            <a:r>
              <a:rPr lang="en-US" sz="1691">
                <a:solidFill>
                  <a:srgbClr val="000000"/>
                </a:solidFill>
                <a:latin typeface="Arial"/>
                <a:ea typeface="Arial"/>
                <a:cs typeface="Arial"/>
                <a:sym typeface="Arial"/>
              </a:rPr>
              <a:t>V</a:t>
            </a:r>
            <a:r>
              <a:rPr lang="en-US" sz="1691" baseline="-25000">
                <a:solidFill>
                  <a:srgbClr val="000000"/>
                </a:solidFill>
                <a:latin typeface="Arial"/>
                <a:ea typeface="Arial"/>
                <a:cs typeface="Arial"/>
                <a:sym typeface="Arial"/>
              </a:rPr>
              <a:t>225</a:t>
            </a:r>
            <a:endParaRPr sz="1691" baseline="-25000">
              <a:solidFill>
                <a:srgbClr val="000000"/>
              </a:solidFill>
              <a:latin typeface="Arial"/>
              <a:ea typeface="Arial"/>
              <a:cs typeface="Arial"/>
              <a:sym typeface="Arial"/>
            </a:endParaRPr>
          </a:p>
        </p:txBody>
      </p:sp>
      <p:sp>
        <p:nvSpPr>
          <p:cNvPr id="1032" name="Google Shape;1032;p25"/>
          <p:cNvSpPr txBox="1"/>
          <p:nvPr/>
        </p:nvSpPr>
        <p:spPr>
          <a:xfrm>
            <a:off x="179822" y="282489"/>
            <a:ext cx="4278239" cy="520406"/>
          </a:xfrm>
          <a:prstGeom prst="rect">
            <a:avLst/>
          </a:prstGeom>
          <a:solidFill>
            <a:srgbClr val="F0C040"/>
          </a:solidFill>
          <a:ln>
            <a:noFill/>
          </a:ln>
        </p:spPr>
        <p:txBody>
          <a:bodyPr spcFirstLastPara="1" wrap="square" lIns="193227" tIns="96587" rIns="193227" bIns="96587" anchor="t" anchorCtr="0">
            <a:spAutoFit/>
          </a:bodyPr>
          <a:lstStyle/>
          <a:p>
            <a:pPr algn="just"/>
            <a:r>
              <a:rPr lang="en-US" sz="2114">
                <a:solidFill>
                  <a:srgbClr val="0070C0"/>
                </a:solidFill>
                <a:latin typeface="Arial"/>
                <a:ea typeface="Arial"/>
                <a:cs typeface="Arial"/>
                <a:sym typeface="Arial"/>
              </a:rPr>
              <a:t>Policy Improvement</a:t>
            </a:r>
            <a:endParaRPr sz="2114">
              <a:solidFill>
                <a:srgbClr val="0070C0"/>
              </a:solidFill>
              <a:latin typeface="Arial"/>
              <a:ea typeface="Arial"/>
              <a:cs typeface="Arial"/>
              <a:sym typeface="Arial"/>
            </a:endParaRPr>
          </a:p>
        </p:txBody>
      </p:sp>
      <p:sp>
        <p:nvSpPr>
          <p:cNvPr id="1033" name="Google Shape;1033;p25"/>
          <p:cNvSpPr txBox="1"/>
          <p:nvPr/>
        </p:nvSpPr>
        <p:spPr>
          <a:xfrm>
            <a:off x="10280" y="3899057"/>
            <a:ext cx="3545152" cy="761882"/>
          </a:xfrm>
          <a:prstGeom prst="rect">
            <a:avLst/>
          </a:prstGeom>
          <a:blipFill rotWithShape="1">
            <a:blip r:embed="rId18">
              <a:alphaModFix/>
            </a:blip>
            <a:stretch>
              <a:fillRect l="-1453" t="-235566" r="-14180" b="-330478"/>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1034" name="Google Shape;1034;p25"/>
          <p:cNvSpPr txBox="1"/>
          <p:nvPr/>
        </p:nvSpPr>
        <p:spPr>
          <a:xfrm>
            <a:off x="2983" y="5805918"/>
            <a:ext cx="11139855" cy="761882"/>
          </a:xfrm>
          <a:prstGeom prst="rect">
            <a:avLst/>
          </a:prstGeom>
          <a:blipFill rotWithShape="1">
            <a:blip r:embed="rId19">
              <a:alphaModFix/>
            </a:blip>
            <a:stretch>
              <a:fillRect l="-461" t="-235566" b="-330478"/>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1035" name="Google Shape;1035;p25"/>
          <p:cNvSpPr txBox="1"/>
          <p:nvPr/>
        </p:nvSpPr>
        <p:spPr>
          <a:xfrm>
            <a:off x="-3361" y="4835698"/>
            <a:ext cx="7471518" cy="761882"/>
          </a:xfrm>
          <a:prstGeom prst="rect">
            <a:avLst/>
          </a:prstGeom>
          <a:blipFill rotWithShape="1">
            <a:blip r:embed="rId20">
              <a:alphaModFix/>
            </a:blip>
            <a:stretch>
              <a:fillRect l="-344" t="-233875" b="-332170"/>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1036" name="Google Shape;1036;p25"/>
          <p:cNvSpPr txBox="1"/>
          <p:nvPr/>
        </p:nvSpPr>
        <p:spPr>
          <a:xfrm>
            <a:off x="4924035" y="1306438"/>
            <a:ext cx="3299601" cy="455260"/>
          </a:xfrm>
          <a:prstGeom prst="rect">
            <a:avLst/>
          </a:prstGeom>
          <a:noFill/>
          <a:ln>
            <a:noFill/>
          </a:ln>
        </p:spPr>
        <p:txBody>
          <a:bodyPr spcFirstLastPara="1" wrap="square" lIns="193227" tIns="96587" rIns="193227" bIns="96587" anchor="t" anchorCtr="0">
            <a:spAutoFit/>
          </a:bodyPr>
          <a:lstStyle/>
          <a:p>
            <a:r>
              <a:rPr lang="en-US" sz="1691" b="1">
                <a:solidFill>
                  <a:schemeClr val="dk1"/>
                </a:solidFill>
                <a:latin typeface="Arial"/>
                <a:ea typeface="Arial"/>
                <a:cs typeface="Arial"/>
                <a:sym typeface="Arial"/>
              </a:rPr>
              <a:t>Go Slow	           Go Fast</a:t>
            </a:r>
            <a:endParaRPr sz="1691" b="1">
              <a:solidFill>
                <a:schemeClr val="dk1"/>
              </a:solidFill>
              <a:latin typeface="Arial"/>
              <a:ea typeface="Arial"/>
              <a:cs typeface="Arial"/>
              <a:sym typeface="Arial"/>
            </a:endParaRPr>
          </a:p>
        </p:txBody>
      </p:sp>
      <p:sp>
        <p:nvSpPr>
          <p:cNvPr id="1037" name="Google Shape;1037;p25"/>
          <p:cNvSpPr txBox="1"/>
          <p:nvPr/>
        </p:nvSpPr>
        <p:spPr>
          <a:xfrm>
            <a:off x="8415728" y="2936078"/>
            <a:ext cx="3801135" cy="1170649"/>
          </a:xfrm>
          <a:prstGeom prst="rect">
            <a:avLst/>
          </a:prstGeom>
          <a:solidFill>
            <a:srgbClr val="F0C040"/>
          </a:solidFill>
          <a:ln>
            <a:noFill/>
          </a:ln>
        </p:spPr>
        <p:txBody>
          <a:bodyPr spcFirstLastPara="1" wrap="square" lIns="193227" tIns="96587" rIns="193227" bIns="96587" anchor="t" anchorCtr="0">
            <a:spAutoFit/>
          </a:bodyPr>
          <a:lstStyle/>
          <a:p>
            <a:pPr algn="just"/>
            <a:r>
              <a:rPr lang="en-US" sz="1268">
                <a:solidFill>
                  <a:srgbClr val="0070C0"/>
                </a:solidFill>
              </a:rPr>
              <a:t>After PE is done, PI starts where the last value from PE is used to find the next best action. In this PI phase all actions are analysed and best action that MAXimises the value is chosen to update the policy</a:t>
            </a:r>
            <a:endParaRPr sz="1268">
              <a:solidFill>
                <a:srgbClr val="0070C0"/>
              </a:solidFill>
              <a:latin typeface="Arial"/>
              <a:ea typeface="Arial"/>
              <a:cs typeface="Arial"/>
              <a:sym typeface="Arial"/>
            </a:endParaRPr>
          </a:p>
        </p:txBody>
      </p:sp>
      <p:sp>
        <p:nvSpPr>
          <p:cNvPr id="3" name="Footer">
            <a:extLst>
              <a:ext uri="{FF2B5EF4-FFF2-40B4-BE49-F238E27FC236}">
                <a16:creationId xmlns:a16="http://schemas.microsoft.com/office/drawing/2014/main" id="{69C3CA23-5E98-FA74-5501-FE325ACC44F9}"/>
              </a:ext>
            </a:extLst>
          </p:cNvPr>
          <p:cNvSpPr txBox="1">
            <a:spLocks/>
          </p:cNvSpPr>
          <p:nvPr/>
        </p:nvSpPr>
        <p:spPr>
          <a:xfrm>
            <a:off x="2863782" y="6613472"/>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41"/>
        <p:cNvGrpSpPr/>
        <p:nvPr/>
      </p:nvGrpSpPr>
      <p:grpSpPr>
        <a:xfrm>
          <a:off x="0" y="0"/>
          <a:ext cx="0" cy="0"/>
          <a:chOff x="0" y="0"/>
          <a:chExt cx="0" cy="0"/>
        </a:xfrm>
      </p:grpSpPr>
      <p:sp>
        <p:nvSpPr>
          <p:cNvPr id="1042" name="Google Shape;1042;p26"/>
          <p:cNvSpPr txBox="1">
            <a:spLocks noGrp="1"/>
          </p:cNvSpPr>
          <p:nvPr>
            <p:ph type="title"/>
          </p:nvPr>
        </p:nvSpPr>
        <p:spPr>
          <a:xfrm>
            <a:off x="177559" y="231525"/>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 – Policy Iteration</a:t>
            </a:r>
            <a:endParaRPr/>
          </a:p>
        </p:txBody>
      </p:sp>
      <p:grpSp>
        <p:nvGrpSpPr>
          <p:cNvPr id="1043" name="Google Shape;1043;p26"/>
          <p:cNvGrpSpPr/>
          <p:nvPr/>
        </p:nvGrpSpPr>
        <p:grpSpPr>
          <a:xfrm>
            <a:off x="2983" y="6571410"/>
            <a:ext cx="12174329" cy="194601"/>
            <a:chOff x="0" y="3109250"/>
            <a:chExt cx="5760261" cy="92075"/>
          </a:xfrm>
        </p:grpSpPr>
        <p:sp>
          <p:nvSpPr>
            <p:cNvPr id="1044" name="Google Shape;1044;p26"/>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1045" name="Google Shape;1045;p26"/>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1046" name="Google Shape;1046;p26"/>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1048" name="Google Shape;1048;p26"/>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36</a:t>
            </a:fld>
            <a:r>
              <a:rPr lang="en-US"/>
              <a:t> / 46</a:t>
            </a:r>
            <a:endParaRPr/>
          </a:p>
        </p:txBody>
      </p:sp>
      <p:pic>
        <p:nvPicPr>
          <p:cNvPr id="1049" name="Google Shape;1049;p26" descr="TP_tmp.png"/>
          <p:cNvPicPr preferRelativeResize="0"/>
          <p:nvPr/>
        </p:nvPicPr>
        <p:blipFill rotWithShape="1">
          <a:blip r:embed="rId3">
            <a:alphaModFix/>
          </a:blip>
          <a:srcRect/>
          <a:stretch/>
        </p:blipFill>
        <p:spPr>
          <a:xfrm>
            <a:off x="364607" y="1756415"/>
            <a:ext cx="203949" cy="322518"/>
          </a:xfrm>
          <a:prstGeom prst="rect">
            <a:avLst/>
          </a:prstGeom>
          <a:noFill/>
          <a:ln>
            <a:noFill/>
          </a:ln>
        </p:spPr>
      </p:pic>
      <p:pic>
        <p:nvPicPr>
          <p:cNvPr id="1050" name="Google Shape;1050;p26"/>
          <p:cNvPicPr preferRelativeResize="0"/>
          <p:nvPr/>
        </p:nvPicPr>
        <p:blipFill rotWithShape="1">
          <a:blip r:embed="rId4">
            <a:alphaModFix/>
          </a:blip>
          <a:srcRect/>
          <a:stretch/>
        </p:blipFill>
        <p:spPr>
          <a:xfrm>
            <a:off x="1123247" y="1115162"/>
            <a:ext cx="535435" cy="556722"/>
          </a:xfrm>
          <a:prstGeom prst="rect">
            <a:avLst/>
          </a:prstGeom>
          <a:noFill/>
          <a:ln>
            <a:noFill/>
          </a:ln>
        </p:spPr>
      </p:pic>
      <p:pic>
        <p:nvPicPr>
          <p:cNvPr id="1051" name="Google Shape;1051;p26"/>
          <p:cNvPicPr preferRelativeResize="0"/>
          <p:nvPr/>
        </p:nvPicPr>
        <p:blipFill rotWithShape="1">
          <a:blip r:embed="rId5">
            <a:alphaModFix/>
          </a:blip>
          <a:srcRect/>
          <a:stretch/>
        </p:blipFill>
        <p:spPr>
          <a:xfrm>
            <a:off x="2509775" y="1035634"/>
            <a:ext cx="568088" cy="636251"/>
          </a:xfrm>
          <a:prstGeom prst="rect">
            <a:avLst/>
          </a:prstGeom>
          <a:noFill/>
          <a:ln>
            <a:noFill/>
          </a:ln>
        </p:spPr>
      </p:pic>
      <p:pic>
        <p:nvPicPr>
          <p:cNvPr id="1052" name="Google Shape;1052;p26"/>
          <p:cNvPicPr preferRelativeResize="0"/>
          <p:nvPr/>
        </p:nvPicPr>
        <p:blipFill rotWithShape="1">
          <a:blip r:embed="rId6">
            <a:alphaModFix/>
          </a:blip>
          <a:srcRect/>
          <a:stretch/>
        </p:blipFill>
        <p:spPr>
          <a:xfrm>
            <a:off x="1821735" y="1077450"/>
            <a:ext cx="585286" cy="583232"/>
          </a:xfrm>
          <a:prstGeom prst="rect">
            <a:avLst/>
          </a:prstGeom>
          <a:noFill/>
          <a:ln>
            <a:noFill/>
          </a:ln>
        </p:spPr>
      </p:pic>
      <p:sp>
        <p:nvSpPr>
          <p:cNvPr id="1053" name="Google Shape;1053;p26"/>
          <p:cNvSpPr/>
          <p:nvPr/>
        </p:nvSpPr>
        <p:spPr>
          <a:xfrm>
            <a:off x="657828" y="3005348"/>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1054" name="Google Shape;1054;p26"/>
          <p:cNvSpPr/>
          <p:nvPr/>
        </p:nvSpPr>
        <p:spPr>
          <a:xfrm>
            <a:off x="690038" y="2276822"/>
            <a:ext cx="2928770" cy="455253"/>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1055" name="Google Shape;1055;p26"/>
          <p:cNvSpPr/>
          <p:nvPr/>
        </p:nvSpPr>
        <p:spPr>
          <a:xfrm>
            <a:off x="696040" y="1667731"/>
            <a:ext cx="2928770" cy="455257"/>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pic>
        <p:nvPicPr>
          <p:cNvPr id="1056" name="Google Shape;1056;p26" descr="TP_tmp.png"/>
          <p:cNvPicPr preferRelativeResize="0"/>
          <p:nvPr/>
        </p:nvPicPr>
        <p:blipFill rotWithShape="1">
          <a:blip r:embed="rId7">
            <a:alphaModFix/>
          </a:blip>
          <a:srcRect/>
          <a:stretch/>
        </p:blipFill>
        <p:spPr>
          <a:xfrm>
            <a:off x="346553" y="2375833"/>
            <a:ext cx="183630" cy="323298"/>
          </a:xfrm>
          <a:prstGeom prst="rect">
            <a:avLst/>
          </a:prstGeom>
          <a:noFill/>
          <a:ln>
            <a:noFill/>
          </a:ln>
        </p:spPr>
      </p:pic>
      <p:pic>
        <p:nvPicPr>
          <p:cNvPr id="1057" name="Google Shape;1057;p26" descr="TP_tmp.png"/>
          <p:cNvPicPr preferRelativeResize="0"/>
          <p:nvPr/>
        </p:nvPicPr>
        <p:blipFill rotWithShape="1">
          <a:blip r:embed="rId8">
            <a:alphaModFix/>
          </a:blip>
          <a:srcRect/>
          <a:stretch/>
        </p:blipFill>
        <p:spPr>
          <a:xfrm>
            <a:off x="353872" y="3017816"/>
            <a:ext cx="204441" cy="323298"/>
          </a:xfrm>
          <a:prstGeom prst="rect">
            <a:avLst/>
          </a:prstGeom>
          <a:noFill/>
          <a:ln>
            <a:noFill/>
          </a:ln>
        </p:spPr>
      </p:pic>
      <p:sp>
        <p:nvSpPr>
          <p:cNvPr id="1058" name="Google Shape;1058;p26"/>
          <p:cNvSpPr txBox="1"/>
          <p:nvPr/>
        </p:nvSpPr>
        <p:spPr>
          <a:xfrm>
            <a:off x="1098665" y="1667735"/>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chemeClr val="dk1"/>
                </a:solidFill>
                <a:latin typeface="Calibri"/>
                <a:ea typeface="Calibri"/>
                <a:cs typeface="Calibri"/>
                <a:sym typeface="Calibri"/>
              </a:rPr>
              <a:t>  0             0             0 ……..</a:t>
            </a:r>
            <a:endParaRPr sz="634">
              <a:solidFill>
                <a:srgbClr val="000000"/>
              </a:solidFill>
              <a:latin typeface="Arial"/>
              <a:ea typeface="Arial"/>
              <a:cs typeface="Arial"/>
              <a:sym typeface="Arial"/>
            </a:endParaRPr>
          </a:p>
        </p:txBody>
      </p:sp>
      <p:pic>
        <p:nvPicPr>
          <p:cNvPr id="1059" name="Google Shape;1059;p26"/>
          <p:cNvPicPr preferRelativeResize="0"/>
          <p:nvPr/>
        </p:nvPicPr>
        <p:blipFill rotWithShape="1">
          <a:blip r:embed="rId9">
            <a:alphaModFix/>
          </a:blip>
          <a:srcRect/>
          <a:stretch/>
        </p:blipFill>
        <p:spPr>
          <a:xfrm>
            <a:off x="7217220" y="3254172"/>
            <a:ext cx="4960091" cy="3006946"/>
          </a:xfrm>
          <a:prstGeom prst="rect">
            <a:avLst/>
          </a:prstGeom>
          <a:noFill/>
          <a:ln>
            <a:noFill/>
          </a:ln>
        </p:spPr>
      </p:pic>
      <p:sp>
        <p:nvSpPr>
          <p:cNvPr id="1060" name="Google Shape;1060;p26"/>
          <p:cNvSpPr/>
          <p:nvPr/>
        </p:nvSpPr>
        <p:spPr>
          <a:xfrm>
            <a:off x="6050456" y="841601"/>
            <a:ext cx="778978" cy="512157"/>
          </a:xfrm>
          <a:prstGeom prst="triangle">
            <a:avLst>
              <a:gd name="adj" fmla="val 50000"/>
            </a:avLst>
          </a:prstGeom>
          <a:blipFill rotWithShape="1">
            <a:blip r:embed="rId10">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1061" name="Google Shape;1061;p26"/>
          <p:cNvSpPr/>
          <p:nvPr/>
        </p:nvSpPr>
        <p:spPr>
          <a:xfrm>
            <a:off x="6892541" y="1813470"/>
            <a:ext cx="625462" cy="437850"/>
          </a:xfrm>
          <a:prstGeom prst="ellipse">
            <a:avLst/>
          </a:prstGeom>
          <a:blipFill rotWithShape="1">
            <a:blip r:embed="rId11">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1062" name="Google Shape;1062;p26"/>
          <p:cNvSpPr/>
          <p:nvPr/>
        </p:nvSpPr>
        <p:spPr>
          <a:xfrm>
            <a:off x="5047781" y="1829569"/>
            <a:ext cx="625462" cy="437850"/>
          </a:xfrm>
          <a:prstGeom prst="ellipse">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1063" name="Google Shape;1063;p26"/>
          <p:cNvSpPr/>
          <p:nvPr/>
        </p:nvSpPr>
        <p:spPr>
          <a:xfrm>
            <a:off x="4725108" y="2628430"/>
            <a:ext cx="590200" cy="417406"/>
          </a:xfrm>
          <a:prstGeom prst="rect">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1064" name="Google Shape;1064;p26"/>
          <p:cNvSpPr/>
          <p:nvPr/>
        </p:nvSpPr>
        <p:spPr>
          <a:xfrm>
            <a:off x="6425087" y="2628427"/>
            <a:ext cx="590200" cy="417406"/>
          </a:xfrm>
          <a:prstGeom prst="rect">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1065" name="Google Shape;1065;p26"/>
          <p:cNvSpPr/>
          <p:nvPr/>
        </p:nvSpPr>
        <p:spPr>
          <a:xfrm>
            <a:off x="7633305" y="2635890"/>
            <a:ext cx="590200" cy="417406"/>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cxnSp>
        <p:nvCxnSpPr>
          <p:cNvPr id="1066" name="Google Shape;1066;p26"/>
          <p:cNvCxnSpPr>
            <a:stCxn id="1060" idx="3"/>
            <a:endCxn id="1062" idx="7"/>
          </p:cNvCxnSpPr>
          <p:nvPr/>
        </p:nvCxnSpPr>
        <p:spPr>
          <a:xfrm flipH="1">
            <a:off x="5581440" y="1353758"/>
            <a:ext cx="858505" cy="540211"/>
          </a:xfrm>
          <a:prstGeom prst="straightConnector1">
            <a:avLst/>
          </a:prstGeom>
          <a:noFill/>
          <a:ln w="9525" cap="flat" cmpd="sng">
            <a:solidFill>
              <a:schemeClr val="dk1"/>
            </a:solidFill>
            <a:prstDash val="solid"/>
            <a:miter lim="800000"/>
            <a:headEnd type="none" w="sm" len="sm"/>
            <a:tailEnd type="triangle" w="med" len="med"/>
          </a:ln>
        </p:spPr>
      </p:cxnSp>
      <p:cxnSp>
        <p:nvCxnSpPr>
          <p:cNvPr id="1067" name="Google Shape;1067;p26"/>
          <p:cNvCxnSpPr>
            <a:stCxn id="1060" idx="3"/>
            <a:endCxn id="1061" idx="1"/>
          </p:cNvCxnSpPr>
          <p:nvPr/>
        </p:nvCxnSpPr>
        <p:spPr>
          <a:xfrm>
            <a:off x="6439945" y="1353758"/>
            <a:ext cx="544016" cy="523726"/>
          </a:xfrm>
          <a:prstGeom prst="straightConnector1">
            <a:avLst/>
          </a:prstGeom>
          <a:noFill/>
          <a:ln w="9525" cap="flat" cmpd="sng">
            <a:solidFill>
              <a:schemeClr val="dk1"/>
            </a:solidFill>
            <a:prstDash val="solid"/>
            <a:miter lim="800000"/>
            <a:headEnd type="none" w="sm" len="sm"/>
            <a:tailEnd type="triangle" w="med" len="med"/>
          </a:ln>
        </p:spPr>
      </p:cxnSp>
      <p:cxnSp>
        <p:nvCxnSpPr>
          <p:cNvPr id="1068" name="Google Shape;1068;p26"/>
          <p:cNvCxnSpPr>
            <a:stCxn id="1062" idx="4"/>
            <a:endCxn id="1063" idx="0"/>
          </p:cNvCxnSpPr>
          <p:nvPr/>
        </p:nvCxnSpPr>
        <p:spPr>
          <a:xfrm flipH="1">
            <a:off x="5020026" y="2267419"/>
            <a:ext cx="340485" cy="360775"/>
          </a:xfrm>
          <a:prstGeom prst="straightConnector1">
            <a:avLst/>
          </a:prstGeom>
          <a:noFill/>
          <a:ln w="9525" cap="flat" cmpd="sng">
            <a:solidFill>
              <a:schemeClr val="dk1"/>
            </a:solidFill>
            <a:prstDash val="solid"/>
            <a:miter lim="800000"/>
            <a:headEnd type="none" w="sm" len="sm"/>
            <a:tailEnd type="triangle" w="med" len="med"/>
          </a:ln>
        </p:spPr>
      </p:cxnSp>
      <p:cxnSp>
        <p:nvCxnSpPr>
          <p:cNvPr id="1069" name="Google Shape;1069;p26"/>
          <p:cNvCxnSpPr>
            <a:stCxn id="1061" idx="4"/>
            <a:endCxn id="1065" idx="0"/>
          </p:cNvCxnSpPr>
          <p:nvPr/>
        </p:nvCxnSpPr>
        <p:spPr>
          <a:xfrm>
            <a:off x="7205272" y="2251320"/>
            <a:ext cx="722818" cy="384869"/>
          </a:xfrm>
          <a:prstGeom prst="straightConnector1">
            <a:avLst/>
          </a:prstGeom>
          <a:noFill/>
          <a:ln w="9525" cap="flat" cmpd="sng">
            <a:solidFill>
              <a:schemeClr val="dk1"/>
            </a:solidFill>
            <a:prstDash val="solid"/>
            <a:miter lim="800000"/>
            <a:headEnd type="none" w="sm" len="sm"/>
            <a:tailEnd type="triangle" w="med" len="med"/>
          </a:ln>
        </p:spPr>
      </p:cxnSp>
      <p:cxnSp>
        <p:nvCxnSpPr>
          <p:cNvPr id="1070" name="Google Shape;1070;p26"/>
          <p:cNvCxnSpPr>
            <a:stCxn id="1061" idx="4"/>
            <a:endCxn id="1064" idx="0"/>
          </p:cNvCxnSpPr>
          <p:nvPr/>
        </p:nvCxnSpPr>
        <p:spPr>
          <a:xfrm flipH="1">
            <a:off x="6720223" y="2251320"/>
            <a:ext cx="485049" cy="377260"/>
          </a:xfrm>
          <a:prstGeom prst="straightConnector1">
            <a:avLst/>
          </a:prstGeom>
          <a:noFill/>
          <a:ln w="9525" cap="flat" cmpd="sng">
            <a:solidFill>
              <a:schemeClr val="dk1"/>
            </a:solidFill>
            <a:prstDash val="solid"/>
            <a:miter lim="800000"/>
            <a:headEnd type="none" w="sm" len="sm"/>
            <a:tailEnd type="triangle" w="med" len="med"/>
          </a:ln>
        </p:spPr>
      </p:cxnSp>
      <p:cxnSp>
        <p:nvCxnSpPr>
          <p:cNvPr id="1071" name="Google Shape;1071;p26"/>
          <p:cNvCxnSpPr/>
          <p:nvPr/>
        </p:nvCxnSpPr>
        <p:spPr>
          <a:xfrm flipH="1">
            <a:off x="4851542" y="3045832"/>
            <a:ext cx="158880" cy="452015"/>
          </a:xfrm>
          <a:prstGeom prst="straightConnector1">
            <a:avLst/>
          </a:prstGeom>
          <a:noFill/>
          <a:ln w="19050" cap="flat" cmpd="sng">
            <a:solidFill>
              <a:schemeClr val="dk1"/>
            </a:solidFill>
            <a:prstDash val="dash"/>
            <a:miter lim="800000"/>
            <a:headEnd type="none" w="sm" len="sm"/>
            <a:tailEnd type="triangle" w="med" len="med"/>
          </a:ln>
        </p:spPr>
      </p:cxnSp>
      <p:cxnSp>
        <p:nvCxnSpPr>
          <p:cNvPr id="1072" name="Google Shape;1072;p26"/>
          <p:cNvCxnSpPr/>
          <p:nvPr/>
        </p:nvCxnSpPr>
        <p:spPr>
          <a:xfrm flipH="1">
            <a:off x="6543567" y="3033158"/>
            <a:ext cx="183589" cy="433112"/>
          </a:xfrm>
          <a:prstGeom prst="straightConnector1">
            <a:avLst/>
          </a:prstGeom>
          <a:noFill/>
          <a:ln w="19050" cap="flat" cmpd="sng">
            <a:solidFill>
              <a:schemeClr val="dk1"/>
            </a:solidFill>
            <a:prstDash val="dash"/>
            <a:miter lim="800000"/>
            <a:headEnd type="none" w="sm" len="sm"/>
            <a:tailEnd type="triangle" w="med" len="med"/>
          </a:ln>
        </p:spPr>
      </p:cxnSp>
      <p:cxnSp>
        <p:nvCxnSpPr>
          <p:cNvPr id="1073" name="Google Shape;1073;p26"/>
          <p:cNvCxnSpPr/>
          <p:nvPr/>
        </p:nvCxnSpPr>
        <p:spPr>
          <a:xfrm flipH="1">
            <a:off x="7828110" y="3073739"/>
            <a:ext cx="41034" cy="424108"/>
          </a:xfrm>
          <a:prstGeom prst="straightConnector1">
            <a:avLst/>
          </a:prstGeom>
          <a:noFill/>
          <a:ln w="19050" cap="flat" cmpd="sng">
            <a:solidFill>
              <a:schemeClr val="dk1"/>
            </a:solidFill>
            <a:prstDash val="dash"/>
            <a:miter lim="800000"/>
            <a:headEnd type="none" w="sm" len="sm"/>
            <a:tailEnd type="triangle" w="med" len="med"/>
          </a:ln>
        </p:spPr>
      </p:cxnSp>
      <p:cxnSp>
        <p:nvCxnSpPr>
          <p:cNvPr id="1074" name="Google Shape;1074;p26"/>
          <p:cNvCxnSpPr/>
          <p:nvPr/>
        </p:nvCxnSpPr>
        <p:spPr>
          <a:xfrm>
            <a:off x="7925654" y="3086515"/>
            <a:ext cx="433553" cy="379754"/>
          </a:xfrm>
          <a:prstGeom prst="straightConnector1">
            <a:avLst/>
          </a:prstGeom>
          <a:noFill/>
          <a:ln w="19050" cap="flat" cmpd="sng">
            <a:solidFill>
              <a:schemeClr val="dk1"/>
            </a:solidFill>
            <a:prstDash val="dash"/>
            <a:miter lim="800000"/>
            <a:headEnd type="none" w="sm" len="sm"/>
            <a:tailEnd type="triangle" w="med" len="med"/>
          </a:ln>
        </p:spPr>
      </p:cxnSp>
      <p:cxnSp>
        <p:nvCxnSpPr>
          <p:cNvPr id="1075" name="Google Shape;1075;p26"/>
          <p:cNvCxnSpPr/>
          <p:nvPr/>
        </p:nvCxnSpPr>
        <p:spPr>
          <a:xfrm>
            <a:off x="6785608" y="3026279"/>
            <a:ext cx="309685" cy="439991"/>
          </a:xfrm>
          <a:prstGeom prst="straightConnector1">
            <a:avLst/>
          </a:prstGeom>
          <a:noFill/>
          <a:ln w="19050" cap="flat" cmpd="sng">
            <a:solidFill>
              <a:schemeClr val="dk1"/>
            </a:solidFill>
            <a:prstDash val="dash"/>
            <a:miter lim="800000"/>
            <a:headEnd type="none" w="sm" len="sm"/>
            <a:tailEnd type="triangle" w="med" len="med"/>
          </a:ln>
        </p:spPr>
      </p:cxnSp>
      <p:cxnSp>
        <p:nvCxnSpPr>
          <p:cNvPr id="1076" name="Google Shape;1076;p26"/>
          <p:cNvCxnSpPr/>
          <p:nvPr/>
        </p:nvCxnSpPr>
        <p:spPr>
          <a:xfrm>
            <a:off x="5065488" y="3045832"/>
            <a:ext cx="336093" cy="452015"/>
          </a:xfrm>
          <a:prstGeom prst="straightConnector1">
            <a:avLst/>
          </a:prstGeom>
          <a:noFill/>
          <a:ln w="19050" cap="flat" cmpd="sng">
            <a:solidFill>
              <a:schemeClr val="dk1"/>
            </a:solidFill>
            <a:prstDash val="dash"/>
            <a:miter lim="800000"/>
            <a:headEnd type="none" w="sm" len="sm"/>
            <a:tailEnd type="triangle" w="med" len="med"/>
          </a:ln>
        </p:spPr>
      </p:cxnSp>
      <p:sp>
        <p:nvSpPr>
          <p:cNvPr id="1077" name="Google Shape;1077;p26"/>
          <p:cNvSpPr txBox="1"/>
          <p:nvPr/>
        </p:nvSpPr>
        <p:spPr>
          <a:xfrm>
            <a:off x="4551997" y="3695288"/>
            <a:ext cx="4926580" cy="455260"/>
          </a:xfrm>
          <a:prstGeom prst="rect">
            <a:avLst/>
          </a:prstGeom>
          <a:noFill/>
          <a:ln>
            <a:noFill/>
          </a:ln>
        </p:spPr>
        <p:txBody>
          <a:bodyPr spcFirstLastPara="1" wrap="square" lIns="193227" tIns="96587" rIns="193227" bIns="96587" anchor="t" anchorCtr="0">
            <a:spAutoFit/>
          </a:bodyPr>
          <a:lstStyle/>
          <a:p>
            <a:r>
              <a:rPr lang="en-US" sz="1691" b="1">
                <a:solidFill>
                  <a:srgbClr val="00B050"/>
                </a:solidFill>
                <a:latin typeface="Arial"/>
                <a:ea typeface="Arial"/>
                <a:cs typeface="Arial"/>
                <a:sym typeface="Arial"/>
              </a:rPr>
              <a:t>   1.0                        0.5               0.5</a:t>
            </a:r>
            <a:endParaRPr sz="1691" b="1">
              <a:solidFill>
                <a:srgbClr val="00B050"/>
              </a:solidFill>
              <a:latin typeface="Arial"/>
              <a:ea typeface="Arial"/>
              <a:cs typeface="Arial"/>
              <a:sym typeface="Arial"/>
            </a:endParaRPr>
          </a:p>
        </p:txBody>
      </p:sp>
      <p:sp>
        <p:nvSpPr>
          <p:cNvPr id="1078" name="Google Shape;1078;p26"/>
          <p:cNvSpPr txBox="1"/>
          <p:nvPr/>
        </p:nvSpPr>
        <p:spPr>
          <a:xfrm>
            <a:off x="4725109" y="3419748"/>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+1                         +2                +2</a:t>
            </a:r>
            <a:endParaRPr sz="1691" b="1">
              <a:solidFill>
                <a:srgbClr val="C00000"/>
              </a:solidFill>
              <a:latin typeface="Arial"/>
              <a:ea typeface="Arial"/>
              <a:cs typeface="Arial"/>
              <a:sym typeface="Arial"/>
            </a:endParaRPr>
          </a:p>
        </p:txBody>
      </p:sp>
      <p:sp>
        <p:nvSpPr>
          <p:cNvPr id="1079" name="Google Shape;1079;p26"/>
          <p:cNvSpPr txBox="1"/>
          <p:nvPr/>
        </p:nvSpPr>
        <p:spPr>
          <a:xfrm>
            <a:off x="4458062" y="2178177"/>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	cool          warm</a:t>
            </a:r>
            <a:endParaRPr sz="1691" b="1">
              <a:solidFill>
                <a:srgbClr val="C00000"/>
              </a:solidFill>
              <a:latin typeface="Arial"/>
              <a:ea typeface="Arial"/>
              <a:cs typeface="Arial"/>
              <a:sym typeface="Arial"/>
            </a:endParaRPr>
          </a:p>
        </p:txBody>
      </p:sp>
      <p:sp>
        <p:nvSpPr>
          <p:cNvPr id="1080" name="Google Shape;1080;p26"/>
          <p:cNvSpPr txBox="1"/>
          <p:nvPr/>
        </p:nvSpPr>
        <p:spPr>
          <a:xfrm>
            <a:off x="5429049" y="877001"/>
            <a:ext cx="948196"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a:t>
            </a:r>
            <a:endParaRPr sz="1691" b="1">
              <a:solidFill>
                <a:srgbClr val="C00000"/>
              </a:solidFill>
              <a:latin typeface="Arial"/>
              <a:ea typeface="Arial"/>
              <a:cs typeface="Arial"/>
              <a:sym typeface="Arial"/>
            </a:endParaRPr>
          </a:p>
        </p:txBody>
      </p:sp>
      <p:sp>
        <p:nvSpPr>
          <p:cNvPr id="1082" name="Google Shape;1082;p26"/>
          <p:cNvSpPr/>
          <p:nvPr/>
        </p:nvSpPr>
        <p:spPr>
          <a:xfrm>
            <a:off x="11044484" y="1148949"/>
            <a:ext cx="0" cy="8848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pic>
        <p:nvPicPr>
          <p:cNvPr id="1083" name="Google Shape;1083;p26"/>
          <p:cNvPicPr preferRelativeResize="0"/>
          <p:nvPr/>
        </p:nvPicPr>
        <p:blipFill rotWithShape="1">
          <a:blip r:embed="rId16">
            <a:alphaModFix/>
          </a:blip>
          <a:srcRect/>
          <a:stretch/>
        </p:blipFill>
        <p:spPr>
          <a:xfrm>
            <a:off x="8412950" y="174164"/>
            <a:ext cx="3801188" cy="2804468"/>
          </a:xfrm>
          <a:prstGeom prst="rect">
            <a:avLst/>
          </a:prstGeom>
          <a:noFill/>
          <a:ln>
            <a:noFill/>
          </a:ln>
        </p:spPr>
      </p:pic>
      <p:sp>
        <p:nvSpPr>
          <p:cNvPr id="1084" name="Google Shape;1084;p26"/>
          <p:cNvSpPr/>
          <p:nvPr/>
        </p:nvSpPr>
        <p:spPr>
          <a:xfrm>
            <a:off x="8058231" y="2515692"/>
            <a:ext cx="396569" cy="112734"/>
          </a:xfrm>
          <a:prstGeom prst="rightArrow">
            <a:avLst>
              <a:gd name="adj1" fmla="val 50000"/>
              <a:gd name="adj2" fmla="val 50000"/>
            </a:avLst>
          </a:prstGeom>
          <a:solidFill>
            <a:srgbClr val="E9A820"/>
          </a:solidFill>
          <a:ln w="25400" cap="flat" cmpd="sng">
            <a:solidFill>
              <a:srgbClr val="E9A820"/>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lt1"/>
              </a:solidFill>
              <a:latin typeface="Arial"/>
              <a:ea typeface="Arial"/>
              <a:cs typeface="Arial"/>
              <a:sym typeface="Arial"/>
            </a:endParaRPr>
          </a:p>
        </p:txBody>
      </p:sp>
      <p:pic>
        <p:nvPicPr>
          <p:cNvPr id="1085" name="Google Shape;1085;p26"/>
          <p:cNvPicPr preferRelativeResize="0"/>
          <p:nvPr/>
        </p:nvPicPr>
        <p:blipFill rotWithShape="1">
          <a:blip r:embed="rId17">
            <a:alphaModFix/>
          </a:blip>
          <a:srcRect/>
          <a:stretch/>
        </p:blipFill>
        <p:spPr>
          <a:xfrm>
            <a:off x="10858343" y="546570"/>
            <a:ext cx="672728" cy="262364"/>
          </a:xfrm>
          <a:prstGeom prst="rect">
            <a:avLst/>
          </a:prstGeom>
          <a:noFill/>
          <a:ln>
            <a:noFill/>
          </a:ln>
        </p:spPr>
      </p:pic>
      <p:sp>
        <p:nvSpPr>
          <p:cNvPr id="1086" name="Google Shape;1086;p26"/>
          <p:cNvSpPr/>
          <p:nvPr/>
        </p:nvSpPr>
        <p:spPr>
          <a:xfrm>
            <a:off x="10674268" y="594741"/>
            <a:ext cx="1406959" cy="455260"/>
          </a:xfrm>
          <a:prstGeom prst="rect">
            <a:avLst/>
          </a:prstGeom>
          <a:noFill/>
          <a:ln>
            <a:noFill/>
          </a:ln>
        </p:spPr>
        <p:txBody>
          <a:bodyPr spcFirstLastPara="1" wrap="square" lIns="193227" tIns="96587" rIns="193227" bIns="96587" anchor="t" anchorCtr="0">
            <a:spAutoFit/>
          </a:bodyPr>
          <a:lstStyle/>
          <a:p>
            <a:r>
              <a:rPr lang="en-US" sz="1691" b="1">
                <a:solidFill>
                  <a:srgbClr val="000000"/>
                </a:solidFill>
                <a:latin typeface="Arial"/>
                <a:ea typeface="Arial"/>
                <a:cs typeface="Arial"/>
                <a:sym typeface="Arial"/>
              </a:rPr>
              <a:t>ɵ = 0.01</a:t>
            </a:r>
            <a:endParaRPr sz="1691" b="1">
              <a:solidFill>
                <a:srgbClr val="000000"/>
              </a:solidFill>
              <a:latin typeface="Arial"/>
              <a:ea typeface="Arial"/>
              <a:cs typeface="Arial"/>
              <a:sym typeface="Arial"/>
            </a:endParaRPr>
          </a:p>
        </p:txBody>
      </p:sp>
      <p:sp>
        <p:nvSpPr>
          <p:cNvPr id="1087" name="Google Shape;1087;p26"/>
          <p:cNvSpPr txBox="1"/>
          <p:nvPr/>
        </p:nvSpPr>
        <p:spPr>
          <a:xfrm>
            <a:off x="1068904" y="2276821"/>
            <a:ext cx="2623690"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b="1">
                <a:solidFill>
                  <a:srgbClr val="FF0000"/>
                </a:solidFill>
                <a:latin typeface="Calibri"/>
                <a:ea typeface="Calibri"/>
                <a:cs typeface="Calibri"/>
                <a:sym typeface="Calibri"/>
              </a:rPr>
              <a:t>  </a:t>
            </a:r>
            <a:r>
              <a:rPr lang="en-US" sz="1691" b="1">
                <a:solidFill>
                  <a:schemeClr val="dk1"/>
                </a:solidFill>
                <a:latin typeface="Calibri"/>
                <a:ea typeface="Calibri"/>
                <a:cs typeface="Calibri"/>
                <a:sym typeface="Calibri"/>
              </a:rPr>
              <a:t>1</a:t>
            </a:r>
            <a:r>
              <a:rPr lang="en-US" sz="1691" b="1">
                <a:solidFill>
                  <a:srgbClr val="FF0000"/>
                </a:solidFill>
                <a:latin typeface="Calibri"/>
                <a:ea typeface="Calibri"/>
                <a:cs typeface="Calibri"/>
                <a:sym typeface="Calibri"/>
              </a:rPr>
              <a:t>             </a:t>
            </a:r>
            <a:r>
              <a:rPr lang="en-US" sz="1691">
                <a:solidFill>
                  <a:schemeClr val="dk1"/>
                </a:solidFill>
                <a:latin typeface="Calibri"/>
                <a:ea typeface="Calibri"/>
                <a:cs typeface="Calibri"/>
                <a:sym typeface="Calibri"/>
              </a:rPr>
              <a:t>1.45        0……….</a:t>
            </a:r>
            <a:endParaRPr sz="634">
              <a:solidFill>
                <a:srgbClr val="000000"/>
              </a:solidFill>
              <a:latin typeface="Arial"/>
              <a:ea typeface="Arial"/>
              <a:cs typeface="Arial"/>
              <a:sym typeface="Arial"/>
            </a:endParaRPr>
          </a:p>
        </p:txBody>
      </p:sp>
      <p:sp>
        <p:nvSpPr>
          <p:cNvPr id="1088" name="Google Shape;1088;p26"/>
          <p:cNvSpPr txBox="1"/>
          <p:nvPr/>
        </p:nvSpPr>
        <p:spPr>
          <a:xfrm>
            <a:off x="1057631" y="2962788"/>
            <a:ext cx="2623690" cy="715459"/>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b="1">
                <a:solidFill>
                  <a:schemeClr val="dk1"/>
                </a:solidFill>
                <a:latin typeface="Calibri"/>
                <a:ea typeface="Calibri"/>
                <a:cs typeface="Calibri"/>
                <a:sym typeface="Calibri"/>
              </a:rPr>
              <a:t>  1.9           2.51</a:t>
            </a:r>
            <a:r>
              <a:rPr lang="en-US" sz="1691">
                <a:solidFill>
                  <a:schemeClr val="dk1"/>
                </a:solidFill>
                <a:latin typeface="Calibri"/>
                <a:ea typeface="Calibri"/>
                <a:cs typeface="Calibri"/>
                <a:sym typeface="Calibri"/>
              </a:rPr>
              <a:t>       0……….</a:t>
            </a:r>
            <a:endParaRPr sz="634">
              <a:solidFill>
                <a:srgbClr val="000000"/>
              </a:solidFill>
              <a:latin typeface="Arial"/>
              <a:ea typeface="Arial"/>
              <a:cs typeface="Arial"/>
              <a:sym typeface="Arial"/>
            </a:endParaRPr>
          </a:p>
        </p:txBody>
      </p:sp>
      <p:sp>
        <p:nvSpPr>
          <p:cNvPr id="1089" name="Google Shape;1089;p26"/>
          <p:cNvSpPr/>
          <p:nvPr/>
        </p:nvSpPr>
        <p:spPr>
          <a:xfrm>
            <a:off x="685840" y="3593523"/>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1090" name="Google Shape;1090;p26"/>
          <p:cNvSpPr txBox="1"/>
          <p:nvPr/>
        </p:nvSpPr>
        <p:spPr>
          <a:xfrm>
            <a:off x="855362" y="3538992"/>
            <a:ext cx="2623690" cy="455260"/>
          </a:xfrm>
          <a:prstGeom prst="rect">
            <a:avLst/>
          </a:prstGeom>
          <a:noFill/>
          <a:ln>
            <a:noFill/>
          </a:ln>
        </p:spPr>
        <p:txBody>
          <a:bodyPr spcFirstLastPara="1" wrap="square" lIns="193227" tIns="96587" rIns="193227" bIns="96587" anchor="t" anchorCtr="0">
            <a:spAutoFit/>
          </a:bodyPr>
          <a:lstStyle/>
          <a:p>
            <a:r>
              <a:rPr lang="en-US" sz="1691">
                <a:solidFill>
                  <a:schemeClr val="dk1"/>
                </a:solidFill>
                <a:latin typeface="Calibri"/>
                <a:ea typeface="Calibri"/>
                <a:cs typeface="Calibri"/>
                <a:sym typeface="Calibri"/>
              </a:rPr>
              <a:t>  ~</a:t>
            </a:r>
            <a:r>
              <a:rPr lang="en-US" sz="1691">
                <a:solidFill>
                  <a:schemeClr val="dk1"/>
                </a:solidFill>
                <a:highlight>
                  <a:srgbClr val="FFFF00"/>
                </a:highlight>
                <a:latin typeface="Calibri"/>
                <a:ea typeface="Calibri"/>
                <a:cs typeface="Calibri"/>
                <a:sym typeface="Calibri"/>
              </a:rPr>
              <a:t>10</a:t>
            </a:r>
            <a:r>
              <a:rPr lang="en-US" sz="1691">
                <a:solidFill>
                  <a:schemeClr val="dk1"/>
                </a:solidFill>
                <a:latin typeface="Calibri"/>
                <a:ea typeface="Calibri"/>
                <a:cs typeface="Calibri"/>
                <a:sym typeface="Calibri"/>
              </a:rPr>
              <a:t>             ~</a:t>
            </a:r>
            <a:r>
              <a:rPr lang="en-US" sz="1691">
                <a:solidFill>
                  <a:schemeClr val="dk1"/>
                </a:solidFill>
                <a:highlight>
                  <a:srgbClr val="FFFF00"/>
                </a:highlight>
                <a:latin typeface="Calibri"/>
                <a:ea typeface="Calibri"/>
                <a:cs typeface="Calibri"/>
                <a:sym typeface="Calibri"/>
              </a:rPr>
              <a:t> 10</a:t>
            </a:r>
            <a:r>
              <a:rPr lang="en-US" sz="1691">
                <a:solidFill>
                  <a:schemeClr val="dk1"/>
                </a:solidFill>
                <a:latin typeface="Calibri"/>
                <a:ea typeface="Calibri"/>
                <a:cs typeface="Calibri"/>
                <a:sym typeface="Calibri"/>
              </a:rPr>
              <a:t>        0</a:t>
            </a:r>
            <a:endParaRPr sz="634">
              <a:solidFill>
                <a:srgbClr val="000000"/>
              </a:solidFill>
              <a:latin typeface="Arial"/>
              <a:ea typeface="Arial"/>
              <a:cs typeface="Arial"/>
              <a:sym typeface="Arial"/>
            </a:endParaRPr>
          </a:p>
        </p:txBody>
      </p:sp>
      <p:sp>
        <p:nvSpPr>
          <p:cNvPr id="1091" name="Google Shape;1091;p26"/>
          <p:cNvSpPr txBox="1"/>
          <p:nvPr/>
        </p:nvSpPr>
        <p:spPr>
          <a:xfrm>
            <a:off x="80565" y="3572698"/>
            <a:ext cx="882895" cy="455260"/>
          </a:xfrm>
          <a:prstGeom prst="rect">
            <a:avLst/>
          </a:prstGeom>
          <a:noFill/>
          <a:ln>
            <a:noFill/>
          </a:ln>
        </p:spPr>
        <p:txBody>
          <a:bodyPr spcFirstLastPara="1" wrap="square" lIns="193227" tIns="96587" rIns="193227" bIns="96587" anchor="t" anchorCtr="0">
            <a:spAutoFit/>
          </a:bodyPr>
          <a:lstStyle/>
          <a:p>
            <a:r>
              <a:rPr lang="en-US" sz="1691">
                <a:solidFill>
                  <a:srgbClr val="000000"/>
                </a:solidFill>
                <a:latin typeface="Arial"/>
                <a:ea typeface="Arial"/>
                <a:cs typeface="Arial"/>
                <a:sym typeface="Arial"/>
              </a:rPr>
              <a:t>V</a:t>
            </a:r>
            <a:r>
              <a:rPr lang="en-US" sz="1691" baseline="-25000">
                <a:solidFill>
                  <a:srgbClr val="000000"/>
                </a:solidFill>
                <a:latin typeface="Arial"/>
                <a:ea typeface="Arial"/>
                <a:cs typeface="Arial"/>
                <a:sym typeface="Arial"/>
              </a:rPr>
              <a:t>225</a:t>
            </a:r>
            <a:endParaRPr sz="1691" baseline="-25000">
              <a:solidFill>
                <a:srgbClr val="000000"/>
              </a:solidFill>
              <a:latin typeface="Arial"/>
              <a:ea typeface="Arial"/>
              <a:cs typeface="Arial"/>
              <a:sym typeface="Arial"/>
            </a:endParaRPr>
          </a:p>
        </p:txBody>
      </p:sp>
      <p:sp>
        <p:nvSpPr>
          <p:cNvPr id="1092" name="Google Shape;1092;p26"/>
          <p:cNvSpPr txBox="1"/>
          <p:nvPr/>
        </p:nvSpPr>
        <p:spPr>
          <a:xfrm>
            <a:off x="179822" y="282490"/>
            <a:ext cx="4278239" cy="520406"/>
          </a:xfrm>
          <a:prstGeom prst="rect">
            <a:avLst/>
          </a:prstGeom>
          <a:solidFill>
            <a:srgbClr val="F0C040"/>
          </a:solidFill>
          <a:ln>
            <a:noFill/>
          </a:ln>
        </p:spPr>
        <p:txBody>
          <a:bodyPr spcFirstLastPara="1" wrap="square" lIns="193227" tIns="96587" rIns="193227" bIns="96587" anchor="t" anchorCtr="0">
            <a:spAutoFit/>
          </a:bodyPr>
          <a:lstStyle/>
          <a:p>
            <a:pPr algn="just"/>
            <a:r>
              <a:rPr lang="en-US" sz="2114">
                <a:solidFill>
                  <a:srgbClr val="0070C0"/>
                </a:solidFill>
                <a:latin typeface="Arial"/>
                <a:ea typeface="Arial"/>
                <a:cs typeface="Arial"/>
                <a:sym typeface="Arial"/>
              </a:rPr>
              <a:t>Policy Improvement Completes</a:t>
            </a:r>
            <a:endParaRPr sz="2114">
              <a:solidFill>
                <a:srgbClr val="0070C0"/>
              </a:solidFill>
              <a:latin typeface="Arial"/>
              <a:ea typeface="Arial"/>
              <a:cs typeface="Arial"/>
              <a:sym typeface="Arial"/>
            </a:endParaRPr>
          </a:p>
        </p:txBody>
      </p:sp>
      <p:sp>
        <p:nvSpPr>
          <p:cNvPr id="1093" name="Google Shape;1093;p26"/>
          <p:cNvSpPr txBox="1"/>
          <p:nvPr/>
        </p:nvSpPr>
        <p:spPr>
          <a:xfrm>
            <a:off x="10280" y="3899057"/>
            <a:ext cx="3545152" cy="761882"/>
          </a:xfrm>
          <a:prstGeom prst="rect">
            <a:avLst/>
          </a:prstGeom>
          <a:blipFill rotWithShape="1">
            <a:blip r:embed="rId18">
              <a:alphaModFix/>
            </a:blip>
            <a:stretch>
              <a:fillRect l="-1453" t="-235566" r="-14180" b="-330478"/>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sp>
        <p:nvSpPr>
          <p:cNvPr id="1094" name="Google Shape;1094;p26"/>
          <p:cNvSpPr txBox="1"/>
          <p:nvPr/>
        </p:nvSpPr>
        <p:spPr>
          <a:xfrm>
            <a:off x="3864222" y="3956246"/>
            <a:ext cx="3151066" cy="761882"/>
          </a:xfrm>
          <a:prstGeom prst="rect">
            <a:avLst/>
          </a:prstGeom>
          <a:blipFill rotWithShape="1">
            <a:blip r:embed="rId19">
              <a:alphaModFix/>
            </a:blip>
            <a:stretch>
              <a:fillRect l="-1638" t="-233875" r="-22128" b="-332170"/>
            </a:stretch>
          </a:blipFill>
          <a:ln>
            <a:noFill/>
          </a:ln>
        </p:spPr>
        <p:txBody>
          <a:bodyPr spcFirstLastPara="1" wrap="square" lIns="193227" tIns="96587" rIns="193227" bIns="96587" anchor="t" anchorCtr="0">
            <a:noAutofit/>
          </a:bodyPr>
          <a:lstStyle/>
          <a:p>
            <a:r>
              <a:rPr lang="en-US" sz="2959">
                <a:latin typeface="Arial"/>
                <a:ea typeface="Arial"/>
                <a:cs typeface="Arial"/>
                <a:sym typeface="Arial"/>
              </a:rPr>
              <a:t> </a:t>
            </a:r>
            <a:endParaRPr sz="3804"/>
          </a:p>
        </p:txBody>
      </p:sp>
      <p:graphicFrame>
        <p:nvGraphicFramePr>
          <p:cNvPr id="1095" name="Google Shape;1095;p26"/>
          <p:cNvGraphicFramePr/>
          <p:nvPr/>
        </p:nvGraphicFramePr>
        <p:xfrm>
          <a:off x="633104" y="4853184"/>
          <a:ext cx="2953514" cy="1687520"/>
        </p:xfrm>
        <a:graphic>
          <a:graphicData uri="http://schemas.openxmlformats.org/drawingml/2006/table">
            <a:tbl>
              <a:tblPr firstRow="1" bandRow="1">
                <a:noFill/>
              </a:tblPr>
              <a:tblGrid>
                <a:gridCol w="1476757">
                  <a:extLst>
                    <a:ext uri="{9D8B030D-6E8A-4147-A177-3AD203B41FA5}">
                      <a16:colId xmlns:a16="http://schemas.microsoft.com/office/drawing/2014/main" val="20000"/>
                    </a:ext>
                  </a:extLst>
                </a:gridCol>
                <a:gridCol w="1476757">
                  <a:extLst>
                    <a:ext uri="{9D8B030D-6E8A-4147-A177-3AD203B41FA5}">
                      <a16:colId xmlns:a16="http://schemas.microsoft.com/office/drawing/2014/main" val="20001"/>
                    </a:ext>
                  </a:extLst>
                </a:gridCol>
              </a:tblGrid>
              <a:tr h="418748">
                <a:tc>
                  <a:txBody>
                    <a:bodyPr/>
                    <a:lstStyle/>
                    <a:p>
                      <a:pPr marL="0" marR="0" lvl="0" indent="0" algn="l" rtl="0">
                        <a:lnSpc>
                          <a:spcPct val="100000"/>
                        </a:lnSpc>
                        <a:spcBef>
                          <a:spcPts val="0"/>
                        </a:spcBef>
                        <a:spcAft>
                          <a:spcPts val="0"/>
                        </a:spcAft>
                        <a:buNone/>
                      </a:pPr>
                      <a:r>
                        <a:rPr lang="en-US" sz="1500" u="none" strike="noStrike" cap="none"/>
                        <a:t>State</a:t>
                      </a:r>
                      <a:endParaRPr sz="1500" u="none" strike="noStrike" cap="none"/>
                    </a:p>
                  </a:txBody>
                  <a:tcPr marL="193280" marR="193280" marT="96640" marB="96640"/>
                </a:tc>
                <a:tc>
                  <a:txBody>
                    <a:bodyPr/>
                    <a:lstStyle/>
                    <a:p>
                      <a:pPr marL="0" marR="0" lvl="0" indent="0" algn="l" rtl="0">
                        <a:lnSpc>
                          <a:spcPct val="100000"/>
                        </a:lnSpc>
                        <a:spcBef>
                          <a:spcPts val="0"/>
                        </a:spcBef>
                        <a:spcAft>
                          <a:spcPts val="0"/>
                        </a:spcAft>
                        <a:buNone/>
                      </a:pPr>
                      <a:r>
                        <a:rPr lang="en-US" sz="1500" u="none" strike="noStrike" cap="none"/>
                        <a:t>Best Action</a:t>
                      </a:r>
                      <a:endParaRPr sz="1500" u="none" strike="noStrike" cap="none"/>
                    </a:p>
                  </a:txBody>
                  <a:tcPr marL="193280" marR="193280" marT="96640" marB="96640"/>
                </a:tc>
                <a:extLst>
                  <a:ext uri="{0D108BD9-81ED-4DB2-BD59-A6C34878D82A}">
                    <a16:rowId xmlns:a16="http://schemas.microsoft.com/office/drawing/2014/main" val="10000"/>
                  </a:ext>
                </a:extLst>
              </a:tr>
              <a:tr h="418748">
                <a:tc>
                  <a:txBody>
                    <a:bodyPr/>
                    <a:lstStyle/>
                    <a:p>
                      <a:pPr marL="0" marR="0" lvl="0" indent="0" algn="l" rtl="0">
                        <a:lnSpc>
                          <a:spcPct val="100000"/>
                        </a:lnSpc>
                        <a:spcBef>
                          <a:spcPts val="0"/>
                        </a:spcBef>
                        <a:spcAft>
                          <a:spcPts val="0"/>
                        </a:spcAft>
                        <a:buNone/>
                      </a:pPr>
                      <a:r>
                        <a:rPr lang="en-US" sz="1500" u="none" strike="noStrike" cap="none"/>
                        <a:t>Cool</a:t>
                      </a:r>
                      <a:endParaRPr sz="1500" u="none" strike="noStrike" cap="none"/>
                    </a:p>
                  </a:txBody>
                  <a:tcPr marL="193280" marR="193280" marT="96640" marB="96640"/>
                </a:tc>
                <a:tc>
                  <a:txBody>
                    <a:bodyPr/>
                    <a:lstStyle/>
                    <a:p>
                      <a:pPr marL="0" marR="0" lvl="0" indent="0" algn="l" rtl="0">
                        <a:lnSpc>
                          <a:spcPct val="100000"/>
                        </a:lnSpc>
                        <a:spcBef>
                          <a:spcPts val="0"/>
                        </a:spcBef>
                        <a:spcAft>
                          <a:spcPts val="0"/>
                        </a:spcAft>
                        <a:buNone/>
                      </a:pPr>
                      <a:r>
                        <a:rPr lang="en-US" sz="1500" u="none" strike="noStrike" cap="none"/>
                        <a:t>Fast</a:t>
                      </a:r>
                      <a:endParaRPr sz="1500" u="none" strike="noStrike" cap="none"/>
                    </a:p>
                  </a:txBody>
                  <a:tcPr marL="193280" marR="193280" marT="96640" marB="96640"/>
                </a:tc>
                <a:extLst>
                  <a:ext uri="{0D108BD9-81ED-4DB2-BD59-A6C34878D82A}">
                    <a16:rowId xmlns:a16="http://schemas.microsoft.com/office/drawing/2014/main" val="10001"/>
                  </a:ext>
                </a:extLst>
              </a:tr>
              <a:tr h="418748">
                <a:tc>
                  <a:txBody>
                    <a:bodyPr/>
                    <a:lstStyle/>
                    <a:p>
                      <a:pPr marL="0" marR="0" lvl="0" indent="0" algn="l" rtl="0">
                        <a:lnSpc>
                          <a:spcPct val="100000"/>
                        </a:lnSpc>
                        <a:spcBef>
                          <a:spcPts val="0"/>
                        </a:spcBef>
                        <a:spcAft>
                          <a:spcPts val="0"/>
                        </a:spcAft>
                        <a:buNone/>
                      </a:pPr>
                      <a:r>
                        <a:rPr lang="en-US" sz="1500" u="none" strike="noStrike" cap="none"/>
                        <a:t>Warm</a:t>
                      </a:r>
                      <a:endParaRPr sz="1500" u="none" strike="noStrike" cap="none"/>
                    </a:p>
                  </a:txBody>
                  <a:tcPr marL="193280" marR="193280" marT="96640" marB="96640"/>
                </a:tc>
                <a:tc>
                  <a:txBody>
                    <a:bodyPr/>
                    <a:lstStyle/>
                    <a:p>
                      <a:pPr marL="0" marR="0" lvl="0" indent="0" algn="l" rtl="0">
                        <a:lnSpc>
                          <a:spcPct val="100000"/>
                        </a:lnSpc>
                        <a:spcBef>
                          <a:spcPts val="0"/>
                        </a:spcBef>
                        <a:spcAft>
                          <a:spcPts val="0"/>
                        </a:spcAft>
                        <a:buNone/>
                      </a:pPr>
                      <a:r>
                        <a:rPr lang="en-US" sz="1500" u="none" strike="noStrike" cap="none"/>
                        <a:t>Slow</a:t>
                      </a:r>
                      <a:endParaRPr sz="1500" u="none" strike="noStrike" cap="none"/>
                    </a:p>
                  </a:txBody>
                  <a:tcPr marL="193280" marR="193280" marT="96640" marB="96640"/>
                </a:tc>
                <a:extLst>
                  <a:ext uri="{0D108BD9-81ED-4DB2-BD59-A6C34878D82A}">
                    <a16:rowId xmlns:a16="http://schemas.microsoft.com/office/drawing/2014/main" val="10002"/>
                  </a:ext>
                </a:extLst>
              </a:tr>
              <a:tr h="418748">
                <a:tc>
                  <a:txBody>
                    <a:bodyPr/>
                    <a:lstStyle/>
                    <a:p>
                      <a:pPr marL="0" marR="0" lvl="0" indent="0" algn="l" rtl="0">
                        <a:lnSpc>
                          <a:spcPct val="100000"/>
                        </a:lnSpc>
                        <a:spcBef>
                          <a:spcPts val="0"/>
                        </a:spcBef>
                        <a:spcAft>
                          <a:spcPts val="0"/>
                        </a:spcAft>
                        <a:buNone/>
                      </a:pPr>
                      <a:r>
                        <a:rPr lang="en-US" sz="1500" u="none" strike="noStrike" cap="none" dirty="0"/>
                        <a:t>Overheated</a:t>
                      </a:r>
                      <a:endParaRPr sz="1500" u="none" strike="noStrike" cap="none" dirty="0"/>
                    </a:p>
                  </a:txBody>
                  <a:tcPr marL="193280" marR="193280" marT="96640" marB="96640"/>
                </a:tc>
                <a:tc>
                  <a:txBody>
                    <a:bodyPr/>
                    <a:lstStyle/>
                    <a:p>
                      <a:pPr marL="0" marR="0" lvl="0" indent="0" algn="l" rtl="0">
                        <a:lnSpc>
                          <a:spcPct val="100000"/>
                        </a:lnSpc>
                        <a:spcBef>
                          <a:spcPts val="0"/>
                        </a:spcBef>
                        <a:spcAft>
                          <a:spcPts val="0"/>
                        </a:spcAft>
                        <a:buNone/>
                      </a:pPr>
                      <a:r>
                        <a:rPr lang="en-US" sz="1500" u="none" strike="noStrike" cap="none" dirty="0"/>
                        <a:t>-</a:t>
                      </a:r>
                      <a:endParaRPr sz="1500" u="none" strike="noStrike" cap="none" dirty="0"/>
                    </a:p>
                  </a:txBody>
                  <a:tcPr marL="193280" marR="193280" marT="96640" marB="96640"/>
                </a:tc>
                <a:extLst>
                  <a:ext uri="{0D108BD9-81ED-4DB2-BD59-A6C34878D82A}">
                    <a16:rowId xmlns:a16="http://schemas.microsoft.com/office/drawing/2014/main" val="10003"/>
                  </a:ext>
                </a:extLst>
              </a:tr>
            </a:tbl>
          </a:graphicData>
        </a:graphic>
      </p:graphicFrame>
      <p:sp>
        <p:nvSpPr>
          <p:cNvPr id="1096" name="Google Shape;1096;p26"/>
          <p:cNvSpPr txBox="1"/>
          <p:nvPr/>
        </p:nvSpPr>
        <p:spPr>
          <a:xfrm>
            <a:off x="1681910" y="4293585"/>
            <a:ext cx="880073" cy="650442"/>
          </a:xfrm>
          <a:prstGeom prst="rect">
            <a:avLst/>
          </a:prstGeom>
          <a:noFill/>
          <a:ln>
            <a:noFill/>
          </a:ln>
        </p:spPr>
        <p:txBody>
          <a:bodyPr spcFirstLastPara="1" wrap="square" lIns="193227" tIns="96587" rIns="193227" bIns="96587" anchor="t" anchorCtr="0">
            <a:spAutoFit/>
          </a:bodyPr>
          <a:lstStyle/>
          <a:p>
            <a:r>
              <a:rPr lang="en-US" sz="2959" b="1">
                <a:solidFill>
                  <a:schemeClr val="dk1"/>
                </a:solidFill>
                <a:latin typeface="Arial"/>
                <a:ea typeface="Arial"/>
                <a:cs typeface="Arial"/>
                <a:sym typeface="Arial"/>
              </a:rPr>
              <a:t>π</a:t>
            </a:r>
            <a:r>
              <a:rPr lang="en-US" sz="2959" b="1" baseline="-25000">
                <a:solidFill>
                  <a:schemeClr val="dk1"/>
                </a:solidFill>
                <a:latin typeface="Arial"/>
                <a:ea typeface="Arial"/>
                <a:cs typeface="Arial"/>
                <a:sym typeface="Arial"/>
              </a:rPr>
              <a:t>1</a:t>
            </a:r>
            <a:endParaRPr sz="2959" b="1" baseline="-25000">
              <a:solidFill>
                <a:schemeClr val="dk1"/>
              </a:solidFill>
              <a:latin typeface="Arial"/>
              <a:ea typeface="Arial"/>
              <a:cs typeface="Arial"/>
              <a:sym typeface="Arial"/>
            </a:endParaRPr>
          </a:p>
        </p:txBody>
      </p:sp>
      <p:sp>
        <p:nvSpPr>
          <p:cNvPr id="1097" name="Google Shape;1097;p26"/>
          <p:cNvSpPr txBox="1"/>
          <p:nvPr/>
        </p:nvSpPr>
        <p:spPr>
          <a:xfrm>
            <a:off x="4790198" y="1336714"/>
            <a:ext cx="3299495" cy="455260"/>
          </a:xfrm>
          <a:prstGeom prst="rect">
            <a:avLst/>
          </a:prstGeom>
          <a:noFill/>
          <a:ln>
            <a:noFill/>
          </a:ln>
        </p:spPr>
        <p:txBody>
          <a:bodyPr spcFirstLastPara="1" wrap="square" lIns="193227" tIns="96587" rIns="193227" bIns="96587" anchor="t" anchorCtr="0">
            <a:spAutoFit/>
          </a:bodyPr>
          <a:lstStyle/>
          <a:p>
            <a:r>
              <a:rPr lang="en-US" sz="1691" b="1">
                <a:solidFill>
                  <a:schemeClr val="dk1"/>
                </a:solidFill>
                <a:latin typeface="Arial"/>
                <a:ea typeface="Arial"/>
                <a:cs typeface="Arial"/>
                <a:sym typeface="Arial"/>
              </a:rPr>
              <a:t>Go Slow	              Go Fast</a:t>
            </a:r>
            <a:endParaRPr sz="1691" b="1">
              <a:solidFill>
                <a:schemeClr val="dk1"/>
              </a:solidFill>
              <a:latin typeface="Arial"/>
              <a:ea typeface="Arial"/>
              <a:cs typeface="Arial"/>
              <a:sym typeface="Arial"/>
            </a:endParaRPr>
          </a:p>
        </p:txBody>
      </p:sp>
      <p:sp>
        <p:nvSpPr>
          <p:cNvPr id="2" name="Footer">
            <a:extLst>
              <a:ext uri="{FF2B5EF4-FFF2-40B4-BE49-F238E27FC236}">
                <a16:creationId xmlns:a16="http://schemas.microsoft.com/office/drawing/2014/main" id="{37705294-7DE8-927C-33AD-46BF567E51F9}"/>
              </a:ext>
            </a:extLst>
          </p:cNvPr>
          <p:cNvSpPr txBox="1">
            <a:spLocks/>
          </p:cNvSpPr>
          <p:nvPr/>
        </p:nvSpPr>
        <p:spPr>
          <a:xfrm>
            <a:off x="3077863" y="6550151"/>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9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9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095"/>
                                        </p:tgtEl>
                                        <p:attrNameLst>
                                          <p:attrName>style.visibility</p:attrName>
                                        </p:attrNameLst>
                                      </p:cBhvr>
                                      <p:to>
                                        <p:strVal val="visible"/>
                                      </p:to>
                                    </p:set>
                                    <p:animEffect transition="in" filter="fade">
                                      <p:cBhvr>
                                        <p:cTn id="15" dur="500"/>
                                        <p:tgtEl>
                                          <p:spTgt spid="10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p27"/>
          <p:cNvSpPr txBox="1">
            <a:spLocks noGrp="1"/>
          </p:cNvSpPr>
          <p:nvPr>
            <p:ph type="title"/>
          </p:nvPr>
        </p:nvSpPr>
        <p:spPr>
          <a:xfrm>
            <a:off x="177559" y="231525"/>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 – Policy Iteration</a:t>
            </a:r>
            <a:endParaRPr/>
          </a:p>
        </p:txBody>
      </p:sp>
      <p:sp>
        <p:nvSpPr>
          <p:cNvPr id="1103" name="Google Shape;1103;p27"/>
          <p:cNvSpPr/>
          <p:nvPr/>
        </p:nvSpPr>
        <p:spPr>
          <a:xfrm>
            <a:off x="11044484" y="1148949"/>
            <a:ext cx="0" cy="88480"/>
          </a:xfrm>
          <a:custGeom>
            <a:avLst/>
            <a:gdLst/>
            <a:ahLst/>
            <a:cxnLst/>
            <a:rect l="l" t="t" r="r" b="b"/>
            <a:pathLst>
              <a:path w="120000" h="19050" extrusionOk="0">
                <a:moveTo>
                  <a:pt x="0" y="19049"/>
                </a:moveTo>
                <a:lnTo>
                  <a:pt x="0" y="0"/>
                </a:lnTo>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nvGrpSpPr>
          <p:cNvPr id="1104" name="Google Shape;1104;p27"/>
          <p:cNvGrpSpPr/>
          <p:nvPr/>
        </p:nvGrpSpPr>
        <p:grpSpPr>
          <a:xfrm>
            <a:off x="2983" y="6571410"/>
            <a:ext cx="12174329" cy="194601"/>
            <a:chOff x="0" y="3109250"/>
            <a:chExt cx="5760261" cy="92075"/>
          </a:xfrm>
        </p:grpSpPr>
        <p:sp>
          <p:nvSpPr>
            <p:cNvPr id="1105" name="Google Shape;1105;p27"/>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1106" name="Google Shape;1106;p27"/>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1107" name="Google Shape;1107;p27"/>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1109" name="Google Shape;1109;p27"/>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37</a:t>
            </a:fld>
            <a:r>
              <a:rPr lang="en-US"/>
              <a:t> / 46</a:t>
            </a:r>
            <a:endParaRPr/>
          </a:p>
        </p:txBody>
      </p:sp>
      <p:pic>
        <p:nvPicPr>
          <p:cNvPr id="1110" name="Google Shape;1110;p27" descr="TP_tmp.png"/>
          <p:cNvPicPr preferRelativeResize="0"/>
          <p:nvPr/>
        </p:nvPicPr>
        <p:blipFill rotWithShape="1">
          <a:blip r:embed="rId3">
            <a:alphaModFix/>
          </a:blip>
          <a:srcRect/>
          <a:stretch/>
        </p:blipFill>
        <p:spPr>
          <a:xfrm>
            <a:off x="364607" y="1756415"/>
            <a:ext cx="203949" cy="322518"/>
          </a:xfrm>
          <a:prstGeom prst="rect">
            <a:avLst/>
          </a:prstGeom>
          <a:noFill/>
          <a:ln>
            <a:noFill/>
          </a:ln>
        </p:spPr>
      </p:pic>
      <p:pic>
        <p:nvPicPr>
          <p:cNvPr id="1111" name="Google Shape;1111;p27"/>
          <p:cNvPicPr preferRelativeResize="0"/>
          <p:nvPr/>
        </p:nvPicPr>
        <p:blipFill rotWithShape="1">
          <a:blip r:embed="rId4">
            <a:alphaModFix/>
          </a:blip>
          <a:srcRect/>
          <a:stretch/>
        </p:blipFill>
        <p:spPr>
          <a:xfrm>
            <a:off x="1123247" y="1115162"/>
            <a:ext cx="535435" cy="556722"/>
          </a:xfrm>
          <a:prstGeom prst="rect">
            <a:avLst/>
          </a:prstGeom>
          <a:noFill/>
          <a:ln>
            <a:noFill/>
          </a:ln>
        </p:spPr>
      </p:pic>
      <p:pic>
        <p:nvPicPr>
          <p:cNvPr id="1112" name="Google Shape;1112;p27"/>
          <p:cNvPicPr preferRelativeResize="0"/>
          <p:nvPr/>
        </p:nvPicPr>
        <p:blipFill rotWithShape="1">
          <a:blip r:embed="rId5">
            <a:alphaModFix/>
          </a:blip>
          <a:srcRect/>
          <a:stretch/>
        </p:blipFill>
        <p:spPr>
          <a:xfrm>
            <a:off x="2509775" y="1035634"/>
            <a:ext cx="568088" cy="636251"/>
          </a:xfrm>
          <a:prstGeom prst="rect">
            <a:avLst/>
          </a:prstGeom>
          <a:noFill/>
          <a:ln>
            <a:noFill/>
          </a:ln>
        </p:spPr>
      </p:pic>
      <p:pic>
        <p:nvPicPr>
          <p:cNvPr id="1113" name="Google Shape;1113;p27"/>
          <p:cNvPicPr preferRelativeResize="0"/>
          <p:nvPr/>
        </p:nvPicPr>
        <p:blipFill rotWithShape="1">
          <a:blip r:embed="rId6">
            <a:alphaModFix/>
          </a:blip>
          <a:srcRect/>
          <a:stretch/>
        </p:blipFill>
        <p:spPr>
          <a:xfrm>
            <a:off x="1821735" y="1077450"/>
            <a:ext cx="585286" cy="583232"/>
          </a:xfrm>
          <a:prstGeom prst="rect">
            <a:avLst/>
          </a:prstGeom>
          <a:noFill/>
          <a:ln>
            <a:noFill/>
          </a:ln>
        </p:spPr>
      </p:pic>
      <p:sp>
        <p:nvSpPr>
          <p:cNvPr id="1114" name="Google Shape;1114;p27"/>
          <p:cNvSpPr/>
          <p:nvPr/>
        </p:nvSpPr>
        <p:spPr>
          <a:xfrm>
            <a:off x="657828" y="3005348"/>
            <a:ext cx="2928770" cy="414399"/>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1115" name="Google Shape;1115;p27"/>
          <p:cNvSpPr/>
          <p:nvPr/>
        </p:nvSpPr>
        <p:spPr>
          <a:xfrm>
            <a:off x="690038" y="2276822"/>
            <a:ext cx="2928770" cy="455253"/>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sp>
        <p:nvSpPr>
          <p:cNvPr id="1116" name="Google Shape;1116;p27"/>
          <p:cNvSpPr/>
          <p:nvPr/>
        </p:nvSpPr>
        <p:spPr>
          <a:xfrm>
            <a:off x="696040" y="1667731"/>
            <a:ext cx="2928770" cy="455257"/>
          </a:xfrm>
          <a:prstGeom prst="roundRect">
            <a:avLst>
              <a:gd name="adj" fmla="val 16667"/>
            </a:avLst>
          </a:prstGeom>
          <a:noFill/>
          <a:ln w="12700" cap="flat" cmpd="sng">
            <a:solidFill>
              <a:schemeClr val="dk1"/>
            </a:solidFill>
            <a:prstDash val="solid"/>
            <a:miter lim="800000"/>
            <a:headEnd type="none" w="sm" len="sm"/>
            <a:tailEnd type="none" w="sm" len="sm"/>
          </a:ln>
        </p:spPr>
        <p:txBody>
          <a:bodyPr spcFirstLastPara="1" wrap="square" lIns="193227" tIns="96587" rIns="193227" bIns="96587" anchor="ctr" anchorCtr="0">
            <a:noAutofit/>
          </a:bodyPr>
          <a:lstStyle/>
          <a:p>
            <a:pPr algn="ctr">
              <a:buClr>
                <a:srgbClr val="000000"/>
              </a:buClr>
              <a:buSzPts val="1800"/>
            </a:pPr>
            <a:endParaRPr sz="1057">
              <a:solidFill>
                <a:schemeClr val="lt1"/>
              </a:solidFill>
              <a:latin typeface="Calibri"/>
              <a:ea typeface="Calibri"/>
              <a:cs typeface="Calibri"/>
              <a:sym typeface="Calibri"/>
            </a:endParaRPr>
          </a:p>
        </p:txBody>
      </p:sp>
      <p:pic>
        <p:nvPicPr>
          <p:cNvPr id="1117" name="Google Shape;1117;p27" descr="TP_tmp.png"/>
          <p:cNvPicPr preferRelativeResize="0"/>
          <p:nvPr/>
        </p:nvPicPr>
        <p:blipFill rotWithShape="1">
          <a:blip r:embed="rId7">
            <a:alphaModFix/>
          </a:blip>
          <a:srcRect/>
          <a:stretch/>
        </p:blipFill>
        <p:spPr>
          <a:xfrm>
            <a:off x="346553" y="2375833"/>
            <a:ext cx="183630" cy="323298"/>
          </a:xfrm>
          <a:prstGeom prst="rect">
            <a:avLst/>
          </a:prstGeom>
          <a:noFill/>
          <a:ln>
            <a:noFill/>
          </a:ln>
        </p:spPr>
      </p:pic>
      <p:pic>
        <p:nvPicPr>
          <p:cNvPr id="1118" name="Google Shape;1118;p27" descr="TP_tmp.png"/>
          <p:cNvPicPr preferRelativeResize="0"/>
          <p:nvPr/>
        </p:nvPicPr>
        <p:blipFill rotWithShape="1">
          <a:blip r:embed="rId8">
            <a:alphaModFix/>
          </a:blip>
          <a:srcRect/>
          <a:stretch/>
        </p:blipFill>
        <p:spPr>
          <a:xfrm>
            <a:off x="353872" y="3017816"/>
            <a:ext cx="204441" cy="323298"/>
          </a:xfrm>
          <a:prstGeom prst="rect">
            <a:avLst/>
          </a:prstGeom>
          <a:noFill/>
          <a:ln>
            <a:noFill/>
          </a:ln>
        </p:spPr>
      </p:pic>
      <p:sp>
        <p:nvSpPr>
          <p:cNvPr id="1119" name="Google Shape;1119;p27"/>
          <p:cNvSpPr txBox="1"/>
          <p:nvPr/>
        </p:nvSpPr>
        <p:spPr>
          <a:xfrm>
            <a:off x="909251" y="1667734"/>
            <a:ext cx="2813104" cy="455260"/>
          </a:xfrm>
          <a:prstGeom prst="rect">
            <a:avLst/>
          </a:prstGeom>
          <a:noFill/>
          <a:ln>
            <a:noFill/>
          </a:ln>
        </p:spPr>
        <p:txBody>
          <a:bodyPr spcFirstLastPara="1" wrap="square" lIns="193227" tIns="96587" rIns="193227" bIns="96587" anchor="t" anchorCtr="0">
            <a:spAutoFit/>
          </a:bodyPr>
          <a:lstStyle/>
          <a:p>
            <a:pPr>
              <a:buClr>
                <a:srgbClr val="000000"/>
              </a:buClr>
              <a:buSzPts val="2800"/>
            </a:pPr>
            <a:r>
              <a:rPr lang="en-US" sz="1691">
                <a:solidFill>
                  <a:srgbClr val="FF0000"/>
                </a:solidFill>
                <a:latin typeface="Calibri"/>
                <a:ea typeface="Calibri"/>
                <a:cs typeface="Calibri"/>
                <a:sym typeface="Calibri"/>
              </a:rPr>
              <a:t>  10             10             0 ……..</a:t>
            </a:r>
            <a:endParaRPr sz="634">
              <a:solidFill>
                <a:srgbClr val="FF0000"/>
              </a:solidFill>
              <a:latin typeface="Arial"/>
              <a:ea typeface="Arial"/>
              <a:cs typeface="Arial"/>
              <a:sym typeface="Arial"/>
            </a:endParaRPr>
          </a:p>
        </p:txBody>
      </p:sp>
      <p:pic>
        <p:nvPicPr>
          <p:cNvPr id="1120" name="Google Shape;1120;p27"/>
          <p:cNvPicPr preferRelativeResize="0"/>
          <p:nvPr/>
        </p:nvPicPr>
        <p:blipFill rotWithShape="1">
          <a:blip r:embed="rId9">
            <a:alphaModFix/>
          </a:blip>
          <a:srcRect/>
          <a:stretch/>
        </p:blipFill>
        <p:spPr>
          <a:xfrm>
            <a:off x="7217220" y="3254172"/>
            <a:ext cx="4960091" cy="3006946"/>
          </a:xfrm>
          <a:prstGeom prst="rect">
            <a:avLst/>
          </a:prstGeom>
          <a:noFill/>
          <a:ln>
            <a:noFill/>
          </a:ln>
        </p:spPr>
      </p:pic>
      <p:sp>
        <p:nvSpPr>
          <p:cNvPr id="1121" name="Google Shape;1121;p27"/>
          <p:cNvSpPr/>
          <p:nvPr/>
        </p:nvSpPr>
        <p:spPr>
          <a:xfrm>
            <a:off x="6050456" y="841601"/>
            <a:ext cx="778978" cy="512157"/>
          </a:xfrm>
          <a:prstGeom prst="triangle">
            <a:avLst>
              <a:gd name="adj" fmla="val 50000"/>
            </a:avLst>
          </a:prstGeom>
          <a:blipFill rotWithShape="1">
            <a:blip r:embed="rId10">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1122" name="Google Shape;1122;p27"/>
          <p:cNvSpPr/>
          <p:nvPr/>
        </p:nvSpPr>
        <p:spPr>
          <a:xfrm>
            <a:off x="6892541" y="1813470"/>
            <a:ext cx="625462" cy="437850"/>
          </a:xfrm>
          <a:prstGeom prst="ellipse">
            <a:avLst/>
          </a:prstGeom>
          <a:blipFill rotWithShape="1">
            <a:blip r:embed="rId11">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1123" name="Google Shape;1123;p27"/>
          <p:cNvSpPr/>
          <p:nvPr/>
        </p:nvSpPr>
        <p:spPr>
          <a:xfrm>
            <a:off x="5047781" y="1829569"/>
            <a:ext cx="625462" cy="437850"/>
          </a:xfrm>
          <a:prstGeom prst="ellipse">
            <a:avLst/>
          </a:prstGeom>
          <a:blipFill rotWithShape="1">
            <a:blip r:embed="rId12">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endParaRPr sz="2959">
              <a:solidFill>
                <a:srgbClr val="000000"/>
              </a:solidFill>
              <a:latin typeface="Arial"/>
              <a:ea typeface="Arial"/>
              <a:cs typeface="Arial"/>
              <a:sym typeface="Arial"/>
            </a:endParaRPr>
          </a:p>
        </p:txBody>
      </p:sp>
      <p:sp>
        <p:nvSpPr>
          <p:cNvPr id="1124" name="Google Shape;1124;p27"/>
          <p:cNvSpPr/>
          <p:nvPr/>
        </p:nvSpPr>
        <p:spPr>
          <a:xfrm>
            <a:off x="4725108" y="2628430"/>
            <a:ext cx="590200" cy="417406"/>
          </a:xfrm>
          <a:prstGeom prst="rect">
            <a:avLst/>
          </a:prstGeom>
          <a:blipFill rotWithShape="1">
            <a:blip r:embed="rId13">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1125" name="Google Shape;1125;p27"/>
          <p:cNvSpPr/>
          <p:nvPr/>
        </p:nvSpPr>
        <p:spPr>
          <a:xfrm>
            <a:off x="6425087" y="2628427"/>
            <a:ext cx="590200" cy="417406"/>
          </a:xfrm>
          <a:prstGeom prst="rect">
            <a:avLst/>
          </a:prstGeom>
          <a:blipFill rotWithShape="1">
            <a:blip r:embed="rId14">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sp>
        <p:nvSpPr>
          <p:cNvPr id="1126" name="Google Shape;1126;p27"/>
          <p:cNvSpPr/>
          <p:nvPr/>
        </p:nvSpPr>
        <p:spPr>
          <a:xfrm>
            <a:off x="7633305" y="2635890"/>
            <a:ext cx="590200" cy="417406"/>
          </a:xfrm>
          <a:prstGeom prst="rect">
            <a:avLst/>
          </a:prstGeom>
          <a:blipFill rotWithShape="1">
            <a:blip r:embed="rId15">
              <a:alphaModFix/>
            </a:blip>
            <a:stretch>
              <a:fillRect/>
            </a:stretch>
          </a:blipFill>
          <a:ln w="9525" cap="flat" cmpd="sng">
            <a:solidFill>
              <a:schemeClr val="dk1"/>
            </a:solidFill>
            <a:prstDash val="solid"/>
            <a:round/>
            <a:headEnd type="none" w="sm" len="sm"/>
            <a:tailEnd type="none" w="sm" len="sm"/>
          </a:ln>
        </p:spPr>
        <p:txBody>
          <a:bodyPr spcFirstLastPara="1" wrap="square" lIns="193227" tIns="96587" rIns="193227" bIns="96587" anchor="t" anchorCtr="0">
            <a:noAutofit/>
          </a:bodyPr>
          <a:lstStyle/>
          <a:p>
            <a:pPr>
              <a:buClr>
                <a:srgbClr val="000000"/>
              </a:buClr>
              <a:buSzPts val="1800"/>
            </a:pPr>
            <a:r>
              <a:rPr lang="en-US" sz="3804">
                <a:solidFill>
                  <a:srgbClr val="000000"/>
                </a:solidFill>
                <a:latin typeface="Calibri"/>
                <a:ea typeface="Calibri"/>
                <a:cs typeface="Calibri"/>
                <a:sym typeface="Calibri"/>
              </a:rPr>
              <a:t> </a:t>
            </a:r>
            <a:endParaRPr sz="2959">
              <a:solidFill>
                <a:srgbClr val="000000"/>
              </a:solidFill>
              <a:latin typeface="Arial"/>
              <a:ea typeface="Arial"/>
              <a:cs typeface="Arial"/>
              <a:sym typeface="Arial"/>
            </a:endParaRPr>
          </a:p>
        </p:txBody>
      </p:sp>
      <p:cxnSp>
        <p:nvCxnSpPr>
          <p:cNvPr id="1127" name="Google Shape;1127;p27"/>
          <p:cNvCxnSpPr>
            <a:stCxn id="1121" idx="3"/>
            <a:endCxn id="1123" idx="7"/>
          </p:cNvCxnSpPr>
          <p:nvPr/>
        </p:nvCxnSpPr>
        <p:spPr>
          <a:xfrm flipH="1">
            <a:off x="5581440" y="1353758"/>
            <a:ext cx="858505" cy="540211"/>
          </a:xfrm>
          <a:prstGeom prst="straightConnector1">
            <a:avLst/>
          </a:prstGeom>
          <a:noFill/>
          <a:ln w="9525" cap="flat" cmpd="sng">
            <a:solidFill>
              <a:schemeClr val="dk1"/>
            </a:solidFill>
            <a:prstDash val="solid"/>
            <a:miter lim="800000"/>
            <a:headEnd type="none" w="sm" len="sm"/>
            <a:tailEnd type="triangle" w="med" len="med"/>
          </a:ln>
        </p:spPr>
      </p:cxnSp>
      <p:cxnSp>
        <p:nvCxnSpPr>
          <p:cNvPr id="1128" name="Google Shape;1128;p27"/>
          <p:cNvCxnSpPr>
            <a:stCxn id="1121" idx="3"/>
            <a:endCxn id="1122" idx="1"/>
          </p:cNvCxnSpPr>
          <p:nvPr/>
        </p:nvCxnSpPr>
        <p:spPr>
          <a:xfrm>
            <a:off x="6439945" y="1353758"/>
            <a:ext cx="544016" cy="523726"/>
          </a:xfrm>
          <a:prstGeom prst="straightConnector1">
            <a:avLst/>
          </a:prstGeom>
          <a:noFill/>
          <a:ln w="9525" cap="flat" cmpd="sng">
            <a:solidFill>
              <a:schemeClr val="dk1"/>
            </a:solidFill>
            <a:prstDash val="solid"/>
            <a:miter lim="800000"/>
            <a:headEnd type="none" w="sm" len="sm"/>
            <a:tailEnd type="triangle" w="med" len="med"/>
          </a:ln>
        </p:spPr>
      </p:cxnSp>
      <p:cxnSp>
        <p:nvCxnSpPr>
          <p:cNvPr id="1129" name="Google Shape;1129;p27"/>
          <p:cNvCxnSpPr>
            <a:stCxn id="1123" idx="4"/>
            <a:endCxn id="1124" idx="0"/>
          </p:cNvCxnSpPr>
          <p:nvPr/>
        </p:nvCxnSpPr>
        <p:spPr>
          <a:xfrm flipH="1">
            <a:off x="5020026" y="2267419"/>
            <a:ext cx="340485" cy="360775"/>
          </a:xfrm>
          <a:prstGeom prst="straightConnector1">
            <a:avLst/>
          </a:prstGeom>
          <a:noFill/>
          <a:ln w="9525" cap="flat" cmpd="sng">
            <a:solidFill>
              <a:schemeClr val="dk1"/>
            </a:solidFill>
            <a:prstDash val="solid"/>
            <a:miter lim="800000"/>
            <a:headEnd type="none" w="sm" len="sm"/>
            <a:tailEnd type="triangle" w="med" len="med"/>
          </a:ln>
        </p:spPr>
      </p:cxnSp>
      <p:cxnSp>
        <p:nvCxnSpPr>
          <p:cNvPr id="1130" name="Google Shape;1130;p27"/>
          <p:cNvCxnSpPr>
            <a:stCxn id="1122" idx="4"/>
            <a:endCxn id="1126" idx="0"/>
          </p:cNvCxnSpPr>
          <p:nvPr/>
        </p:nvCxnSpPr>
        <p:spPr>
          <a:xfrm>
            <a:off x="7205272" y="2251320"/>
            <a:ext cx="722818" cy="384869"/>
          </a:xfrm>
          <a:prstGeom prst="straightConnector1">
            <a:avLst/>
          </a:prstGeom>
          <a:noFill/>
          <a:ln w="9525" cap="flat" cmpd="sng">
            <a:solidFill>
              <a:schemeClr val="dk1"/>
            </a:solidFill>
            <a:prstDash val="solid"/>
            <a:miter lim="800000"/>
            <a:headEnd type="none" w="sm" len="sm"/>
            <a:tailEnd type="triangle" w="med" len="med"/>
          </a:ln>
        </p:spPr>
      </p:cxnSp>
      <p:cxnSp>
        <p:nvCxnSpPr>
          <p:cNvPr id="1131" name="Google Shape;1131;p27"/>
          <p:cNvCxnSpPr>
            <a:stCxn id="1122" idx="4"/>
            <a:endCxn id="1125" idx="0"/>
          </p:cNvCxnSpPr>
          <p:nvPr/>
        </p:nvCxnSpPr>
        <p:spPr>
          <a:xfrm flipH="1">
            <a:off x="6720223" y="2251320"/>
            <a:ext cx="485049" cy="377260"/>
          </a:xfrm>
          <a:prstGeom prst="straightConnector1">
            <a:avLst/>
          </a:prstGeom>
          <a:noFill/>
          <a:ln w="9525" cap="flat" cmpd="sng">
            <a:solidFill>
              <a:schemeClr val="dk1"/>
            </a:solidFill>
            <a:prstDash val="solid"/>
            <a:miter lim="800000"/>
            <a:headEnd type="none" w="sm" len="sm"/>
            <a:tailEnd type="triangle" w="med" len="med"/>
          </a:ln>
        </p:spPr>
      </p:cxnSp>
      <p:cxnSp>
        <p:nvCxnSpPr>
          <p:cNvPr id="1132" name="Google Shape;1132;p27"/>
          <p:cNvCxnSpPr/>
          <p:nvPr/>
        </p:nvCxnSpPr>
        <p:spPr>
          <a:xfrm flipH="1">
            <a:off x="4851542" y="3045832"/>
            <a:ext cx="158880" cy="452015"/>
          </a:xfrm>
          <a:prstGeom prst="straightConnector1">
            <a:avLst/>
          </a:prstGeom>
          <a:noFill/>
          <a:ln w="19050" cap="flat" cmpd="sng">
            <a:solidFill>
              <a:schemeClr val="dk1"/>
            </a:solidFill>
            <a:prstDash val="dash"/>
            <a:miter lim="800000"/>
            <a:headEnd type="none" w="sm" len="sm"/>
            <a:tailEnd type="triangle" w="med" len="med"/>
          </a:ln>
        </p:spPr>
      </p:cxnSp>
      <p:cxnSp>
        <p:nvCxnSpPr>
          <p:cNvPr id="1133" name="Google Shape;1133;p27"/>
          <p:cNvCxnSpPr/>
          <p:nvPr/>
        </p:nvCxnSpPr>
        <p:spPr>
          <a:xfrm flipH="1">
            <a:off x="6543567" y="3033158"/>
            <a:ext cx="183589" cy="433112"/>
          </a:xfrm>
          <a:prstGeom prst="straightConnector1">
            <a:avLst/>
          </a:prstGeom>
          <a:noFill/>
          <a:ln w="19050" cap="flat" cmpd="sng">
            <a:solidFill>
              <a:schemeClr val="dk1"/>
            </a:solidFill>
            <a:prstDash val="dash"/>
            <a:miter lim="800000"/>
            <a:headEnd type="none" w="sm" len="sm"/>
            <a:tailEnd type="triangle" w="med" len="med"/>
          </a:ln>
        </p:spPr>
      </p:cxnSp>
      <p:cxnSp>
        <p:nvCxnSpPr>
          <p:cNvPr id="1134" name="Google Shape;1134;p27"/>
          <p:cNvCxnSpPr/>
          <p:nvPr/>
        </p:nvCxnSpPr>
        <p:spPr>
          <a:xfrm flipH="1">
            <a:off x="7828110" y="3073739"/>
            <a:ext cx="41034" cy="424108"/>
          </a:xfrm>
          <a:prstGeom prst="straightConnector1">
            <a:avLst/>
          </a:prstGeom>
          <a:noFill/>
          <a:ln w="19050" cap="flat" cmpd="sng">
            <a:solidFill>
              <a:schemeClr val="dk1"/>
            </a:solidFill>
            <a:prstDash val="dash"/>
            <a:miter lim="800000"/>
            <a:headEnd type="none" w="sm" len="sm"/>
            <a:tailEnd type="triangle" w="med" len="med"/>
          </a:ln>
        </p:spPr>
      </p:cxnSp>
      <p:cxnSp>
        <p:nvCxnSpPr>
          <p:cNvPr id="1135" name="Google Shape;1135;p27"/>
          <p:cNvCxnSpPr/>
          <p:nvPr/>
        </p:nvCxnSpPr>
        <p:spPr>
          <a:xfrm>
            <a:off x="7925654" y="3086515"/>
            <a:ext cx="433553" cy="379754"/>
          </a:xfrm>
          <a:prstGeom prst="straightConnector1">
            <a:avLst/>
          </a:prstGeom>
          <a:noFill/>
          <a:ln w="19050" cap="flat" cmpd="sng">
            <a:solidFill>
              <a:schemeClr val="dk1"/>
            </a:solidFill>
            <a:prstDash val="dash"/>
            <a:miter lim="800000"/>
            <a:headEnd type="none" w="sm" len="sm"/>
            <a:tailEnd type="triangle" w="med" len="med"/>
          </a:ln>
        </p:spPr>
      </p:cxnSp>
      <p:cxnSp>
        <p:nvCxnSpPr>
          <p:cNvPr id="1136" name="Google Shape;1136;p27"/>
          <p:cNvCxnSpPr/>
          <p:nvPr/>
        </p:nvCxnSpPr>
        <p:spPr>
          <a:xfrm>
            <a:off x="6785608" y="3026279"/>
            <a:ext cx="309685" cy="439991"/>
          </a:xfrm>
          <a:prstGeom prst="straightConnector1">
            <a:avLst/>
          </a:prstGeom>
          <a:noFill/>
          <a:ln w="19050" cap="flat" cmpd="sng">
            <a:solidFill>
              <a:schemeClr val="dk1"/>
            </a:solidFill>
            <a:prstDash val="dash"/>
            <a:miter lim="800000"/>
            <a:headEnd type="none" w="sm" len="sm"/>
            <a:tailEnd type="triangle" w="med" len="med"/>
          </a:ln>
        </p:spPr>
      </p:cxnSp>
      <p:cxnSp>
        <p:nvCxnSpPr>
          <p:cNvPr id="1137" name="Google Shape;1137;p27"/>
          <p:cNvCxnSpPr/>
          <p:nvPr/>
        </p:nvCxnSpPr>
        <p:spPr>
          <a:xfrm>
            <a:off x="5065488" y="3045832"/>
            <a:ext cx="336093" cy="452015"/>
          </a:xfrm>
          <a:prstGeom prst="straightConnector1">
            <a:avLst/>
          </a:prstGeom>
          <a:noFill/>
          <a:ln w="19050" cap="flat" cmpd="sng">
            <a:solidFill>
              <a:schemeClr val="dk1"/>
            </a:solidFill>
            <a:prstDash val="dash"/>
            <a:miter lim="800000"/>
            <a:headEnd type="none" w="sm" len="sm"/>
            <a:tailEnd type="triangle" w="med" len="med"/>
          </a:ln>
        </p:spPr>
      </p:cxnSp>
      <p:sp>
        <p:nvSpPr>
          <p:cNvPr id="1138" name="Google Shape;1138;p27"/>
          <p:cNvSpPr txBox="1"/>
          <p:nvPr/>
        </p:nvSpPr>
        <p:spPr>
          <a:xfrm>
            <a:off x="4551997" y="3695288"/>
            <a:ext cx="4926580" cy="455260"/>
          </a:xfrm>
          <a:prstGeom prst="rect">
            <a:avLst/>
          </a:prstGeom>
          <a:noFill/>
          <a:ln>
            <a:noFill/>
          </a:ln>
        </p:spPr>
        <p:txBody>
          <a:bodyPr spcFirstLastPara="1" wrap="square" lIns="193227" tIns="96587" rIns="193227" bIns="96587" anchor="t" anchorCtr="0">
            <a:spAutoFit/>
          </a:bodyPr>
          <a:lstStyle/>
          <a:p>
            <a:r>
              <a:rPr lang="en-US" sz="1691" b="1">
                <a:solidFill>
                  <a:srgbClr val="00B050"/>
                </a:solidFill>
                <a:latin typeface="Arial"/>
                <a:ea typeface="Arial"/>
                <a:cs typeface="Arial"/>
                <a:sym typeface="Arial"/>
              </a:rPr>
              <a:t>   1.0                        0.5               0.5</a:t>
            </a:r>
            <a:endParaRPr sz="1691" b="1">
              <a:solidFill>
                <a:srgbClr val="00B050"/>
              </a:solidFill>
              <a:latin typeface="Arial"/>
              <a:ea typeface="Arial"/>
              <a:cs typeface="Arial"/>
              <a:sym typeface="Arial"/>
            </a:endParaRPr>
          </a:p>
        </p:txBody>
      </p:sp>
      <p:sp>
        <p:nvSpPr>
          <p:cNvPr id="1139" name="Google Shape;1139;p27"/>
          <p:cNvSpPr txBox="1"/>
          <p:nvPr/>
        </p:nvSpPr>
        <p:spPr>
          <a:xfrm>
            <a:off x="4725109" y="3419748"/>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+1                         +2                +2</a:t>
            </a:r>
            <a:endParaRPr sz="1691" b="1">
              <a:solidFill>
                <a:srgbClr val="C00000"/>
              </a:solidFill>
              <a:latin typeface="Arial"/>
              <a:ea typeface="Arial"/>
              <a:cs typeface="Arial"/>
              <a:sym typeface="Arial"/>
            </a:endParaRPr>
          </a:p>
        </p:txBody>
      </p:sp>
      <p:sp>
        <p:nvSpPr>
          <p:cNvPr id="1140" name="Google Shape;1140;p27"/>
          <p:cNvSpPr txBox="1"/>
          <p:nvPr/>
        </p:nvSpPr>
        <p:spPr>
          <a:xfrm>
            <a:off x="4458062" y="2178177"/>
            <a:ext cx="4538187"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	cool          warm</a:t>
            </a:r>
            <a:endParaRPr sz="1691" b="1">
              <a:solidFill>
                <a:srgbClr val="C00000"/>
              </a:solidFill>
              <a:latin typeface="Arial"/>
              <a:ea typeface="Arial"/>
              <a:cs typeface="Arial"/>
              <a:sym typeface="Arial"/>
            </a:endParaRPr>
          </a:p>
        </p:txBody>
      </p:sp>
      <p:sp>
        <p:nvSpPr>
          <p:cNvPr id="1141" name="Google Shape;1141;p27"/>
          <p:cNvSpPr txBox="1"/>
          <p:nvPr/>
        </p:nvSpPr>
        <p:spPr>
          <a:xfrm>
            <a:off x="5429049" y="877001"/>
            <a:ext cx="948196" cy="455260"/>
          </a:xfrm>
          <a:prstGeom prst="rect">
            <a:avLst/>
          </a:prstGeom>
          <a:noFill/>
          <a:ln>
            <a:noFill/>
          </a:ln>
        </p:spPr>
        <p:txBody>
          <a:bodyPr spcFirstLastPara="1" wrap="square" lIns="193227" tIns="96587" rIns="193227" bIns="96587" anchor="t" anchorCtr="0">
            <a:spAutoFit/>
          </a:bodyPr>
          <a:lstStyle/>
          <a:p>
            <a:r>
              <a:rPr lang="en-US" sz="1691" b="1">
                <a:solidFill>
                  <a:srgbClr val="C00000"/>
                </a:solidFill>
                <a:latin typeface="Arial"/>
                <a:ea typeface="Arial"/>
                <a:cs typeface="Arial"/>
                <a:sym typeface="Arial"/>
              </a:rPr>
              <a:t>Cool</a:t>
            </a:r>
            <a:endParaRPr sz="1691" b="1">
              <a:solidFill>
                <a:srgbClr val="C00000"/>
              </a:solidFill>
              <a:latin typeface="Arial"/>
              <a:ea typeface="Arial"/>
              <a:cs typeface="Arial"/>
              <a:sym typeface="Arial"/>
            </a:endParaRPr>
          </a:p>
        </p:txBody>
      </p:sp>
      <p:sp>
        <p:nvSpPr>
          <p:cNvPr id="1142" name="Google Shape;1142;p27"/>
          <p:cNvSpPr txBox="1"/>
          <p:nvPr/>
        </p:nvSpPr>
        <p:spPr>
          <a:xfrm>
            <a:off x="4790198" y="1336714"/>
            <a:ext cx="3299495" cy="455260"/>
          </a:xfrm>
          <a:prstGeom prst="rect">
            <a:avLst/>
          </a:prstGeom>
          <a:noFill/>
          <a:ln>
            <a:noFill/>
          </a:ln>
        </p:spPr>
        <p:txBody>
          <a:bodyPr spcFirstLastPara="1" wrap="square" lIns="193227" tIns="96587" rIns="193227" bIns="96587" anchor="t" anchorCtr="0">
            <a:spAutoFit/>
          </a:bodyPr>
          <a:lstStyle/>
          <a:p>
            <a:r>
              <a:rPr lang="en-US" sz="1691" b="1">
                <a:solidFill>
                  <a:schemeClr val="dk1"/>
                </a:solidFill>
                <a:latin typeface="Arial"/>
                <a:ea typeface="Arial"/>
                <a:cs typeface="Arial"/>
                <a:sym typeface="Arial"/>
              </a:rPr>
              <a:t>Go Slow	               Go Fast</a:t>
            </a:r>
            <a:endParaRPr sz="1691" b="1">
              <a:solidFill>
                <a:schemeClr val="dk1"/>
              </a:solidFill>
              <a:latin typeface="Arial"/>
              <a:ea typeface="Arial"/>
              <a:cs typeface="Arial"/>
              <a:sym typeface="Arial"/>
            </a:endParaRPr>
          </a:p>
        </p:txBody>
      </p:sp>
      <p:pic>
        <p:nvPicPr>
          <p:cNvPr id="1144" name="Google Shape;1144;p27"/>
          <p:cNvPicPr preferRelativeResize="0"/>
          <p:nvPr/>
        </p:nvPicPr>
        <p:blipFill rotWithShape="1">
          <a:blip r:embed="rId16">
            <a:alphaModFix/>
          </a:blip>
          <a:srcRect/>
          <a:stretch/>
        </p:blipFill>
        <p:spPr>
          <a:xfrm>
            <a:off x="8412950" y="174164"/>
            <a:ext cx="3801188" cy="2804468"/>
          </a:xfrm>
          <a:prstGeom prst="rect">
            <a:avLst/>
          </a:prstGeom>
          <a:noFill/>
          <a:ln>
            <a:noFill/>
          </a:ln>
        </p:spPr>
      </p:pic>
      <p:sp>
        <p:nvSpPr>
          <p:cNvPr id="1145" name="Google Shape;1145;p27"/>
          <p:cNvSpPr/>
          <p:nvPr/>
        </p:nvSpPr>
        <p:spPr>
          <a:xfrm>
            <a:off x="8053036" y="2788224"/>
            <a:ext cx="396569" cy="112734"/>
          </a:xfrm>
          <a:prstGeom prst="rightArrow">
            <a:avLst>
              <a:gd name="adj1" fmla="val 50000"/>
              <a:gd name="adj2" fmla="val 50000"/>
            </a:avLst>
          </a:prstGeom>
          <a:solidFill>
            <a:srgbClr val="E9A820"/>
          </a:solidFill>
          <a:ln w="25400" cap="flat" cmpd="sng">
            <a:solidFill>
              <a:srgbClr val="E9A820"/>
            </a:solidFill>
            <a:prstDash val="solid"/>
            <a:round/>
            <a:headEnd type="none" w="sm" len="sm"/>
            <a:tailEnd type="none" w="sm" len="sm"/>
          </a:ln>
        </p:spPr>
        <p:txBody>
          <a:bodyPr spcFirstLastPara="1" wrap="square" lIns="193227" tIns="96587" rIns="193227" bIns="96587" anchor="ctr" anchorCtr="0">
            <a:noAutofit/>
          </a:bodyPr>
          <a:lstStyle/>
          <a:p>
            <a:pPr algn="ctr"/>
            <a:endParaRPr sz="2959">
              <a:solidFill>
                <a:schemeClr val="lt1"/>
              </a:solidFill>
              <a:latin typeface="Arial"/>
              <a:ea typeface="Arial"/>
              <a:cs typeface="Arial"/>
              <a:sym typeface="Arial"/>
            </a:endParaRPr>
          </a:p>
        </p:txBody>
      </p:sp>
      <p:pic>
        <p:nvPicPr>
          <p:cNvPr id="1146" name="Google Shape;1146;p27"/>
          <p:cNvPicPr preferRelativeResize="0"/>
          <p:nvPr/>
        </p:nvPicPr>
        <p:blipFill rotWithShape="1">
          <a:blip r:embed="rId17">
            <a:alphaModFix/>
          </a:blip>
          <a:srcRect/>
          <a:stretch/>
        </p:blipFill>
        <p:spPr>
          <a:xfrm>
            <a:off x="10858343" y="546570"/>
            <a:ext cx="672728" cy="262364"/>
          </a:xfrm>
          <a:prstGeom prst="rect">
            <a:avLst/>
          </a:prstGeom>
          <a:noFill/>
          <a:ln>
            <a:noFill/>
          </a:ln>
        </p:spPr>
      </p:pic>
      <p:sp>
        <p:nvSpPr>
          <p:cNvPr id="1147" name="Google Shape;1147;p27"/>
          <p:cNvSpPr/>
          <p:nvPr/>
        </p:nvSpPr>
        <p:spPr>
          <a:xfrm>
            <a:off x="10674285" y="594726"/>
            <a:ext cx="1186461" cy="455260"/>
          </a:xfrm>
          <a:prstGeom prst="rect">
            <a:avLst/>
          </a:prstGeom>
          <a:noFill/>
          <a:ln>
            <a:noFill/>
          </a:ln>
        </p:spPr>
        <p:txBody>
          <a:bodyPr spcFirstLastPara="1" wrap="square" lIns="193227" tIns="96587" rIns="193227" bIns="96587" anchor="t" anchorCtr="0">
            <a:spAutoFit/>
          </a:bodyPr>
          <a:lstStyle/>
          <a:p>
            <a:r>
              <a:rPr lang="en-US" sz="1691" b="1">
                <a:solidFill>
                  <a:srgbClr val="000000"/>
                </a:solidFill>
                <a:latin typeface="Arial"/>
                <a:ea typeface="Arial"/>
                <a:cs typeface="Arial"/>
                <a:sym typeface="Arial"/>
              </a:rPr>
              <a:t>ɵ = 0.01</a:t>
            </a:r>
            <a:endParaRPr sz="1691" b="1">
              <a:solidFill>
                <a:srgbClr val="000000"/>
              </a:solidFill>
              <a:latin typeface="Arial"/>
              <a:ea typeface="Arial"/>
              <a:cs typeface="Arial"/>
              <a:sym typeface="Arial"/>
            </a:endParaRPr>
          </a:p>
        </p:txBody>
      </p:sp>
      <p:graphicFrame>
        <p:nvGraphicFramePr>
          <p:cNvPr id="1148" name="Google Shape;1148;p27"/>
          <p:cNvGraphicFramePr/>
          <p:nvPr/>
        </p:nvGraphicFramePr>
        <p:xfrm>
          <a:off x="633104" y="4853184"/>
          <a:ext cx="2953514" cy="1687520"/>
        </p:xfrm>
        <a:graphic>
          <a:graphicData uri="http://schemas.openxmlformats.org/drawingml/2006/table">
            <a:tbl>
              <a:tblPr firstRow="1" bandRow="1">
                <a:noFill/>
              </a:tblPr>
              <a:tblGrid>
                <a:gridCol w="1476757">
                  <a:extLst>
                    <a:ext uri="{9D8B030D-6E8A-4147-A177-3AD203B41FA5}">
                      <a16:colId xmlns:a16="http://schemas.microsoft.com/office/drawing/2014/main" val="20000"/>
                    </a:ext>
                  </a:extLst>
                </a:gridCol>
                <a:gridCol w="1476757">
                  <a:extLst>
                    <a:ext uri="{9D8B030D-6E8A-4147-A177-3AD203B41FA5}">
                      <a16:colId xmlns:a16="http://schemas.microsoft.com/office/drawing/2014/main" val="20001"/>
                    </a:ext>
                  </a:extLst>
                </a:gridCol>
              </a:tblGrid>
              <a:tr h="418748">
                <a:tc>
                  <a:txBody>
                    <a:bodyPr/>
                    <a:lstStyle/>
                    <a:p>
                      <a:pPr marL="0" marR="0" lvl="0" indent="0" algn="l" rtl="0">
                        <a:lnSpc>
                          <a:spcPct val="100000"/>
                        </a:lnSpc>
                        <a:spcBef>
                          <a:spcPts val="0"/>
                        </a:spcBef>
                        <a:spcAft>
                          <a:spcPts val="0"/>
                        </a:spcAft>
                        <a:buNone/>
                      </a:pPr>
                      <a:r>
                        <a:rPr lang="en-US" sz="1500" u="none" strike="noStrike" cap="none"/>
                        <a:t>State</a:t>
                      </a:r>
                      <a:endParaRPr sz="1500" u="none" strike="noStrike" cap="none"/>
                    </a:p>
                  </a:txBody>
                  <a:tcPr marL="193280" marR="193280" marT="96640" marB="96640"/>
                </a:tc>
                <a:tc>
                  <a:txBody>
                    <a:bodyPr/>
                    <a:lstStyle/>
                    <a:p>
                      <a:pPr marL="0" marR="0" lvl="0" indent="0" algn="l" rtl="0">
                        <a:lnSpc>
                          <a:spcPct val="100000"/>
                        </a:lnSpc>
                        <a:spcBef>
                          <a:spcPts val="0"/>
                        </a:spcBef>
                        <a:spcAft>
                          <a:spcPts val="0"/>
                        </a:spcAft>
                        <a:buNone/>
                      </a:pPr>
                      <a:r>
                        <a:rPr lang="en-US" sz="1500" u="none" strike="noStrike" cap="none"/>
                        <a:t>Best Action</a:t>
                      </a:r>
                      <a:endParaRPr sz="1500" u="none" strike="noStrike" cap="none"/>
                    </a:p>
                  </a:txBody>
                  <a:tcPr marL="193280" marR="193280" marT="96640" marB="96640"/>
                </a:tc>
                <a:extLst>
                  <a:ext uri="{0D108BD9-81ED-4DB2-BD59-A6C34878D82A}">
                    <a16:rowId xmlns:a16="http://schemas.microsoft.com/office/drawing/2014/main" val="10000"/>
                  </a:ext>
                </a:extLst>
              </a:tr>
              <a:tr h="418748">
                <a:tc>
                  <a:txBody>
                    <a:bodyPr/>
                    <a:lstStyle/>
                    <a:p>
                      <a:pPr marL="0" marR="0" lvl="0" indent="0" algn="l" rtl="0">
                        <a:lnSpc>
                          <a:spcPct val="100000"/>
                        </a:lnSpc>
                        <a:spcBef>
                          <a:spcPts val="0"/>
                        </a:spcBef>
                        <a:spcAft>
                          <a:spcPts val="0"/>
                        </a:spcAft>
                        <a:buNone/>
                      </a:pPr>
                      <a:r>
                        <a:rPr lang="en-US" sz="1500" u="none" strike="noStrike" cap="none"/>
                        <a:t>Cool</a:t>
                      </a:r>
                      <a:endParaRPr sz="1500" u="none" strike="noStrike" cap="none"/>
                    </a:p>
                  </a:txBody>
                  <a:tcPr marL="193280" marR="193280" marT="96640" marB="96640"/>
                </a:tc>
                <a:tc>
                  <a:txBody>
                    <a:bodyPr/>
                    <a:lstStyle/>
                    <a:p>
                      <a:pPr marL="0" marR="0" lvl="0" indent="0" algn="l" rtl="0">
                        <a:lnSpc>
                          <a:spcPct val="100000"/>
                        </a:lnSpc>
                        <a:spcBef>
                          <a:spcPts val="0"/>
                        </a:spcBef>
                        <a:spcAft>
                          <a:spcPts val="0"/>
                        </a:spcAft>
                        <a:buNone/>
                      </a:pPr>
                      <a:r>
                        <a:rPr lang="en-US" sz="1500" u="none" strike="noStrike" cap="none"/>
                        <a:t>Fast</a:t>
                      </a:r>
                      <a:endParaRPr sz="1500" u="none" strike="noStrike" cap="none"/>
                    </a:p>
                  </a:txBody>
                  <a:tcPr marL="193280" marR="193280" marT="96640" marB="96640"/>
                </a:tc>
                <a:extLst>
                  <a:ext uri="{0D108BD9-81ED-4DB2-BD59-A6C34878D82A}">
                    <a16:rowId xmlns:a16="http://schemas.microsoft.com/office/drawing/2014/main" val="10001"/>
                  </a:ext>
                </a:extLst>
              </a:tr>
              <a:tr h="418748">
                <a:tc>
                  <a:txBody>
                    <a:bodyPr/>
                    <a:lstStyle/>
                    <a:p>
                      <a:pPr marL="0" marR="0" lvl="0" indent="0" algn="l" rtl="0">
                        <a:lnSpc>
                          <a:spcPct val="100000"/>
                        </a:lnSpc>
                        <a:spcBef>
                          <a:spcPts val="0"/>
                        </a:spcBef>
                        <a:spcAft>
                          <a:spcPts val="0"/>
                        </a:spcAft>
                        <a:buNone/>
                      </a:pPr>
                      <a:r>
                        <a:rPr lang="en-US" sz="1500" u="none" strike="noStrike" cap="none"/>
                        <a:t>Warm</a:t>
                      </a:r>
                      <a:endParaRPr sz="1500" u="none" strike="noStrike" cap="none"/>
                    </a:p>
                  </a:txBody>
                  <a:tcPr marL="193280" marR="193280" marT="96640" marB="96640"/>
                </a:tc>
                <a:tc>
                  <a:txBody>
                    <a:bodyPr/>
                    <a:lstStyle/>
                    <a:p>
                      <a:pPr marL="0" marR="0" lvl="0" indent="0" algn="l" rtl="0">
                        <a:lnSpc>
                          <a:spcPct val="100000"/>
                        </a:lnSpc>
                        <a:spcBef>
                          <a:spcPts val="0"/>
                        </a:spcBef>
                        <a:spcAft>
                          <a:spcPts val="0"/>
                        </a:spcAft>
                        <a:buNone/>
                      </a:pPr>
                      <a:r>
                        <a:rPr lang="en-US" sz="1500" u="none" strike="noStrike" cap="none"/>
                        <a:t>Slow</a:t>
                      </a:r>
                      <a:endParaRPr sz="1500" u="none" strike="noStrike" cap="none"/>
                    </a:p>
                  </a:txBody>
                  <a:tcPr marL="193280" marR="193280" marT="96640" marB="96640"/>
                </a:tc>
                <a:extLst>
                  <a:ext uri="{0D108BD9-81ED-4DB2-BD59-A6C34878D82A}">
                    <a16:rowId xmlns:a16="http://schemas.microsoft.com/office/drawing/2014/main" val="10002"/>
                  </a:ext>
                </a:extLst>
              </a:tr>
              <a:tr h="418748">
                <a:tc>
                  <a:txBody>
                    <a:bodyPr/>
                    <a:lstStyle/>
                    <a:p>
                      <a:pPr marL="0" marR="0" lvl="0" indent="0" algn="l" rtl="0">
                        <a:lnSpc>
                          <a:spcPct val="100000"/>
                        </a:lnSpc>
                        <a:spcBef>
                          <a:spcPts val="0"/>
                        </a:spcBef>
                        <a:spcAft>
                          <a:spcPts val="0"/>
                        </a:spcAft>
                        <a:buNone/>
                      </a:pPr>
                      <a:r>
                        <a:rPr lang="en-US" sz="1500" u="none" strike="noStrike" cap="none"/>
                        <a:t>Overheated</a:t>
                      </a:r>
                      <a:endParaRPr sz="1500" u="none" strike="noStrike" cap="none"/>
                    </a:p>
                  </a:txBody>
                  <a:tcPr marL="193280" marR="193280" marT="96640" marB="96640"/>
                </a:tc>
                <a:tc>
                  <a:txBody>
                    <a:bodyPr/>
                    <a:lstStyle/>
                    <a:p>
                      <a:pPr marL="0" marR="0" lvl="0" indent="0" algn="l" rtl="0">
                        <a:lnSpc>
                          <a:spcPct val="100000"/>
                        </a:lnSpc>
                        <a:spcBef>
                          <a:spcPts val="0"/>
                        </a:spcBef>
                        <a:spcAft>
                          <a:spcPts val="0"/>
                        </a:spcAft>
                        <a:buNone/>
                      </a:pPr>
                      <a:r>
                        <a:rPr lang="en-US" sz="1500" u="none" strike="noStrike" cap="none"/>
                        <a:t>-</a:t>
                      </a:r>
                      <a:endParaRPr sz="1500" u="none" strike="noStrike" cap="none"/>
                    </a:p>
                  </a:txBody>
                  <a:tcPr marL="193280" marR="193280" marT="96640" marB="96640"/>
                </a:tc>
                <a:extLst>
                  <a:ext uri="{0D108BD9-81ED-4DB2-BD59-A6C34878D82A}">
                    <a16:rowId xmlns:a16="http://schemas.microsoft.com/office/drawing/2014/main" val="10003"/>
                  </a:ext>
                </a:extLst>
              </a:tr>
            </a:tbl>
          </a:graphicData>
        </a:graphic>
      </p:graphicFrame>
      <p:sp>
        <p:nvSpPr>
          <p:cNvPr id="1149" name="Google Shape;1149;p27"/>
          <p:cNvSpPr txBox="1"/>
          <p:nvPr/>
        </p:nvSpPr>
        <p:spPr>
          <a:xfrm>
            <a:off x="1681910" y="4293585"/>
            <a:ext cx="880073" cy="650442"/>
          </a:xfrm>
          <a:prstGeom prst="rect">
            <a:avLst/>
          </a:prstGeom>
          <a:noFill/>
          <a:ln>
            <a:noFill/>
          </a:ln>
        </p:spPr>
        <p:txBody>
          <a:bodyPr spcFirstLastPara="1" wrap="square" lIns="193227" tIns="96587" rIns="193227" bIns="96587" anchor="t" anchorCtr="0">
            <a:spAutoFit/>
          </a:bodyPr>
          <a:lstStyle/>
          <a:p>
            <a:r>
              <a:rPr lang="en-US" sz="2959" b="1">
                <a:solidFill>
                  <a:schemeClr val="dk1"/>
                </a:solidFill>
                <a:latin typeface="Arial"/>
                <a:ea typeface="Arial"/>
                <a:cs typeface="Arial"/>
                <a:sym typeface="Arial"/>
              </a:rPr>
              <a:t>π</a:t>
            </a:r>
            <a:r>
              <a:rPr lang="en-US" sz="2959" b="1" baseline="-25000">
                <a:solidFill>
                  <a:schemeClr val="dk1"/>
                </a:solidFill>
                <a:latin typeface="Arial"/>
                <a:ea typeface="Arial"/>
                <a:cs typeface="Arial"/>
                <a:sym typeface="Arial"/>
              </a:rPr>
              <a:t>1</a:t>
            </a:r>
            <a:endParaRPr sz="2959" b="1" baseline="-25000">
              <a:solidFill>
                <a:schemeClr val="dk1"/>
              </a:solidFill>
              <a:latin typeface="Arial"/>
              <a:ea typeface="Arial"/>
              <a:cs typeface="Arial"/>
              <a:sym typeface="Arial"/>
            </a:endParaRPr>
          </a:p>
        </p:txBody>
      </p:sp>
      <p:sp>
        <p:nvSpPr>
          <p:cNvPr id="1150" name="Google Shape;1150;p27"/>
          <p:cNvSpPr txBox="1"/>
          <p:nvPr/>
        </p:nvSpPr>
        <p:spPr>
          <a:xfrm>
            <a:off x="179822" y="282490"/>
            <a:ext cx="4372176" cy="520406"/>
          </a:xfrm>
          <a:prstGeom prst="rect">
            <a:avLst/>
          </a:prstGeom>
          <a:solidFill>
            <a:srgbClr val="F0C040"/>
          </a:solidFill>
          <a:ln>
            <a:noFill/>
          </a:ln>
        </p:spPr>
        <p:txBody>
          <a:bodyPr spcFirstLastPara="1" wrap="square" lIns="193227" tIns="96587" rIns="193227" bIns="96587" anchor="t" anchorCtr="0">
            <a:spAutoFit/>
          </a:bodyPr>
          <a:lstStyle/>
          <a:p>
            <a:pPr algn="just"/>
            <a:r>
              <a:rPr lang="en-US" sz="2114">
                <a:solidFill>
                  <a:srgbClr val="0070C0"/>
                </a:solidFill>
                <a:latin typeface="Arial"/>
                <a:ea typeface="Arial"/>
                <a:cs typeface="Arial"/>
                <a:sym typeface="Arial"/>
              </a:rPr>
              <a:t>Continue another cycle of PE🡪PI</a:t>
            </a:r>
            <a:endParaRPr sz="2114">
              <a:solidFill>
                <a:srgbClr val="0070C0"/>
              </a:solidFill>
              <a:latin typeface="Arial"/>
              <a:ea typeface="Arial"/>
              <a:cs typeface="Arial"/>
              <a:sym typeface="Arial"/>
            </a:endParaRPr>
          </a:p>
        </p:txBody>
      </p:sp>
      <p:sp>
        <p:nvSpPr>
          <p:cNvPr id="1151" name="Google Shape;1151;p27"/>
          <p:cNvSpPr txBox="1"/>
          <p:nvPr/>
        </p:nvSpPr>
        <p:spPr>
          <a:xfrm>
            <a:off x="3733990" y="4824957"/>
            <a:ext cx="2705954" cy="1496058"/>
          </a:xfrm>
          <a:prstGeom prst="rect">
            <a:avLst/>
          </a:prstGeom>
          <a:solidFill>
            <a:srgbClr val="F0C040"/>
          </a:solidFill>
          <a:ln>
            <a:noFill/>
          </a:ln>
        </p:spPr>
        <p:txBody>
          <a:bodyPr spcFirstLastPara="1" wrap="square" lIns="193227" tIns="96587" rIns="193227" bIns="96587" anchor="t" anchorCtr="0">
            <a:spAutoFit/>
          </a:bodyPr>
          <a:lstStyle/>
          <a:p>
            <a:pPr algn="just"/>
            <a:r>
              <a:rPr lang="en-US" sz="1691">
                <a:solidFill>
                  <a:srgbClr val="0070C0"/>
                </a:solidFill>
                <a:latin typeface="Arial"/>
                <a:ea typeface="Arial"/>
                <a:cs typeface="Arial"/>
                <a:sym typeface="Arial"/>
              </a:rPr>
              <a:t>After this cycle of algorithm converges with values : </a:t>
            </a:r>
            <a:endParaRPr sz="3804"/>
          </a:p>
          <a:p>
            <a:pPr algn="just"/>
            <a:r>
              <a:rPr lang="en-US" sz="1691">
                <a:solidFill>
                  <a:srgbClr val="0070C0"/>
                </a:solidFill>
                <a:latin typeface="Arial"/>
                <a:ea typeface="Arial"/>
                <a:cs typeface="Arial"/>
                <a:sym typeface="Arial"/>
              </a:rPr>
              <a:t>V(cool) = 15.5</a:t>
            </a:r>
            <a:endParaRPr sz="3804"/>
          </a:p>
          <a:p>
            <a:pPr algn="just"/>
            <a:r>
              <a:rPr lang="en-US" sz="1691">
                <a:solidFill>
                  <a:srgbClr val="0070C0"/>
                </a:solidFill>
                <a:latin typeface="Arial"/>
                <a:ea typeface="Arial"/>
                <a:cs typeface="Arial"/>
                <a:sym typeface="Arial"/>
              </a:rPr>
              <a:t>V(Warm) = 14.5 </a:t>
            </a:r>
            <a:endParaRPr sz="1691">
              <a:solidFill>
                <a:srgbClr val="0070C0"/>
              </a:solidFill>
              <a:latin typeface="Arial"/>
              <a:ea typeface="Arial"/>
              <a:cs typeface="Arial"/>
              <a:sym typeface="Arial"/>
            </a:endParaRPr>
          </a:p>
        </p:txBody>
      </p:sp>
      <p:sp>
        <p:nvSpPr>
          <p:cNvPr id="2" name="Footer">
            <a:extLst>
              <a:ext uri="{FF2B5EF4-FFF2-40B4-BE49-F238E27FC236}">
                <a16:creationId xmlns:a16="http://schemas.microsoft.com/office/drawing/2014/main" id="{020864F2-669C-DEBB-4F89-FCB7A2E0D425}"/>
              </a:ext>
            </a:extLst>
          </p:cNvPr>
          <p:cNvSpPr txBox="1">
            <a:spLocks/>
          </p:cNvSpPr>
          <p:nvPr/>
        </p:nvSpPr>
        <p:spPr>
          <a:xfrm>
            <a:off x="2955202" y="6571207"/>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1148"/>
                                        </p:tgtEl>
                                        <p:attrNameLst>
                                          <p:attrName>style.visibility</p:attrName>
                                        </p:attrNameLst>
                                      </p:cBhvr>
                                      <p:to>
                                        <p:strVal val="visible"/>
                                      </p:to>
                                    </p:set>
                                    <p:animEffect transition="in" filter="fade">
                                      <p:cBhvr>
                                        <p:cTn id="11" dur="500"/>
                                        <p:tgtEl>
                                          <p:spTgt spid="1148"/>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15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1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Google Shape;1156;p28"/>
          <p:cNvSpPr txBox="1">
            <a:spLocks noGrp="1"/>
          </p:cNvSpPr>
          <p:nvPr>
            <p:ph type="title"/>
          </p:nvPr>
        </p:nvSpPr>
        <p:spPr>
          <a:xfrm>
            <a:off x="177559" y="231525"/>
            <a:ext cx="10448049" cy="585401"/>
          </a:xfrm>
          <a:prstGeom prst="rect">
            <a:avLst/>
          </a:prstGeom>
          <a:noFill/>
          <a:ln>
            <a:noFill/>
          </a:ln>
        </p:spPr>
        <p:txBody>
          <a:bodyPr spcFirstLastPara="1" wrap="square" lIns="0" tIns="32178" rIns="0" bIns="0" anchor="t" anchorCtr="0">
            <a:spAutoFit/>
          </a:bodyPr>
          <a:lstStyle/>
          <a:p>
            <a:pPr marL="53683"/>
            <a:r>
              <a:rPr lang="en-US">
                <a:solidFill>
                  <a:srgbClr val="FFFFFF"/>
                </a:solidFill>
              </a:rPr>
              <a:t>Dynamic Programming -  Policy Iteration</a:t>
            </a:r>
            <a:endParaRPr/>
          </a:p>
        </p:txBody>
      </p:sp>
      <p:pic>
        <p:nvPicPr>
          <p:cNvPr id="1157" name="Google Shape;1157;p28"/>
          <p:cNvPicPr preferRelativeResize="0"/>
          <p:nvPr/>
        </p:nvPicPr>
        <p:blipFill rotWithShape="1">
          <a:blip r:embed="rId3">
            <a:alphaModFix/>
          </a:blip>
          <a:srcRect/>
          <a:stretch/>
        </p:blipFill>
        <p:spPr>
          <a:xfrm>
            <a:off x="465845" y="1233298"/>
            <a:ext cx="256281" cy="256281"/>
          </a:xfrm>
          <a:prstGeom prst="rect">
            <a:avLst/>
          </a:prstGeom>
          <a:noFill/>
          <a:ln>
            <a:noFill/>
          </a:ln>
        </p:spPr>
      </p:pic>
      <p:sp>
        <p:nvSpPr>
          <p:cNvPr id="1158" name="Google Shape;1158;p28"/>
          <p:cNvSpPr txBox="1"/>
          <p:nvPr/>
        </p:nvSpPr>
        <p:spPr>
          <a:xfrm>
            <a:off x="522803" y="1212478"/>
            <a:ext cx="142260" cy="220835"/>
          </a:xfrm>
          <a:prstGeom prst="rect">
            <a:avLst/>
          </a:prstGeom>
          <a:noFill/>
          <a:ln>
            <a:noFill/>
          </a:ln>
        </p:spPr>
        <p:txBody>
          <a:bodyPr spcFirstLastPara="1" wrap="square" lIns="0" tIns="25468" rIns="0" bIns="0" anchor="t" anchorCtr="0">
            <a:spAutoFit/>
          </a:bodyPr>
          <a:lstStyle/>
          <a:p>
            <a:pPr marL="26841">
              <a:buClr>
                <a:srgbClr val="000000"/>
              </a:buClr>
              <a:buSzPts val="600"/>
            </a:pPr>
            <a:r>
              <a:rPr lang="en-US" sz="1268">
                <a:solidFill>
                  <a:srgbClr val="FFFFFF"/>
                </a:solidFill>
                <a:latin typeface="Calibri"/>
                <a:ea typeface="Calibri"/>
                <a:cs typeface="Calibri"/>
                <a:sym typeface="Calibri"/>
              </a:rPr>
              <a:t>1</a:t>
            </a:r>
            <a:endParaRPr sz="1268">
              <a:solidFill>
                <a:srgbClr val="000000"/>
              </a:solidFill>
              <a:latin typeface="Calibri"/>
              <a:ea typeface="Calibri"/>
              <a:cs typeface="Calibri"/>
              <a:sym typeface="Calibri"/>
            </a:endParaRPr>
          </a:p>
        </p:txBody>
      </p:sp>
      <p:sp>
        <p:nvSpPr>
          <p:cNvPr id="1159" name="Google Shape;1159;p28"/>
          <p:cNvSpPr txBox="1"/>
          <p:nvPr/>
        </p:nvSpPr>
        <p:spPr>
          <a:xfrm>
            <a:off x="862402" y="1135604"/>
            <a:ext cx="2245290" cy="375383"/>
          </a:xfrm>
          <a:prstGeom prst="rect">
            <a:avLst/>
          </a:prstGeom>
          <a:noFill/>
          <a:ln>
            <a:noFill/>
          </a:ln>
        </p:spPr>
        <p:txBody>
          <a:bodyPr spcFirstLastPara="1" wrap="square" lIns="0" tIns="33552" rIns="0" bIns="0" anchor="t" anchorCtr="0">
            <a:spAutoFit/>
          </a:bodyPr>
          <a:lstStyle/>
          <a:p>
            <a:pPr marL="26841">
              <a:buClr>
                <a:srgbClr val="000000"/>
              </a:buClr>
              <a:buSzPts val="1050"/>
            </a:pPr>
            <a:r>
              <a:rPr lang="en-US" sz="2219">
                <a:solidFill>
                  <a:srgbClr val="1B1472"/>
                </a:solidFill>
                <a:latin typeface="Arial"/>
                <a:ea typeface="Arial"/>
                <a:cs typeface="Arial"/>
                <a:sym typeface="Arial"/>
              </a:rPr>
              <a:t>Observation</a:t>
            </a:r>
            <a:endParaRPr sz="2219">
              <a:solidFill>
                <a:srgbClr val="000000"/>
              </a:solidFill>
              <a:latin typeface="Arial"/>
              <a:ea typeface="Arial"/>
              <a:cs typeface="Arial"/>
              <a:sym typeface="Arial"/>
            </a:endParaRPr>
          </a:p>
        </p:txBody>
      </p:sp>
      <p:sp>
        <p:nvSpPr>
          <p:cNvPr id="1160" name="Google Shape;1160;p28"/>
          <p:cNvSpPr txBox="1"/>
          <p:nvPr/>
        </p:nvSpPr>
        <p:spPr>
          <a:xfrm>
            <a:off x="1136773" y="1548736"/>
            <a:ext cx="7705620" cy="4707716"/>
          </a:xfrm>
          <a:prstGeom prst="rect">
            <a:avLst/>
          </a:prstGeom>
          <a:noFill/>
          <a:ln>
            <a:noFill/>
          </a:ln>
        </p:spPr>
        <p:txBody>
          <a:bodyPr spcFirstLastPara="1" wrap="square" lIns="0" tIns="24147" rIns="0" bIns="0" anchor="t" anchorCtr="0">
            <a:spAutoFit/>
          </a:bodyPr>
          <a:lstStyle/>
          <a:p>
            <a:pPr marL="80524" indent="-127497" algn="just">
              <a:buClr>
                <a:srgbClr val="000000"/>
              </a:buClr>
              <a:buSzPts val="950"/>
              <a:buFont typeface="Arial"/>
              <a:buChar char="•"/>
            </a:pPr>
            <a:r>
              <a:rPr lang="en-US" sz="1902">
                <a:solidFill>
                  <a:srgbClr val="000000"/>
                </a:solidFill>
                <a:latin typeface="Arial"/>
                <a:ea typeface="Arial"/>
                <a:cs typeface="Arial"/>
                <a:sym typeface="Arial"/>
              </a:rPr>
              <a:t>Policy iteration consists of two simultaneous, interacting processes, one making the value function consistent with the current policy (policy evaluation), and the other making the policy greedy with respect to the current value function (policy improvement). </a:t>
            </a:r>
            <a:endParaRPr sz="1902">
              <a:solidFill>
                <a:srgbClr val="000000"/>
              </a:solidFill>
              <a:latin typeface="Arial"/>
              <a:ea typeface="Arial"/>
              <a:cs typeface="Arial"/>
              <a:sym typeface="Arial"/>
            </a:endParaRPr>
          </a:p>
          <a:p>
            <a:pPr marL="80524" indent="-127497" algn="just">
              <a:buClr>
                <a:srgbClr val="000000"/>
              </a:buClr>
              <a:buSzPts val="950"/>
              <a:buFont typeface="Arial"/>
              <a:buChar char="•"/>
            </a:pPr>
            <a:r>
              <a:rPr lang="en-US" sz="1902">
                <a:solidFill>
                  <a:srgbClr val="000000"/>
                </a:solidFill>
                <a:latin typeface="Arial"/>
                <a:ea typeface="Arial"/>
                <a:cs typeface="Arial"/>
                <a:sym typeface="Arial"/>
              </a:rPr>
              <a:t>In policy iteration, these two processes alternate, each completing before the other begins,</a:t>
            </a:r>
            <a:r>
              <a:rPr lang="en-US" sz="1902" b="1">
                <a:solidFill>
                  <a:srgbClr val="FF0000"/>
                </a:solidFill>
                <a:latin typeface="Arial"/>
                <a:ea typeface="Arial"/>
                <a:cs typeface="Arial"/>
                <a:sym typeface="Arial"/>
              </a:rPr>
              <a:t> but this is not really necessary.</a:t>
            </a:r>
            <a:endParaRPr sz="3804"/>
          </a:p>
          <a:p>
            <a:pPr marL="80524" algn="just">
              <a:buClr>
                <a:srgbClr val="000000"/>
              </a:buClr>
              <a:buSzPts val="950"/>
            </a:pPr>
            <a:endParaRPr sz="1902" b="1">
              <a:solidFill>
                <a:srgbClr val="FF0000"/>
              </a:solidFill>
              <a:latin typeface="Arial"/>
              <a:ea typeface="Arial"/>
              <a:cs typeface="Arial"/>
              <a:sym typeface="Arial"/>
            </a:endParaRPr>
          </a:p>
          <a:p>
            <a:pPr marL="80524" algn="just">
              <a:buClr>
                <a:srgbClr val="000000"/>
              </a:buClr>
              <a:buSzPts val="950"/>
            </a:pPr>
            <a:endParaRPr sz="1902" b="1">
              <a:solidFill>
                <a:srgbClr val="FF0000"/>
              </a:solidFill>
              <a:latin typeface="Arial"/>
              <a:ea typeface="Arial"/>
              <a:cs typeface="Arial"/>
              <a:sym typeface="Arial"/>
            </a:endParaRPr>
          </a:p>
          <a:p>
            <a:pPr marL="80524" indent="-127497" algn="just">
              <a:buClr>
                <a:srgbClr val="000000"/>
              </a:buClr>
              <a:buSzPts val="950"/>
              <a:buFont typeface="Arial"/>
              <a:buChar char="•"/>
            </a:pPr>
            <a:r>
              <a:rPr lang="en-US" sz="1902">
                <a:solidFill>
                  <a:srgbClr val="000000"/>
                </a:solidFill>
                <a:latin typeface="Arial"/>
                <a:ea typeface="Arial"/>
                <a:cs typeface="Arial"/>
                <a:sym typeface="Arial"/>
              </a:rPr>
              <a:t>Generalized policy iteration (GPI) to refer to the general idea of letting policy-evaluation and policy improvement processes interact, independent of the granularity and other details of the two processes. Almost all reinforcement learning methods are well described as GPI.</a:t>
            </a:r>
            <a:endParaRPr sz="3804"/>
          </a:p>
          <a:p>
            <a:pPr marL="80524" algn="just">
              <a:buClr>
                <a:srgbClr val="000000"/>
              </a:buClr>
              <a:buSzPts val="950"/>
            </a:pPr>
            <a:endParaRPr sz="1902">
              <a:solidFill>
                <a:srgbClr val="000000"/>
              </a:solidFill>
              <a:latin typeface="Arial"/>
              <a:ea typeface="Arial"/>
              <a:cs typeface="Arial"/>
              <a:sym typeface="Arial"/>
            </a:endParaRPr>
          </a:p>
          <a:p>
            <a:pPr marL="80524" indent="-127497" algn="just">
              <a:buClr>
                <a:srgbClr val="000000"/>
              </a:buClr>
              <a:buSzPts val="950"/>
              <a:buFont typeface="Arial"/>
              <a:buChar char="•"/>
            </a:pPr>
            <a:r>
              <a:rPr lang="en-US" sz="1902">
                <a:solidFill>
                  <a:srgbClr val="000000"/>
                </a:solidFill>
                <a:latin typeface="Arial"/>
                <a:ea typeface="Arial"/>
                <a:cs typeface="Arial"/>
                <a:sym typeface="Arial"/>
              </a:rPr>
              <a:t>In one cycle perform only one iteration of Policy Evaluation (ie.,Value Updates) without waiting for convergence immediately follow by Policy Improvement. </a:t>
            </a:r>
            <a:endParaRPr sz="1902" b="1">
              <a:solidFill>
                <a:srgbClr val="FF0000"/>
              </a:solidFill>
              <a:latin typeface="Arial"/>
              <a:ea typeface="Arial"/>
              <a:cs typeface="Arial"/>
              <a:sym typeface="Arial"/>
            </a:endParaRPr>
          </a:p>
        </p:txBody>
      </p:sp>
      <p:sp>
        <p:nvSpPr>
          <p:cNvPr id="1161" name="Google Shape;1161;p28"/>
          <p:cNvSpPr txBox="1"/>
          <p:nvPr/>
        </p:nvSpPr>
        <p:spPr>
          <a:xfrm>
            <a:off x="799935" y="3492565"/>
            <a:ext cx="6538271" cy="375383"/>
          </a:xfrm>
          <a:prstGeom prst="rect">
            <a:avLst/>
          </a:prstGeom>
          <a:noFill/>
          <a:ln>
            <a:noFill/>
          </a:ln>
        </p:spPr>
        <p:txBody>
          <a:bodyPr spcFirstLastPara="1" wrap="square" lIns="0" tIns="33552" rIns="0" bIns="0" anchor="t" anchorCtr="0">
            <a:spAutoFit/>
          </a:bodyPr>
          <a:lstStyle/>
          <a:p>
            <a:pPr marL="26841">
              <a:buClr>
                <a:srgbClr val="000000"/>
              </a:buClr>
              <a:buSzPts val="1050"/>
            </a:pPr>
            <a:r>
              <a:rPr lang="en-US" sz="2219">
                <a:solidFill>
                  <a:srgbClr val="1B1472"/>
                </a:solidFill>
                <a:latin typeface="Arial"/>
                <a:ea typeface="Arial"/>
                <a:cs typeface="Arial"/>
                <a:sym typeface="Arial"/>
              </a:rPr>
              <a:t>Solution : GPI Generalized Policy Iteration</a:t>
            </a:r>
            <a:endParaRPr sz="2219">
              <a:solidFill>
                <a:srgbClr val="000000"/>
              </a:solidFill>
              <a:latin typeface="Arial"/>
              <a:ea typeface="Arial"/>
              <a:cs typeface="Arial"/>
              <a:sym typeface="Arial"/>
            </a:endParaRPr>
          </a:p>
        </p:txBody>
      </p:sp>
      <p:grpSp>
        <p:nvGrpSpPr>
          <p:cNvPr id="1162" name="Google Shape;1162;p28"/>
          <p:cNvGrpSpPr/>
          <p:nvPr/>
        </p:nvGrpSpPr>
        <p:grpSpPr>
          <a:xfrm>
            <a:off x="2983" y="6571410"/>
            <a:ext cx="12174329" cy="194601"/>
            <a:chOff x="0" y="3109250"/>
            <a:chExt cx="5760261" cy="92075"/>
          </a:xfrm>
        </p:grpSpPr>
        <p:sp>
          <p:nvSpPr>
            <p:cNvPr id="1163" name="Google Shape;1163;p28"/>
            <p:cNvSpPr/>
            <p:nvPr/>
          </p:nvSpPr>
          <p:spPr>
            <a:xfrm>
              <a:off x="0"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F0C040"/>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1164" name="Google Shape;1164;p28"/>
            <p:cNvSpPr/>
            <p:nvPr/>
          </p:nvSpPr>
          <p:spPr>
            <a:xfrm>
              <a:off x="1923862" y="3109250"/>
              <a:ext cx="1912620" cy="92075"/>
            </a:xfrm>
            <a:custGeom>
              <a:avLst/>
              <a:gdLst/>
              <a:ahLst/>
              <a:cxnLst/>
              <a:rect l="l" t="t" r="r" b="b"/>
              <a:pathLst>
                <a:path w="1912620" h="92075" extrusionOk="0">
                  <a:moveTo>
                    <a:pt x="0" y="91521"/>
                  </a:moveTo>
                  <a:lnTo>
                    <a:pt x="0" y="0"/>
                  </a:lnTo>
                  <a:lnTo>
                    <a:pt x="1912348" y="0"/>
                  </a:lnTo>
                  <a:lnTo>
                    <a:pt x="1912348" y="91521"/>
                  </a:lnTo>
                  <a:lnTo>
                    <a:pt x="0" y="91521"/>
                  </a:lnTo>
                  <a:close/>
                </a:path>
              </a:pathLst>
            </a:custGeom>
            <a:solidFill>
              <a:srgbClr val="5BA8CC"/>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sp>
          <p:nvSpPr>
            <p:cNvPr id="1165" name="Google Shape;1165;p28"/>
            <p:cNvSpPr/>
            <p:nvPr/>
          </p:nvSpPr>
          <p:spPr>
            <a:xfrm>
              <a:off x="3836211" y="3109250"/>
              <a:ext cx="1924050" cy="92075"/>
            </a:xfrm>
            <a:custGeom>
              <a:avLst/>
              <a:gdLst/>
              <a:ahLst/>
              <a:cxnLst/>
              <a:rect l="l" t="t" r="r" b="b"/>
              <a:pathLst>
                <a:path w="1924050" h="92075" extrusionOk="0">
                  <a:moveTo>
                    <a:pt x="0" y="91521"/>
                  </a:moveTo>
                  <a:lnTo>
                    <a:pt x="0" y="0"/>
                  </a:lnTo>
                  <a:lnTo>
                    <a:pt x="1923862" y="0"/>
                  </a:lnTo>
                  <a:lnTo>
                    <a:pt x="1923862" y="91521"/>
                  </a:lnTo>
                  <a:lnTo>
                    <a:pt x="0" y="91521"/>
                  </a:lnTo>
                  <a:close/>
                </a:path>
              </a:pathLst>
            </a:custGeom>
            <a:solidFill>
              <a:srgbClr val="00A8C8"/>
            </a:solidFill>
            <a:ln>
              <a:noFill/>
            </a:ln>
          </p:spPr>
          <p:txBody>
            <a:bodyPr spcFirstLastPara="1" wrap="square" lIns="0" tIns="0" rIns="0" bIns="0" anchor="t" anchorCtr="0">
              <a:noAutofit/>
            </a:bodyPr>
            <a:lstStyle/>
            <a:p>
              <a:pPr>
                <a:buClr>
                  <a:srgbClr val="000000"/>
                </a:buClr>
                <a:buSzPts val="1400"/>
              </a:pPr>
              <a:endParaRPr sz="2959">
                <a:solidFill>
                  <a:srgbClr val="000000"/>
                </a:solidFill>
                <a:latin typeface="Arial"/>
                <a:ea typeface="Arial"/>
                <a:cs typeface="Arial"/>
                <a:sym typeface="Arial"/>
              </a:endParaRPr>
            </a:p>
          </p:txBody>
        </p:sp>
      </p:grpSp>
      <p:sp>
        <p:nvSpPr>
          <p:cNvPr id="1167" name="Google Shape;1167;p28"/>
          <p:cNvSpPr txBox="1">
            <a:spLocks noGrp="1"/>
          </p:cNvSpPr>
          <p:nvPr>
            <p:ph type="sldNum" idx="12"/>
          </p:nvPr>
        </p:nvSpPr>
        <p:spPr>
          <a:xfrm>
            <a:off x="4648848" y="3137672"/>
            <a:ext cx="318208" cy="101600"/>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59055" marR="0" lvl="0"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1pPr>
            <a:lvl2pPr marL="59055" marR="0" lvl="1"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2pPr>
            <a:lvl3pPr marL="59055" marR="0" lvl="2"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3pPr>
            <a:lvl4pPr marL="59055" marR="0" lvl="3"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4pPr>
            <a:lvl5pPr marL="59055" marR="0" lvl="4"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5pPr>
            <a:lvl6pPr marL="59055" marR="0" lvl="5"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6pPr>
            <a:lvl7pPr marL="59055" marR="0" lvl="6"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7pPr>
            <a:lvl8pPr marL="59055" marR="0" lvl="7"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8pPr>
            <a:lvl9pPr marL="59055" marR="0" lvl="8" indent="0" algn="l" rtl="0">
              <a:lnSpc>
                <a:spcPct val="111666"/>
              </a:lnSpc>
              <a:spcBef>
                <a:spcPts val="0"/>
              </a:spcBef>
              <a:spcAft>
                <a:spcPts val="0"/>
              </a:spcAft>
              <a:buClr>
                <a:srgbClr val="000000"/>
              </a:buClr>
              <a:buSzPts val="600"/>
              <a:buFont typeface="Arial"/>
              <a:buNone/>
              <a:defRPr sz="600" b="0" i="0" u="none" strike="noStrike" cap="none">
                <a:solidFill>
                  <a:schemeClr val="dk1"/>
                </a:solidFill>
                <a:latin typeface="Calibri"/>
                <a:ea typeface="Calibri"/>
                <a:cs typeface="Calibri"/>
                <a:sym typeface="Calibri"/>
              </a:defRPr>
            </a:lvl9pPr>
          </a:lstStyle>
          <a:p>
            <a:pPr marL="79182">
              <a:lnSpc>
                <a:spcPct val="111666"/>
              </a:lnSpc>
              <a:buSzPts val="600"/>
            </a:pPr>
            <a:fld id="{00000000-1234-1234-1234-123412341234}" type="slidenum">
              <a:rPr lang="en-US" smtClean="0"/>
              <a:pPr marL="79182">
                <a:lnSpc>
                  <a:spcPct val="111666"/>
                </a:lnSpc>
                <a:buSzPts val="600"/>
              </a:pPr>
              <a:t>38</a:t>
            </a:fld>
            <a:r>
              <a:rPr lang="en-US"/>
              <a:t> / 46</a:t>
            </a:r>
            <a:endParaRPr/>
          </a:p>
        </p:txBody>
      </p:sp>
      <p:pic>
        <p:nvPicPr>
          <p:cNvPr id="1169" name="Google Shape;1169;p28"/>
          <p:cNvPicPr preferRelativeResize="0"/>
          <p:nvPr/>
        </p:nvPicPr>
        <p:blipFill rotWithShape="1">
          <a:blip r:embed="rId4">
            <a:alphaModFix/>
          </a:blip>
          <a:srcRect/>
          <a:stretch/>
        </p:blipFill>
        <p:spPr>
          <a:xfrm>
            <a:off x="8956333" y="1208946"/>
            <a:ext cx="3220978" cy="4932123"/>
          </a:xfrm>
          <a:prstGeom prst="rect">
            <a:avLst/>
          </a:prstGeom>
          <a:noFill/>
          <a:ln>
            <a:noFill/>
          </a:ln>
        </p:spPr>
      </p:pic>
      <p:sp>
        <p:nvSpPr>
          <p:cNvPr id="1170" name="Google Shape;1170;p28"/>
          <p:cNvSpPr txBox="1"/>
          <p:nvPr/>
        </p:nvSpPr>
        <p:spPr>
          <a:xfrm>
            <a:off x="799935" y="5031988"/>
            <a:ext cx="6538271" cy="375383"/>
          </a:xfrm>
          <a:prstGeom prst="rect">
            <a:avLst/>
          </a:prstGeom>
          <a:noFill/>
          <a:ln>
            <a:noFill/>
          </a:ln>
        </p:spPr>
        <p:txBody>
          <a:bodyPr spcFirstLastPara="1" wrap="square" lIns="0" tIns="33552" rIns="0" bIns="0" anchor="t" anchorCtr="0">
            <a:spAutoFit/>
          </a:bodyPr>
          <a:lstStyle/>
          <a:p>
            <a:pPr marL="26841">
              <a:buClr>
                <a:srgbClr val="000000"/>
              </a:buClr>
              <a:buSzPts val="1050"/>
            </a:pPr>
            <a:r>
              <a:rPr lang="en-US" sz="2219" dirty="0">
                <a:solidFill>
                  <a:srgbClr val="1B1472"/>
                </a:solidFill>
                <a:latin typeface="Arial"/>
                <a:ea typeface="Arial"/>
                <a:cs typeface="Arial"/>
                <a:sym typeface="Arial"/>
              </a:rPr>
              <a:t>Idea (Do this as an exercise for given problem)</a:t>
            </a:r>
            <a:endParaRPr sz="2219" dirty="0">
              <a:solidFill>
                <a:srgbClr val="000000"/>
              </a:solidFill>
              <a:latin typeface="Arial"/>
              <a:ea typeface="Arial"/>
              <a:cs typeface="Arial"/>
              <a:sym typeface="Arial"/>
            </a:endParaRPr>
          </a:p>
        </p:txBody>
      </p:sp>
      <p:sp>
        <p:nvSpPr>
          <p:cNvPr id="2" name="Footer">
            <a:extLst>
              <a:ext uri="{FF2B5EF4-FFF2-40B4-BE49-F238E27FC236}">
                <a16:creationId xmlns:a16="http://schemas.microsoft.com/office/drawing/2014/main" id="{21E98F0A-C7ED-7539-35A7-B5335EFF63FE}"/>
              </a:ext>
            </a:extLst>
          </p:cNvPr>
          <p:cNvSpPr txBox="1">
            <a:spLocks/>
          </p:cNvSpPr>
          <p:nvPr/>
        </p:nvSpPr>
        <p:spPr>
          <a:xfrm>
            <a:off x="3107692" y="6561472"/>
            <a:ext cx="8057517" cy="184666"/>
          </a:xfrm>
          <a:prstGeom prst="rect">
            <a:avLst/>
          </a:prstGeom>
          <a:noFill/>
          <a:ln>
            <a:noFill/>
          </a:ln>
        </p:spPr>
        <p:txBody>
          <a:bodyPr spcFirstLastPara="1" wrap="square" lIns="0" tIns="0" rIns="0" bIns="0" anchor="t" anchorCtr="0">
            <a:spAutoFit/>
          </a:bodyPr>
          <a:lstStyle>
            <a:defPPr>
              <a:defRPr lang="en-US"/>
            </a:defPPr>
            <a:lvl1pPr marL="0" lvl="0" algn="l" defTabSz="914400" rtl="0" eaLnBrk="1" latinLnBrk="0" hangingPunct="1">
              <a:lnSpc>
                <a:spcPct val="100000"/>
              </a:lnSpc>
              <a:spcBef>
                <a:spcPts val="0"/>
              </a:spcBef>
              <a:spcAft>
                <a:spcPts val="0"/>
              </a:spcAft>
              <a:buSzPts val="1400"/>
              <a:buNone/>
              <a:defRPr sz="1800" kern="1200">
                <a:solidFill>
                  <a:srgbClr val="888888"/>
                </a:solidFill>
                <a:latin typeface="+mn-lt"/>
                <a:ea typeface="+mn-ea"/>
                <a:cs typeface="+mn-cs"/>
              </a:defRPr>
            </a:lvl1pPr>
            <a:lvl2pPr marL="457200" lvl="1"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2pPr>
            <a:lvl3pPr marL="914400" lvl="2"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3pPr>
            <a:lvl4pPr marL="1371600" lvl="3"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4pPr>
            <a:lvl5pPr marL="1828800" lvl="4"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5pPr>
            <a:lvl6pPr marL="2286000" lvl="5"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6pPr>
            <a:lvl7pPr marL="2743200" lvl="6"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7pPr>
            <a:lvl8pPr marL="3200400" lvl="7"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8pPr>
            <a:lvl9pPr marL="3657600" lvl="8" algn="l" defTabSz="914400" rtl="0" eaLnBrk="1" latinLnBrk="0" hangingPunct="1">
              <a:lnSpc>
                <a:spcPct val="100000"/>
              </a:lnSpc>
              <a:spcBef>
                <a:spcPts val="0"/>
              </a:spcBef>
              <a:spcAft>
                <a:spcPts val="0"/>
              </a:spcAft>
              <a:buSzPts val="1400"/>
              <a:buNone/>
              <a:defRPr sz="1800" kern="1200">
                <a:solidFill>
                  <a:schemeClr val="tx1"/>
                </a:solidFill>
                <a:latin typeface="+mn-lt"/>
                <a:ea typeface="+mn-ea"/>
                <a:cs typeface="+mn-cs"/>
              </a:defRPr>
            </a:lvl9pPr>
          </a:lstStyle>
          <a:p>
            <a:r>
              <a:rPr lang="en-IN" sz="1200" dirty="0">
                <a:solidFill>
                  <a:schemeClr val="tx1"/>
                </a:solidFill>
              </a:rPr>
              <a:t>Faculty Development Workshop on Deep Reinforcement Learning - 9 &amp; 10 March,2026</a:t>
            </a:r>
          </a:p>
        </p:txBody>
      </p:sp>
    </p:spTree>
  </p:cSld>
  <p:clrMapOvr>
    <a:masterClrMapping/>
  </p:clrMapOvr>
  <p:transition>
    <p:fade thruBlk="1"/>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74662" y="231524"/>
            <a:ext cx="10453163" cy="430887"/>
          </a:xfrm>
        </p:spPr>
        <p:txBody>
          <a:bodyPr/>
          <a:lstStyle/>
          <a:p>
            <a:r>
              <a:rPr lang="en-US" sz="2800" dirty="0">
                <a:solidFill>
                  <a:schemeClr val="bg1"/>
                </a:solidFill>
              </a:rPr>
              <a:t>Generalised Policy Iteration (GPI)</a:t>
            </a:r>
          </a:p>
        </p:txBody>
      </p:sp>
      <p:sp>
        <p:nvSpPr>
          <p:cNvPr id="10" name="BannerBg"/>
          <p:cNvSpPr>
            <a:spLocks noGrp="1"/>
          </p:cNvSpPr>
          <p:nvPr/>
        </p:nvSpPr>
        <p:spPr>
          <a:xfrm>
            <a:off x="457200" y="1080000"/>
            <a:ext cx="11277600" cy="760000"/>
          </a:xfrm>
          <a:prstGeom prst="roundRect">
            <a:avLst>
              <a:gd name="adj" fmla="val 16667"/>
            </a:avLst>
          </a:prstGeom>
          <a:solidFill>
            <a:srgbClr val="1B1472"/>
          </a:solidFill>
          <a:ln>
            <a:noFill/>
          </a:ln>
        </p:spPr>
        <p:txBody>
          <a:bodyPr/>
          <a:lstStyle/>
          <a:p>
            <a:endParaRPr/>
          </a:p>
        </p:txBody>
      </p:sp>
      <p:sp>
        <p:nvSpPr>
          <p:cNvPr id="11" name="BannerTxt"/>
          <p:cNvSpPr txBox="1"/>
          <p:nvPr/>
        </p:nvSpPr>
        <p:spPr>
          <a:xfrm>
            <a:off x="700000" y="1100000"/>
            <a:ext cx="10800000" cy="617798"/>
          </a:xfrm>
          <a:prstGeom prst="rect">
            <a:avLst/>
          </a:prstGeom>
          <a:noFill/>
          <a:ln>
            <a:noFill/>
          </a:ln>
        </p:spPr>
        <p:txBody>
          <a:bodyPr wrap="square" lIns="91440" tIns="45720" rIns="91440" bIns="45720" anchor="t">
            <a:spAutoFit/>
          </a:bodyPr>
          <a:lstStyle/>
          <a:p>
            <a:pPr>
              <a:lnSpc>
                <a:spcPts val="2100"/>
              </a:lnSpc>
            </a:pPr>
            <a:r>
              <a:rPr lang="en-US" sz="1600" dirty="0">
                <a:solidFill>
                  <a:srgbClr val="C5CAE9"/>
                </a:solidFill>
                <a:latin typeface="Calibri"/>
              </a:rPr>
              <a:t>GPI: Generalised Policy Iteration — the general schema of interleaving policy evaluation and improvement. Almost all RL methods can be described as GPI.  </a:t>
            </a:r>
          </a:p>
        </p:txBody>
      </p:sp>
      <p:sp>
        <p:nvSpPr>
          <p:cNvPr id="20" name="CardBg20"/>
          <p:cNvSpPr>
            <a:spLocks noGrp="1"/>
          </p:cNvSpPr>
          <p:nvPr/>
        </p:nvSpPr>
        <p:spPr>
          <a:xfrm>
            <a:off x="457200" y="2000000"/>
            <a:ext cx="3580000" cy="2581059"/>
          </a:xfrm>
          <a:prstGeom prst="roundRect">
            <a:avLst>
              <a:gd name="adj" fmla="val 16667"/>
            </a:avLst>
          </a:prstGeom>
          <a:solidFill>
            <a:srgbClr val="EEF0FB"/>
          </a:solidFill>
          <a:ln>
            <a:noFill/>
          </a:ln>
        </p:spPr>
        <p:txBody>
          <a:bodyPr/>
          <a:lstStyle/>
          <a:p>
            <a:endParaRPr/>
          </a:p>
        </p:txBody>
      </p:sp>
      <p:sp>
        <p:nvSpPr>
          <p:cNvPr id="21" name="CardLbl21"/>
          <p:cNvSpPr txBox="1"/>
          <p:nvPr/>
        </p:nvSpPr>
        <p:spPr>
          <a:xfrm>
            <a:off x="457200" y="2000000"/>
            <a:ext cx="3580000" cy="420000"/>
          </a:xfrm>
          <a:prstGeom prst="rect">
            <a:avLst/>
          </a:prstGeom>
          <a:solidFill>
            <a:srgbClr val="1B1472"/>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Evaluation Process</a:t>
            </a:r>
          </a:p>
        </p:txBody>
      </p:sp>
      <p:sp>
        <p:nvSpPr>
          <p:cNvPr id="22" name="CardTxt22"/>
          <p:cNvSpPr txBox="1"/>
          <p:nvPr/>
        </p:nvSpPr>
        <p:spPr>
          <a:xfrm>
            <a:off x="548640" y="2460000"/>
            <a:ext cx="3397120" cy="1589531"/>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Makes V consistent with the CURRENT policy π.</a:t>
            </a:r>
          </a:p>
          <a:p>
            <a:pPr>
              <a:lnSpc>
                <a:spcPts val="2000"/>
              </a:lnSpc>
            </a:pPr>
            <a:r>
              <a:rPr lang="en-US" sz="1600" dirty="0">
                <a:solidFill>
                  <a:srgbClr val="1E1E2E"/>
                </a:solidFill>
                <a:latin typeface="Calibri"/>
              </a:rPr>
              <a:t>Applies Bellman expectation backups.</a:t>
            </a:r>
          </a:p>
          <a:p>
            <a:pPr>
              <a:lnSpc>
                <a:spcPts val="2000"/>
              </a:lnSpc>
            </a:pPr>
            <a:r>
              <a:rPr lang="en-US" sz="1600" dirty="0">
                <a:solidFill>
                  <a:srgbClr val="1E1E2E"/>
                </a:solidFill>
                <a:latin typeface="Calibri"/>
              </a:rPr>
              <a:t>Drives V toward Vπ.</a:t>
            </a:r>
          </a:p>
          <a:p>
            <a:pPr>
              <a:lnSpc>
                <a:spcPts val="2000"/>
              </a:lnSpc>
            </a:pPr>
            <a:r>
              <a:rPr lang="en-US" sz="1600" dirty="0">
                <a:solidFill>
                  <a:srgbClr val="1E1E2E"/>
                </a:solidFill>
                <a:latin typeface="Calibri"/>
              </a:rPr>
              <a:t>Does NOT need to converge fully before improvement begins.</a:t>
            </a:r>
          </a:p>
        </p:txBody>
      </p:sp>
      <p:sp>
        <p:nvSpPr>
          <p:cNvPr id="30" name="CardBg30"/>
          <p:cNvSpPr>
            <a:spLocks noGrp="1"/>
          </p:cNvSpPr>
          <p:nvPr/>
        </p:nvSpPr>
        <p:spPr>
          <a:xfrm>
            <a:off x="4214800" y="2000000"/>
            <a:ext cx="3580000" cy="2581059"/>
          </a:xfrm>
          <a:prstGeom prst="roundRect">
            <a:avLst>
              <a:gd name="adj" fmla="val 16667"/>
            </a:avLst>
          </a:prstGeom>
          <a:solidFill>
            <a:srgbClr val="EEF0FB"/>
          </a:solidFill>
          <a:ln>
            <a:noFill/>
          </a:ln>
        </p:spPr>
        <p:txBody>
          <a:bodyPr/>
          <a:lstStyle/>
          <a:p>
            <a:endParaRPr/>
          </a:p>
        </p:txBody>
      </p:sp>
      <p:sp>
        <p:nvSpPr>
          <p:cNvPr id="31" name="CardLbl31"/>
          <p:cNvSpPr txBox="1"/>
          <p:nvPr/>
        </p:nvSpPr>
        <p:spPr>
          <a:xfrm>
            <a:off x="4214800" y="2000000"/>
            <a:ext cx="3580000" cy="420000"/>
          </a:xfrm>
          <a:prstGeom prst="rect">
            <a:avLst/>
          </a:prstGeom>
          <a:solidFill>
            <a:srgbClr val="2D3091"/>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Improvement Process</a:t>
            </a:r>
          </a:p>
        </p:txBody>
      </p:sp>
      <p:sp>
        <p:nvSpPr>
          <p:cNvPr id="32" name="CardTxt32"/>
          <p:cNvSpPr txBox="1"/>
          <p:nvPr/>
        </p:nvSpPr>
        <p:spPr>
          <a:xfrm>
            <a:off x="4306240" y="2460000"/>
            <a:ext cx="3397120" cy="1846011"/>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Makes π greedy w.r.t. current V.</a:t>
            </a:r>
          </a:p>
          <a:p>
            <a:pPr>
              <a:lnSpc>
                <a:spcPts val="2000"/>
              </a:lnSpc>
            </a:pPr>
            <a:r>
              <a:rPr lang="en-US" sz="1600" dirty="0">
                <a:solidFill>
                  <a:srgbClr val="1E1E2E"/>
                </a:solidFill>
                <a:latin typeface="Calibri"/>
              </a:rPr>
              <a:t>Changes the policy, which invalidates V again.</a:t>
            </a:r>
          </a:p>
          <a:p>
            <a:pPr>
              <a:lnSpc>
                <a:spcPts val="2000"/>
              </a:lnSpc>
            </a:pPr>
            <a:r>
              <a:rPr lang="en-US" sz="1600" dirty="0">
                <a:solidFill>
                  <a:srgbClr val="1E1E2E"/>
                </a:solidFill>
                <a:latin typeface="Calibri"/>
              </a:rPr>
              <a:t>The two processes COMPETE — but together converge.</a:t>
            </a:r>
          </a:p>
          <a:p>
            <a:pPr>
              <a:lnSpc>
                <a:spcPts val="2000"/>
              </a:lnSpc>
            </a:pPr>
            <a:r>
              <a:rPr lang="en-US" sz="1600" dirty="0">
                <a:solidFill>
                  <a:srgbClr val="1E1E2E"/>
                </a:solidFill>
                <a:latin typeface="Calibri"/>
              </a:rPr>
              <a:t>Fixed point = optimal (π*, V*) for both processes.</a:t>
            </a:r>
          </a:p>
        </p:txBody>
      </p:sp>
      <p:sp>
        <p:nvSpPr>
          <p:cNvPr id="40" name="CardBg40"/>
          <p:cNvSpPr>
            <a:spLocks noGrp="1"/>
          </p:cNvSpPr>
          <p:nvPr/>
        </p:nvSpPr>
        <p:spPr>
          <a:xfrm>
            <a:off x="7972400" y="2000000"/>
            <a:ext cx="3580000" cy="2581059"/>
          </a:xfrm>
          <a:prstGeom prst="roundRect">
            <a:avLst>
              <a:gd name="adj" fmla="val 16667"/>
            </a:avLst>
          </a:prstGeom>
          <a:solidFill>
            <a:srgbClr val="EEF0FB"/>
          </a:solidFill>
          <a:ln>
            <a:noFill/>
          </a:ln>
        </p:spPr>
        <p:txBody>
          <a:bodyPr/>
          <a:lstStyle/>
          <a:p>
            <a:endParaRPr/>
          </a:p>
        </p:txBody>
      </p:sp>
      <p:sp>
        <p:nvSpPr>
          <p:cNvPr id="41" name="CardLbl41"/>
          <p:cNvSpPr txBox="1"/>
          <p:nvPr/>
        </p:nvSpPr>
        <p:spPr>
          <a:xfrm>
            <a:off x="7972400" y="2000000"/>
            <a:ext cx="3580000" cy="420000"/>
          </a:xfrm>
          <a:prstGeom prst="rect">
            <a:avLst/>
          </a:prstGeom>
          <a:solidFill>
            <a:srgbClr val="00838F"/>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Spectrum of GPI</a:t>
            </a:r>
          </a:p>
        </p:txBody>
      </p:sp>
      <p:sp>
        <p:nvSpPr>
          <p:cNvPr id="42" name="CardTxt42"/>
          <p:cNvSpPr txBox="1"/>
          <p:nvPr/>
        </p:nvSpPr>
        <p:spPr>
          <a:xfrm>
            <a:off x="8063840" y="2460000"/>
            <a:ext cx="3397120" cy="1589531"/>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Policy Iter: full eval → improve.</a:t>
            </a:r>
          </a:p>
          <a:p>
            <a:pPr>
              <a:lnSpc>
                <a:spcPts val="2000"/>
              </a:lnSpc>
            </a:pPr>
            <a:r>
              <a:rPr lang="en-US" sz="1600" dirty="0">
                <a:solidFill>
                  <a:srgbClr val="1E1E2E"/>
                </a:solidFill>
                <a:latin typeface="Calibri"/>
              </a:rPr>
              <a:t>Value Iter: 1 sweep → improve.</a:t>
            </a:r>
          </a:p>
          <a:p>
            <a:pPr>
              <a:lnSpc>
                <a:spcPts val="2000"/>
              </a:lnSpc>
            </a:pPr>
            <a:r>
              <a:rPr lang="en-US" sz="1600" dirty="0">
                <a:solidFill>
                  <a:srgbClr val="1E1E2E"/>
                </a:solidFill>
                <a:latin typeface="Calibri"/>
              </a:rPr>
              <a:t>Async DP: update any states freely.</a:t>
            </a:r>
          </a:p>
          <a:p>
            <a:pPr>
              <a:lnSpc>
                <a:spcPts val="2000"/>
              </a:lnSpc>
            </a:pPr>
            <a:r>
              <a:rPr lang="en-US" sz="1600" dirty="0">
                <a:solidFill>
                  <a:srgbClr val="1E1E2E"/>
                </a:solidFill>
                <a:latin typeface="Calibri"/>
              </a:rPr>
              <a:t>TD / Q-learning: model-free GPI.</a:t>
            </a:r>
          </a:p>
          <a:p>
            <a:pPr>
              <a:lnSpc>
                <a:spcPts val="2000"/>
              </a:lnSpc>
            </a:pPr>
            <a:r>
              <a:rPr lang="en-US" sz="1600" dirty="0">
                <a:solidFill>
                  <a:srgbClr val="1E1E2E"/>
                </a:solidFill>
                <a:latin typeface="Calibri"/>
              </a:rPr>
              <a:t>Actor-Critic: parallel eval + improve.</a:t>
            </a:r>
          </a:p>
          <a:p>
            <a:pPr>
              <a:lnSpc>
                <a:spcPts val="2000"/>
              </a:lnSpc>
            </a:pPr>
            <a:r>
              <a:rPr lang="en-US" sz="1600" dirty="0">
                <a:solidFill>
                  <a:srgbClr val="1E1E2E"/>
                </a:solidFill>
                <a:latin typeface="Calibri"/>
              </a:rPr>
              <a:t>Deep RL: approximate GPI with NNs.</a:t>
            </a:r>
          </a:p>
        </p:txBody>
      </p:sp>
      <p:sp>
        <p:nvSpPr>
          <p:cNvPr id="3" name="Footer"/>
          <p:cNvSpPr>
            <a:spLocks noGrp="1"/>
          </p:cNvSpPr>
          <p:nvPr>
            <p:ph type="ftr" idx="10"/>
          </p:nvPr>
        </p:nvSpPr>
        <p:spPr/>
        <p:txBody>
          <a:bodyPr/>
          <a:lstStyle/>
          <a:p>
            <a:r>
              <a:rPr lang="en-IN"/>
              <a:t>Faculty Development Workshop on Deep Reinforcement Learning - 9 &amp; 10 March,2026</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a:xfrm>
            <a:off x="174662" y="231524"/>
            <a:ext cx="10453163" cy="430887"/>
          </a:xfrm>
        </p:spPr>
        <p:txBody>
          <a:bodyPr/>
          <a:lstStyle/>
          <a:p>
            <a:r>
              <a:rPr lang="en-US" sz="2800" dirty="0">
                <a:solidFill>
                  <a:schemeClr val="bg1"/>
                </a:solidFill>
              </a:rPr>
              <a:t>GPI — Convergence and Geometric View</a:t>
            </a:r>
          </a:p>
        </p:txBody>
      </p:sp>
      <p:sp>
        <p:nvSpPr>
          <p:cNvPr id="10" name="CardBg10"/>
          <p:cNvSpPr>
            <a:spLocks noGrp="1"/>
          </p:cNvSpPr>
          <p:nvPr/>
        </p:nvSpPr>
        <p:spPr>
          <a:xfrm>
            <a:off x="457200" y="1080000"/>
            <a:ext cx="5400000" cy="2400000"/>
          </a:xfrm>
          <a:prstGeom prst="roundRect">
            <a:avLst>
              <a:gd name="adj" fmla="val 16667"/>
            </a:avLst>
          </a:prstGeom>
          <a:solidFill>
            <a:srgbClr val="EEF0FB"/>
          </a:solidFill>
          <a:ln>
            <a:noFill/>
          </a:ln>
        </p:spPr>
        <p:txBody>
          <a:bodyPr/>
          <a:lstStyle/>
          <a:p>
            <a:endParaRPr/>
          </a:p>
        </p:txBody>
      </p:sp>
      <p:sp>
        <p:nvSpPr>
          <p:cNvPr id="11" name="CardLbl11"/>
          <p:cNvSpPr txBox="1"/>
          <p:nvPr/>
        </p:nvSpPr>
        <p:spPr>
          <a:xfrm>
            <a:off x="457200" y="1080000"/>
            <a:ext cx="5400000" cy="400000"/>
          </a:xfrm>
          <a:prstGeom prst="rect">
            <a:avLst/>
          </a:prstGeom>
          <a:solidFill>
            <a:srgbClr val="1B1472"/>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Convergence of GPI</a:t>
            </a:r>
          </a:p>
        </p:txBody>
      </p:sp>
      <p:sp>
        <p:nvSpPr>
          <p:cNvPr id="12" name="CardTxt12"/>
          <p:cNvSpPr txBox="1"/>
          <p:nvPr/>
        </p:nvSpPr>
        <p:spPr>
          <a:xfrm>
            <a:off x="548640" y="1520000"/>
            <a:ext cx="5217120" cy="1333050"/>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Evaluation: drives Vπ closer to V (policy-consistent manifold).</a:t>
            </a:r>
          </a:p>
          <a:p>
            <a:pPr>
              <a:lnSpc>
                <a:spcPts val="2000"/>
              </a:lnSpc>
            </a:pPr>
            <a:r>
              <a:rPr lang="en-US" sz="1600" dirty="0">
                <a:solidFill>
                  <a:srgbClr val="1E1E2E"/>
                </a:solidFill>
                <a:latin typeface="Calibri"/>
              </a:rPr>
              <a:t>Improvement: ensures π greedy w.r.t. V (value-consistent manifold).</a:t>
            </a:r>
          </a:p>
          <a:p>
            <a:pPr>
              <a:lnSpc>
                <a:spcPts val="2000"/>
              </a:lnSpc>
            </a:pPr>
            <a:r>
              <a:rPr lang="en-US" sz="1600" dirty="0">
                <a:solidFill>
                  <a:srgbClr val="1E1E2E"/>
                </a:solidFill>
                <a:latin typeface="Calibri"/>
              </a:rPr>
              <a:t>Fixed point: neither process changes anything ⇒ π = π* and V = V*.</a:t>
            </a:r>
          </a:p>
        </p:txBody>
      </p:sp>
      <p:sp>
        <p:nvSpPr>
          <p:cNvPr id="20" name="CardBg20"/>
          <p:cNvSpPr>
            <a:spLocks noGrp="1"/>
          </p:cNvSpPr>
          <p:nvPr/>
        </p:nvSpPr>
        <p:spPr>
          <a:xfrm>
            <a:off x="6200000" y="1080000"/>
            <a:ext cx="5535000" cy="2400000"/>
          </a:xfrm>
          <a:prstGeom prst="roundRect">
            <a:avLst>
              <a:gd name="adj" fmla="val 16667"/>
            </a:avLst>
          </a:prstGeom>
          <a:solidFill>
            <a:srgbClr val="EEF0FB"/>
          </a:solidFill>
          <a:ln>
            <a:noFill/>
          </a:ln>
        </p:spPr>
        <p:txBody>
          <a:bodyPr/>
          <a:lstStyle/>
          <a:p>
            <a:endParaRPr/>
          </a:p>
        </p:txBody>
      </p:sp>
      <p:sp>
        <p:nvSpPr>
          <p:cNvPr id="21" name="CardLbl21"/>
          <p:cNvSpPr txBox="1"/>
          <p:nvPr/>
        </p:nvSpPr>
        <p:spPr>
          <a:xfrm>
            <a:off x="6200000" y="1080000"/>
            <a:ext cx="5535000" cy="400000"/>
          </a:xfrm>
          <a:prstGeom prst="rect">
            <a:avLst/>
          </a:prstGeom>
          <a:solidFill>
            <a:srgbClr val="2D3091"/>
          </a:solidFill>
          <a:ln>
            <a:noFill/>
          </a:ln>
        </p:spPr>
        <p:txBody>
          <a:bodyPr wrap="square" lIns="137160" tIns="45720" rIns="91440" bIns="45720" anchor="ctr">
            <a:noAutofit/>
          </a:bodyPr>
          <a:lstStyle/>
          <a:p>
            <a:pPr>
              <a:lnSpc>
                <a:spcPts val="2000"/>
              </a:lnSpc>
            </a:pPr>
            <a:r>
              <a:rPr lang="en-US" b="1" dirty="0">
                <a:solidFill>
                  <a:srgbClr val="FFFFFF"/>
                </a:solidFill>
                <a:latin typeface="Calibri"/>
              </a:rPr>
              <a:t>Geometric View</a:t>
            </a:r>
          </a:p>
        </p:txBody>
      </p:sp>
      <p:sp>
        <p:nvSpPr>
          <p:cNvPr id="22" name="CardTxt22"/>
          <p:cNvSpPr txBox="1"/>
          <p:nvPr/>
        </p:nvSpPr>
        <p:spPr>
          <a:xfrm>
            <a:off x="6291440" y="1520000"/>
            <a:ext cx="5352120" cy="1076570"/>
          </a:xfrm>
          <a:prstGeom prst="rect">
            <a:avLst/>
          </a:prstGeom>
          <a:noFill/>
          <a:ln>
            <a:noFill/>
          </a:ln>
        </p:spPr>
        <p:txBody>
          <a:bodyPr wrap="square" lIns="60000" tIns="30000" rIns="60000" bIns="30000" anchor="t">
            <a:spAutoFit/>
          </a:bodyPr>
          <a:lstStyle/>
          <a:p>
            <a:pPr>
              <a:lnSpc>
                <a:spcPts val="2000"/>
              </a:lnSpc>
            </a:pPr>
            <a:r>
              <a:rPr lang="en-US" sz="1600" dirty="0">
                <a:solidFill>
                  <a:srgbClr val="1E1E2E"/>
                </a:solidFill>
                <a:latin typeface="Calibri"/>
              </a:rPr>
              <a:t>Two manifolds in (V, π) space:</a:t>
            </a:r>
          </a:p>
          <a:p>
            <a:pPr>
              <a:lnSpc>
                <a:spcPts val="2000"/>
              </a:lnSpc>
            </a:pPr>
            <a:r>
              <a:rPr lang="en-US" sz="1600" dirty="0">
                <a:solidFill>
                  <a:srgbClr val="1E1E2E"/>
                </a:solidFill>
                <a:latin typeface="Calibri"/>
              </a:rPr>
              <a:t>  Policy-consistent manifold: V = Vπ</a:t>
            </a:r>
          </a:p>
          <a:p>
            <a:pPr>
              <a:lnSpc>
                <a:spcPts val="2000"/>
              </a:lnSpc>
            </a:pPr>
            <a:r>
              <a:rPr lang="en-US" sz="1600" dirty="0">
                <a:solidFill>
                  <a:srgbClr val="1E1E2E"/>
                </a:solidFill>
                <a:latin typeface="Calibri"/>
              </a:rPr>
              <a:t>  Value-consistent manifold: π greedy w.r.t. V</a:t>
            </a:r>
          </a:p>
          <a:p>
            <a:pPr>
              <a:lnSpc>
                <a:spcPts val="2000"/>
              </a:lnSpc>
            </a:pPr>
            <a:r>
              <a:rPr lang="en-US" sz="1600" dirty="0">
                <a:solidFill>
                  <a:srgbClr val="1E1E2E"/>
                </a:solidFill>
                <a:latin typeface="Calibri"/>
              </a:rPr>
              <a:t>Eval &amp; improve zigzag toward their intersection = (V*, π*).</a:t>
            </a:r>
          </a:p>
        </p:txBody>
      </p:sp>
      <p:sp>
        <p:nvSpPr>
          <p:cNvPr id="30" name="TkBg"/>
          <p:cNvSpPr>
            <a:spLocks noGrp="1"/>
          </p:cNvSpPr>
          <p:nvPr/>
        </p:nvSpPr>
        <p:spPr>
          <a:xfrm>
            <a:off x="457200" y="3620000"/>
            <a:ext cx="11277600" cy="280000"/>
          </a:xfrm>
          <a:prstGeom prst="roundRect">
            <a:avLst>
              <a:gd name="adj" fmla="val 16667"/>
            </a:avLst>
          </a:prstGeom>
          <a:solidFill>
            <a:srgbClr val="EEF0FB"/>
          </a:solidFill>
          <a:ln>
            <a:noFill/>
          </a:ln>
        </p:spPr>
        <p:txBody>
          <a:bodyPr/>
          <a:lstStyle/>
          <a:p>
            <a:endParaRPr/>
          </a:p>
        </p:txBody>
      </p:sp>
      <p:sp>
        <p:nvSpPr>
          <p:cNvPr id="31" name="TkTitle"/>
          <p:cNvSpPr txBox="1"/>
          <p:nvPr/>
        </p:nvSpPr>
        <p:spPr>
          <a:xfrm>
            <a:off x="600000" y="3630000"/>
            <a:ext cx="3000000" cy="364843"/>
          </a:xfrm>
          <a:prstGeom prst="rect">
            <a:avLst/>
          </a:prstGeom>
          <a:noFill/>
          <a:ln>
            <a:noFill/>
          </a:ln>
        </p:spPr>
        <p:txBody>
          <a:bodyPr wrap="square" lIns="91440" tIns="45720" rIns="91440" bIns="45720" anchor="t">
            <a:spAutoFit/>
          </a:bodyPr>
          <a:lstStyle/>
          <a:p>
            <a:pPr>
              <a:lnSpc>
                <a:spcPts val="2200"/>
              </a:lnSpc>
            </a:pPr>
            <a:r>
              <a:rPr lang="en-US" b="1" dirty="0">
                <a:solidFill>
                  <a:srgbClr val="1B1472"/>
                </a:solidFill>
                <a:latin typeface="Calibri"/>
              </a:rPr>
              <a:t>Practical Takeaways</a:t>
            </a:r>
          </a:p>
        </p:txBody>
      </p:sp>
      <p:sp>
        <p:nvSpPr>
          <p:cNvPr id="40" name="TkNum40"/>
          <p:cNvSpPr>
            <a:spLocks noGrp="1"/>
          </p:cNvSpPr>
          <p:nvPr/>
        </p:nvSpPr>
        <p:spPr>
          <a:xfrm>
            <a:off x="457200" y="4000000"/>
            <a:ext cx="500000" cy="540000"/>
          </a:xfrm>
          <a:prstGeom prst="roundRect">
            <a:avLst>
              <a:gd name="adj" fmla="val 50000"/>
            </a:avLst>
          </a:prstGeom>
          <a:solidFill>
            <a:srgbClr val="1B1472"/>
          </a:solidFill>
          <a:ln>
            <a:noFill/>
          </a:ln>
        </p:spPr>
        <p:txBody>
          <a:bodyPr/>
          <a:lstStyle/>
          <a:p>
            <a:endParaRPr/>
          </a:p>
        </p:txBody>
      </p:sp>
      <p:sp>
        <p:nvSpPr>
          <p:cNvPr id="41" name="TkNumTxt41"/>
          <p:cNvSpPr txBox="1"/>
          <p:nvPr/>
        </p:nvSpPr>
        <p:spPr>
          <a:xfrm>
            <a:off x="457200" y="4000000"/>
            <a:ext cx="500000" cy="540000"/>
          </a:xfrm>
          <a:prstGeom prst="rect">
            <a:avLst/>
          </a:prstGeom>
          <a:noFill/>
          <a:ln>
            <a:noFill/>
          </a:ln>
        </p:spPr>
        <p:txBody>
          <a:bodyPr wrap="square" lIns="0" tIns="0" rIns="0" bIns="0" anchor="ctr">
            <a:spAutoFit/>
          </a:bodyPr>
          <a:lstStyle/>
          <a:p>
            <a:pPr>
              <a:lnSpc>
                <a:spcPts val="1900"/>
              </a:lnSpc>
            </a:pPr>
            <a:r>
              <a:rPr lang="en-US" sz="1900" b="1" dirty="0">
                <a:solidFill>
                  <a:srgbClr val="FFFFFF"/>
                </a:solidFill>
                <a:latin typeface="Calibri"/>
              </a:rPr>
              <a:t>1</a:t>
            </a:r>
          </a:p>
        </p:txBody>
      </p:sp>
      <p:sp>
        <p:nvSpPr>
          <p:cNvPr id="42" name="TkTxt42"/>
          <p:cNvSpPr txBox="1"/>
          <p:nvPr/>
        </p:nvSpPr>
        <p:spPr>
          <a:xfrm>
            <a:off x="1060000" y="4040000"/>
            <a:ext cx="10600000" cy="312904"/>
          </a:xfrm>
          <a:prstGeom prst="rect">
            <a:avLst/>
          </a:prstGeom>
          <a:noFill/>
          <a:ln>
            <a:noFill/>
          </a:ln>
        </p:spPr>
        <p:txBody>
          <a:bodyPr wrap="square" lIns="60000" tIns="20000" rIns="91440" bIns="45720" anchor="t">
            <a:spAutoFit/>
          </a:bodyPr>
          <a:lstStyle/>
          <a:p>
            <a:pPr>
              <a:lnSpc>
                <a:spcPts val="2000"/>
              </a:lnSpc>
            </a:pPr>
            <a:r>
              <a:rPr lang="en-US" sz="1600" dirty="0">
                <a:solidFill>
                  <a:srgbClr val="1E1E2E"/>
                </a:solidFill>
                <a:latin typeface="Calibri"/>
              </a:rPr>
              <a:t>GPI unifies all DP methods and provides the theoretical bridge to model-free RL (TD, Q-learning, Actor-Critic, Deep RL).</a:t>
            </a:r>
          </a:p>
        </p:txBody>
      </p:sp>
      <p:sp>
        <p:nvSpPr>
          <p:cNvPr id="43" name="TkNum43"/>
          <p:cNvSpPr>
            <a:spLocks noGrp="1"/>
          </p:cNvSpPr>
          <p:nvPr/>
        </p:nvSpPr>
        <p:spPr>
          <a:xfrm>
            <a:off x="457200" y="4640000"/>
            <a:ext cx="500000" cy="540000"/>
          </a:xfrm>
          <a:prstGeom prst="roundRect">
            <a:avLst>
              <a:gd name="adj" fmla="val 50000"/>
            </a:avLst>
          </a:prstGeom>
          <a:solidFill>
            <a:srgbClr val="1B1472"/>
          </a:solidFill>
          <a:ln>
            <a:noFill/>
          </a:ln>
        </p:spPr>
        <p:txBody>
          <a:bodyPr/>
          <a:lstStyle/>
          <a:p>
            <a:endParaRPr/>
          </a:p>
        </p:txBody>
      </p:sp>
      <p:sp>
        <p:nvSpPr>
          <p:cNvPr id="44" name="TkNumTxt44"/>
          <p:cNvSpPr txBox="1"/>
          <p:nvPr/>
        </p:nvSpPr>
        <p:spPr>
          <a:xfrm>
            <a:off x="457200" y="4640000"/>
            <a:ext cx="500000" cy="540000"/>
          </a:xfrm>
          <a:prstGeom prst="rect">
            <a:avLst/>
          </a:prstGeom>
          <a:noFill/>
          <a:ln>
            <a:noFill/>
          </a:ln>
        </p:spPr>
        <p:txBody>
          <a:bodyPr wrap="square" lIns="0" tIns="0" rIns="0" bIns="0" anchor="ctr">
            <a:spAutoFit/>
          </a:bodyPr>
          <a:lstStyle/>
          <a:p>
            <a:pPr>
              <a:lnSpc>
                <a:spcPts val="1900"/>
              </a:lnSpc>
            </a:pPr>
            <a:r>
              <a:rPr lang="en-US" sz="1900" b="1" dirty="0">
                <a:solidFill>
                  <a:srgbClr val="FFFFFF"/>
                </a:solidFill>
                <a:latin typeface="Calibri"/>
              </a:rPr>
              <a:t>2</a:t>
            </a:r>
          </a:p>
        </p:txBody>
      </p:sp>
      <p:sp>
        <p:nvSpPr>
          <p:cNvPr id="45" name="TkTxt45"/>
          <p:cNvSpPr txBox="1"/>
          <p:nvPr/>
        </p:nvSpPr>
        <p:spPr>
          <a:xfrm>
            <a:off x="1060000" y="4680000"/>
            <a:ext cx="10600000" cy="312904"/>
          </a:xfrm>
          <a:prstGeom prst="rect">
            <a:avLst/>
          </a:prstGeom>
          <a:noFill/>
          <a:ln>
            <a:noFill/>
          </a:ln>
        </p:spPr>
        <p:txBody>
          <a:bodyPr wrap="square" lIns="60000" tIns="20000" rIns="91440" bIns="45720" anchor="t">
            <a:spAutoFit/>
          </a:bodyPr>
          <a:lstStyle/>
          <a:p>
            <a:pPr>
              <a:lnSpc>
                <a:spcPts val="2000"/>
              </a:lnSpc>
            </a:pPr>
            <a:r>
              <a:rPr lang="en-US" sz="1600" dirty="0">
                <a:solidFill>
                  <a:srgbClr val="1E1E2E"/>
                </a:solidFill>
                <a:latin typeface="Calibri"/>
              </a:rPr>
              <a:t>Truncated or approximate policy evaluation still yields policy improvement — full convergence is NOT required.</a:t>
            </a:r>
          </a:p>
        </p:txBody>
      </p:sp>
      <p:sp>
        <p:nvSpPr>
          <p:cNvPr id="46" name="TkNum46"/>
          <p:cNvSpPr>
            <a:spLocks noGrp="1"/>
          </p:cNvSpPr>
          <p:nvPr/>
        </p:nvSpPr>
        <p:spPr>
          <a:xfrm>
            <a:off x="457200" y="5280000"/>
            <a:ext cx="500000" cy="540000"/>
          </a:xfrm>
          <a:prstGeom prst="roundRect">
            <a:avLst>
              <a:gd name="adj" fmla="val 50000"/>
            </a:avLst>
          </a:prstGeom>
          <a:solidFill>
            <a:srgbClr val="1B1472"/>
          </a:solidFill>
          <a:ln>
            <a:noFill/>
          </a:ln>
        </p:spPr>
        <p:txBody>
          <a:bodyPr/>
          <a:lstStyle/>
          <a:p>
            <a:endParaRPr/>
          </a:p>
        </p:txBody>
      </p:sp>
      <p:sp>
        <p:nvSpPr>
          <p:cNvPr id="47" name="TkNumTxt47"/>
          <p:cNvSpPr txBox="1"/>
          <p:nvPr/>
        </p:nvSpPr>
        <p:spPr>
          <a:xfrm>
            <a:off x="457200" y="5280000"/>
            <a:ext cx="500000" cy="540000"/>
          </a:xfrm>
          <a:prstGeom prst="rect">
            <a:avLst/>
          </a:prstGeom>
          <a:noFill/>
          <a:ln>
            <a:noFill/>
          </a:ln>
        </p:spPr>
        <p:txBody>
          <a:bodyPr wrap="square" lIns="0" tIns="0" rIns="0" bIns="0" anchor="ctr">
            <a:spAutoFit/>
          </a:bodyPr>
          <a:lstStyle/>
          <a:p>
            <a:pPr>
              <a:lnSpc>
                <a:spcPts val="1900"/>
              </a:lnSpc>
            </a:pPr>
            <a:r>
              <a:rPr lang="en-US" sz="1900" b="1" dirty="0">
                <a:solidFill>
                  <a:srgbClr val="FFFFFF"/>
                </a:solidFill>
                <a:latin typeface="Calibri"/>
              </a:rPr>
              <a:t>3</a:t>
            </a:r>
          </a:p>
        </p:txBody>
      </p:sp>
      <p:sp>
        <p:nvSpPr>
          <p:cNvPr id="48" name="TkTxt48"/>
          <p:cNvSpPr txBox="1"/>
          <p:nvPr/>
        </p:nvSpPr>
        <p:spPr>
          <a:xfrm>
            <a:off x="1060000" y="5320000"/>
            <a:ext cx="10600000" cy="312904"/>
          </a:xfrm>
          <a:prstGeom prst="rect">
            <a:avLst/>
          </a:prstGeom>
          <a:noFill/>
          <a:ln>
            <a:noFill/>
          </a:ln>
        </p:spPr>
        <p:txBody>
          <a:bodyPr wrap="square" lIns="60000" tIns="20000" rIns="91440" bIns="45720" anchor="t">
            <a:spAutoFit/>
          </a:bodyPr>
          <a:lstStyle/>
          <a:p>
            <a:pPr>
              <a:lnSpc>
                <a:spcPts val="2000"/>
              </a:lnSpc>
            </a:pPr>
            <a:r>
              <a:rPr lang="en-US" sz="1600" dirty="0">
                <a:solidFill>
                  <a:srgbClr val="1E1E2E"/>
                </a:solidFill>
                <a:latin typeface="Calibri"/>
              </a:rPr>
              <a:t>Key to scalable RL: partial/approximate GPI with function approximation (neural networks in Deep RL).</a:t>
            </a:r>
          </a:p>
        </p:txBody>
      </p:sp>
      <p:sp>
        <p:nvSpPr>
          <p:cNvPr id="80" name="RefBg"/>
          <p:cNvSpPr>
            <a:spLocks noGrp="1"/>
          </p:cNvSpPr>
          <p:nvPr/>
        </p:nvSpPr>
        <p:spPr>
          <a:xfrm>
            <a:off x="457200" y="5990000"/>
            <a:ext cx="11277600" cy="420000"/>
          </a:xfrm>
          <a:prstGeom prst="roundRect">
            <a:avLst>
              <a:gd name="adj" fmla="val 16667"/>
            </a:avLst>
          </a:prstGeom>
          <a:solidFill>
            <a:srgbClr val="EEF0FB"/>
          </a:solidFill>
          <a:ln>
            <a:noFill/>
          </a:ln>
        </p:spPr>
        <p:txBody>
          <a:bodyPr/>
          <a:lstStyle/>
          <a:p>
            <a:endParaRPr/>
          </a:p>
        </p:txBody>
      </p:sp>
      <p:sp>
        <p:nvSpPr>
          <p:cNvPr id="81" name="RefTxt"/>
          <p:cNvSpPr txBox="1"/>
          <p:nvPr/>
        </p:nvSpPr>
        <p:spPr>
          <a:xfrm>
            <a:off x="600000" y="6020000"/>
            <a:ext cx="10800000" cy="380000"/>
          </a:xfrm>
          <a:prstGeom prst="rect">
            <a:avLst/>
          </a:prstGeom>
          <a:noFill/>
          <a:ln>
            <a:noFill/>
          </a:ln>
        </p:spPr>
        <p:txBody>
          <a:bodyPr wrap="square" lIns="91440" tIns="45720" rIns="91440" bIns="45720" anchor="t">
            <a:spAutoFit/>
          </a:bodyPr>
          <a:lstStyle/>
          <a:p>
            <a:pPr>
              <a:lnSpc>
                <a:spcPts val="2200"/>
              </a:lnSpc>
            </a:pPr>
            <a:r>
              <a:rPr lang="en-US" sz="1350" i="1" dirty="0">
                <a:solidFill>
                  <a:srgbClr val="444466"/>
                </a:solidFill>
                <a:latin typeface="Calibri"/>
              </a:rPr>
              <a:t>Reference: Sutton &amp; Barto, Reinforcement Learning: An Introduction, 2nd Ed., Ch. 3 &amp; 4  |  freely available at incompleteideas.net</a:t>
            </a:r>
          </a:p>
        </p:txBody>
      </p:sp>
      <p:sp>
        <p:nvSpPr>
          <p:cNvPr id="3" name="Footer"/>
          <p:cNvSpPr>
            <a:spLocks noGrp="1"/>
          </p:cNvSpPr>
          <p:nvPr>
            <p:ph type="ftr" idx="10"/>
          </p:nvPr>
        </p:nvSpPr>
        <p:spPr/>
        <p:txBody>
          <a:bodyPr/>
          <a:lstStyle/>
          <a:p>
            <a:r>
              <a:rPr lang="en-IN" dirty="0"/>
              <a:t>Faculty Development Workshop on Deep Reinforcement Learning - 9 &amp; 10 March,2026</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B6A9C4-2CEA-4A12-B34A-C2C6E6954301}"/>
              </a:ext>
            </a:extLst>
          </p:cNvPr>
          <p:cNvSpPr>
            <a:spLocks noGrp="1"/>
          </p:cNvSpPr>
          <p:nvPr>
            <p:ph type="ftr" idx="10"/>
          </p:nvPr>
        </p:nvSpPr>
        <p:spPr/>
        <p:txBody>
          <a:bodyPr/>
          <a:lstStyle/>
          <a:p>
            <a:r>
              <a:rPr lang="en-IN"/>
              <a:t>Faculty Development Workshop on Deep Reinforcement Learning - 9 &amp; 10 March,2026</a:t>
            </a:r>
            <a:endParaRPr lang="en-IN" dirty="0"/>
          </a:p>
        </p:txBody>
      </p:sp>
      <p:sp>
        <p:nvSpPr>
          <p:cNvPr id="5" name="TextBox 4">
            <a:extLst>
              <a:ext uri="{FF2B5EF4-FFF2-40B4-BE49-F238E27FC236}">
                <a16:creationId xmlns:a16="http://schemas.microsoft.com/office/drawing/2014/main" id="{022FB81E-7B31-7835-179F-D69467D9376E}"/>
              </a:ext>
            </a:extLst>
          </p:cNvPr>
          <p:cNvSpPr txBox="1"/>
          <p:nvPr/>
        </p:nvSpPr>
        <p:spPr>
          <a:xfrm>
            <a:off x="174662" y="308468"/>
            <a:ext cx="6096000" cy="523220"/>
          </a:xfrm>
          <a:prstGeom prst="rect">
            <a:avLst/>
          </a:prstGeom>
          <a:noFill/>
        </p:spPr>
        <p:txBody>
          <a:bodyPr wrap="square">
            <a:spAutoFit/>
          </a:bodyPr>
          <a:lstStyle/>
          <a:p>
            <a:r>
              <a:rPr lang="en-US" sz="2800" b="1" dirty="0">
                <a:solidFill>
                  <a:srgbClr val="FFFFFF"/>
                </a:solidFill>
                <a:latin typeface="Calibri" pitchFamily="34" charset="0"/>
                <a:ea typeface="Calibri" pitchFamily="34" charset="-122"/>
                <a:cs typeface="Calibri" pitchFamily="34" charset="-120"/>
              </a:rPr>
              <a:t>PI vs VI — Through the GPI Lens</a:t>
            </a:r>
            <a:endParaRPr lang="en-US" sz="2800" dirty="0"/>
          </a:p>
        </p:txBody>
      </p:sp>
      <p:graphicFrame>
        <p:nvGraphicFramePr>
          <p:cNvPr id="6" name="Table 0">
            <a:extLst>
              <a:ext uri="{FF2B5EF4-FFF2-40B4-BE49-F238E27FC236}">
                <a16:creationId xmlns:a16="http://schemas.microsoft.com/office/drawing/2014/main" id="{9F86B5C1-A6DE-85B4-4754-6DE5AE9748F9}"/>
              </a:ext>
            </a:extLst>
          </p:cNvPr>
          <p:cNvGraphicFramePr>
            <a:graphicFrameLocks noGrp="1"/>
          </p:cNvGraphicFramePr>
          <p:nvPr>
            <p:extLst>
              <p:ext uri="{D42A27DB-BD31-4B8C-83A1-F6EECF244321}">
                <p14:modId xmlns:p14="http://schemas.microsoft.com/office/powerpoint/2010/main" val="3631808328"/>
              </p:ext>
            </p:extLst>
          </p:nvPr>
        </p:nvGraphicFramePr>
        <p:xfrm>
          <a:off x="636870" y="1173622"/>
          <a:ext cx="10767444" cy="5351094"/>
        </p:xfrm>
        <a:graphic>
          <a:graphicData uri="http://schemas.openxmlformats.org/drawingml/2006/table">
            <a:tbl>
              <a:tblPr>
                <a:tableStyleId>{5940675A-B579-460E-94D1-54222C63F5DA}</a:tableStyleId>
              </a:tblPr>
              <a:tblGrid>
                <a:gridCol w="2691861">
                  <a:extLst>
                    <a:ext uri="{9D8B030D-6E8A-4147-A177-3AD203B41FA5}">
                      <a16:colId xmlns:a16="http://schemas.microsoft.com/office/drawing/2014/main" val="20000"/>
                    </a:ext>
                  </a:extLst>
                </a:gridCol>
                <a:gridCol w="2691861">
                  <a:extLst>
                    <a:ext uri="{9D8B030D-6E8A-4147-A177-3AD203B41FA5}">
                      <a16:colId xmlns:a16="http://schemas.microsoft.com/office/drawing/2014/main" val="20001"/>
                    </a:ext>
                  </a:extLst>
                </a:gridCol>
                <a:gridCol w="2691861">
                  <a:extLst>
                    <a:ext uri="{9D8B030D-6E8A-4147-A177-3AD203B41FA5}">
                      <a16:colId xmlns:a16="http://schemas.microsoft.com/office/drawing/2014/main" val="20002"/>
                    </a:ext>
                  </a:extLst>
                </a:gridCol>
                <a:gridCol w="2691861">
                  <a:extLst>
                    <a:ext uri="{9D8B030D-6E8A-4147-A177-3AD203B41FA5}">
                      <a16:colId xmlns:a16="http://schemas.microsoft.com/office/drawing/2014/main" val="20003"/>
                    </a:ext>
                  </a:extLst>
                </a:gridCol>
              </a:tblGrid>
              <a:tr h="558220">
                <a:tc>
                  <a:txBody>
                    <a:bodyPr/>
                    <a:lstStyle/>
                    <a:p>
                      <a:pPr marL="0" indent="0">
                        <a:buNone/>
                      </a:pPr>
                      <a:r>
                        <a:rPr lang="en-US" sz="2000" b="1" dirty="0">
                          <a:solidFill>
                            <a:sysClr val="windowText" lastClr="000000"/>
                          </a:solidFill>
                        </a:rPr>
                        <a:t>Aspect</a:t>
                      </a:r>
                      <a:endParaRPr lang="en-US" sz="2000" dirty="0">
                        <a:solidFill>
                          <a:sysClr val="windowText" lastClr="000000"/>
                        </a:solidFill>
                        <a:latin typeface="Calibri" charset="0"/>
                        <a:ea typeface="Calibri" charset="0"/>
                        <a:cs typeface="Calibri" charset="0"/>
                      </a:endParaRPr>
                    </a:p>
                  </a:txBody>
                  <a:tcPr marL="57658" marR="57658" marT="28829" marB="28829">
                    <a:solidFill>
                      <a:schemeClr val="accent4">
                        <a:lumMod val="60000"/>
                        <a:lumOff val="40000"/>
                      </a:schemeClr>
                    </a:solidFill>
                  </a:tcPr>
                </a:tc>
                <a:tc>
                  <a:txBody>
                    <a:bodyPr/>
                    <a:lstStyle/>
                    <a:p>
                      <a:pPr marL="0" indent="0">
                        <a:buNone/>
                      </a:pPr>
                      <a:r>
                        <a:rPr lang="en-US" sz="2000" b="1" dirty="0">
                          <a:solidFill>
                            <a:sysClr val="windowText" lastClr="000000"/>
                          </a:solidFill>
                        </a:rPr>
                        <a:t>Policy Iteration (PI)</a:t>
                      </a:r>
                      <a:endParaRPr lang="en-US" sz="2000" dirty="0">
                        <a:solidFill>
                          <a:sysClr val="windowText" lastClr="000000"/>
                        </a:solidFill>
                        <a:latin typeface="Calibri" charset="0"/>
                        <a:ea typeface="Calibri" charset="0"/>
                        <a:cs typeface="Calibri" charset="0"/>
                      </a:endParaRPr>
                    </a:p>
                  </a:txBody>
                  <a:tcPr marL="57658" marR="57658" marT="28829" marB="28829">
                    <a:solidFill>
                      <a:schemeClr val="accent4">
                        <a:lumMod val="60000"/>
                        <a:lumOff val="40000"/>
                      </a:schemeClr>
                    </a:solidFill>
                  </a:tcPr>
                </a:tc>
                <a:tc>
                  <a:txBody>
                    <a:bodyPr/>
                    <a:lstStyle/>
                    <a:p>
                      <a:pPr marL="0" indent="0">
                        <a:buNone/>
                      </a:pPr>
                      <a:r>
                        <a:rPr lang="en-US" sz="2000" b="1" dirty="0">
                          <a:solidFill>
                            <a:sysClr val="windowText" lastClr="000000"/>
                          </a:solidFill>
                        </a:rPr>
                        <a:t>Value Iteration (VI)</a:t>
                      </a:r>
                      <a:endParaRPr lang="en-US" sz="2000" dirty="0">
                        <a:solidFill>
                          <a:sysClr val="windowText" lastClr="000000"/>
                        </a:solidFill>
                        <a:latin typeface="Calibri" charset="0"/>
                        <a:ea typeface="Calibri" charset="0"/>
                        <a:cs typeface="Calibri" charset="0"/>
                      </a:endParaRPr>
                    </a:p>
                  </a:txBody>
                  <a:tcPr marL="57658" marR="57658" marT="28829" marB="28829">
                    <a:solidFill>
                      <a:schemeClr val="accent4">
                        <a:lumMod val="60000"/>
                        <a:lumOff val="40000"/>
                      </a:schemeClr>
                    </a:solidFill>
                  </a:tcPr>
                </a:tc>
                <a:tc>
                  <a:txBody>
                    <a:bodyPr/>
                    <a:lstStyle/>
                    <a:p>
                      <a:pPr marL="0" indent="0">
                        <a:buNone/>
                      </a:pPr>
                      <a:r>
                        <a:rPr lang="en-US" sz="2000" b="1" dirty="0">
                          <a:solidFill>
                            <a:sysClr val="windowText" lastClr="000000"/>
                          </a:solidFill>
                        </a:rPr>
                        <a:t>GPI (General)</a:t>
                      </a:r>
                      <a:endParaRPr lang="en-US" sz="2000" dirty="0">
                        <a:solidFill>
                          <a:sysClr val="windowText" lastClr="000000"/>
                        </a:solidFill>
                        <a:latin typeface="Calibri" charset="0"/>
                        <a:ea typeface="Calibri" charset="0"/>
                        <a:cs typeface="Calibri" charset="0"/>
                      </a:endParaRPr>
                    </a:p>
                  </a:txBody>
                  <a:tcPr marL="57658" marR="57658" marT="28829" marB="28829">
                    <a:solidFill>
                      <a:schemeClr val="accent4">
                        <a:lumMod val="60000"/>
                        <a:lumOff val="40000"/>
                      </a:schemeClr>
                    </a:solidFill>
                  </a:tcPr>
                </a:tc>
                <a:extLst>
                  <a:ext uri="{0D108BD9-81ED-4DB2-BD59-A6C34878D82A}">
                    <a16:rowId xmlns:a16="http://schemas.microsoft.com/office/drawing/2014/main" val="10000"/>
                  </a:ext>
                </a:extLst>
              </a:tr>
              <a:tr h="558220">
                <a:tc>
                  <a:txBody>
                    <a:bodyPr/>
                    <a:lstStyle/>
                    <a:p>
                      <a:pPr marL="0" indent="0">
                        <a:buNone/>
                      </a:pPr>
                      <a:r>
                        <a:rPr lang="en-US" sz="2000" dirty="0">
                          <a:solidFill>
                            <a:srgbClr val="C00000"/>
                          </a:solidFill>
                        </a:rPr>
                        <a:t>Evaluation depth</a:t>
                      </a:r>
                      <a:endParaRPr lang="en-US" sz="2000" dirty="0">
                        <a:solidFill>
                          <a:srgbClr val="C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Full convergence (Δ &lt; θ)</a:t>
                      </a:r>
                      <a:endParaRPr lang="en-US" sz="2000" dirty="0">
                        <a:solidFill>
                          <a:sysClr val="windowText" lastClr="0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Single Bellman sweep</a:t>
                      </a:r>
                      <a:endParaRPr lang="en-US" sz="2000" dirty="0">
                        <a:solidFill>
                          <a:sysClr val="windowText" lastClr="0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Any depth k ≥ 1</a:t>
                      </a:r>
                      <a:endParaRPr lang="en-US" sz="2000" dirty="0">
                        <a:solidFill>
                          <a:sysClr val="windowText" lastClr="000000"/>
                        </a:solidFill>
                        <a:latin typeface="Calibri" charset="0"/>
                        <a:ea typeface="Calibri" charset="0"/>
                        <a:cs typeface="Calibri" charset="0"/>
                      </a:endParaRPr>
                    </a:p>
                  </a:txBody>
                  <a:tcPr marL="57658" marR="57658" marT="28829" marB="28829"/>
                </a:tc>
                <a:extLst>
                  <a:ext uri="{0D108BD9-81ED-4DB2-BD59-A6C34878D82A}">
                    <a16:rowId xmlns:a16="http://schemas.microsoft.com/office/drawing/2014/main" val="10001"/>
                  </a:ext>
                </a:extLst>
              </a:tr>
              <a:tr h="558220">
                <a:tc>
                  <a:txBody>
                    <a:bodyPr/>
                    <a:lstStyle/>
                    <a:p>
                      <a:pPr marL="0" indent="0">
                        <a:buNone/>
                      </a:pPr>
                      <a:r>
                        <a:rPr lang="en-US" sz="2000" dirty="0">
                          <a:solidFill>
                            <a:srgbClr val="C00000"/>
                          </a:solidFill>
                        </a:rPr>
                        <a:t>Bellman update</a:t>
                      </a:r>
                      <a:endParaRPr lang="en-US" sz="2000" dirty="0">
                        <a:solidFill>
                          <a:srgbClr val="C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Σₐ π(a|s) · … (expectation)</a:t>
                      </a:r>
                      <a:endParaRPr lang="en-US" sz="2000" dirty="0">
                        <a:solidFill>
                          <a:sysClr val="windowText" lastClr="0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max_a (…) at each step</a:t>
                      </a:r>
                      <a:endParaRPr lang="en-US" sz="2000" dirty="0">
                        <a:solidFill>
                          <a:sysClr val="windowText" lastClr="0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Mixed or alternating</a:t>
                      </a:r>
                      <a:endParaRPr lang="en-US" sz="2000" dirty="0">
                        <a:solidFill>
                          <a:sysClr val="windowText" lastClr="000000"/>
                        </a:solidFill>
                        <a:latin typeface="Calibri" charset="0"/>
                        <a:ea typeface="Calibri" charset="0"/>
                        <a:cs typeface="Calibri" charset="0"/>
                      </a:endParaRPr>
                    </a:p>
                  </a:txBody>
                  <a:tcPr marL="57658" marR="57658" marT="28829" marB="28829"/>
                </a:tc>
                <a:extLst>
                  <a:ext uri="{0D108BD9-81ED-4DB2-BD59-A6C34878D82A}">
                    <a16:rowId xmlns:a16="http://schemas.microsoft.com/office/drawing/2014/main" val="10002"/>
                  </a:ext>
                </a:extLst>
              </a:tr>
              <a:tr h="558220">
                <a:tc>
                  <a:txBody>
                    <a:bodyPr/>
                    <a:lstStyle/>
                    <a:p>
                      <a:pPr marL="0" indent="0">
                        <a:buNone/>
                      </a:pPr>
                      <a:r>
                        <a:rPr lang="en-US" sz="2000" dirty="0">
                          <a:solidFill>
                            <a:srgbClr val="C00000"/>
                          </a:solidFill>
                        </a:rPr>
                        <a:t>Policy update</a:t>
                      </a:r>
                      <a:endParaRPr lang="en-US" sz="2000" dirty="0">
                        <a:solidFill>
                          <a:srgbClr val="C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After full evaluation</a:t>
                      </a:r>
                      <a:endParaRPr lang="en-US" sz="2000" dirty="0">
                        <a:solidFill>
                          <a:sysClr val="windowText" lastClr="0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Implicitly each sweep</a:t>
                      </a:r>
                      <a:endParaRPr lang="en-US" sz="2000" dirty="0">
                        <a:solidFill>
                          <a:sysClr val="windowText" lastClr="0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After k eval steps</a:t>
                      </a:r>
                      <a:endParaRPr lang="en-US" sz="2000" dirty="0">
                        <a:solidFill>
                          <a:sysClr val="windowText" lastClr="000000"/>
                        </a:solidFill>
                        <a:latin typeface="Calibri" charset="0"/>
                        <a:ea typeface="Calibri" charset="0"/>
                        <a:cs typeface="Calibri" charset="0"/>
                      </a:endParaRPr>
                    </a:p>
                  </a:txBody>
                  <a:tcPr marL="57658" marR="57658" marT="28829" marB="28829"/>
                </a:tc>
                <a:extLst>
                  <a:ext uri="{0D108BD9-81ED-4DB2-BD59-A6C34878D82A}">
                    <a16:rowId xmlns:a16="http://schemas.microsoft.com/office/drawing/2014/main" val="10003"/>
                  </a:ext>
                </a:extLst>
              </a:tr>
              <a:tr h="558220">
                <a:tc>
                  <a:txBody>
                    <a:bodyPr/>
                    <a:lstStyle/>
                    <a:p>
                      <a:pPr marL="0" indent="0">
                        <a:buNone/>
                      </a:pPr>
                      <a:r>
                        <a:rPr lang="en-US" sz="2000" dirty="0">
                          <a:solidFill>
                            <a:srgbClr val="C00000"/>
                          </a:solidFill>
                        </a:rPr>
                        <a:t>Policy visible?</a:t>
                      </a:r>
                      <a:endParaRPr lang="en-US" sz="2000" dirty="0">
                        <a:solidFill>
                          <a:srgbClr val="C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Yes — explicit at each step</a:t>
                      </a:r>
                      <a:endParaRPr lang="en-US" sz="2000" dirty="0">
                        <a:solidFill>
                          <a:sysClr val="windowText" lastClr="0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Only at end</a:t>
                      </a:r>
                      <a:endParaRPr lang="en-US" sz="2000" dirty="0">
                        <a:solidFill>
                          <a:sysClr val="windowText" lastClr="0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Depends on method</a:t>
                      </a:r>
                      <a:endParaRPr lang="en-US" sz="2000" dirty="0">
                        <a:solidFill>
                          <a:sysClr val="windowText" lastClr="000000"/>
                        </a:solidFill>
                        <a:latin typeface="Calibri" charset="0"/>
                        <a:ea typeface="Calibri" charset="0"/>
                        <a:cs typeface="Calibri" charset="0"/>
                      </a:endParaRPr>
                    </a:p>
                  </a:txBody>
                  <a:tcPr marL="57658" marR="57658" marT="28829" marB="28829"/>
                </a:tc>
                <a:extLst>
                  <a:ext uri="{0D108BD9-81ED-4DB2-BD59-A6C34878D82A}">
                    <a16:rowId xmlns:a16="http://schemas.microsoft.com/office/drawing/2014/main" val="10004"/>
                  </a:ext>
                </a:extLst>
              </a:tr>
              <a:tr h="558220">
                <a:tc>
                  <a:txBody>
                    <a:bodyPr/>
                    <a:lstStyle/>
                    <a:p>
                      <a:pPr marL="0" indent="0">
                        <a:buNone/>
                      </a:pPr>
                      <a:r>
                        <a:rPr lang="en-US" sz="2000" dirty="0">
                          <a:solidFill>
                            <a:srgbClr val="C00000"/>
                          </a:solidFill>
                        </a:rPr>
                        <a:t>Convergence speed</a:t>
                      </a:r>
                      <a:endParaRPr lang="en-US" sz="2000" dirty="0">
                        <a:solidFill>
                          <a:srgbClr val="C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Fewer outer iterations</a:t>
                      </a:r>
                      <a:endParaRPr lang="en-US" sz="2000" dirty="0">
                        <a:solidFill>
                          <a:sysClr val="windowText" lastClr="0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More outer iterations</a:t>
                      </a:r>
                      <a:endParaRPr lang="en-US" sz="2000" dirty="0">
                        <a:solidFill>
                          <a:sysClr val="windowText" lastClr="0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Adjustable tradeoff</a:t>
                      </a:r>
                      <a:endParaRPr lang="en-US" sz="2000" dirty="0">
                        <a:solidFill>
                          <a:sysClr val="windowText" lastClr="000000"/>
                        </a:solidFill>
                        <a:latin typeface="Calibri" charset="0"/>
                        <a:ea typeface="Calibri" charset="0"/>
                        <a:cs typeface="Calibri" charset="0"/>
                      </a:endParaRPr>
                    </a:p>
                  </a:txBody>
                  <a:tcPr marL="57658" marR="57658" marT="28829" marB="28829"/>
                </a:tc>
                <a:extLst>
                  <a:ext uri="{0D108BD9-81ED-4DB2-BD59-A6C34878D82A}">
                    <a16:rowId xmlns:a16="http://schemas.microsoft.com/office/drawing/2014/main" val="10005"/>
                  </a:ext>
                </a:extLst>
              </a:tr>
              <a:tr h="558220">
                <a:tc>
                  <a:txBody>
                    <a:bodyPr/>
                    <a:lstStyle/>
                    <a:p>
                      <a:pPr marL="0" indent="0">
                        <a:buNone/>
                      </a:pPr>
                      <a:r>
                        <a:rPr lang="en-US" sz="2000" dirty="0">
                          <a:solidFill>
                            <a:srgbClr val="C00000"/>
                          </a:solidFill>
                        </a:rPr>
                        <a:t>Compute/iteration</a:t>
                      </a:r>
                      <a:endParaRPr lang="en-US" sz="2000" dirty="0">
                        <a:solidFill>
                          <a:srgbClr val="C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More (full eval phase)</a:t>
                      </a:r>
                      <a:endParaRPr lang="en-US" sz="2000" dirty="0">
                        <a:solidFill>
                          <a:sysClr val="windowText" lastClr="0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Less (one sweep)</a:t>
                      </a:r>
                      <a:endParaRPr lang="en-US" sz="2000" dirty="0">
                        <a:solidFill>
                          <a:sysClr val="windowText" lastClr="0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Configurable</a:t>
                      </a:r>
                      <a:endParaRPr lang="en-US" sz="2000" dirty="0">
                        <a:solidFill>
                          <a:sysClr val="windowText" lastClr="000000"/>
                        </a:solidFill>
                        <a:latin typeface="Calibri" charset="0"/>
                        <a:ea typeface="Calibri" charset="0"/>
                        <a:cs typeface="Calibri" charset="0"/>
                      </a:endParaRPr>
                    </a:p>
                  </a:txBody>
                  <a:tcPr marL="57658" marR="57658" marT="28829" marB="28829"/>
                </a:tc>
                <a:extLst>
                  <a:ext uri="{0D108BD9-81ED-4DB2-BD59-A6C34878D82A}">
                    <a16:rowId xmlns:a16="http://schemas.microsoft.com/office/drawing/2014/main" val="10006"/>
                  </a:ext>
                </a:extLst>
              </a:tr>
              <a:tr h="558220">
                <a:tc>
                  <a:txBody>
                    <a:bodyPr/>
                    <a:lstStyle/>
                    <a:p>
                      <a:pPr marL="0" indent="0">
                        <a:buNone/>
                      </a:pPr>
                      <a:r>
                        <a:rPr lang="en-US" sz="2000" dirty="0">
                          <a:solidFill>
                            <a:srgbClr val="C00000"/>
                          </a:solidFill>
                        </a:rPr>
                        <a:t>Best for</a:t>
                      </a:r>
                      <a:endParaRPr lang="en-US" sz="2000" dirty="0">
                        <a:solidFill>
                          <a:srgbClr val="C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Small state spaces</a:t>
                      </a:r>
                      <a:endParaRPr lang="en-US" sz="2000" dirty="0">
                        <a:solidFill>
                          <a:sysClr val="windowText" lastClr="0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Large state spaces</a:t>
                      </a:r>
                      <a:endParaRPr lang="en-US" sz="2000" dirty="0">
                        <a:solidFill>
                          <a:sysClr val="windowText" lastClr="0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General / practical RL</a:t>
                      </a:r>
                      <a:endParaRPr lang="en-US" sz="2000" dirty="0">
                        <a:solidFill>
                          <a:sysClr val="windowText" lastClr="000000"/>
                        </a:solidFill>
                        <a:latin typeface="Calibri" charset="0"/>
                        <a:ea typeface="Calibri" charset="0"/>
                        <a:cs typeface="Calibri" charset="0"/>
                      </a:endParaRPr>
                    </a:p>
                  </a:txBody>
                  <a:tcPr marL="57658" marR="57658" marT="28829" marB="28829"/>
                </a:tc>
                <a:extLst>
                  <a:ext uri="{0D108BD9-81ED-4DB2-BD59-A6C34878D82A}">
                    <a16:rowId xmlns:a16="http://schemas.microsoft.com/office/drawing/2014/main" val="10007"/>
                  </a:ext>
                </a:extLst>
              </a:tr>
              <a:tr h="558220">
                <a:tc>
                  <a:txBody>
                    <a:bodyPr/>
                    <a:lstStyle/>
                    <a:p>
                      <a:pPr marL="0" indent="0">
                        <a:buNone/>
                      </a:pPr>
                      <a:r>
                        <a:rPr lang="en-US" sz="2000" dirty="0">
                          <a:solidFill>
                            <a:srgbClr val="C00000"/>
                          </a:solidFill>
                        </a:rPr>
                        <a:t>Race Car</a:t>
                      </a:r>
                      <a:endParaRPr lang="en-US" sz="2000" dirty="0">
                        <a:solidFill>
                          <a:srgbClr val="C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Optimal in 3 PI steps</a:t>
                      </a:r>
                      <a:endParaRPr lang="en-US" sz="2000" dirty="0">
                        <a:solidFill>
                          <a:sysClr val="windowText" lastClr="0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Optimal in 23 VI steps</a:t>
                      </a:r>
                      <a:endParaRPr lang="en-US" sz="2000" dirty="0">
                        <a:solidFill>
                          <a:sysClr val="windowText" lastClr="000000"/>
                        </a:solidFill>
                        <a:latin typeface="Calibri" charset="0"/>
                        <a:ea typeface="Calibri" charset="0"/>
                        <a:cs typeface="Calibri" charset="0"/>
                      </a:endParaRPr>
                    </a:p>
                  </a:txBody>
                  <a:tcPr marL="57658" marR="57658" marT="28829" marB="28829"/>
                </a:tc>
                <a:tc>
                  <a:txBody>
                    <a:bodyPr/>
                    <a:lstStyle/>
                    <a:p>
                      <a:pPr marL="0" indent="0">
                        <a:buNone/>
                      </a:pPr>
                      <a:r>
                        <a:rPr lang="en-US" sz="2000" dirty="0">
                          <a:solidFill>
                            <a:sysClr val="windowText" lastClr="000000"/>
                          </a:solidFill>
                        </a:rPr>
                        <a:t>Both are GPI instances</a:t>
                      </a:r>
                      <a:endParaRPr lang="en-US" sz="2000" dirty="0">
                        <a:solidFill>
                          <a:sysClr val="windowText" lastClr="000000"/>
                        </a:solidFill>
                        <a:latin typeface="Calibri" charset="0"/>
                        <a:ea typeface="Calibri" charset="0"/>
                        <a:cs typeface="Calibri" charset="0"/>
                      </a:endParaRPr>
                    </a:p>
                  </a:txBody>
                  <a:tcPr marL="57658" marR="57658" marT="28829" marB="28829"/>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4410137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HeaderBar"/>
          <p:cNvSpPr txBox="1"/>
          <p:nvPr/>
        </p:nvSpPr>
        <p:spPr>
          <a:xfrm>
            <a:off x="457200" y="228600"/>
            <a:ext cx="9167247" cy="571500"/>
          </a:xfrm>
          <a:prstGeom prst="rect">
            <a:avLst/>
          </a:prstGeom>
          <a:solidFill>
            <a:srgbClr val="1B1472"/>
          </a:solidFill>
          <a:ln>
            <a:noFill/>
          </a:ln>
        </p:spPr>
        <p:txBody>
          <a:bodyPr wrap="square" lIns="228600" tIns="91440" rIns="228600" bIns="91440" anchor="ctr"/>
          <a:lstStyle/>
          <a:p>
            <a:pPr algn="l"/>
            <a:r>
              <a:rPr lang="en-US" sz="2600" b="1" dirty="0">
                <a:solidFill>
                  <a:srgbClr val="FFFFFF"/>
                </a:solidFill>
                <a:latin typeface="Calibri"/>
              </a:rPr>
              <a:t>Summary &amp; Bridge to Model-Free RL</a:t>
            </a:r>
          </a:p>
        </p:txBody>
      </p:sp>
      <p:sp>
        <p:nvSpPr>
          <p:cNvPr id="180" name="HdrNum"/>
          <p:cNvSpPr/>
          <p:nvPr/>
        </p:nvSpPr>
        <p:spPr>
          <a:xfrm>
            <a:off x="457200" y="952500"/>
            <a:ext cx="304800" cy="419100"/>
          </a:xfrm>
          <a:prstGeom prst="rect">
            <a:avLst/>
          </a:prstGeom>
          <a:solidFill>
            <a:srgbClr val="1B1472"/>
          </a:solidFill>
          <a:ln>
            <a:noFill/>
          </a:ln>
        </p:spPr>
        <p:txBody>
          <a:bodyPr/>
          <a:lstStyle/>
          <a:p>
            <a:endParaRPr/>
          </a:p>
        </p:txBody>
      </p:sp>
      <p:sp>
        <p:nvSpPr>
          <p:cNvPr id="181" name="HdrTopic"/>
          <p:cNvSpPr txBox="1"/>
          <p:nvPr/>
        </p:nvSpPr>
        <p:spPr>
          <a:xfrm>
            <a:off x="781050" y="952500"/>
            <a:ext cx="3200400" cy="419100"/>
          </a:xfrm>
          <a:prstGeom prst="rect">
            <a:avLst/>
          </a:prstGeom>
          <a:solidFill>
            <a:srgbClr val="1B1472"/>
          </a:solidFill>
          <a:ln>
            <a:noFill/>
          </a:ln>
        </p:spPr>
        <p:txBody>
          <a:bodyPr wrap="square" lIns="182880" tIns="0" rIns="91440" bIns="0" anchor="ctr"/>
          <a:lstStyle/>
          <a:p>
            <a:pPr algn="l"/>
            <a:r>
              <a:rPr lang="en-US" sz="1400" b="1" dirty="0">
                <a:solidFill>
                  <a:srgbClr val="FFFFFF"/>
                </a:solidFill>
                <a:latin typeface="Calibri"/>
              </a:rPr>
              <a:t>Topic</a:t>
            </a:r>
          </a:p>
        </p:txBody>
      </p:sp>
      <p:sp>
        <p:nvSpPr>
          <p:cNvPr id="182" name="HdrDesc"/>
          <p:cNvSpPr txBox="1"/>
          <p:nvPr/>
        </p:nvSpPr>
        <p:spPr>
          <a:xfrm>
            <a:off x="4000500" y="952500"/>
            <a:ext cx="7734300" cy="419100"/>
          </a:xfrm>
          <a:prstGeom prst="rect">
            <a:avLst/>
          </a:prstGeom>
          <a:solidFill>
            <a:srgbClr val="1B1472"/>
          </a:solidFill>
          <a:ln>
            <a:noFill/>
          </a:ln>
        </p:spPr>
        <p:txBody>
          <a:bodyPr wrap="square" lIns="182880" tIns="0" rIns="91440" bIns="0" anchor="ctr"/>
          <a:lstStyle/>
          <a:p>
            <a:pPr algn="l"/>
            <a:r>
              <a:rPr lang="en-US" sz="1400" b="1" dirty="0">
                <a:solidFill>
                  <a:srgbClr val="FFFFFF"/>
                </a:solidFill>
                <a:latin typeface="Calibri"/>
              </a:rPr>
              <a:t>Key Idea</a:t>
            </a:r>
          </a:p>
        </p:txBody>
      </p:sp>
      <p:sp>
        <p:nvSpPr>
          <p:cNvPr id="200" name="N1"/>
          <p:cNvSpPr txBox="1"/>
          <p:nvPr/>
        </p:nvSpPr>
        <p:spPr>
          <a:xfrm>
            <a:off x="457200" y="1390650"/>
            <a:ext cx="304800" cy="495300"/>
          </a:xfrm>
          <a:prstGeom prst="rect">
            <a:avLst/>
          </a:prstGeom>
          <a:solidFill>
            <a:srgbClr val="1B4F72"/>
          </a:solidFill>
          <a:ln>
            <a:noFill/>
          </a:ln>
        </p:spPr>
        <p:txBody>
          <a:bodyPr wrap="square" lIns="0" tIns="0" rIns="0" bIns="0" anchor="ctr"/>
          <a:lstStyle/>
          <a:p>
            <a:pPr algn="ctr"/>
            <a:r>
              <a:rPr lang="en-US" sz="1800" b="1" dirty="0">
                <a:solidFill>
                  <a:srgbClr val="FFFFFF"/>
                </a:solidFill>
                <a:latin typeface="Calibri"/>
              </a:rPr>
              <a:t>1</a:t>
            </a:r>
          </a:p>
        </p:txBody>
      </p:sp>
      <p:sp>
        <p:nvSpPr>
          <p:cNvPr id="201" name="T1"/>
          <p:cNvSpPr txBox="1"/>
          <p:nvPr/>
        </p:nvSpPr>
        <p:spPr>
          <a:xfrm>
            <a:off x="781050" y="1390650"/>
            <a:ext cx="3200400" cy="495300"/>
          </a:xfrm>
          <a:prstGeom prst="rect">
            <a:avLst/>
          </a:prstGeom>
          <a:solidFill>
            <a:srgbClr val="1B4F72"/>
          </a:solidFill>
          <a:ln>
            <a:noFill/>
          </a:ln>
        </p:spPr>
        <p:txBody>
          <a:bodyPr wrap="square" lIns="182880" tIns="0" rIns="91440" bIns="0" anchor="ctr"/>
          <a:lstStyle/>
          <a:p>
            <a:pPr algn="l"/>
            <a:r>
              <a:rPr lang="en-US" sz="1500" b="1" dirty="0">
                <a:solidFill>
                  <a:srgbClr val="FFFFFF"/>
                </a:solidFill>
                <a:latin typeface="Calibri"/>
              </a:rPr>
              <a:t>MDP = { S, A, P, R, γ }</a:t>
            </a:r>
          </a:p>
        </p:txBody>
      </p:sp>
      <p:sp>
        <p:nvSpPr>
          <p:cNvPr id="202" name="D1"/>
          <p:cNvSpPr txBox="1"/>
          <p:nvPr/>
        </p:nvSpPr>
        <p:spPr>
          <a:xfrm>
            <a:off x="4000500" y="1390650"/>
            <a:ext cx="7734300" cy="495300"/>
          </a:xfrm>
          <a:prstGeom prst="rect">
            <a:avLst/>
          </a:prstGeom>
          <a:solidFill>
            <a:srgbClr val="F0F3FA"/>
          </a:solidFill>
          <a:ln>
            <a:noFill/>
          </a:ln>
        </p:spPr>
        <p:txBody>
          <a:bodyPr wrap="square" lIns="228600" tIns="0" rIns="182880" bIns="0" anchor="ctr"/>
          <a:lstStyle/>
          <a:p>
            <a:pPr algn="l"/>
            <a:r>
              <a:rPr lang="en-US" sz="1400" b="0" dirty="0">
                <a:solidFill>
                  <a:srgbClr val="333333"/>
                </a:solidFill>
                <a:latin typeface="Calibri"/>
              </a:rPr>
              <a:t>Formal framework for sequential decisions under uncertainty</a:t>
            </a:r>
          </a:p>
        </p:txBody>
      </p:sp>
      <p:sp>
        <p:nvSpPr>
          <p:cNvPr id="203" name="N2"/>
          <p:cNvSpPr txBox="1"/>
          <p:nvPr/>
        </p:nvSpPr>
        <p:spPr>
          <a:xfrm>
            <a:off x="457200" y="1914525"/>
            <a:ext cx="304800" cy="495300"/>
          </a:xfrm>
          <a:prstGeom prst="rect">
            <a:avLst/>
          </a:prstGeom>
          <a:solidFill>
            <a:srgbClr val="1A6090"/>
          </a:solidFill>
          <a:ln>
            <a:noFill/>
          </a:ln>
        </p:spPr>
        <p:txBody>
          <a:bodyPr wrap="square" lIns="0" tIns="0" rIns="0" bIns="0" anchor="ctr"/>
          <a:lstStyle/>
          <a:p>
            <a:pPr algn="ctr"/>
            <a:r>
              <a:rPr lang="en-US" sz="1800" b="1" dirty="0">
                <a:solidFill>
                  <a:srgbClr val="FFFFFF"/>
                </a:solidFill>
                <a:latin typeface="Calibri"/>
              </a:rPr>
              <a:t>2</a:t>
            </a:r>
          </a:p>
        </p:txBody>
      </p:sp>
      <p:sp>
        <p:nvSpPr>
          <p:cNvPr id="204" name="T2"/>
          <p:cNvSpPr txBox="1"/>
          <p:nvPr/>
        </p:nvSpPr>
        <p:spPr>
          <a:xfrm>
            <a:off x="781050" y="1914525"/>
            <a:ext cx="3200400" cy="495300"/>
          </a:xfrm>
          <a:prstGeom prst="rect">
            <a:avLst/>
          </a:prstGeom>
          <a:solidFill>
            <a:srgbClr val="1A6090"/>
          </a:solidFill>
          <a:ln>
            <a:noFill/>
          </a:ln>
        </p:spPr>
        <p:txBody>
          <a:bodyPr wrap="square" lIns="182880" tIns="0" rIns="91440" bIns="0" anchor="ctr"/>
          <a:lstStyle/>
          <a:p>
            <a:pPr algn="l"/>
            <a:r>
              <a:rPr lang="en-US" sz="1500" b="1" dirty="0">
                <a:solidFill>
                  <a:srgbClr val="FFFFFF"/>
                </a:solidFill>
                <a:latin typeface="Calibri"/>
              </a:rPr>
              <a:t>Value Functions</a:t>
            </a:r>
          </a:p>
        </p:txBody>
      </p:sp>
      <p:sp>
        <p:nvSpPr>
          <p:cNvPr id="205" name="D2"/>
          <p:cNvSpPr txBox="1"/>
          <p:nvPr/>
        </p:nvSpPr>
        <p:spPr>
          <a:xfrm>
            <a:off x="4000500" y="1914525"/>
            <a:ext cx="7734300" cy="495300"/>
          </a:xfrm>
          <a:prstGeom prst="rect">
            <a:avLst/>
          </a:prstGeom>
          <a:solidFill>
            <a:srgbClr val="E8F4FB"/>
          </a:solidFill>
          <a:ln>
            <a:noFill/>
          </a:ln>
        </p:spPr>
        <p:txBody>
          <a:bodyPr wrap="square" lIns="228600" tIns="0" rIns="182880" bIns="0" anchor="ctr"/>
          <a:lstStyle/>
          <a:p>
            <a:pPr algn="l"/>
            <a:r>
              <a:rPr lang="en-US" sz="1400" b="0" dirty="0">
                <a:solidFill>
                  <a:srgbClr val="333333"/>
                </a:solidFill>
                <a:latin typeface="Calibri"/>
              </a:rPr>
              <a:t>Vπ(s) and Qπ(s,a) quantify long-term goodness</a:t>
            </a:r>
          </a:p>
        </p:txBody>
      </p:sp>
      <p:sp>
        <p:nvSpPr>
          <p:cNvPr id="206" name="N3"/>
          <p:cNvSpPr txBox="1"/>
          <p:nvPr/>
        </p:nvSpPr>
        <p:spPr>
          <a:xfrm>
            <a:off x="457200" y="2438400"/>
            <a:ext cx="304800" cy="495300"/>
          </a:xfrm>
          <a:prstGeom prst="rect">
            <a:avLst/>
          </a:prstGeom>
          <a:solidFill>
            <a:srgbClr val="D68910"/>
          </a:solidFill>
          <a:ln>
            <a:noFill/>
          </a:ln>
        </p:spPr>
        <p:txBody>
          <a:bodyPr wrap="square" lIns="0" tIns="0" rIns="0" bIns="0" anchor="ctr"/>
          <a:lstStyle/>
          <a:p>
            <a:pPr algn="ctr"/>
            <a:r>
              <a:rPr lang="en-US" sz="1800" b="1" dirty="0">
                <a:solidFill>
                  <a:srgbClr val="FFFFFF"/>
                </a:solidFill>
                <a:latin typeface="Calibri"/>
              </a:rPr>
              <a:t>3</a:t>
            </a:r>
          </a:p>
        </p:txBody>
      </p:sp>
      <p:sp>
        <p:nvSpPr>
          <p:cNvPr id="207" name="T3"/>
          <p:cNvSpPr txBox="1"/>
          <p:nvPr/>
        </p:nvSpPr>
        <p:spPr>
          <a:xfrm>
            <a:off x="781050" y="2438400"/>
            <a:ext cx="3200400" cy="495300"/>
          </a:xfrm>
          <a:prstGeom prst="rect">
            <a:avLst/>
          </a:prstGeom>
          <a:solidFill>
            <a:srgbClr val="D68910"/>
          </a:solidFill>
          <a:ln>
            <a:noFill/>
          </a:ln>
        </p:spPr>
        <p:txBody>
          <a:bodyPr wrap="square" lIns="182880" tIns="0" rIns="91440" bIns="0" anchor="ctr"/>
          <a:lstStyle/>
          <a:p>
            <a:pPr algn="l"/>
            <a:r>
              <a:rPr lang="en-US" sz="1500" b="1" dirty="0">
                <a:solidFill>
                  <a:srgbClr val="FFFFFF"/>
                </a:solidFill>
                <a:latin typeface="Calibri"/>
              </a:rPr>
              <a:t>Bellman Equation</a:t>
            </a:r>
          </a:p>
        </p:txBody>
      </p:sp>
      <p:sp>
        <p:nvSpPr>
          <p:cNvPr id="208" name="D3"/>
          <p:cNvSpPr txBox="1"/>
          <p:nvPr/>
        </p:nvSpPr>
        <p:spPr>
          <a:xfrm>
            <a:off x="4000500" y="2438400"/>
            <a:ext cx="7734300" cy="495300"/>
          </a:xfrm>
          <a:prstGeom prst="rect">
            <a:avLst/>
          </a:prstGeom>
          <a:solidFill>
            <a:srgbClr val="FEF9E7"/>
          </a:solidFill>
          <a:ln>
            <a:noFill/>
          </a:ln>
        </p:spPr>
        <p:txBody>
          <a:bodyPr wrap="square" lIns="228600" tIns="0" rIns="182880" bIns="0" anchor="ctr"/>
          <a:lstStyle/>
          <a:p>
            <a:pPr algn="l"/>
            <a:r>
              <a:rPr lang="en-US" sz="1400" b="0" dirty="0">
                <a:solidFill>
                  <a:srgbClr val="333333"/>
                </a:solidFill>
                <a:latin typeface="Calibri"/>
              </a:rPr>
              <a:t>Recursive decomposition that makes computation tractable</a:t>
            </a:r>
          </a:p>
        </p:txBody>
      </p:sp>
      <p:sp>
        <p:nvSpPr>
          <p:cNvPr id="209" name="N4"/>
          <p:cNvSpPr txBox="1"/>
          <p:nvPr/>
        </p:nvSpPr>
        <p:spPr>
          <a:xfrm>
            <a:off x="457200" y="2962275"/>
            <a:ext cx="304800" cy="495300"/>
          </a:xfrm>
          <a:prstGeom prst="rect">
            <a:avLst/>
          </a:prstGeom>
          <a:solidFill>
            <a:srgbClr val="2C3E50"/>
          </a:solidFill>
          <a:ln>
            <a:noFill/>
          </a:ln>
        </p:spPr>
        <p:txBody>
          <a:bodyPr wrap="square" lIns="0" tIns="0" rIns="0" bIns="0" anchor="ctr"/>
          <a:lstStyle/>
          <a:p>
            <a:pPr algn="ctr"/>
            <a:r>
              <a:rPr lang="en-US" sz="1800" b="1" dirty="0">
                <a:solidFill>
                  <a:srgbClr val="FFFFFF"/>
                </a:solidFill>
                <a:latin typeface="Calibri"/>
              </a:rPr>
              <a:t>4</a:t>
            </a:r>
          </a:p>
        </p:txBody>
      </p:sp>
      <p:sp>
        <p:nvSpPr>
          <p:cNvPr id="210" name="T4"/>
          <p:cNvSpPr txBox="1"/>
          <p:nvPr/>
        </p:nvSpPr>
        <p:spPr>
          <a:xfrm>
            <a:off x="781050" y="2962275"/>
            <a:ext cx="3200400" cy="495300"/>
          </a:xfrm>
          <a:prstGeom prst="rect">
            <a:avLst/>
          </a:prstGeom>
          <a:solidFill>
            <a:srgbClr val="2C3E50"/>
          </a:solidFill>
          <a:ln>
            <a:noFill/>
          </a:ln>
        </p:spPr>
        <p:txBody>
          <a:bodyPr wrap="square" lIns="182880" tIns="0" rIns="91440" bIns="0" anchor="ctr"/>
          <a:lstStyle/>
          <a:p>
            <a:pPr algn="l"/>
            <a:r>
              <a:rPr lang="en-US" sz="1500" b="1" dirty="0">
                <a:solidFill>
                  <a:srgbClr val="FFFFFF"/>
                </a:solidFill>
                <a:latin typeface="Calibri"/>
              </a:rPr>
              <a:t>Dynamic Programming</a:t>
            </a:r>
          </a:p>
        </p:txBody>
      </p:sp>
      <p:sp>
        <p:nvSpPr>
          <p:cNvPr id="211" name="D4"/>
          <p:cNvSpPr txBox="1"/>
          <p:nvPr/>
        </p:nvSpPr>
        <p:spPr>
          <a:xfrm>
            <a:off x="4000500" y="2962275"/>
            <a:ext cx="7734300" cy="495300"/>
          </a:xfrm>
          <a:prstGeom prst="rect">
            <a:avLst/>
          </a:prstGeom>
          <a:solidFill>
            <a:srgbClr val="F0F3F4"/>
          </a:solidFill>
          <a:ln>
            <a:noFill/>
          </a:ln>
        </p:spPr>
        <p:txBody>
          <a:bodyPr wrap="square" lIns="228600" tIns="0" rIns="182880" bIns="0" anchor="ctr"/>
          <a:lstStyle/>
          <a:p>
            <a:pPr algn="l"/>
            <a:r>
              <a:rPr lang="en-US" sz="1400" b="0" dirty="0">
                <a:solidFill>
                  <a:srgbClr val="333333"/>
                </a:solidFill>
                <a:latin typeface="Calibri"/>
              </a:rPr>
              <a:t>Solve Bellman equations when the model is KNOWN</a:t>
            </a:r>
          </a:p>
        </p:txBody>
      </p:sp>
      <p:sp>
        <p:nvSpPr>
          <p:cNvPr id="212" name="N5"/>
          <p:cNvSpPr txBox="1"/>
          <p:nvPr/>
        </p:nvSpPr>
        <p:spPr>
          <a:xfrm>
            <a:off x="457200" y="3486150"/>
            <a:ext cx="304800" cy="495300"/>
          </a:xfrm>
          <a:prstGeom prst="rect">
            <a:avLst/>
          </a:prstGeom>
          <a:solidFill>
            <a:srgbClr val="117864"/>
          </a:solidFill>
          <a:ln>
            <a:noFill/>
          </a:ln>
        </p:spPr>
        <p:txBody>
          <a:bodyPr wrap="square" lIns="0" tIns="0" rIns="0" bIns="0" anchor="ctr"/>
          <a:lstStyle/>
          <a:p>
            <a:pPr algn="ctr"/>
            <a:r>
              <a:rPr lang="en-US" sz="1800" b="1" dirty="0">
                <a:solidFill>
                  <a:srgbClr val="FFFFFF"/>
                </a:solidFill>
                <a:latin typeface="Calibri"/>
              </a:rPr>
              <a:t>5</a:t>
            </a:r>
          </a:p>
        </p:txBody>
      </p:sp>
      <p:sp>
        <p:nvSpPr>
          <p:cNvPr id="213" name="T5"/>
          <p:cNvSpPr txBox="1"/>
          <p:nvPr/>
        </p:nvSpPr>
        <p:spPr>
          <a:xfrm>
            <a:off x="781050" y="3486150"/>
            <a:ext cx="3200400" cy="495300"/>
          </a:xfrm>
          <a:prstGeom prst="rect">
            <a:avLst/>
          </a:prstGeom>
          <a:solidFill>
            <a:srgbClr val="117864"/>
          </a:solidFill>
          <a:ln>
            <a:noFill/>
          </a:ln>
        </p:spPr>
        <p:txBody>
          <a:bodyPr wrap="square" lIns="182880" tIns="0" rIns="91440" bIns="0" anchor="ctr"/>
          <a:lstStyle/>
          <a:p>
            <a:pPr algn="l"/>
            <a:r>
              <a:rPr lang="en-US" sz="1500" b="1" dirty="0">
                <a:solidFill>
                  <a:srgbClr val="FFFFFF"/>
                </a:solidFill>
                <a:latin typeface="Calibri"/>
              </a:rPr>
              <a:t>GPI Framework</a:t>
            </a:r>
          </a:p>
        </p:txBody>
      </p:sp>
      <p:sp>
        <p:nvSpPr>
          <p:cNvPr id="214" name="D5"/>
          <p:cNvSpPr txBox="1"/>
          <p:nvPr/>
        </p:nvSpPr>
        <p:spPr>
          <a:xfrm>
            <a:off x="4000500" y="3486150"/>
            <a:ext cx="7734300" cy="495300"/>
          </a:xfrm>
          <a:prstGeom prst="rect">
            <a:avLst/>
          </a:prstGeom>
          <a:solidFill>
            <a:srgbClr val="E9F7EF"/>
          </a:solidFill>
          <a:ln>
            <a:noFill/>
          </a:ln>
        </p:spPr>
        <p:txBody>
          <a:bodyPr wrap="square" lIns="228600" tIns="0" rIns="182880" bIns="0" anchor="ctr"/>
          <a:lstStyle/>
          <a:p>
            <a:pPr algn="l"/>
            <a:r>
              <a:rPr lang="en-US" sz="1400" b="0" dirty="0">
                <a:solidFill>
                  <a:srgbClr val="333333"/>
                </a:solidFill>
                <a:latin typeface="Calibri"/>
              </a:rPr>
              <a:t>Eval ↔ Improve alternation — unifies ALL DP methods</a:t>
            </a:r>
          </a:p>
        </p:txBody>
      </p:sp>
      <p:sp>
        <p:nvSpPr>
          <p:cNvPr id="215" name="NextBanner"/>
          <p:cNvSpPr txBox="1"/>
          <p:nvPr/>
        </p:nvSpPr>
        <p:spPr>
          <a:xfrm>
            <a:off x="457200" y="4057650"/>
            <a:ext cx="11277600" cy="380000"/>
          </a:xfrm>
          <a:prstGeom prst="rect">
            <a:avLst/>
          </a:prstGeom>
          <a:solidFill>
            <a:srgbClr val="1A5276"/>
          </a:solidFill>
          <a:ln>
            <a:noFill/>
          </a:ln>
        </p:spPr>
        <p:txBody>
          <a:bodyPr wrap="square" lIns="228600" tIns="0" rIns="228600" bIns="0" anchor="ctr"/>
          <a:lstStyle/>
          <a:p>
            <a:pPr algn="l"/>
            <a:r>
              <a:rPr lang="en-US" sz="1700" b="1" dirty="0">
                <a:solidFill>
                  <a:srgbClr val="FFFFFF"/>
                </a:solidFill>
                <a:latin typeface="Calibri"/>
              </a:rPr>
              <a:t>  Next: What if we DON’T know the model?</a:t>
            </a:r>
          </a:p>
        </p:txBody>
      </p:sp>
      <p:sp>
        <p:nvSpPr>
          <p:cNvPr id="216" name="MTitle0"/>
          <p:cNvSpPr txBox="1"/>
          <p:nvPr/>
        </p:nvSpPr>
        <p:spPr>
          <a:xfrm>
            <a:off x="457200" y="4513850"/>
            <a:ext cx="3746500" cy="304800"/>
          </a:xfrm>
          <a:prstGeom prst="rect">
            <a:avLst/>
          </a:prstGeom>
          <a:noFill/>
          <a:ln>
            <a:noFill/>
          </a:ln>
        </p:spPr>
        <p:txBody>
          <a:bodyPr wrap="square" lIns="0" tIns="0" rIns="0" bIns="0" anchor="ctr"/>
          <a:lstStyle/>
          <a:p>
            <a:pPr algn="l"/>
            <a:r>
              <a:rPr lang="en-US" sz="1600" b="1" dirty="0">
                <a:solidFill>
                  <a:srgbClr val="1B5E20"/>
                </a:solidFill>
                <a:latin typeface="Calibri"/>
              </a:rPr>
              <a:t>Monte Carlo</a:t>
            </a:r>
          </a:p>
        </p:txBody>
      </p:sp>
      <p:sp>
        <p:nvSpPr>
          <p:cNvPr id="217" name="MLine0"/>
          <p:cNvSpPr/>
          <p:nvPr/>
        </p:nvSpPr>
        <p:spPr>
          <a:xfrm>
            <a:off x="457200" y="4837700"/>
            <a:ext cx="3746500" cy="28575"/>
          </a:xfrm>
          <a:prstGeom prst="rect">
            <a:avLst/>
          </a:prstGeom>
          <a:solidFill>
            <a:srgbClr val="1B5E20"/>
          </a:solidFill>
          <a:ln>
            <a:noFill/>
          </a:ln>
        </p:spPr>
        <p:txBody>
          <a:bodyPr/>
          <a:lstStyle/>
          <a:p>
            <a:endParaRPr/>
          </a:p>
        </p:txBody>
      </p:sp>
      <p:sp>
        <p:nvSpPr>
          <p:cNvPr id="218" name="MText0"/>
          <p:cNvSpPr txBox="1"/>
          <p:nvPr/>
        </p:nvSpPr>
        <p:spPr>
          <a:xfrm>
            <a:off x="457200" y="4923425"/>
            <a:ext cx="3746500" cy="380000"/>
          </a:xfrm>
          <a:prstGeom prst="rect">
            <a:avLst/>
          </a:prstGeom>
          <a:noFill/>
          <a:ln>
            <a:noFill/>
          </a:ln>
        </p:spPr>
        <p:txBody>
          <a:bodyPr wrap="square" lIns="0" tIns="0" rIns="76200" bIns="0" anchor="t"/>
          <a:lstStyle/>
          <a:p>
            <a:pPr algn="l"/>
            <a:r>
              <a:rPr lang="en-US" sz="1300" b="0" dirty="0">
                <a:solidFill>
                  <a:srgbClr val="555555"/>
                </a:solidFill>
                <a:latin typeface="Calibri"/>
              </a:rPr>
              <a:t>Learn V from complete episode returns</a:t>
            </a:r>
          </a:p>
        </p:txBody>
      </p:sp>
      <p:sp>
        <p:nvSpPr>
          <p:cNvPr id="219" name="MTitle1"/>
          <p:cNvSpPr txBox="1"/>
          <p:nvPr/>
        </p:nvSpPr>
        <p:spPr>
          <a:xfrm>
            <a:off x="4222750" y="4513850"/>
            <a:ext cx="3746500" cy="304800"/>
          </a:xfrm>
          <a:prstGeom prst="rect">
            <a:avLst/>
          </a:prstGeom>
          <a:noFill/>
          <a:ln>
            <a:noFill/>
          </a:ln>
        </p:spPr>
        <p:txBody>
          <a:bodyPr wrap="square" lIns="0" tIns="0" rIns="0" bIns="0" anchor="ctr"/>
          <a:lstStyle/>
          <a:p>
            <a:pPr algn="l"/>
            <a:r>
              <a:rPr lang="en-US" sz="1600" b="1" dirty="0">
                <a:solidFill>
                  <a:srgbClr val="1A5276"/>
                </a:solidFill>
                <a:latin typeface="Calibri"/>
              </a:rPr>
              <a:t>TD Learning</a:t>
            </a:r>
          </a:p>
        </p:txBody>
      </p:sp>
      <p:sp>
        <p:nvSpPr>
          <p:cNvPr id="220" name="MLine1"/>
          <p:cNvSpPr/>
          <p:nvPr/>
        </p:nvSpPr>
        <p:spPr>
          <a:xfrm>
            <a:off x="4222750" y="4837700"/>
            <a:ext cx="3746500" cy="28575"/>
          </a:xfrm>
          <a:prstGeom prst="rect">
            <a:avLst/>
          </a:prstGeom>
          <a:solidFill>
            <a:srgbClr val="1A5276"/>
          </a:solidFill>
          <a:ln>
            <a:noFill/>
          </a:ln>
        </p:spPr>
        <p:txBody>
          <a:bodyPr/>
          <a:lstStyle/>
          <a:p>
            <a:endParaRPr/>
          </a:p>
        </p:txBody>
      </p:sp>
      <p:sp>
        <p:nvSpPr>
          <p:cNvPr id="221" name="MText1"/>
          <p:cNvSpPr txBox="1"/>
          <p:nvPr/>
        </p:nvSpPr>
        <p:spPr>
          <a:xfrm>
            <a:off x="4222750" y="4923425"/>
            <a:ext cx="3746500" cy="380000"/>
          </a:xfrm>
          <a:prstGeom prst="rect">
            <a:avLst/>
          </a:prstGeom>
          <a:noFill/>
          <a:ln>
            <a:noFill/>
          </a:ln>
        </p:spPr>
        <p:txBody>
          <a:bodyPr wrap="square" lIns="0" tIns="0" rIns="76200" bIns="0" anchor="t"/>
          <a:lstStyle/>
          <a:p>
            <a:pPr algn="l"/>
            <a:r>
              <a:rPr lang="en-US" sz="1300" b="0" dirty="0">
                <a:solidFill>
                  <a:srgbClr val="555555"/>
                </a:solidFill>
                <a:latin typeface="Calibri"/>
              </a:rPr>
              <a:t>Learn V from one-step bootstrapped estimates</a:t>
            </a:r>
          </a:p>
        </p:txBody>
      </p:sp>
      <p:sp>
        <p:nvSpPr>
          <p:cNvPr id="222" name="MTitle2"/>
          <p:cNvSpPr txBox="1"/>
          <p:nvPr/>
        </p:nvSpPr>
        <p:spPr>
          <a:xfrm>
            <a:off x="7988300" y="4513850"/>
            <a:ext cx="3746500" cy="304800"/>
          </a:xfrm>
          <a:prstGeom prst="rect">
            <a:avLst/>
          </a:prstGeom>
          <a:noFill/>
          <a:ln>
            <a:noFill/>
          </a:ln>
        </p:spPr>
        <p:txBody>
          <a:bodyPr wrap="square" lIns="0" tIns="0" rIns="0" bIns="0" anchor="ctr"/>
          <a:lstStyle/>
          <a:p>
            <a:pPr algn="l"/>
            <a:r>
              <a:rPr lang="en-US" sz="1600" b="1" dirty="0">
                <a:solidFill>
                  <a:srgbClr val="7B241C"/>
                </a:solidFill>
                <a:latin typeface="Calibri"/>
              </a:rPr>
              <a:t>Q-Learning</a:t>
            </a:r>
          </a:p>
        </p:txBody>
      </p:sp>
      <p:sp>
        <p:nvSpPr>
          <p:cNvPr id="223" name="MLine2"/>
          <p:cNvSpPr/>
          <p:nvPr/>
        </p:nvSpPr>
        <p:spPr>
          <a:xfrm>
            <a:off x="7988300" y="4837700"/>
            <a:ext cx="3746500" cy="28575"/>
          </a:xfrm>
          <a:prstGeom prst="rect">
            <a:avLst/>
          </a:prstGeom>
          <a:solidFill>
            <a:srgbClr val="7B241C"/>
          </a:solidFill>
          <a:ln>
            <a:noFill/>
          </a:ln>
        </p:spPr>
        <p:txBody>
          <a:bodyPr/>
          <a:lstStyle/>
          <a:p>
            <a:endParaRPr/>
          </a:p>
        </p:txBody>
      </p:sp>
      <p:sp>
        <p:nvSpPr>
          <p:cNvPr id="224" name="MText2"/>
          <p:cNvSpPr txBox="1"/>
          <p:nvPr/>
        </p:nvSpPr>
        <p:spPr>
          <a:xfrm>
            <a:off x="7988300" y="4923425"/>
            <a:ext cx="3746500" cy="380000"/>
          </a:xfrm>
          <a:prstGeom prst="rect">
            <a:avLst/>
          </a:prstGeom>
          <a:noFill/>
          <a:ln>
            <a:noFill/>
          </a:ln>
        </p:spPr>
        <p:txBody>
          <a:bodyPr wrap="square" lIns="0" tIns="0" rIns="76200" bIns="0" anchor="t"/>
          <a:lstStyle/>
          <a:p>
            <a:pPr algn="l"/>
            <a:r>
              <a:rPr lang="en-US" sz="1300" b="0" dirty="0">
                <a:solidFill>
                  <a:srgbClr val="555555"/>
                </a:solidFill>
                <a:latin typeface="Calibri"/>
              </a:rPr>
              <a:t>Learn Q* directly off-policy (model-free!)</a:t>
            </a:r>
          </a:p>
        </p:txBody>
      </p:sp>
      <p:sp>
        <p:nvSpPr>
          <p:cNvPr id="225" name="NoteBar"/>
          <p:cNvSpPr txBox="1"/>
          <p:nvPr/>
        </p:nvSpPr>
        <p:spPr>
          <a:xfrm>
            <a:off x="457200" y="5379625"/>
            <a:ext cx="11277600" cy="266700"/>
          </a:xfrm>
          <a:prstGeom prst="rect">
            <a:avLst/>
          </a:prstGeom>
          <a:solidFill>
            <a:srgbClr val="1B4F72"/>
          </a:solidFill>
          <a:ln>
            <a:noFill/>
          </a:ln>
        </p:spPr>
        <p:txBody>
          <a:bodyPr wrap="square" lIns="228600" tIns="0" rIns="228600" bIns="0" anchor="ctr"/>
          <a:lstStyle/>
          <a:p>
            <a:pPr algn="ctr"/>
            <a:r>
              <a:rPr lang="en-US" sz="1200" b="1" dirty="0">
                <a:solidFill>
                  <a:srgbClr val="F9E79F"/>
                </a:solidFill>
                <a:latin typeface="Calibri"/>
              </a:rPr>
              <a:t>GPI still applies in model-free RL — but Evaluation uses sampled experience instead of known dynamics!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BF3F3B-81A2-287D-A792-CAB681224050}"/>
              </a:ext>
            </a:extLst>
          </p:cNvPr>
          <p:cNvSpPr txBox="1"/>
          <p:nvPr/>
        </p:nvSpPr>
        <p:spPr>
          <a:xfrm>
            <a:off x="1227551" y="2517732"/>
            <a:ext cx="5924811" cy="830997"/>
          </a:xfrm>
          <a:prstGeom prst="rect">
            <a:avLst/>
          </a:prstGeom>
          <a:noFill/>
        </p:spPr>
        <p:txBody>
          <a:bodyPr wrap="square" rtlCol="0">
            <a:spAutoFit/>
          </a:bodyPr>
          <a:lstStyle/>
          <a:p>
            <a:r>
              <a:rPr lang="en-US" sz="4800" dirty="0"/>
              <a:t>Thank you </a:t>
            </a:r>
          </a:p>
        </p:txBody>
      </p:sp>
    </p:spTree>
    <p:extLst>
      <p:ext uri="{BB962C8B-B14F-4D97-AF65-F5344CB8AC3E}">
        <p14:creationId xmlns:p14="http://schemas.microsoft.com/office/powerpoint/2010/main" val="3808381702"/>
      </p:ext>
    </p:extLst>
  </p:cSld>
  <p:clrMapOvr>
    <a:masterClrMapping/>
  </p:clrMapOvr>
</p:sld>
</file>

<file path=ppt/theme/theme1.xml><?xml version="1.0" encoding="utf-8"?>
<a:theme xmlns:a="http://schemas.openxmlformats.org/drawingml/2006/main" name="1_Office Theme">
  <a:themeElements>
    <a:clrScheme name="Custom 2">
      <a:dk1>
        <a:srgbClr val="000000"/>
      </a:dk1>
      <a:lt1>
        <a:srgbClr val="FFFFFF"/>
      </a:lt1>
      <a:dk2>
        <a:srgbClr val="373545"/>
      </a:dk2>
      <a:lt2>
        <a:srgbClr val="DCD8DC"/>
      </a:lt2>
      <a:accent1>
        <a:srgbClr val="AD84C6"/>
      </a:accent1>
      <a:accent2>
        <a:srgbClr val="8784C7"/>
      </a:accent2>
      <a:accent3>
        <a:srgbClr val="5D739A"/>
      </a:accent3>
      <a:accent4>
        <a:srgbClr val="6997AF"/>
      </a:accent4>
      <a:accent5>
        <a:srgbClr val="84ACB6"/>
      </a:accent5>
      <a:accent6>
        <a:srgbClr val="6F8183"/>
      </a:accent6>
      <a:hlink>
        <a:srgbClr val="69A020"/>
      </a:hlink>
      <a:folHlink>
        <a:srgbClr val="8C8C8C"/>
      </a:folHlink>
    </a:clrScheme>
    <a:fontScheme name="Candara">
      <a:maj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ndara" panose="020E0502030303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307</TotalTime>
  <Words>5494</Words>
  <Application>Microsoft Macintosh PowerPoint</Application>
  <PresentationFormat>Widescreen</PresentationFormat>
  <Paragraphs>781</Paragraphs>
  <Slides>42</Slides>
  <Notes>26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42</vt:i4>
      </vt:variant>
    </vt:vector>
  </HeadingPairs>
  <TitlesOfParts>
    <vt:vector size="50" baseType="lpstr">
      <vt:lpstr>Aptos</vt:lpstr>
      <vt:lpstr>Aptos Display</vt:lpstr>
      <vt:lpstr>Arial</vt:lpstr>
      <vt:lpstr>Calibri</vt:lpstr>
      <vt:lpstr>Cambria</vt:lpstr>
      <vt:lpstr>Tahoma</vt:lpstr>
      <vt:lpstr>1_Office Theme</vt:lpstr>
      <vt:lpstr>Custom Design</vt:lpstr>
      <vt:lpstr>PowerPoint Presentation</vt:lpstr>
      <vt:lpstr>PowerPoint Presentation</vt:lpstr>
      <vt:lpstr>What is a Markov Decision Process (MDP)?</vt:lpstr>
      <vt:lpstr>How Does MDP Relate to the RL Problem?</vt:lpstr>
      <vt:lpstr>MDP Formulation</vt:lpstr>
      <vt:lpstr>Returns and Rewards</vt:lpstr>
      <vt:lpstr>Problem Definition</vt:lpstr>
      <vt:lpstr>MARKOV DECISION PROCESS FORMALIZATION (Simplified)</vt:lpstr>
      <vt:lpstr>Value Functions — V(s) and Q(s,a)</vt:lpstr>
      <vt:lpstr>Bellman Expectation Equation</vt:lpstr>
      <vt:lpstr>PowerPoint Presentation</vt:lpstr>
      <vt:lpstr>Bellman Optimality Equation</vt:lpstr>
      <vt:lpstr>Dynamic Programming — Overview</vt:lpstr>
      <vt:lpstr>Dynamic Programming</vt:lpstr>
      <vt:lpstr>Dynamic Programming</vt:lpstr>
      <vt:lpstr>Value Iteration</vt:lpstr>
      <vt:lpstr>PowerPoint Presentation</vt:lpstr>
      <vt:lpstr>Dynamic Programming – Value Iteration</vt:lpstr>
      <vt:lpstr>Dynamic Programming – Value Iteration</vt:lpstr>
      <vt:lpstr>Dynamic Programming – Value Iteration</vt:lpstr>
      <vt:lpstr>Dynamic Programming – Value Iteration</vt:lpstr>
      <vt:lpstr>Dynamic Programming – Value Iteration</vt:lpstr>
      <vt:lpstr>Dynamic Programming – Value Iteration</vt:lpstr>
      <vt:lpstr>Dynamic Programming – Value Iteration</vt:lpstr>
      <vt:lpstr>Dynamic Programming – Value Iteration</vt:lpstr>
      <vt:lpstr>PowerPoint Presentation</vt:lpstr>
      <vt:lpstr>Dynamic Programming</vt:lpstr>
      <vt:lpstr>Policy Evaluation (Prediction)</vt:lpstr>
      <vt:lpstr>Policy Improvement</vt:lpstr>
      <vt:lpstr>Dynamic Programming – Policy Iteration</vt:lpstr>
      <vt:lpstr>Dynamic Programming – Policy Iteration</vt:lpstr>
      <vt:lpstr>Dynamic Programming – Policy Iteration</vt:lpstr>
      <vt:lpstr>Dynamic Programming – Policy Iteration</vt:lpstr>
      <vt:lpstr>Dynamic Programming – Policy Iteration</vt:lpstr>
      <vt:lpstr>Dynamic Programming – Policy Iteration</vt:lpstr>
      <vt:lpstr>Dynamic Programming – Policy Iteration</vt:lpstr>
      <vt:lpstr>Dynamic Programming -  Policy Iteration</vt:lpstr>
      <vt:lpstr>Generalised Policy Iteration (GPI)</vt:lpstr>
      <vt:lpstr>GPI — Convergence and Geometric View</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Sangeetha Viswanathan</dc:creator>
  <cp:lastModifiedBy>Sangeetha Viswanathan</cp:lastModifiedBy>
  <cp:revision>8</cp:revision>
  <dcterms:created xsi:type="dcterms:W3CDTF">2026-03-05T04:42:54Z</dcterms:created>
  <dcterms:modified xsi:type="dcterms:W3CDTF">2026-03-09T01:39:18Z</dcterms:modified>
</cp:coreProperties>
</file>
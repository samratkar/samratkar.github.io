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3244850" cx="5765800"/>
  <p:notesSz cx="5765800" cy="3244850"/>
  <p:embeddedFontLst>
    <p:embeddedFont>
      <p:font typeface="Tahoma"/>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58" roundtripDataSignature="AMtx7mjMEblF6PDtregOt06xZ5sPv6Sc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Tahoma-bold.fntdata"/><Relationship Id="rId12" Type="http://schemas.openxmlformats.org/officeDocument/2006/relationships/slide" Target="slides/slide7.xml"/><Relationship Id="rId56" Type="http://schemas.openxmlformats.org/officeDocument/2006/relationships/font" Target="fonts/Tahoma-regular.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 name="Google Shape;36;p1: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 name="Google Shape;45;p2: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 name="Google Shape;57;p3: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p4: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5: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6: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7: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8: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9: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29:notes"/>
          <p:cNvSpPr/>
          <p:nvPr>
            <p:ph idx="2" type="sldImg"/>
          </p:nvPr>
        </p:nvSpPr>
        <p:spPr>
          <a:xfrm>
            <a:off x="1801813" y="242888"/>
            <a:ext cx="2162175" cy="12176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6c7b9e349_0_2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g3a6c7b9e349_0_2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6c7b9e349_0_43: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g3a6c7b9e349_0_43: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6c7b9e349_0_74: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g3a6c7b9e349_0_74: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54a426ae3_0_1346: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g3b54a426ae3_0_1346: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ce36a5dc72_0_7: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g3ce36a5dc72_0_7: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54a426ae3_0_1366: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9" name="Google Shape;359;g3b54a426ae3_0_1366: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54a426ae3_0_1389: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b54a426ae3_0_1389: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b54a426ae3_0_1418: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g3b54a426ae3_0_1418: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b54a426ae3_0_1423: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 name="Google Shape;420;g3b54a426ae3_0_1423: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54a426ae3_0_1458: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6" name="Google Shape;456;g3b54a426ae3_0_1458: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54a426ae3_0_1492: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g3b54a426ae3_0_1492: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54a426ae3_0_1526: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6" name="Google Shape;526;g3b54a426ae3_0_1526: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b54a426ae3_0_156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1" name="Google Shape;561;g3b54a426ae3_0_156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b54a426ae3_0_156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8" name="Google Shape;568;g3b54a426ae3_0_1565: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b54a426ae3_0_157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g3b54a426ae3_0_157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b54a426ae3_0_161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g3b54a426ae3_0_161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54a426ae3_0_165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6" name="Google Shape;656;g3b54a426ae3_0_165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b54a426ae3_0_169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7" name="Google Shape;697;g3b54a426ae3_0_169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b54a426ae3_0_173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8" name="Google Shape;738;g3b54a426ae3_0_173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b54a426ae3_0_194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-2.484</a:t>
            </a:r>
            <a:endParaRPr/>
          </a:p>
        </p:txBody>
      </p:sp>
      <p:sp>
        <p:nvSpPr>
          <p:cNvPr id="785" name="Google Shape;785;g3b54a426ae3_0_1945: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b54a426ae3_0_1776: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1" name="Google Shape;831;g3b54a426ae3_0_1776: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b54a426ae3_0_1781: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8" name="Google Shape;838;g3b54a426ae3_0_1781: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54a426ae3_0_1821: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9" name="Google Shape;879;g3b54a426ae3_0_1821: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b54a426ae3_0_1863: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2" name="Google Shape;922;g3b54a426ae3_0_1863: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b54a426ae3_0_1904: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-2.484</a:t>
            </a:r>
            <a:endParaRPr/>
          </a:p>
        </p:txBody>
      </p:sp>
      <p:sp>
        <p:nvSpPr>
          <p:cNvPr id="964" name="Google Shape;964;g3b54a426ae3_0_1904: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c53b5bf8f1_0_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-2.484</a:t>
            </a:r>
            <a:endParaRPr/>
          </a:p>
        </p:txBody>
      </p:sp>
      <p:sp>
        <p:nvSpPr>
          <p:cNvPr id="1006" name="Google Shape;1006;g3c53b5bf8f1_0_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b75ff0c716_0_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2" name="Google Shape;1052;g3b75ff0c716_0_0: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b75ff0c716_0_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9" name="Google Shape;1059;g3b75ff0c716_0_5: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b75ff0c716_0_4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0" name="Google Shape;1100;g3b75ff0c716_0_45: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b75ff0c716_0_87: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3" name="Google Shape;1143;g3b75ff0c716_0_87: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b75ff0c716_0_131: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8" name="Google Shape;1188;g3b75ff0c716_0_131: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b75ff0c716_0_172: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0" name="Google Shape;1230;g3b75ff0c716_0_172: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b75ff0c716_0_227: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6" name="Google Shape;1286;g3b75ff0c716_0_227: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3b75ff0c716_0_232: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3" name="Google Shape;1293;g3b75ff0c716_0_232: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3b75ff0c716_0_293: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5" name="Google Shape;1355;g3b75ff0c716_0_293: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3b75ff0c716_0_353: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6" name="Google Shape;1416;g3b75ff0c716_0_353: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b75ff0c716_0_41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9" name="Google Shape;1479;g3b75ff0c716_0_415: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3b75ff0c716_0_478: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3" name="Google Shape;1543;g3b75ff0c716_0_478: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g3b75ff0c716_0_56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1" name="Google Shape;1631;g3b75ff0c716_0_565: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3b75ff0c716_0_648: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5" name="Google Shape;1715;g3b75ff0c716_0_648: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3b75ff0c716_0_666: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4" name="Google Shape;1734;g3b75ff0c716_0_666:notes"/>
          <p:cNvSpPr/>
          <p:nvPr>
            <p:ph idx="2" type="sldImg"/>
          </p:nvPr>
        </p:nvSpPr>
        <p:spPr>
          <a:xfrm>
            <a:off x="1801813" y="242888"/>
            <a:ext cx="2162100" cy="121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2" name="Shape 12"/>
        <p:cNvGrpSpPr/>
        <p:nvPr/>
      </p:nvGrpSpPr>
      <p:grpSpPr>
        <a:xfrm>
          <a:off x="0" y="0"/>
          <a:ext cx="0" cy="0"/>
          <a:chOff x="0" y="0"/>
          <a:chExt cx="0" cy="0"/>
        </a:xfrm>
      </p:grpSpPr>
      <p:sp>
        <p:nvSpPr>
          <p:cNvPr id="13" name="Google Shape;13;p33"/>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3"/>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3"/>
          <p:cNvSpPr txBox="1"/>
          <p:nvPr>
            <p:ph idx="12" type="sldNum"/>
          </p:nvPr>
        </p:nvSpPr>
        <p:spPr>
          <a:xfrm>
            <a:off x="4648848" y="3137672"/>
            <a:ext cx="318208" cy="101600"/>
          </a:xfrm>
          <a:prstGeom prst="rect">
            <a:avLst/>
          </a:prstGeom>
          <a:noFill/>
          <a:ln>
            <a:noFill/>
          </a:ln>
        </p:spPr>
        <p:txBody>
          <a:bodyPr anchorCtr="0" anchor="t" bIns="0" lIns="0" spcFirstLastPara="1" rIns="0" wrap="square" tIns="0">
            <a:spAutoFit/>
          </a:bodyPr>
          <a:lstStyle>
            <a:lvl1pPr indent="0" lvl="0"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1pPr>
            <a:lvl2pPr indent="0" lvl="1"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2pPr>
            <a:lvl3pPr indent="0" lvl="2"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3pPr>
            <a:lvl4pPr indent="0" lvl="3"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4pPr>
            <a:lvl5pPr indent="0" lvl="4"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5pPr>
            <a:lvl6pPr indent="0" lvl="5"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6pPr>
            <a:lvl7pPr indent="0" lvl="6"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7pPr>
            <a:lvl8pPr indent="0" lvl="7"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8pPr>
            <a:lvl9pPr indent="0" lvl="8"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9pPr>
          </a:lstStyle>
          <a:p>
            <a:pPr indent="0" lvl="0" marL="59055" rtl="0" algn="l">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34"/>
          <p:cNvSpPr txBox="1"/>
          <p:nvPr>
            <p:ph type="title"/>
          </p:nvPr>
        </p:nvSpPr>
        <p:spPr>
          <a:xfrm>
            <a:off x="82600" y="109545"/>
            <a:ext cx="4943475" cy="28829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70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4"/>
          <p:cNvSpPr txBox="1"/>
          <p:nvPr>
            <p:ph idx="1" type="body"/>
          </p:nvPr>
        </p:nvSpPr>
        <p:spPr>
          <a:xfrm>
            <a:off x="321894" y="1497985"/>
            <a:ext cx="3812540" cy="1447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1050">
                <a:solidFill>
                  <a:srgbClr val="1B1472"/>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34"/>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4"/>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4"/>
          <p:cNvSpPr txBox="1"/>
          <p:nvPr>
            <p:ph idx="12" type="sldNum"/>
          </p:nvPr>
        </p:nvSpPr>
        <p:spPr>
          <a:xfrm>
            <a:off x="4648848" y="3137672"/>
            <a:ext cx="318208" cy="101600"/>
          </a:xfrm>
          <a:prstGeom prst="rect">
            <a:avLst/>
          </a:prstGeom>
          <a:noFill/>
          <a:ln>
            <a:noFill/>
          </a:ln>
        </p:spPr>
        <p:txBody>
          <a:bodyPr anchorCtr="0" anchor="t" bIns="0" lIns="0" spcFirstLastPara="1" rIns="0" wrap="square" tIns="0">
            <a:spAutoFit/>
          </a:bodyPr>
          <a:lstStyle>
            <a:lvl1pPr indent="0" lvl="0"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1pPr>
            <a:lvl2pPr indent="0" lvl="1"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2pPr>
            <a:lvl3pPr indent="0" lvl="2"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3pPr>
            <a:lvl4pPr indent="0" lvl="3"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4pPr>
            <a:lvl5pPr indent="0" lvl="4"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5pPr>
            <a:lvl6pPr indent="0" lvl="5"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6pPr>
            <a:lvl7pPr indent="0" lvl="6"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7pPr>
            <a:lvl8pPr indent="0" lvl="7"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8pPr>
            <a:lvl9pPr indent="0" lvl="8"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9pPr>
          </a:lstStyle>
          <a:p>
            <a:pPr indent="0" lvl="0" marL="59055" rtl="0" algn="l">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2" name="Shape 22"/>
        <p:cNvGrpSpPr/>
        <p:nvPr/>
      </p:nvGrpSpPr>
      <p:grpSpPr>
        <a:xfrm>
          <a:off x="0" y="0"/>
          <a:ext cx="0" cy="0"/>
          <a:chOff x="0" y="0"/>
          <a:chExt cx="0" cy="0"/>
        </a:xfrm>
      </p:grpSpPr>
      <p:sp>
        <p:nvSpPr>
          <p:cNvPr id="23" name="Google Shape;23;p35"/>
          <p:cNvSpPr txBox="1"/>
          <p:nvPr>
            <p:ph type="title"/>
          </p:nvPr>
        </p:nvSpPr>
        <p:spPr>
          <a:xfrm>
            <a:off x="82600" y="109545"/>
            <a:ext cx="4943475" cy="28829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70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5"/>
          <p:cNvSpPr txBox="1"/>
          <p:nvPr>
            <p:ph idx="1" type="body"/>
          </p:nvPr>
        </p:nvSpPr>
        <p:spPr>
          <a:xfrm>
            <a:off x="288290" y="746315"/>
            <a:ext cx="2508123" cy="214160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35"/>
          <p:cNvSpPr txBox="1"/>
          <p:nvPr>
            <p:ph idx="2" type="body"/>
          </p:nvPr>
        </p:nvSpPr>
        <p:spPr>
          <a:xfrm>
            <a:off x="2969387" y="746315"/>
            <a:ext cx="2508123" cy="214160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35"/>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5"/>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5"/>
          <p:cNvSpPr txBox="1"/>
          <p:nvPr>
            <p:ph idx="12" type="sldNum"/>
          </p:nvPr>
        </p:nvSpPr>
        <p:spPr>
          <a:xfrm>
            <a:off x="4648848" y="3137672"/>
            <a:ext cx="318208" cy="101600"/>
          </a:xfrm>
          <a:prstGeom prst="rect">
            <a:avLst/>
          </a:prstGeom>
          <a:noFill/>
          <a:ln>
            <a:noFill/>
          </a:ln>
        </p:spPr>
        <p:txBody>
          <a:bodyPr anchorCtr="0" anchor="t" bIns="0" lIns="0" spcFirstLastPara="1" rIns="0" wrap="square" tIns="0">
            <a:spAutoFit/>
          </a:bodyPr>
          <a:lstStyle>
            <a:lvl1pPr indent="0" lvl="0"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1pPr>
            <a:lvl2pPr indent="0" lvl="1"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2pPr>
            <a:lvl3pPr indent="0" lvl="2"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3pPr>
            <a:lvl4pPr indent="0" lvl="3"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4pPr>
            <a:lvl5pPr indent="0" lvl="4"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5pPr>
            <a:lvl6pPr indent="0" lvl="5"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6pPr>
            <a:lvl7pPr indent="0" lvl="6"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7pPr>
            <a:lvl8pPr indent="0" lvl="7"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8pPr>
            <a:lvl9pPr indent="0" lvl="8"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9pPr>
          </a:lstStyle>
          <a:p>
            <a:pPr indent="0" lvl="0" marL="59055" rtl="0" algn="l">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9" name="Shape 29"/>
        <p:cNvGrpSpPr/>
        <p:nvPr/>
      </p:nvGrpSpPr>
      <p:grpSpPr>
        <a:xfrm>
          <a:off x="0" y="0"/>
          <a:ext cx="0" cy="0"/>
          <a:chOff x="0" y="0"/>
          <a:chExt cx="0" cy="0"/>
        </a:xfrm>
      </p:grpSpPr>
      <p:sp>
        <p:nvSpPr>
          <p:cNvPr id="30" name="Google Shape;30;p36"/>
          <p:cNvSpPr txBox="1"/>
          <p:nvPr>
            <p:ph type="title"/>
          </p:nvPr>
        </p:nvSpPr>
        <p:spPr>
          <a:xfrm>
            <a:off x="82600" y="109545"/>
            <a:ext cx="4943475" cy="28829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70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6"/>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6"/>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6"/>
          <p:cNvSpPr txBox="1"/>
          <p:nvPr>
            <p:ph idx="12" type="sldNum"/>
          </p:nvPr>
        </p:nvSpPr>
        <p:spPr>
          <a:xfrm>
            <a:off x="4648848" y="3137672"/>
            <a:ext cx="318208" cy="101600"/>
          </a:xfrm>
          <a:prstGeom prst="rect">
            <a:avLst/>
          </a:prstGeom>
          <a:noFill/>
          <a:ln>
            <a:noFill/>
          </a:ln>
        </p:spPr>
        <p:txBody>
          <a:bodyPr anchorCtr="0" anchor="t" bIns="0" lIns="0" spcFirstLastPara="1" rIns="0" wrap="square" tIns="0">
            <a:spAutoFit/>
          </a:bodyPr>
          <a:lstStyle>
            <a:lvl1pPr indent="0" lvl="0"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1pPr>
            <a:lvl2pPr indent="0" lvl="1"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2pPr>
            <a:lvl3pPr indent="0" lvl="2"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3pPr>
            <a:lvl4pPr indent="0" lvl="3"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4pPr>
            <a:lvl5pPr indent="0" lvl="4"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5pPr>
            <a:lvl6pPr indent="0" lvl="5"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6pPr>
            <a:lvl7pPr indent="0" lvl="6"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7pPr>
            <a:lvl8pPr indent="0" lvl="7"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8pPr>
            <a:lvl9pPr indent="0" lvl="8" marL="59055" marR="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9pPr>
          </a:lstStyle>
          <a:p>
            <a:pPr indent="0" lvl="0" marL="59055" rtl="0" algn="l">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32"/>
          <p:cNvPicPr preferRelativeResize="0"/>
          <p:nvPr/>
        </p:nvPicPr>
        <p:blipFill rotWithShape="1">
          <a:blip r:embed="rId1">
            <a:alphaModFix/>
          </a:blip>
          <a:srcRect b="0" l="0" r="0" t="0"/>
          <a:stretch/>
        </p:blipFill>
        <p:spPr>
          <a:xfrm>
            <a:off x="126" y="80250"/>
            <a:ext cx="5759866" cy="3159748"/>
          </a:xfrm>
          <a:prstGeom prst="rect">
            <a:avLst/>
          </a:prstGeom>
          <a:noFill/>
          <a:ln>
            <a:noFill/>
          </a:ln>
        </p:spPr>
      </p:pic>
      <p:sp>
        <p:nvSpPr>
          <p:cNvPr id="7" name="Google Shape;7;p32"/>
          <p:cNvSpPr txBox="1"/>
          <p:nvPr>
            <p:ph type="title"/>
          </p:nvPr>
        </p:nvSpPr>
        <p:spPr>
          <a:xfrm>
            <a:off x="82600" y="109545"/>
            <a:ext cx="4943475" cy="28829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700" u="none" cap="none" strike="noStrike">
                <a:solidFill>
                  <a:srgbClr val="1B1472"/>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32"/>
          <p:cNvSpPr txBox="1"/>
          <p:nvPr>
            <p:ph idx="1" type="body"/>
          </p:nvPr>
        </p:nvSpPr>
        <p:spPr>
          <a:xfrm>
            <a:off x="321894" y="1497985"/>
            <a:ext cx="3812540" cy="14478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050" u="none" cap="none" strike="noStrike">
                <a:solidFill>
                  <a:srgbClr val="1B1472"/>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32"/>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32"/>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2"/>
          <p:cNvSpPr txBox="1"/>
          <p:nvPr>
            <p:ph idx="12" type="sldNum"/>
          </p:nvPr>
        </p:nvSpPr>
        <p:spPr>
          <a:xfrm>
            <a:off x="4648848" y="3137672"/>
            <a:ext cx="318208" cy="101600"/>
          </a:xfrm>
          <a:prstGeom prst="rect">
            <a:avLst/>
          </a:prstGeom>
          <a:noFill/>
          <a:ln>
            <a:noFill/>
          </a:ln>
        </p:spPr>
        <p:txBody>
          <a:bodyPr anchorCtr="0" anchor="t" bIns="0" lIns="0" spcFirstLastPara="1" rIns="0" wrap="square" tIns="0">
            <a:spAutoFit/>
          </a:bodyPr>
          <a:lstStyle>
            <a:lvl1pPr indent="0" lvl="0"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1pPr>
            <a:lvl2pPr indent="0" lvl="1"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2pPr>
            <a:lvl3pPr indent="0" lvl="2"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3pPr>
            <a:lvl4pPr indent="0" lvl="3"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4pPr>
            <a:lvl5pPr indent="0" lvl="4"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5pPr>
            <a:lvl6pPr indent="0" lvl="5"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6pPr>
            <a:lvl7pPr indent="0" lvl="6"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7pPr>
            <a:lvl8pPr indent="0" lvl="7"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8pPr>
            <a:lvl9pPr indent="0" lvl="8" marL="59055" marR="0" rtl="0" algn="l">
              <a:lnSpc>
                <a:spcPct val="111666"/>
              </a:lnSpc>
              <a:spcBef>
                <a:spcPts val="0"/>
              </a:spcBef>
              <a:spcAft>
                <a:spcPts val="0"/>
              </a:spcAft>
              <a:buClr>
                <a:srgbClr val="000000"/>
              </a:buClr>
              <a:buSzPts val="600"/>
              <a:buFont typeface="Arial"/>
              <a:buNone/>
              <a:defRPr b="0" i="0" sz="600" u="none" cap="none" strike="noStrike">
                <a:solidFill>
                  <a:schemeClr val="dk1"/>
                </a:solidFill>
                <a:latin typeface="Calibri"/>
                <a:ea typeface="Calibri"/>
                <a:cs typeface="Calibri"/>
                <a:sym typeface="Calibri"/>
              </a:defRPr>
            </a:lvl9pPr>
          </a:lstStyle>
          <a:p>
            <a:pPr indent="0" lvl="0" marL="59055" rtl="0" algn="l">
              <a:spcBef>
                <a:spcPts val="0"/>
              </a:spcBef>
              <a:spcAft>
                <a:spcPts val="0"/>
              </a:spcAft>
              <a:buNone/>
            </a:pPr>
            <a:fld id="{00000000-1234-1234-1234-123412341234}" type="slidenum">
              <a:rPr lang="en-US"/>
              <a:t>‹#›</a:t>
            </a:fld>
            <a:r>
              <a:rPr lang="en-US"/>
              <a:t> / 46</a:t>
            </a:r>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5.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38.png"/><Relationship Id="rId5" Type="http://schemas.openxmlformats.org/officeDocument/2006/relationships/image" Target="../media/image27.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38.png"/><Relationship Id="rId5" Type="http://schemas.openxmlformats.org/officeDocument/2006/relationships/image" Target="../media/image27.png"/><Relationship Id="rId6" Type="http://schemas.openxmlformats.org/officeDocument/2006/relationships/image" Target="../media/image10.png"/><Relationship Id="rId7"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38.png"/><Relationship Id="rId10" Type="http://schemas.openxmlformats.org/officeDocument/2006/relationships/image" Target="../media/image66.png"/><Relationship Id="rId9" Type="http://schemas.openxmlformats.org/officeDocument/2006/relationships/image" Target="../media/image71.png"/><Relationship Id="rId5" Type="http://schemas.openxmlformats.org/officeDocument/2006/relationships/image" Target="../media/image27.png"/><Relationship Id="rId6" Type="http://schemas.openxmlformats.org/officeDocument/2006/relationships/image" Target="../media/image10.png"/><Relationship Id="rId7" Type="http://schemas.openxmlformats.org/officeDocument/2006/relationships/image" Target="../media/image68.png"/><Relationship Id="rId8" Type="http://schemas.openxmlformats.org/officeDocument/2006/relationships/image" Target="../media/image7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1.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1.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1.png"/><Relationship Id="rId4" Type="http://schemas.openxmlformats.org/officeDocument/2006/relationships/image" Target="../media/image39.png"/><Relationship Id="rId10" Type="http://schemas.openxmlformats.org/officeDocument/2006/relationships/image" Target="../media/image50.png"/><Relationship Id="rId9" Type="http://schemas.openxmlformats.org/officeDocument/2006/relationships/image" Target="../media/image48.png"/><Relationship Id="rId5" Type="http://schemas.openxmlformats.org/officeDocument/2006/relationships/image" Target="../media/image40.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1.png"/><Relationship Id="rId4" Type="http://schemas.openxmlformats.org/officeDocument/2006/relationships/image" Target="../media/image39.png"/><Relationship Id="rId10" Type="http://schemas.openxmlformats.org/officeDocument/2006/relationships/image" Target="../media/image48.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39.png"/><Relationship Id="rId10" Type="http://schemas.openxmlformats.org/officeDocument/2006/relationships/image" Target="../media/image48.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1.png"/><Relationship Id="rId4" Type="http://schemas.openxmlformats.org/officeDocument/2006/relationships/image" Target="../media/image39.png"/><Relationship Id="rId10" Type="http://schemas.openxmlformats.org/officeDocument/2006/relationships/image" Target="../media/image48.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39.png"/><Relationship Id="rId10" Type="http://schemas.openxmlformats.org/officeDocument/2006/relationships/image" Target="../media/image48.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1.png"/><Relationship Id="rId4" Type="http://schemas.openxmlformats.org/officeDocument/2006/relationships/image" Target="../media/image39.png"/><Relationship Id="rId10" Type="http://schemas.openxmlformats.org/officeDocument/2006/relationships/image" Target="../media/image50.png"/><Relationship Id="rId9" Type="http://schemas.openxmlformats.org/officeDocument/2006/relationships/image" Target="../media/image48.png"/><Relationship Id="rId5" Type="http://schemas.openxmlformats.org/officeDocument/2006/relationships/image" Target="../media/image40.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5.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5.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5.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5.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55.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76.png"/><Relationship Id="rId5" Type="http://schemas.openxmlformats.org/officeDocument/2006/relationships/image" Target="../media/image40.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0.png"/><Relationship Id="rId4" Type="http://schemas.openxmlformats.org/officeDocument/2006/relationships/image" Target="../media/image44.png"/><Relationship Id="rId9" Type="http://schemas.openxmlformats.org/officeDocument/2006/relationships/image" Target="../media/image76.png"/><Relationship Id="rId5" Type="http://schemas.openxmlformats.org/officeDocument/2006/relationships/image" Target="../media/image43.png"/><Relationship Id="rId6" Type="http://schemas.openxmlformats.org/officeDocument/2006/relationships/image" Target="../media/image41.png"/><Relationship Id="rId7" Type="http://schemas.openxmlformats.org/officeDocument/2006/relationships/image" Target="../media/image39.png"/><Relationship Id="rId8"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0.png"/><Relationship Id="rId4" Type="http://schemas.openxmlformats.org/officeDocument/2006/relationships/image" Target="../media/image44.png"/><Relationship Id="rId9" Type="http://schemas.openxmlformats.org/officeDocument/2006/relationships/image" Target="../media/image76.png"/><Relationship Id="rId5" Type="http://schemas.openxmlformats.org/officeDocument/2006/relationships/image" Target="../media/image43.png"/><Relationship Id="rId6" Type="http://schemas.openxmlformats.org/officeDocument/2006/relationships/image" Target="../media/image41.png"/><Relationship Id="rId7" Type="http://schemas.openxmlformats.org/officeDocument/2006/relationships/image" Target="../media/image39.png"/><Relationship Id="rId8"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0.png"/><Relationship Id="rId4" Type="http://schemas.openxmlformats.org/officeDocument/2006/relationships/image" Target="../media/image44.png"/><Relationship Id="rId9" Type="http://schemas.openxmlformats.org/officeDocument/2006/relationships/image" Target="../media/image76.png"/><Relationship Id="rId5" Type="http://schemas.openxmlformats.org/officeDocument/2006/relationships/image" Target="../media/image43.png"/><Relationship Id="rId6" Type="http://schemas.openxmlformats.org/officeDocument/2006/relationships/image" Target="../media/image41.png"/><Relationship Id="rId7" Type="http://schemas.openxmlformats.org/officeDocument/2006/relationships/image" Target="../media/image39.png"/><Relationship Id="rId8"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0.png"/><Relationship Id="rId4" Type="http://schemas.openxmlformats.org/officeDocument/2006/relationships/image" Target="../media/image44.png"/><Relationship Id="rId9" Type="http://schemas.openxmlformats.org/officeDocument/2006/relationships/image" Target="../media/image76.png"/><Relationship Id="rId5" Type="http://schemas.openxmlformats.org/officeDocument/2006/relationships/image" Target="../media/image43.png"/><Relationship Id="rId6" Type="http://schemas.openxmlformats.org/officeDocument/2006/relationships/image" Target="../media/image41.png"/><Relationship Id="rId7" Type="http://schemas.openxmlformats.org/officeDocument/2006/relationships/image" Target="../media/image39.png"/><Relationship Id="rId8"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0.png"/><Relationship Id="rId4" Type="http://schemas.openxmlformats.org/officeDocument/2006/relationships/image" Target="../media/image44.png"/><Relationship Id="rId9" Type="http://schemas.openxmlformats.org/officeDocument/2006/relationships/image" Target="../media/image59.png"/><Relationship Id="rId5" Type="http://schemas.openxmlformats.org/officeDocument/2006/relationships/image" Target="../media/image43.png"/><Relationship Id="rId6" Type="http://schemas.openxmlformats.org/officeDocument/2006/relationships/image" Target="../media/image41.png"/><Relationship Id="rId7" Type="http://schemas.openxmlformats.org/officeDocument/2006/relationships/image" Target="../media/image39.png"/><Relationship Id="rId8" Type="http://schemas.openxmlformats.org/officeDocument/2006/relationships/image" Target="../media/image7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8.png"/><Relationship Id="rId4" Type="http://schemas.openxmlformats.org/officeDocument/2006/relationships/image" Target="../media/image57.png"/><Relationship Id="rId5" Type="http://schemas.openxmlformats.org/officeDocument/2006/relationships/image" Target="../media/image60.png"/><Relationship Id="rId6" Type="http://schemas.openxmlformats.org/officeDocument/2006/relationships/image" Target="../media/image56.png"/><Relationship Id="rId7" Type="http://schemas.openxmlformats.org/officeDocument/2006/relationships/image" Target="../media/image65.png"/><Relationship Id="rId8" Type="http://schemas.openxmlformats.org/officeDocument/2006/relationships/image" Target="../media/image6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7.png"/><Relationship Id="rId4" Type="http://schemas.openxmlformats.org/officeDocument/2006/relationships/image" Target="../media/image70.png"/><Relationship Id="rId11" Type="http://schemas.openxmlformats.org/officeDocument/2006/relationships/image" Target="../media/image48.png"/><Relationship Id="rId10" Type="http://schemas.openxmlformats.org/officeDocument/2006/relationships/image" Target="../media/image73.png"/><Relationship Id="rId12" Type="http://schemas.openxmlformats.org/officeDocument/2006/relationships/image" Target="../media/image69.png"/><Relationship Id="rId9" Type="http://schemas.openxmlformats.org/officeDocument/2006/relationships/image" Target="../media/image77.png"/><Relationship Id="rId5" Type="http://schemas.openxmlformats.org/officeDocument/2006/relationships/image" Target="../media/image62.png"/><Relationship Id="rId6" Type="http://schemas.openxmlformats.org/officeDocument/2006/relationships/image" Target="../media/image64.png"/><Relationship Id="rId7" Type="http://schemas.openxmlformats.org/officeDocument/2006/relationships/image" Target="../media/image72.png"/><Relationship Id="rId8"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 name="Shape 37"/>
        <p:cNvGrpSpPr/>
        <p:nvPr/>
      </p:nvGrpSpPr>
      <p:grpSpPr>
        <a:xfrm>
          <a:off x="0" y="0"/>
          <a:ext cx="0" cy="0"/>
          <a:chOff x="0" y="0"/>
          <a:chExt cx="0" cy="0"/>
        </a:xfrm>
      </p:grpSpPr>
      <p:grpSp>
        <p:nvGrpSpPr>
          <p:cNvPr id="38" name="Google Shape;38;p1"/>
          <p:cNvGrpSpPr/>
          <p:nvPr/>
        </p:nvGrpSpPr>
        <p:grpSpPr>
          <a:xfrm>
            <a:off x="0" y="7"/>
            <a:ext cx="5759866" cy="3239902"/>
            <a:chOff x="0" y="7"/>
            <a:chExt cx="5759866" cy="3239902"/>
          </a:xfrm>
        </p:grpSpPr>
        <p:pic>
          <p:nvPicPr>
            <p:cNvPr id="39" name="Google Shape;39;p1"/>
            <p:cNvPicPr preferRelativeResize="0"/>
            <p:nvPr/>
          </p:nvPicPr>
          <p:blipFill rotWithShape="1">
            <a:blip r:embed="rId3">
              <a:alphaModFix/>
            </a:blip>
            <a:srcRect b="0" l="0" r="0" t="0"/>
            <a:stretch/>
          </p:blipFill>
          <p:spPr>
            <a:xfrm>
              <a:off x="0" y="7"/>
              <a:ext cx="5759866" cy="3239902"/>
            </a:xfrm>
            <a:prstGeom prst="rect">
              <a:avLst/>
            </a:prstGeom>
            <a:noFill/>
            <a:ln>
              <a:noFill/>
            </a:ln>
          </p:spPr>
        </p:pic>
        <p:sp>
          <p:nvSpPr>
            <p:cNvPr id="40" name="Google Shape;40;p1"/>
            <p:cNvSpPr/>
            <p:nvPr/>
          </p:nvSpPr>
          <p:spPr>
            <a:xfrm>
              <a:off x="1982523" y="1293502"/>
              <a:ext cx="3325495" cy="721995"/>
            </a:xfrm>
            <a:custGeom>
              <a:rect b="b" l="l" r="r" t="t"/>
              <a:pathLst>
                <a:path extrusionOk="0" h="721994" w="3325495">
                  <a:moveTo>
                    <a:pt x="0" y="721869"/>
                  </a:moveTo>
                  <a:lnTo>
                    <a:pt x="0" y="0"/>
                  </a:lnTo>
                  <a:lnTo>
                    <a:pt x="3324982" y="0"/>
                  </a:lnTo>
                  <a:lnTo>
                    <a:pt x="3324982" y="721869"/>
                  </a:lnTo>
                  <a:lnTo>
                    <a:pt x="0" y="72186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 name="Google Shape;41;p1"/>
          <p:cNvSpPr txBox="1"/>
          <p:nvPr/>
        </p:nvSpPr>
        <p:spPr>
          <a:xfrm>
            <a:off x="1982523" y="1293502"/>
            <a:ext cx="3325500" cy="686700"/>
          </a:xfrm>
          <a:prstGeom prst="rect">
            <a:avLst/>
          </a:prstGeom>
          <a:solidFill>
            <a:srgbClr val="FFFFFF">
              <a:alpha val="79215"/>
            </a:srgbClr>
          </a:solidFill>
          <a:ln cap="flat" cmpd="sng" w="12650">
            <a:solidFill>
              <a:srgbClr val="000000"/>
            </a:solidFill>
            <a:prstDash val="solid"/>
            <a:round/>
            <a:headEnd len="sm" w="sm" type="none"/>
            <a:tailEnd len="sm" w="sm" type="none"/>
          </a:ln>
        </p:spPr>
        <p:txBody>
          <a:bodyPr anchorCtr="0" anchor="t" bIns="0" lIns="0" spcFirstLastPara="1" rIns="0" wrap="square" tIns="100325">
            <a:spAutoFit/>
          </a:bodyPr>
          <a:lstStyle/>
          <a:p>
            <a:pPr indent="-634" lvl="0" marL="429894" marR="422275" rtl="0" algn="ctr">
              <a:lnSpc>
                <a:spcPct val="84500"/>
              </a:lnSpc>
              <a:spcBef>
                <a:spcPts val="0"/>
              </a:spcBef>
              <a:spcAft>
                <a:spcPts val="0"/>
              </a:spcAft>
              <a:buClr>
                <a:srgbClr val="000000"/>
              </a:buClr>
              <a:buSzPts val="1700"/>
              <a:buFont typeface="Arial"/>
              <a:buNone/>
            </a:pPr>
            <a:r>
              <a:rPr b="0" i="0" lang="en-US" sz="1700" u="none" cap="none" strike="noStrike">
                <a:solidFill>
                  <a:srgbClr val="000000"/>
                </a:solidFill>
                <a:latin typeface="Cambria"/>
                <a:ea typeface="Cambria"/>
                <a:cs typeface="Cambria"/>
                <a:sym typeface="Cambria"/>
              </a:rPr>
              <a:t>D</a:t>
            </a:r>
            <a:r>
              <a:rPr b="0" i="0" lang="en-US" sz="1350" u="none" cap="none" strike="noStrike">
                <a:solidFill>
                  <a:srgbClr val="000000"/>
                </a:solidFill>
                <a:latin typeface="Cambria"/>
                <a:ea typeface="Cambria"/>
                <a:cs typeface="Cambria"/>
                <a:sym typeface="Cambria"/>
              </a:rPr>
              <a:t>EEP </a:t>
            </a:r>
            <a:r>
              <a:rPr b="0" i="0" lang="en-US" sz="1400" u="none" cap="none" strike="noStrike">
                <a:solidFill>
                  <a:srgbClr val="000000"/>
                </a:solidFill>
                <a:latin typeface="Cambria"/>
                <a:ea typeface="Cambria"/>
                <a:cs typeface="Cambria"/>
                <a:sym typeface="Cambria"/>
              </a:rPr>
              <a:t>R</a:t>
            </a:r>
            <a:r>
              <a:rPr b="0" i="0" lang="en-US" sz="1350" u="none" cap="none" strike="noStrike">
                <a:solidFill>
                  <a:srgbClr val="000000"/>
                </a:solidFill>
                <a:latin typeface="Cambria"/>
                <a:ea typeface="Cambria"/>
                <a:cs typeface="Cambria"/>
                <a:sym typeface="Cambria"/>
              </a:rPr>
              <a:t>EINFORCEMENT </a:t>
            </a:r>
            <a:r>
              <a:rPr b="0" i="0" lang="en-US" sz="1400" u="none" cap="none" strike="noStrike">
                <a:solidFill>
                  <a:srgbClr val="000000"/>
                </a:solidFill>
                <a:latin typeface="Cambria"/>
                <a:ea typeface="Cambria"/>
                <a:cs typeface="Cambria"/>
                <a:sym typeface="Cambria"/>
              </a:rPr>
              <a:t>L</a:t>
            </a:r>
            <a:r>
              <a:rPr b="0" i="0" lang="en-US" sz="1350" u="none" cap="none" strike="noStrike">
                <a:solidFill>
                  <a:srgbClr val="000000"/>
                </a:solidFill>
                <a:latin typeface="Cambria"/>
                <a:ea typeface="Cambria"/>
                <a:cs typeface="Cambria"/>
                <a:sym typeface="Cambria"/>
              </a:rPr>
              <a:t>EARNING </a:t>
            </a:r>
            <a:endParaRPr b="0" i="0" sz="1400" u="none" cap="none" strike="noStrike">
              <a:solidFill>
                <a:srgbClr val="000000"/>
              </a:solidFill>
              <a:latin typeface="Arial"/>
              <a:ea typeface="Arial"/>
              <a:cs typeface="Arial"/>
              <a:sym typeface="Arial"/>
            </a:endParaRPr>
          </a:p>
          <a:p>
            <a:pPr indent="-634" lvl="0" marL="429894" marR="422275" rtl="0" algn="ctr">
              <a:lnSpc>
                <a:spcPct val="84500"/>
              </a:lnSpc>
              <a:spcBef>
                <a:spcPts val="0"/>
              </a:spcBef>
              <a:spcAft>
                <a:spcPts val="0"/>
              </a:spcAft>
              <a:buClr>
                <a:srgbClr val="000000"/>
              </a:buClr>
              <a:buSzPts val="1400"/>
              <a:buFont typeface="Arial"/>
              <a:buNone/>
            </a:pPr>
            <a:r>
              <a:rPr lang="en-US">
                <a:latin typeface="Cambria"/>
                <a:ea typeface="Cambria"/>
                <a:cs typeface="Cambria"/>
                <a:sym typeface="Cambria"/>
              </a:rPr>
              <a:t>Temporal Difference Learning</a:t>
            </a:r>
            <a:endParaRPr b="0" i="0" sz="1150" u="none" cap="none" strike="noStrike">
              <a:solidFill>
                <a:srgbClr val="000000"/>
              </a:solidFill>
              <a:latin typeface="Cambria"/>
              <a:ea typeface="Cambria"/>
              <a:cs typeface="Cambria"/>
              <a:sym typeface="Cambria"/>
            </a:endParaRPr>
          </a:p>
        </p:txBody>
      </p:sp>
      <p:sp>
        <p:nvSpPr>
          <p:cNvPr id="42" name="Google Shape;42;p1"/>
          <p:cNvSpPr txBox="1"/>
          <p:nvPr/>
        </p:nvSpPr>
        <p:spPr>
          <a:xfrm>
            <a:off x="3429001" y="2325275"/>
            <a:ext cx="1983900" cy="725100"/>
          </a:xfrm>
          <a:prstGeom prst="rect">
            <a:avLst/>
          </a:prstGeom>
          <a:noFill/>
          <a:ln>
            <a:noFill/>
          </a:ln>
        </p:spPr>
        <p:txBody>
          <a:bodyPr anchorCtr="0" anchor="t" bIns="0" lIns="0" spcFirstLastPara="1" rIns="0" wrap="square" tIns="11425">
            <a:spAutoFit/>
          </a:bodyPr>
          <a:lstStyle/>
          <a:p>
            <a:pPr indent="-299085" lvl="0" marL="311150" marR="5080" rtl="0" algn="l">
              <a:lnSpc>
                <a:spcPct val="126699"/>
              </a:lnSpc>
              <a:spcBef>
                <a:spcPts val="0"/>
              </a:spcBef>
              <a:spcAft>
                <a:spcPts val="0"/>
              </a:spcAft>
              <a:buClr>
                <a:srgbClr val="000000"/>
              </a:buClr>
              <a:buSzPts val="950"/>
              <a:buFont typeface="Arial"/>
              <a:buNone/>
            </a:pPr>
            <a:r>
              <a:rPr lang="en-US" sz="950">
                <a:solidFill>
                  <a:srgbClr val="1B1472"/>
                </a:solidFill>
              </a:rPr>
              <a:t>Raja vadhana Prabhakar</a:t>
            </a:r>
            <a:endParaRPr sz="950">
              <a:solidFill>
                <a:srgbClr val="1B1472"/>
              </a:solidFill>
            </a:endParaRPr>
          </a:p>
          <a:p>
            <a:pPr indent="-299085" lvl="0" marL="311150" marR="5080" rtl="0" algn="l">
              <a:lnSpc>
                <a:spcPct val="126699"/>
              </a:lnSpc>
              <a:spcBef>
                <a:spcPts val="0"/>
              </a:spcBef>
              <a:spcAft>
                <a:spcPts val="0"/>
              </a:spcAft>
              <a:buClr>
                <a:srgbClr val="000000"/>
              </a:buClr>
              <a:buSzPts val="950"/>
              <a:buFont typeface="Arial"/>
              <a:buNone/>
            </a:pPr>
            <a:r>
              <a:rPr lang="en-US" sz="950">
                <a:solidFill>
                  <a:srgbClr val="1B1472"/>
                </a:solidFill>
              </a:rPr>
              <a:t>Assistant Professor - CSIS</a:t>
            </a:r>
            <a:endParaRPr sz="950">
              <a:solidFill>
                <a:srgbClr val="1B1472"/>
              </a:solidFill>
            </a:endParaRPr>
          </a:p>
          <a:p>
            <a:pPr indent="-299085" lvl="0" marL="311150" marR="5080" rtl="0" algn="l">
              <a:lnSpc>
                <a:spcPct val="126699"/>
              </a:lnSpc>
              <a:spcBef>
                <a:spcPts val="0"/>
              </a:spcBef>
              <a:spcAft>
                <a:spcPts val="0"/>
              </a:spcAft>
              <a:buClr>
                <a:srgbClr val="000000"/>
              </a:buClr>
              <a:buSzPts val="950"/>
              <a:buFont typeface="Arial"/>
              <a:buNone/>
            </a:pPr>
            <a:r>
              <a:rPr b="0" i="0" lang="en-US" sz="950" u="none" cap="none" strike="noStrike">
                <a:solidFill>
                  <a:srgbClr val="1B1472"/>
                </a:solidFill>
                <a:latin typeface="Arial"/>
                <a:ea typeface="Arial"/>
                <a:cs typeface="Arial"/>
                <a:sym typeface="Arial"/>
              </a:rPr>
              <a:t>DRL Team</a:t>
            </a:r>
            <a:endParaRPr b="0" i="0" sz="950" u="none" cap="none" strike="noStrike">
              <a:solidFill>
                <a:srgbClr val="000000"/>
              </a:solidFill>
              <a:latin typeface="Arial"/>
              <a:ea typeface="Arial"/>
              <a:cs typeface="Arial"/>
              <a:sym typeface="Arial"/>
            </a:endParaRPr>
          </a:p>
          <a:p>
            <a:pPr indent="-299085" lvl="0" marL="311150" marR="5080" rtl="0" algn="l">
              <a:lnSpc>
                <a:spcPct val="126699"/>
              </a:lnSpc>
              <a:spcBef>
                <a:spcPts val="90"/>
              </a:spcBef>
              <a:spcAft>
                <a:spcPts val="0"/>
              </a:spcAft>
              <a:buClr>
                <a:srgbClr val="000000"/>
              </a:buClr>
              <a:buSzPts val="950"/>
              <a:buFont typeface="Arial"/>
              <a:buNone/>
            </a:pPr>
            <a:r>
              <a:rPr b="0" i="0" lang="en-US" sz="950" u="none" cap="none" strike="noStrike">
                <a:solidFill>
                  <a:srgbClr val="1B1472"/>
                </a:solidFill>
                <a:latin typeface="Arial"/>
                <a:ea typeface="Arial"/>
                <a:cs typeface="Arial"/>
                <a:sym typeface="Arial"/>
              </a:rPr>
              <a:t>BITS Pilani WILP</a:t>
            </a:r>
            <a:endParaRPr b="0" i="0" sz="14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2"/>
          <p:cNvSpPr txBox="1"/>
          <p:nvPr/>
        </p:nvSpPr>
        <p:spPr>
          <a:xfrm>
            <a:off x="1139868" y="967954"/>
            <a:ext cx="3220575" cy="918441"/>
          </a:xfrm>
          <a:prstGeom prst="rect">
            <a:avLst/>
          </a:prstGeom>
          <a:noFill/>
          <a:ln>
            <a:noFill/>
          </a:ln>
        </p:spPr>
        <p:txBody>
          <a:bodyPr anchorCtr="0" anchor="t" bIns="0" lIns="0" spcFirstLastPara="1" rIns="0" wrap="square" tIns="12050">
            <a:spAutoFit/>
          </a:bodyPr>
          <a:lstStyle/>
          <a:p>
            <a:pPr indent="0" lvl="0" marL="248284" marR="202565" rtl="0" algn="ctr">
              <a:lnSpc>
                <a:spcPct val="1147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The instructors is gratefully acknowledging the authors who made their course materials freely available online.</a:t>
            </a:r>
            <a:endParaRPr b="0" i="0" sz="1050" u="none" cap="none" strike="noStrike">
              <a:solidFill>
                <a:srgbClr val="000000"/>
              </a:solidFill>
              <a:latin typeface="Arial"/>
              <a:ea typeface="Arial"/>
              <a:cs typeface="Arial"/>
              <a:sym typeface="Arial"/>
            </a:endParaRPr>
          </a:p>
          <a:p>
            <a:pPr indent="0" lvl="0" marL="0" marR="0" rtl="0" algn="ctr">
              <a:lnSpc>
                <a:spcPct val="100000"/>
              </a:lnSpc>
              <a:spcBef>
                <a:spcPts val="18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This deck is designed by BITS WILP faculty team of course Deep Reinforcement Learning </a:t>
            </a:r>
            <a:endParaRPr b="0" i="0" sz="1050" u="none" cap="none" strike="noStrike">
              <a:solidFill>
                <a:srgbClr val="000000"/>
              </a:solidFill>
              <a:latin typeface="Arial"/>
              <a:ea typeface="Arial"/>
              <a:cs typeface="Arial"/>
              <a:sym typeface="Arial"/>
            </a:endParaRPr>
          </a:p>
        </p:txBody>
      </p:sp>
      <p:grpSp>
        <p:nvGrpSpPr>
          <p:cNvPr id="48" name="Google Shape;48;p2"/>
          <p:cNvGrpSpPr/>
          <p:nvPr/>
        </p:nvGrpSpPr>
        <p:grpSpPr>
          <a:xfrm>
            <a:off x="0" y="3141936"/>
            <a:ext cx="5760261" cy="92075"/>
            <a:chOff x="0" y="3141936"/>
            <a:chExt cx="5760261" cy="92075"/>
          </a:xfrm>
        </p:grpSpPr>
        <p:sp>
          <p:nvSpPr>
            <p:cNvPr id="49" name="Google Shape;49;p2"/>
            <p:cNvSpPr/>
            <p:nvPr/>
          </p:nvSpPr>
          <p:spPr>
            <a:xfrm>
              <a:off x="0" y="3141936"/>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1923862" y="3141936"/>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3836211" y="3141936"/>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2"/>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53" name="Google Shape;53;p2"/>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SzPts val="600"/>
              <a:buNone/>
            </a:pPr>
            <a:r>
              <a:rPr lang="en-US"/>
              <a:t>2</a:t>
            </a:r>
            <a:endParaRPr/>
          </a:p>
        </p:txBody>
      </p:sp>
      <p:sp>
        <p:nvSpPr>
          <p:cNvPr id="54" name="Google Shape;54;p2"/>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ph type="title"/>
          </p:nvPr>
        </p:nvSpPr>
        <p:spPr>
          <a:xfrm>
            <a:off x="82600" y="109545"/>
            <a:ext cx="4943475" cy="28829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0" name="Google Shape;60;p3"/>
          <p:cNvPicPr preferRelativeResize="0"/>
          <p:nvPr/>
        </p:nvPicPr>
        <p:blipFill rotWithShape="1">
          <a:blip r:embed="rId3">
            <a:alphaModFix/>
          </a:blip>
          <a:srcRect b="0" l="0" r="0" t="0"/>
          <a:stretch/>
        </p:blipFill>
        <p:spPr>
          <a:xfrm>
            <a:off x="343662" y="637743"/>
            <a:ext cx="169964" cy="169964"/>
          </a:xfrm>
          <a:prstGeom prst="rect">
            <a:avLst/>
          </a:prstGeom>
          <a:noFill/>
          <a:ln>
            <a:noFill/>
          </a:ln>
        </p:spPr>
      </p:pic>
      <p:sp>
        <p:nvSpPr>
          <p:cNvPr id="61" name="Google Shape;61;p3"/>
          <p:cNvSpPr txBox="1"/>
          <p:nvPr/>
        </p:nvSpPr>
        <p:spPr>
          <a:xfrm>
            <a:off x="387959" y="641412"/>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EAEAF7"/>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pic>
        <p:nvPicPr>
          <p:cNvPr id="62" name="Google Shape;62;p3"/>
          <p:cNvPicPr preferRelativeResize="0"/>
          <p:nvPr/>
        </p:nvPicPr>
        <p:blipFill rotWithShape="1">
          <a:blip r:embed="rId4">
            <a:alphaModFix/>
          </a:blip>
          <a:srcRect b="0" l="0" r="0" t="0"/>
          <a:stretch/>
        </p:blipFill>
        <p:spPr>
          <a:xfrm>
            <a:off x="343662" y="929678"/>
            <a:ext cx="169964" cy="169964"/>
          </a:xfrm>
          <a:prstGeom prst="rect">
            <a:avLst/>
          </a:prstGeom>
          <a:noFill/>
          <a:ln>
            <a:noFill/>
          </a:ln>
        </p:spPr>
      </p:pic>
      <p:sp>
        <p:nvSpPr>
          <p:cNvPr id="63" name="Google Shape;63;p3"/>
          <p:cNvSpPr txBox="1"/>
          <p:nvPr/>
        </p:nvSpPr>
        <p:spPr>
          <a:xfrm>
            <a:off x="387959" y="933347"/>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pic>
        <p:nvPicPr>
          <p:cNvPr id="64" name="Google Shape;64;p3"/>
          <p:cNvPicPr preferRelativeResize="0"/>
          <p:nvPr/>
        </p:nvPicPr>
        <p:blipFill rotWithShape="1">
          <a:blip r:embed="rId5">
            <a:alphaModFix/>
          </a:blip>
          <a:srcRect b="0" l="0" r="0" t="0"/>
          <a:stretch/>
        </p:blipFill>
        <p:spPr>
          <a:xfrm>
            <a:off x="343662" y="1221600"/>
            <a:ext cx="169964" cy="169964"/>
          </a:xfrm>
          <a:prstGeom prst="rect">
            <a:avLst/>
          </a:prstGeom>
          <a:noFill/>
          <a:ln>
            <a:noFill/>
          </a:ln>
        </p:spPr>
      </p:pic>
      <p:sp>
        <p:nvSpPr>
          <p:cNvPr id="65" name="Google Shape;65;p3"/>
          <p:cNvSpPr txBox="1"/>
          <p:nvPr/>
        </p:nvSpPr>
        <p:spPr>
          <a:xfrm>
            <a:off x="387959" y="1225281"/>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3</a:t>
            </a:r>
            <a:endParaRPr b="0" i="0" sz="800" u="none" cap="none" strike="noStrike">
              <a:solidFill>
                <a:srgbClr val="000000"/>
              </a:solidFill>
              <a:latin typeface="Calibri"/>
              <a:ea typeface="Calibri"/>
              <a:cs typeface="Calibri"/>
              <a:sym typeface="Calibri"/>
            </a:endParaRPr>
          </a:p>
        </p:txBody>
      </p:sp>
      <p:pic>
        <p:nvPicPr>
          <p:cNvPr id="66" name="Google Shape;66;p3"/>
          <p:cNvPicPr preferRelativeResize="0"/>
          <p:nvPr/>
        </p:nvPicPr>
        <p:blipFill rotWithShape="1">
          <a:blip r:embed="rId6">
            <a:alphaModFix/>
          </a:blip>
          <a:srcRect b="0" l="0" r="0" t="0"/>
          <a:stretch/>
        </p:blipFill>
        <p:spPr>
          <a:xfrm>
            <a:off x="343662" y="1513535"/>
            <a:ext cx="169964" cy="169964"/>
          </a:xfrm>
          <a:prstGeom prst="rect">
            <a:avLst/>
          </a:prstGeom>
          <a:noFill/>
          <a:ln>
            <a:noFill/>
          </a:ln>
        </p:spPr>
      </p:pic>
      <p:sp>
        <p:nvSpPr>
          <p:cNvPr id="67" name="Google Shape;67;p3"/>
          <p:cNvSpPr txBox="1"/>
          <p:nvPr/>
        </p:nvSpPr>
        <p:spPr>
          <a:xfrm>
            <a:off x="387959" y="1517204"/>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4</a:t>
            </a:r>
            <a:endParaRPr b="0" i="0" sz="800" u="none" cap="none" strike="noStrike">
              <a:solidFill>
                <a:srgbClr val="000000"/>
              </a:solidFill>
              <a:latin typeface="Calibri"/>
              <a:ea typeface="Calibri"/>
              <a:cs typeface="Calibri"/>
              <a:sym typeface="Calibri"/>
            </a:endParaRPr>
          </a:p>
        </p:txBody>
      </p:sp>
      <p:sp>
        <p:nvSpPr>
          <p:cNvPr id="68" name="Google Shape;68;p3"/>
          <p:cNvSpPr txBox="1"/>
          <p:nvPr/>
        </p:nvSpPr>
        <p:spPr>
          <a:xfrm>
            <a:off x="563025" y="544082"/>
            <a:ext cx="3241800" cy="1486200"/>
          </a:xfrm>
          <a:prstGeom prst="rect">
            <a:avLst/>
          </a:prstGeom>
          <a:noFill/>
          <a:ln>
            <a:noFill/>
          </a:ln>
        </p:spPr>
        <p:txBody>
          <a:bodyPr anchorCtr="0" anchor="t" bIns="0" lIns="0" spcFirstLastPara="1" rIns="0" wrap="square" tIns="90150">
            <a:sp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MDP</a:t>
            </a:r>
            <a:endParaRPr b="0" i="0" sz="1400" u="none" cap="none" strike="noStrike">
              <a:solidFill>
                <a:srgbClr val="000000"/>
              </a:solidFill>
              <a:latin typeface="Calibri"/>
              <a:ea typeface="Calibri"/>
              <a:cs typeface="Calibri"/>
              <a:sym typeface="Calibri"/>
            </a:endParaRPr>
          </a:p>
          <a:p>
            <a:pPr indent="0" lvl="0" marL="12700" marR="0" rtl="0" algn="l">
              <a:lnSpc>
                <a:spcPct val="100000"/>
              </a:lnSpc>
              <a:spcBef>
                <a:spcPts val="62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DP</a:t>
            </a:r>
            <a:endParaRPr b="0" i="0" sz="1400" u="none" cap="none" strike="noStrike">
              <a:solidFill>
                <a:srgbClr val="000000"/>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MC </a:t>
            </a:r>
            <a:r>
              <a:rPr b="0" i="0" lang="en-US" sz="1400" u="none" cap="none" strike="noStrike">
                <a:solidFill>
                  <a:srgbClr val="D6D6EF"/>
                </a:solidFill>
                <a:latin typeface="Calibri"/>
                <a:ea typeface="Calibri"/>
                <a:cs typeface="Calibri"/>
                <a:sym typeface="Calibri"/>
              </a:rPr>
              <a:t> </a:t>
            </a:r>
            <a:endParaRPr b="0" i="0" sz="1400" u="none" cap="none" strike="noStrike">
              <a:solidFill>
                <a:srgbClr val="D6D6EF"/>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TD</a:t>
            </a:r>
            <a:endParaRPr b="0" i="0" sz="1400" u="none" cap="none" strike="noStrike">
              <a:solidFill>
                <a:srgbClr val="000000"/>
              </a:solidFill>
              <a:latin typeface="Calibri"/>
              <a:ea typeface="Calibri"/>
              <a:cs typeface="Calibri"/>
              <a:sym typeface="Calibri"/>
            </a:endParaRPr>
          </a:p>
          <a:p>
            <a:pPr indent="0" lvl="0" marL="12700" marR="0" rtl="0" algn="l">
              <a:lnSpc>
                <a:spcPct val="100000"/>
              </a:lnSpc>
              <a:spcBef>
                <a:spcPts val="62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69" name="Google Shape;69;p3"/>
          <p:cNvGrpSpPr/>
          <p:nvPr/>
        </p:nvGrpSpPr>
        <p:grpSpPr>
          <a:xfrm>
            <a:off x="0" y="3109250"/>
            <a:ext cx="5760261" cy="92075"/>
            <a:chOff x="0" y="3109250"/>
            <a:chExt cx="5760261" cy="92075"/>
          </a:xfrm>
        </p:grpSpPr>
        <p:sp>
          <p:nvSpPr>
            <p:cNvPr id="70" name="Google Shape;70;p3"/>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 name="Google Shape;73;p3"/>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74" name="Google Shape;74;p3"/>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SzPts val="600"/>
              <a:buNone/>
            </a:pPr>
            <a:r>
              <a:rPr lang="en-US"/>
              <a:t>3</a:t>
            </a:r>
            <a:endParaRPr/>
          </a:p>
        </p:txBody>
      </p:sp>
      <p:sp>
        <p:nvSpPr>
          <p:cNvPr id="75" name="Google Shape;75;p3"/>
          <p:cNvSpPr txBox="1"/>
          <p:nvPr/>
        </p:nvSpPr>
        <p:spPr>
          <a:xfrm>
            <a:off x="2283723" y="3137672"/>
            <a:ext cx="1330036" cy="103426"/>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82600" y="109545"/>
            <a:ext cx="4943475" cy="276984"/>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Problem Definition</a:t>
            </a:r>
            <a:endParaRPr/>
          </a:p>
        </p:txBody>
      </p:sp>
      <p:sp>
        <p:nvSpPr>
          <p:cNvPr id="81" name="Google Shape;81;p4"/>
          <p:cNvSpPr/>
          <p:nvPr/>
        </p:nvSpPr>
        <p:spPr>
          <a:xfrm>
            <a:off x="81411" y="475127"/>
            <a:ext cx="5426982" cy="237333"/>
          </a:xfrm>
          <a:custGeom>
            <a:rect b="b" l="l" r="r" t="t"/>
            <a:pathLst>
              <a:path extrusionOk="0" h="207009" w="514223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2" name="Google Shape;82;p4"/>
          <p:cNvPicPr preferRelativeResize="0"/>
          <p:nvPr/>
        </p:nvPicPr>
        <p:blipFill rotWithShape="1">
          <a:blip r:embed="rId3">
            <a:alphaModFix/>
          </a:blip>
          <a:srcRect b="0" l="0" r="0" t="0"/>
          <a:stretch/>
        </p:blipFill>
        <p:spPr>
          <a:xfrm>
            <a:off x="82600" y="938301"/>
            <a:ext cx="5426387" cy="128069"/>
          </a:xfrm>
          <a:prstGeom prst="rect">
            <a:avLst/>
          </a:prstGeom>
          <a:noFill/>
          <a:ln>
            <a:noFill/>
          </a:ln>
        </p:spPr>
      </p:pic>
      <p:sp>
        <p:nvSpPr>
          <p:cNvPr id="83" name="Google Shape;83;p4"/>
          <p:cNvSpPr/>
          <p:nvPr/>
        </p:nvSpPr>
        <p:spPr>
          <a:xfrm>
            <a:off x="80817" y="712460"/>
            <a:ext cx="5426982" cy="799561"/>
          </a:xfrm>
          <a:custGeom>
            <a:rect b="b" l="l" r="r" t="t"/>
            <a:pathLst>
              <a:path extrusionOk="0" h="381000" w="514223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5508987" y="714200"/>
            <a:ext cx="0" cy="29423"/>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
          <p:cNvSpPr/>
          <p:nvPr/>
        </p:nvSpPr>
        <p:spPr>
          <a:xfrm>
            <a:off x="5508987" y="684776"/>
            <a:ext cx="0" cy="29423"/>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4"/>
          <p:cNvSpPr/>
          <p:nvPr/>
        </p:nvSpPr>
        <p:spPr>
          <a:xfrm>
            <a:off x="5508987" y="655353"/>
            <a:ext cx="0" cy="29423"/>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4"/>
          <p:cNvSpPr/>
          <p:nvPr/>
        </p:nvSpPr>
        <p:spPr>
          <a:xfrm>
            <a:off x="5508987" y="611218"/>
            <a:ext cx="0" cy="44135"/>
          </a:xfrm>
          <a:custGeom>
            <a:rect b="b" l="l" r="r" t="t"/>
            <a:pathLst>
              <a:path extrusionOk="0" h="19050" w="120000">
                <a:moveTo>
                  <a:pt x="0" y="19050"/>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8" name="Google Shape;88;p4"/>
          <p:cNvPicPr preferRelativeResize="0"/>
          <p:nvPr/>
        </p:nvPicPr>
        <p:blipFill rotWithShape="1">
          <a:blip r:embed="rId4">
            <a:alphaModFix/>
          </a:blip>
          <a:srcRect b="0" l="0" r="0" t="0"/>
          <a:stretch/>
        </p:blipFill>
        <p:spPr>
          <a:xfrm>
            <a:off x="283194" y="1843601"/>
            <a:ext cx="97806" cy="82067"/>
          </a:xfrm>
          <a:prstGeom prst="rect">
            <a:avLst/>
          </a:prstGeom>
          <a:noFill/>
          <a:ln>
            <a:noFill/>
          </a:ln>
        </p:spPr>
      </p:pic>
      <p:pic>
        <p:nvPicPr>
          <p:cNvPr id="89" name="Google Shape;89;p4"/>
          <p:cNvPicPr preferRelativeResize="0"/>
          <p:nvPr/>
        </p:nvPicPr>
        <p:blipFill rotWithShape="1">
          <a:blip r:embed="rId5">
            <a:alphaModFix/>
          </a:blip>
          <a:srcRect b="0" l="0" r="0" t="0"/>
          <a:stretch/>
        </p:blipFill>
        <p:spPr>
          <a:xfrm>
            <a:off x="283194" y="2209822"/>
            <a:ext cx="97806" cy="82067"/>
          </a:xfrm>
          <a:prstGeom prst="rect">
            <a:avLst/>
          </a:prstGeom>
          <a:noFill/>
          <a:ln>
            <a:noFill/>
          </a:ln>
        </p:spPr>
      </p:pic>
      <p:sp>
        <p:nvSpPr>
          <p:cNvPr id="90" name="Google Shape;90;p4"/>
          <p:cNvSpPr txBox="1"/>
          <p:nvPr/>
        </p:nvSpPr>
        <p:spPr>
          <a:xfrm>
            <a:off x="80817" y="444904"/>
            <a:ext cx="5375100" cy="2232300"/>
          </a:xfrm>
          <a:prstGeom prst="rect">
            <a:avLst/>
          </a:prstGeom>
          <a:noFill/>
          <a:ln>
            <a:noFill/>
          </a:ln>
        </p:spPr>
        <p:txBody>
          <a:bodyPr anchorCtr="0" anchor="t" bIns="0" lIns="0" spcFirstLastPara="1" rIns="0" wrap="square" tIns="52700">
            <a:spAutoFit/>
          </a:bodyPr>
          <a:lstStyle/>
          <a:p>
            <a:pPr indent="0" lvl="0" marL="50800" marR="0" rtl="0" algn="just">
              <a:lnSpc>
                <a:spcPct val="100000"/>
              </a:lnSpc>
              <a:spcBef>
                <a:spcPts val="0"/>
              </a:spcBef>
              <a:spcAft>
                <a:spcPts val="0"/>
              </a:spcAft>
              <a:buClr>
                <a:srgbClr val="000000"/>
              </a:buClr>
              <a:buSzPts val="1200"/>
              <a:buFont typeface="Arial"/>
              <a:buNone/>
            </a:pPr>
            <a:r>
              <a:rPr b="0" i="0" lang="en-US" sz="1200" u="none" cap="none" strike="noStrike">
                <a:solidFill>
                  <a:srgbClr val="3333B2"/>
                </a:solidFill>
                <a:latin typeface="Calibri"/>
                <a:ea typeface="Calibri"/>
                <a:cs typeface="Calibri"/>
                <a:sym typeface="Calibri"/>
              </a:rPr>
              <a:t>Race Car Laps</a:t>
            </a:r>
            <a:endParaRPr b="0" i="0" sz="1200" u="none" cap="none" strike="noStrike">
              <a:solidFill>
                <a:srgbClr val="000000"/>
              </a:solidFill>
              <a:latin typeface="Calibri"/>
              <a:ea typeface="Calibri"/>
              <a:cs typeface="Calibri"/>
              <a:sym typeface="Calibri"/>
            </a:endParaRPr>
          </a:p>
          <a:p>
            <a:pPr indent="0" lvl="0" marL="50800" marR="17780" rtl="0" algn="just">
              <a:lnSpc>
                <a:spcPct val="114700"/>
              </a:lnSpc>
              <a:spcBef>
                <a:spcPts val="6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A race car completes laps while managing engine temperature and speed decisions. Here each step is a segment of a lap in the track where the car learns to trades off lap time against overheating risk. The more the lap the car completes it performance betters. Car shuts down only when its engine get overheated (optional terminal state). 	</a:t>
            </a:r>
            <a:endParaRPr b="0" i="0" sz="1400" u="none" cap="none" strike="noStrike">
              <a:solidFill>
                <a:srgbClr val="000000"/>
              </a:solidFill>
              <a:latin typeface="Arial"/>
              <a:ea typeface="Arial"/>
              <a:cs typeface="Arial"/>
              <a:sym typeface="Arial"/>
            </a:endParaRPr>
          </a:p>
          <a:p>
            <a:pPr indent="0" lvl="0" marL="50800" marR="17780" rtl="0" algn="just">
              <a:lnSpc>
                <a:spcPct val="114700"/>
              </a:lnSpc>
              <a:spcBef>
                <a:spcPts val="6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a:p>
            <a:pPr indent="0" lvl="0" marL="50800" marR="0" rtl="0" algn="just">
              <a:lnSpc>
                <a:spcPct val="100000"/>
              </a:lnSpc>
              <a:spcBef>
                <a:spcPts val="0"/>
              </a:spcBef>
              <a:spcAft>
                <a:spcPts val="0"/>
              </a:spcAft>
              <a:buClr>
                <a:srgbClr val="000000"/>
              </a:buClr>
              <a:buSzPts val="900"/>
              <a:buFont typeface="Arial"/>
              <a:buNone/>
            </a:pPr>
            <a:r>
              <a:t/>
            </a:r>
            <a:endParaRPr b="0" i="0" sz="900" u="none" cap="none" strike="noStrike">
              <a:solidFill>
                <a:srgbClr val="1B1472"/>
              </a:solidFill>
              <a:latin typeface="Arial"/>
              <a:ea typeface="Arial"/>
              <a:cs typeface="Arial"/>
              <a:sym typeface="Arial"/>
            </a:endParaRPr>
          </a:p>
          <a:p>
            <a:pPr indent="0" lvl="0" marL="50800" marR="0" rtl="0" algn="just">
              <a:lnSpc>
                <a:spcPct val="100000"/>
              </a:lnSpc>
              <a:spcBef>
                <a:spcPts val="0"/>
              </a:spcBef>
              <a:spcAft>
                <a:spcPts val="0"/>
              </a:spcAft>
              <a:buClr>
                <a:srgbClr val="000000"/>
              </a:buClr>
              <a:buSzPts val="900"/>
              <a:buFont typeface="Arial"/>
              <a:buNone/>
            </a:pPr>
            <a:r>
              <a:rPr b="0" i="0" lang="en-US" sz="900" u="none" cap="none" strike="noStrike">
                <a:solidFill>
                  <a:srgbClr val="1B1472"/>
                </a:solidFill>
                <a:latin typeface="Arial"/>
                <a:ea typeface="Arial"/>
                <a:cs typeface="Arial"/>
                <a:sym typeface="Arial"/>
              </a:rPr>
              <a:t>Key Characteristics:</a:t>
            </a:r>
            <a:endParaRPr b="0" i="0" sz="9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The agent must act under </a:t>
            </a:r>
            <a:r>
              <a:rPr b="1" i="0" lang="en-US" sz="900" u="none" cap="none" strike="noStrike">
                <a:solidFill>
                  <a:srgbClr val="000000"/>
                </a:solidFill>
                <a:latin typeface="Arial"/>
                <a:ea typeface="Arial"/>
                <a:cs typeface="Arial"/>
                <a:sym typeface="Arial"/>
              </a:rPr>
              <a:t>uncertainty</a:t>
            </a:r>
            <a:r>
              <a:rPr b="0" i="0" lang="en-US" sz="900" u="none" cap="none" strike="noStrike">
                <a:solidFill>
                  <a:srgbClr val="000000"/>
                </a:solidFill>
                <a:latin typeface="Arial"/>
                <a:ea typeface="Arial"/>
                <a:cs typeface="Arial"/>
                <a:sym typeface="Arial"/>
              </a:rPr>
              <a:t> — </a:t>
            </a:r>
            <a:endParaRPr b="0" i="0" sz="9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percepts are local, and the agent must reason about hidden dangers</a:t>
            </a:r>
            <a:endParaRPr b="0" i="0" sz="14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Tahoma"/>
                <a:ea typeface="Tahoma"/>
                <a:cs typeface="Tahoma"/>
                <a:sym typeface="Tahoma"/>
              </a:rPr>
              <a:t>Assume there is no fuel constraints or No.of.Laps to complete!</a:t>
            </a:r>
            <a:endParaRPr b="0" i="0" sz="1050" u="none" cap="none" strike="noStrike">
              <a:solidFill>
                <a:srgbClr val="000000"/>
              </a:solidFill>
              <a:latin typeface="Tahoma"/>
              <a:ea typeface="Tahoma"/>
              <a:cs typeface="Tahoma"/>
              <a:sym typeface="Tahoma"/>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At every time step the next potential engine temperature</a:t>
            </a:r>
            <a:endParaRPr b="0" i="0" sz="14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depends on the current engine state not the past history</a:t>
            </a:r>
            <a:endParaRPr b="0" i="0" sz="900" u="none" cap="none" strike="noStrike">
              <a:solidFill>
                <a:srgbClr val="000000"/>
              </a:solidFill>
              <a:latin typeface="Arial"/>
              <a:ea typeface="Arial"/>
              <a:cs typeface="Arial"/>
              <a:sym typeface="Arial"/>
            </a:endParaRPr>
          </a:p>
        </p:txBody>
      </p:sp>
      <p:grpSp>
        <p:nvGrpSpPr>
          <p:cNvPr id="91" name="Google Shape;91;p4"/>
          <p:cNvGrpSpPr/>
          <p:nvPr/>
        </p:nvGrpSpPr>
        <p:grpSpPr>
          <a:xfrm>
            <a:off x="0" y="3109250"/>
            <a:ext cx="5760261" cy="92075"/>
            <a:chOff x="0" y="3109250"/>
            <a:chExt cx="5760261" cy="92075"/>
          </a:xfrm>
        </p:grpSpPr>
        <p:sp>
          <p:nvSpPr>
            <p:cNvPr id="92" name="Google Shape;92;p4"/>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4"/>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4"/>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96" name="Google Shape;96;p4"/>
          <p:cNvSpPr txBox="1"/>
          <p:nvPr/>
        </p:nvSpPr>
        <p:spPr>
          <a:xfrm>
            <a:off x="2283723" y="3137672"/>
            <a:ext cx="1330036" cy="103426"/>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97" name="Google Shape;97;p4"/>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SzPts val="600"/>
              <a:buNone/>
            </a:pPr>
            <a:r>
              <a:rPr lang="en-US"/>
              <a:t>4</a:t>
            </a:r>
            <a:endParaRPr/>
          </a:p>
        </p:txBody>
      </p:sp>
      <p:pic>
        <p:nvPicPr>
          <p:cNvPr id="98" name="Google Shape;98;p4"/>
          <p:cNvPicPr preferRelativeResize="0"/>
          <p:nvPr/>
        </p:nvPicPr>
        <p:blipFill rotWithShape="1">
          <a:blip r:embed="rId6">
            <a:alphaModFix/>
          </a:blip>
          <a:srcRect b="0" l="0" r="0" t="0"/>
          <a:stretch/>
        </p:blipFill>
        <p:spPr>
          <a:xfrm>
            <a:off x="3413403" y="1539705"/>
            <a:ext cx="2346858" cy="1422731"/>
          </a:xfrm>
          <a:prstGeom prst="rect">
            <a:avLst/>
          </a:prstGeom>
          <a:noFill/>
          <a:ln>
            <a:noFill/>
          </a:ln>
        </p:spPr>
      </p:pic>
      <p:pic>
        <p:nvPicPr>
          <p:cNvPr id="99" name="Google Shape;99;p4"/>
          <p:cNvPicPr preferRelativeResize="0"/>
          <p:nvPr/>
        </p:nvPicPr>
        <p:blipFill rotWithShape="1">
          <a:blip r:embed="rId5">
            <a:alphaModFix/>
          </a:blip>
          <a:srcRect b="0" l="0" r="0" t="0"/>
          <a:stretch/>
        </p:blipFill>
        <p:spPr>
          <a:xfrm>
            <a:off x="283194" y="2362222"/>
            <a:ext cx="97806" cy="82067"/>
          </a:xfrm>
          <a:prstGeom prst="rect">
            <a:avLst/>
          </a:prstGeom>
          <a:noFill/>
          <a:ln>
            <a:noFill/>
          </a:ln>
        </p:spPr>
      </p:pic>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5"/>
          <p:cNvPicPr preferRelativeResize="0"/>
          <p:nvPr/>
        </p:nvPicPr>
        <p:blipFill rotWithShape="1">
          <a:blip r:embed="rId3">
            <a:alphaModFix/>
          </a:blip>
          <a:srcRect b="0" l="0" r="0" t="0"/>
          <a:stretch/>
        </p:blipFill>
        <p:spPr>
          <a:xfrm>
            <a:off x="3413403" y="1539705"/>
            <a:ext cx="2346858" cy="1422731"/>
          </a:xfrm>
          <a:prstGeom prst="rect">
            <a:avLst/>
          </a:prstGeom>
          <a:noFill/>
          <a:ln>
            <a:noFill/>
          </a:ln>
        </p:spPr>
      </p:pic>
      <p:sp>
        <p:nvSpPr>
          <p:cNvPr id="105" name="Google Shape;105;p5"/>
          <p:cNvSpPr txBox="1"/>
          <p:nvPr>
            <p:ph type="title"/>
          </p:nvPr>
        </p:nvSpPr>
        <p:spPr>
          <a:xfrm>
            <a:off x="82600" y="109545"/>
            <a:ext cx="5683200" cy="276984"/>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MARKOV DECISION PROCESS FORMALIZATION </a:t>
            </a:r>
            <a:r>
              <a:rPr lang="en-US" sz="1200">
                <a:solidFill>
                  <a:srgbClr val="FFFFFF"/>
                </a:solidFill>
              </a:rPr>
              <a:t>(Simplified)</a:t>
            </a:r>
            <a:endParaRPr sz="1200"/>
          </a:p>
        </p:txBody>
      </p:sp>
      <p:pic>
        <p:nvPicPr>
          <p:cNvPr id="106" name="Google Shape;106;p5"/>
          <p:cNvPicPr preferRelativeResize="0"/>
          <p:nvPr/>
        </p:nvPicPr>
        <p:blipFill rotWithShape="1">
          <a:blip r:embed="rId4">
            <a:alphaModFix/>
          </a:blip>
          <a:srcRect b="0" l="0" r="0" t="0"/>
          <a:stretch/>
        </p:blipFill>
        <p:spPr>
          <a:xfrm>
            <a:off x="182676" y="500049"/>
            <a:ext cx="121259" cy="121259"/>
          </a:xfrm>
          <a:prstGeom prst="rect">
            <a:avLst/>
          </a:prstGeom>
          <a:noFill/>
          <a:ln>
            <a:noFill/>
          </a:ln>
        </p:spPr>
      </p:pic>
      <p:sp>
        <p:nvSpPr>
          <p:cNvPr id="107" name="Google Shape;107;p5"/>
          <p:cNvSpPr txBox="1"/>
          <p:nvPr/>
        </p:nvSpPr>
        <p:spPr>
          <a:xfrm>
            <a:off x="209626" y="490199"/>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1</a:t>
            </a:r>
            <a:endParaRPr b="0" i="0" sz="600" u="none" cap="none" strike="noStrike">
              <a:solidFill>
                <a:srgbClr val="000000"/>
              </a:solidFill>
              <a:latin typeface="Calibri"/>
              <a:ea typeface="Calibri"/>
              <a:cs typeface="Calibri"/>
              <a:sym typeface="Calibri"/>
            </a:endParaRPr>
          </a:p>
        </p:txBody>
      </p:sp>
      <p:pic>
        <p:nvPicPr>
          <p:cNvPr id="108" name="Google Shape;108;p5"/>
          <p:cNvPicPr preferRelativeResize="0"/>
          <p:nvPr/>
        </p:nvPicPr>
        <p:blipFill rotWithShape="1">
          <a:blip r:embed="rId5">
            <a:alphaModFix/>
          </a:blip>
          <a:srcRect b="0" l="0" r="0" t="0"/>
          <a:stretch/>
        </p:blipFill>
        <p:spPr>
          <a:xfrm>
            <a:off x="182676" y="1079537"/>
            <a:ext cx="121259" cy="121259"/>
          </a:xfrm>
          <a:prstGeom prst="rect">
            <a:avLst/>
          </a:prstGeom>
          <a:noFill/>
          <a:ln>
            <a:noFill/>
          </a:ln>
        </p:spPr>
      </p:pic>
      <p:sp>
        <p:nvSpPr>
          <p:cNvPr id="109" name="Google Shape;109;p5"/>
          <p:cNvSpPr txBox="1"/>
          <p:nvPr/>
        </p:nvSpPr>
        <p:spPr>
          <a:xfrm>
            <a:off x="209626" y="1069688"/>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2</a:t>
            </a:r>
            <a:endParaRPr b="0" i="0" sz="600" u="none" cap="none" strike="noStrike">
              <a:solidFill>
                <a:srgbClr val="000000"/>
              </a:solidFill>
              <a:latin typeface="Calibri"/>
              <a:ea typeface="Calibri"/>
              <a:cs typeface="Calibri"/>
              <a:sym typeface="Calibri"/>
            </a:endParaRPr>
          </a:p>
        </p:txBody>
      </p:sp>
      <p:pic>
        <p:nvPicPr>
          <p:cNvPr id="110" name="Google Shape;110;p5"/>
          <p:cNvPicPr preferRelativeResize="0"/>
          <p:nvPr/>
        </p:nvPicPr>
        <p:blipFill rotWithShape="1">
          <a:blip r:embed="rId6">
            <a:alphaModFix/>
          </a:blip>
          <a:srcRect b="0" l="0" r="0" t="0"/>
          <a:stretch/>
        </p:blipFill>
        <p:spPr>
          <a:xfrm>
            <a:off x="182676" y="1659026"/>
            <a:ext cx="121259" cy="121259"/>
          </a:xfrm>
          <a:prstGeom prst="rect">
            <a:avLst/>
          </a:prstGeom>
          <a:noFill/>
          <a:ln>
            <a:noFill/>
          </a:ln>
        </p:spPr>
      </p:pic>
      <p:sp>
        <p:nvSpPr>
          <p:cNvPr id="111" name="Google Shape;111;p5"/>
          <p:cNvSpPr txBox="1"/>
          <p:nvPr/>
        </p:nvSpPr>
        <p:spPr>
          <a:xfrm>
            <a:off x="209626" y="1649176"/>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3</a:t>
            </a:r>
            <a:endParaRPr b="0" i="0" sz="600" u="none" cap="none" strike="noStrike">
              <a:solidFill>
                <a:srgbClr val="000000"/>
              </a:solidFill>
              <a:latin typeface="Calibri"/>
              <a:ea typeface="Calibri"/>
              <a:cs typeface="Calibri"/>
              <a:sym typeface="Calibri"/>
            </a:endParaRPr>
          </a:p>
        </p:txBody>
      </p:sp>
      <p:sp>
        <p:nvSpPr>
          <p:cNvPr id="112" name="Google Shape;112;p5"/>
          <p:cNvSpPr txBox="1"/>
          <p:nvPr/>
        </p:nvSpPr>
        <p:spPr>
          <a:xfrm>
            <a:off x="330884" y="414950"/>
            <a:ext cx="4393516" cy="2581023"/>
          </a:xfrm>
          <a:prstGeom prst="rect">
            <a:avLst/>
          </a:prstGeom>
          <a:blipFill rotWithShape="1">
            <a:blip r:embed="rId7">
              <a:alphaModFix/>
            </a:blip>
            <a:stretch>
              <a:fillRect b="-56974" l="-1525"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nvGrpSpPr>
          <p:cNvPr id="113" name="Google Shape;113;p5"/>
          <p:cNvGrpSpPr/>
          <p:nvPr/>
        </p:nvGrpSpPr>
        <p:grpSpPr>
          <a:xfrm>
            <a:off x="0" y="3109250"/>
            <a:ext cx="5760261" cy="92075"/>
            <a:chOff x="0" y="3109250"/>
            <a:chExt cx="5760261" cy="92075"/>
          </a:xfrm>
        </p:grpSpPr>
        <p:sp>
          <p:nvSpPr>
            <p:cNvPr id="114" name="Google Shape;114;p5"/>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5"/>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 name="Google Shape;117;p5"/>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18" name="Google Shape;118;p5"/>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37465" rtl="0" algn="l">
              <a:lnSpc>
                <a:spcPct val="111666"/>
              </a:lnSpc>
              <a:spcBef>
                <a:spcPts val="0"/>
              </a:spcBef>
              <a:spcAft>
                <a:spcPts val="0"/>
              </a:spcAft>
              <a:buSzPts val="600"/>
              <a:buNone/>
            </a:pPr>
            <a:r>
              <a:rPr lang="en-US"/>
              <a:t>5</a:t>
            </a:r>
            <a:endParaRPr/>
          </a:p>
        </p:txBody>
      </p:sp>
      <p:grpSp>
        <p:nvGrpSpPr>
          <p:cNvPr id="119" name="Google Shape;119;p5"/>
          <p:cNvGrpSpPr/>
          <p:nvPr/>
        </p:nvGrpSpPr>
        <p:grpSpPr>
          <a:xfrm>
            <a:off x="182676" y="2243985"/>
            <a:ext cx="148209" cy="163936"/>
            <a:chOff x="134127" y="2262704"/>
            <a:chExt cx="266997" cy="178837"/>
          </a:xfrm>
        </p:grpSpPr>
        <p:pic>
          <p:nvPicPr>
            <p:cNvPr id="120" name="Google Shape;120;p5"/>
            <p:cNvPicPr preferRelativeResize="0"/>
            <p:nvPr/>
          </p:nvPicPr>
          <p:blipFill rotWithShape="1">
            <a:blip r:embed="rId6">
              <a:alphaModFix/>
            </a:blip>
            <a:srcRect b="0" l="0" r="0" t="0"/>
            <a:stretch/>
          </p:blipFill>
          <p:spPr>
            <a:xfrm>
              <a:off x="134127" y="2262704"/>
              <a:ext cx="266997" cy="178837"/>
            </a:xfrm>
            <a:prstGeom prst="rect">
              <a:avLst/>
            </a:prstGeom>
            <a:noFill/>
            <a:ln>
              <a:noFill/>
            </a:ln>
          </p:spPr>
        </p:pic>
        <p:sp>
          <p:nvSpPr>
            <p:cNvPr id="121" name="Google Shape;121;p5"/>
            <p:cNvSpPr txBox="1"/>
            <p:nvPr/>
          </p:nvSpPr>
          <p:spPr>
            <a:xfrm>
              <a:off x="209626" y="2275554"/>
              <a:ext cx="148208" cy="10450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4</a:t>
              </a:r>
              <a:endParaRPr b="0" i="0" sz="600" u="none" cap="none" strike="noStrike">
                <a:solidFill>
                  <a:srgbClr val="000000"/>
                </a:solidFill>
                <a:latin typeface="Calibri"/>
                <a:ea typeface="Calibri"/>
                <a:cs typeface="Calibri"/>
                <a:sym typeface="Calibri"/>
              </a:endParaRPr>
            </a:p>
          </p:txBody>
        </p:sp>
      </p:grpSp>
      <p:grpSp>
        <p:nvGrpSpPr>
          <p:cNvPr id="122" name="Google Shape;122;p5"/>
          <p:cNvGrpSpPr/>
          <p:nvPr/>
        </p:nvGrpSpPr>
        <p:grpSpPr>
          <a:xfrm>
            <a:off x="519404" y="3558972"/>
            <a:ext cx="266997" cy="178837"/>
            <a:chOff x="286527" y="2415104"/>
            <a:chExt cx="266997" cy="178837"/>
          </a:xfrm>
        </p:grpSpPr>
        <p:pic>
          <p:nvPicPr>
            <p:cNvPr id="123" name="Google Shape;123;p5"/>
            <p:cNvPicPr preferRelativeResize="0"/>
            <p:nvPr/>
          </p:nvPicPr>
          <p:blipFill rotWithShape="1">
            <a:blip r:embed="rId6">
              <a:alphaModFix/>
            </a:blip>
            <a:srcRect b="0" l="0" r="0" t="0"/>
            <a:stretch/>
          </p:blipFill>
          <p:spPr>
            <a:xfrm>
              <a:off x="286527" y="2415104"/>
              <a:ext cx="266997" cy="178837"/>
            </a:xfrm>
            <a:prstGeom prst="rect">
              <a:avLst/>
            </a:prstGeom>
            <a:noFill/>
            <a:ln>
              <a:noFill/>
            </a:ln>
          </p:spPr>
        </p:pic>
        <p:sp>
          <p:nvSpPr>
            <p:cNvPr id="124" name="Google Shape;124;p5"/>
            <p:cNvSpPr txBox="1"/>
            <p:nvPr/>
          </p:nvSpPr>
          <p:spPr>
            <a:xfrm>
              <a:off x="362026" y="2427954"/>
              <a:ext cx="148208" cy="10450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5</a:t>
              </a:r>
              <a:endParaRPr b="0" i="0" sz="600" u="none" cap="none" strike="noStrike">
                <a:solidFill>
                  <a:srgbClr val="000000"/>
                </a:solidFill>
                <a:latin typeface="Calibri"/>
                <a:ea typeface="Calibri"/>
                <a:cs typeface="Calibri"/>
                <a:sym typeface="Calibri"/>
              </a:endParaRPr>
            </a:p>
          </p:txBody>
        </p:sp>
      </p:grpSp>
      <p:grpSp>
        <p:nvGrpSpPr>
          <p:cNvPr id="125" name="Google Shape;125;p5"/>
          <p:cNvGrpSpPr/>
          <p:nvPr/>
        </p:nvGrpSpPr>
        <p:grpSpPr>
          <a:xfrm>
            <a:off x="1032004" y="3531040"/>
            <a:ext cx="266997" cy="178837"/>
            <a:chOff x="438927" y="2567504"/>
            <a:chExt cx="266997" cy="178837"/>
          </a:xfrm>
        </p:grpSpPr>
        <p:pic>
          <p:nvPicPr>
            <p:cNvPr id="126" name="Google Shape;126;p5"/>
            <p:cNvPicPr preferRelativeResize="0"/>
            <p:nvPr/>
          </p:nvPicPr>
          <p:blipFill rotWithShape="1">
            <a:blip r:embed="rId6">
              <a:alphaModFix/>
            </a:blip>
            <a:srcRect b="0" l="0" r="0" t="0"/>
            <a:stretch/>
          </p:blipFill>
          <p:spPr>
            <a:xfrm>
              <a:off x="438927" y="2567504"/>
              <a:ext cx="266997" cy="178837"/>
            </a:xfrm>
            <a:prstGeom prst="rect">
              <a:avLst/>
            </a:prstGeom>
            <a:noFill/>
            <a:ln>
              <a:noFill/>
            </a:ln>
          </p:spPr>
        </p:pic>
        <p:sp>
          <p:nvSpPr>
            <p:cNvPr id="127" name="Google Shape;127;p5"/>
            <p:cNvSpPr txBox="1"/>
            <p:nvPr/>
          </p:nvSpPr>
          <p:spPr>
            <a:xfrm>
              <a:off x="514426" y="2580354"/>
              <a:ext cx="148208" cy="10450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6</a:t>
              </a:r>
              <a:endParaRPr b="0" i="0" sz="600" u="none" cap="none" strike="noStrike">
                <a:solidFill>
                  <a:srgbClr val="000000"/>
                </a:solidFill>
                <a:latin typeface="Calibri"/>
                <a:ea typeface="Calibri"/>
                <a:cs typeface="Calibri"/>
                <a:sym typeface="Calibri"/>
              </a:endParaRPr>
            </a:p>
          </p:txBody>
        </p:sp>
      </p:grpSp>
      <p:grpSp>
        <p:nvGrpSpPr>
          <p:cNvPr id="128" name="Google Shape;128;p5"/>
          <p:cNvGrpSpPr/>
          <p:nvPr/>
        </p:nvGrpSpPr>
        <p:grpSpPr>
          <a:xfrm>
            <a:off x="1544604" y="3571203"/>
            <a:ext cx="266997" cy="178837"/>
            <a:chOff x="1452387" y="2885403"/>
            <a:chExt cx="266997" cy="178837"/>
          </a:xfrm>
        </p:grpSpPr>
        <p:pic>
          <p:nvPicPr>
            <p:cNvPr id="129" name="Google Shape;129;p5"/>
            <p:cNvPicPr preferRelativeResize="0"/>
            <p:nvPr/>
          </p:nvPicPr>
          <p:blipFill rotWithShape="1">
            <a:blip r:embed="rId6">
              <a:alphaModFix/>
            </a:blip>
            <a:srcRect b="0" l="0" r="0" t="0"/>
            <a:stretch/>
          </p:blipFill>
          <p:spPr>
            <a:xfrm>
              <a:off x="1452387" y="2885403"/>
              <a:ext cx="266997" cy="178837"/>
            </a:xfrm>
            <a:prstGeom prst="rect">
              <a:avLst/>
            </a:prstGeom>
            <a:noFill/>
            <a:ln>
              <a:noFill/>
            </a:ln>
          </p:spPr>
        </p:pic>
        <p:sp>
          <p:nvSpPr>
            <p:cNvPr id="130" name="Google Shape;130;p5"/>
            <p:cNvSpPr txBox="1"/>
            <p:nvPr/>
          </p:nvSpPr>
          <p:spPr>
            <a:xfrm>
              <a:off x="1527886" y="2898253"/>
              <a:ext cx="148208" cy="10450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7</a:t>
              </a:r>
              <a:endParaRPr b="0" i="0" sz="600" u="none" cap="none" strike="noStrike">
                <a:solidFill>
                  <a:srgbClr val="000000"/>
                </a:solidFill>
                <a:latin typeface="Calibri"/>
                <a:ea typeface="Calibri"/>
                <a:cs typeface="Calibri"/>
                <a:sym typeface="Calibri"/>
              </a:endParaRPr>
            </a:p>
          </p:txBody>
        </p:sp>
      </p:grpSp>
      <p:sp>
        <p:nvSpPr>
          <p:cNvPr id="131" name="Google Shape;131;p5"/>
          <p:cNvSpPr txBox="1"/>
          <p:nvPr/>
        </p:nvSpPr>
        <p:spPr>
          <a:xfrm>
            <a:off x="2283723" y="3137672"/>
            <a:ext cx="1330036" cy="103426"/>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132" name="Google Shape;132;p5"/>
          <p:cNvSpPr txBox="1"/>
          <p:nvPr/>
        </p:nvSpPr>
        <p:spPr>
          <a:xfrm>
            <a:off x="1958398" y="1214854"/>
            <a:ext cx="384900" cy="3096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B1472"/>
                </a:solidFill>
                <a:latin typeface="Arial"/>
                <a:ea typeface="Arial"/>
                <a:cs typeface="Arial"/>
                <a:sym typeface="Arial"/>
              </a:rPr>
              <a:t>(F) }</a:t>
            </a:r>
            <a:endParaRPr b="1" i="0" sz="850" u="none" cap="none" strike="noStrike">
              <a:solidFill>
                <a:srgbClr val="1B1472"/>
              </a:solidFill>
              <a:latin typeface="Arial"/>
              <a:ea typeface="Arial"/>
              <a:cs typeface="Arial"/>
              <a:sym typeface="Arial"/>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txBox="1"/>
          <p:nvPr>
            <p:ph type="title"/>
          </p:nvPr>
        </p:nvSpPr>
        <p:spPr>
          <a:xfrm>
            <a:off x="82600" y="109545"/>
            <a:ext cx="4943475" cy="28829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38" name="Google Shape;138;p6"/>
          <p:cNvPicPr preferRelativeResize="0"/>
          <p:nvPr/>
        </p:nvPicPr>
        <p:blipFill rotWithShape="1">
          <a:blip r:embed="rId3">
            <a:alphaModFix/>
          </a:blip>
          <a:srcRect b="0" l="0" r="0" t="0"/>
          <a:stretch/>
        </p:blipFill>
        <p:spPr>
          <a:xfrm>
            <a:off x="343662" y="637743"/>
            <a:ext cx="169964" cy="169964"/>
          </a:xfrm>
          <a:prstGeom prst="rect">
            <a:avLst/>
          </a:prstGeom>
          <a:noFill/>
          <a:ln>
            <a:noFill/>
          </a:ln>
        </p:spPr>
      </p:pic>
      <p:sp>
        <p:nvSpPr>
          <p:cNvPr id="139" name="Google Shape;139;p6"/>
          <p:cNvSpPr txBox="1"/>
          <p:nvPr/>
        </p:nvSpPr>
        <p:spPr>
          <a:xfrm>
            <a:off x="387959" y="641412"/>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pic>
        <p:nvPicPr>
          <p:cNvPr id="140" name="Google Shape;140;p6"/>
          <p:cNvPicPr preferRelativeResize="0"/>
          <p:nvPr/>
        </p:nvPicPr>
        <p:blipFill rotWithShape="1">
          <a:blip r:embed="rId4">
            <a:alphaModFix/>
          </a:blip>
          <a:srcRect b="0" l="0" r="0" t="0"/>
          <a:stretch/>
        </p:blipFill>
        <p:spPr>
          <a:xfrm>
            <a:off x="343662" y="929678"/>
            <a:ext cx="169964" cy="169964"/>
          </a:xfrm>
          <a:prstGeom prst="rect">
            <a:avLst/>
          </a:prstGeom>
          <a:noFill/>
          <a:ln>
            <a:noFill/>
          </a:ln>
        </p:spPr>
      </p:pic>
      <p:sp>
        <p:nvSpPr>
          <p:cNvPr id="141" name="Google Shape;141;p6"/>
          <p:cNvSpPr txBox="1"/>
          <p:nvPr/>
        </p:nvSpPr>
        <p:spPr>
          <a:xfrm>
            <a:off x="387959" y="933347"/>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EAEAF7"/>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pic>
        <p:nvPicPr>
          <p:cNvPr id="142" name="Google Shape;142;p6"/>
          <p:cNvPicPr preferRelativeResize="0"/>
          <p:nvPr/>
        </p:nvPicPr>
        <p:blipFill rotWithShape="1">
          <a:blip r:embed="rId5">
            <a:alphaModFix/>
          </a:blip>
          <a:srcRect b="0" l="0" r="0" t="0"/>
          <a:stretch/>
        </p:blipFill>
        <p:spPr>
          <a:xfrm>
            <a:off x="343662" y="1221600"/>
            <a:ext cx="169964" cy="169964"/>
          </a:xfrm>
          <a:prstGeom prst="rect">
            <a:avLst/>
          </a:prstGeom>
          <a:noFill/>
          <a:ln>
            <a:noFill/>
          </a:ln>
        </p:spPr>
      </p:pic>
      <p:sp>
        <p:nvSpPr>
          <p:cNvPr id="143" name="Google Shape;143;p6"/>
          <p:cNvSpPr txBox="1"/>
          <p:nvPr/>
        </p:nvSpPr>
        <p:spPr>
          <a:xfrm>
            <a:off x="387959" y="1225281"/>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3</a:t>
            </a:r>
            <a:endParaRPr b="0" i="0" sz="800" u="none" cap="none" strike="noStrike">
              <a:solidFill>
                <a:srgbClr val="000000"/>
              </a:solidFill>
              <a:latin typeface="Calibri"/>
              <a:ea typeface="Calibri"/>
              <a:cs typeface="Calibri"/>
              <a:sym typeface="Calibri"/>
            </a:endParaRPr>
          </a:p>
        </p:txBody>
      </p:sp>
      <p:pic>
        <p:nvPicPr>
          <p:cNvPr id="144" name="Google Shape;144;p6"/>
          <p:cNvPicPr preferRelativeResize="0"/>
          <p:nvPr/>
        </p:nvPicPr>
        <p:blipFill rotWithShape="1">
          <a:blip r:embed="rId6">
            <a:alphaModFix/>
          </a:blip>
          <a:srcRect b="0" l="0" r="0" t="0"/>
          <a:stretch/>
        </p:blipFill>
        <p:spPr>
          <a:xfrm>
            <a:off x="343662" y="1513535"/>
            <a:ext cx="169964" cy="169964"/>
          </a:xfrm>
          <a:prstGeom prst="rect">
            <a:avLst/>
          </a:prstGeom>
          <a:noFill/>
          <a:ln>
            <a:noFill/>
          </a:ln>
        </p:spPr>
      </p:pic>
      <p:sp>
        <p:nvSpPr>
          <p:cNvPr id="145" name="Google Shape;145;p6"/>
          <p:cNvSpPr txBox="1"/>
          <p:nvPr/>
        </p:nvSpPr>
        <p:spPr>
          <a:xfrm>
            <a:off x="387959" y="1517204"/>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4</a:t>
            </a:r>
            <a:endParaRPr b="0" i="0" sz="800" u="none" cap="none" strike="noStrike">
              <a:solidFill>
                <a:srgbClr val="000000"/>
              </a:solidFill>
              <a:latin typeface="Calibri"/>
              <a:ea typeface="Calibri"/>
              <a:cs typeface="Calibri"/>
              <a:sym typeface="Calibri"/>
            </a:endParaRPr>
          </a:p>
        </p:txBody>
      </p:sp>
      <p:sp>
        <p:nvSpPr>
          <p:cNvPr id="146" name="Google Shape;146;p6"/>
          <p:cNvSpPr txBox="1"/>
          <p:nvPr/>
        </p:nvSpPr>
        <p:spPr>
          <a:xfrm>
            <a:off x="563029" y="537830"/>
            <a:ext cx="3241800" cy="1486200"/>
          </a:xfrm>
          <a:prstGeom prst="rect">
            <a:avLst/>
          </a:prstGeom>
          <a:noFill/>
          <a:ln>
            <a:noFill/>
          </a:ln>
        </p:spPr>
        <p:txBody>
          <a:bodyPr anchorCtr="0" anchor="t" bIns="0" lIns="0" spcFirstLastPara="1" rIns="0" wrap="square" tIns="90150">
            <a:sp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MDP</a:t>
            </a:r>
            <a:endParaRPr b="0" i="0" sz="1400" u="none" cap="none" strike="noStrike">
              <a:solidFill>
                <a:srgbClr val="000000"/>
              </a:solidFill>
              <a:latin typeface="Calibri"/>
              <a:ea typeface="Calibri"/>
              <a:cs typeface="Calibri"/>
              <a:sym typeface="Calibri"/>
            </a:endParaRPr>
          </a:p>
          <a:p>
            <a:pPr indent="0" lvl="0" marL="12700" marR="0" rtl="0" algn="l">
              <a:lnSpc>
                <a:spcPct val="100000"/>
              </a:lnSpc>
              <a:spcBef>
                <a:spcPts val="620"/>
              </a:spcBef>
              <a:spcAft>
                <a:spcPts val="0"/>
              </a:spcAft>
              <a:buClr>
                <a:srgbClr val="000000"/>
              </a:buClr>
              <a:buSzPts val="1400"/>
              <a:buFont typeface="Arial"/>
              <a:buNone/>
            </a:pPr>
            <a:r>
              <a:rPr b="1" i="0" lang="en-US" sz="1400" u="sng" cap="none" strike="noStrike">
                <a:solidFill>
                  <a:schemeClr val="hlink"/>
                </a:solidFill>
                <a:latin typeface="Calibri"/>
                <a:ea typeface="Calibri"/>
                <a:cs typeface="Calibri"/>
                <a:sym typeface="Calibri"/>
              </a:rPr>
              <a:t>DP</a:t>
            </a:r>
            <a:endParaRPr b="0" i="0" sz="1400" u="none" cap="none" strike="noStrike">
              <a:solidFill>
                <a:srgbClr val="000000"/>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MC</a:t>
            </a:r>
            <a:endParaRPr b="0" i="0" sz="1400" u="none" cap="none" strike="noStrike">
              <a:solidFill>
                <a:srgbClr val="D6D6EF"/>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TD</a:t>
            </a:r>
            <a:endParaRPr b="0" i="0" sz="1400" u="none" cap="none" strike="noStrike">
              <a:solidFill>
                <a:srgbClr val="000000"/>
              </a:solidFill>
              <a:latin typeface="Calibri"/>
              <a:ea typeface="Calibri"/>
              <a:cs typeface="Calibri"/>
              <a:sym typeface="Calibri"/>
            </a:endParaRPr>
          </a:p>
          <a:p>
            <a:pPr indent="0" lvl="0" marL="12700" marR="0" rtl="0" algn="l">
              <a:lnSpc>
                <a:spcPct val="100000"/>
              </a:lnSpc>
              <a:spcBef>
                <a:spcPts val="62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147" name="Google Shape;147;p6"/>
          <p:cNvGrpSpPr/>
          <p:nvPr/>
        </p:nvGrpSpPr>
        <p:grpSpPr>
          <a:xfrm>
            <a:off x="0" y="3109250"/>
            <a:ext cx="5760261" cy="92075"/>
            <a:chOff x="0" y="3109250"/>
            <a:chExt cx="5760261" cy="92075"/>
          </a:xfrm>
        </p:grpSpPr>
        <p:sp>
          <p:nvSpPr>
            <p:cNvPr id="148" name="Google Shape;148;p6"/>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6"/>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6"/>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1" name="Google Shape;151;p6"/>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52" name="Google Shape;152;p6"/>
          <p:cNvSpPr txBox="1"/>
          <p:nvPr>
            <p:ph idx="12" type="sldNum"/>
          </p:nvPr>
        </p:nvSpPr>
        <p:spPr>
          <a:xfrm>
            <a:off x="4661184" y="3109097"/>
            <a:ext cx="318300" cy="92400"/>
          </a:xfrm>
          <a:prstGeom prst="rect">
            <a:avLst/>
          </a:prstGeom>
          <a:noFill/>
          <a:ln>
            <a:noFill/>
          </a:ln>
        </p:spPr>
        <p:txBody>
          <a:bodyPr anchorCtr="0" anchor="t" bIns="0" lIns="0" spcFirstLastPara="1" rIns="0" wrap="square" tIns="0">
            <a:spAutoFit/>
          </a:bodyPr>
          <a:lstStyle/>
          <a:p>
            <a:pPr indent="0" lvl="0" marL="37465" rtl="0" algn="l">
              <a:lnSpc>
                <a:spcPct val="111666"/>
              </a:lnSpc>
              <a:spcBef>
                <a:spcPts val="0"/>
              </a:spcBef>
              <a:spcAft>
                <a:spcPts val="0"/>
              </a:spcAft>
              <a:buSzPts val="600"/>
              <a:buNone/>
            </a:pPr>
            <a:r>
              <a:rPr lang="en-US"/>
              <a:t>6</a:t>
            </a:r>
            <a:endParaRPr/>
          </a:p>
        </p:txBody>
      </p:sp>
      <p:sp>
        <p:nvSpPr>
          <p:cNvPr id="153" name="Google Shape;153;p6"/>
          <p:cNvSpPr txBox="1"/>
          <p:nvPr/>
        </p:nvSpPr>
        <p:spPr>
          <a:xfrm>
            <a:off x="2283723" y="3137672"/>
            <a:ext cx="1330036" cy="103426"/>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type="title"/>
          </p:nvPr>
        </p:nvSpPr>
        <p:spPr>
          <a:xfrm>
            <a:off x="82600" y="109545"/>
            <a:ext cx="4943475" cy="276984"/>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Dynamic Programming</a:t>
            </a:r>
            <a:endParaRPr/>
          </a:p>
        </p:txBody>
      </p:sp>
      <p:sp>
        <p:nvSpPr>
          <p:cNvPr id="159" name="Google Shape;159;p7"/>
          <p:cNvSpPr/>
          <p:nvPr/>
        </p:nvSpPr>
        <p:spPr>
          <a:xfrm>
            <a:off x="82600" y="488261"/>
            <a:ext cx="5142230" cy="235259"/>
          </a:xfrm>
          <a:custGeom>
            <a:rect b="b" l="l" r="r" t="t"/>
            <a:pathLst>
              <a:path extrusionOk="0" h="207009" w="514223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0" name="Google Shape;160;p7"/>
          <p:cNvPicPr preferRelativeResize="0"/>
          <p:nvPr/>
        </p:nvPicPr>
        <p:blipFill rotWithShape="1">
          <a:blip r:embed="rId3">
            <a:alphaModFix/>
          </a:blip>
          <a:srcRect b="0" l="0" r="0" t="0"/>
          <a:stretch/>
        </p:blipFill>
        <p:spPr>
          <a:xfrm>
            <a:off x="82600" y="708933"/>
            <a:ext cx="5141666" cy="317393"/>
          </a:xfrm>
          <a:prstGeom prst="rect">
            <a:avLst/>
          </a:prstGeom>
          <a:noFill/>
          <a:ln>
            <a:noFill/>
          </a:ln>
        </p:spPr>
      </p:pic>
      <p:sp>
        <p:nvSpPr>
          <p:cNvPr id="161" name="Google Shape;161;p7"/>
          <p:cNvSpPr/>
          <p:nvPr/>
        </p:nvSpPr>
        <p:spPr>
          <a:xfrm>
            <a:off x="82600" y="1012439"/>
            <a:ext cx="5142230" cy="439573"/>
          </a:xfrm>
          <a:custGeom>
            <a:rect b="b" l="l" r="r" t="t"/>
            <a:pathLst>
              <a:path extrusionOk="0" h="200025" w="5142230">
                <a:moveTo>
                  <a:pt x="5141666" y="0"/>
                </a:moveTo>
                <a:lnTo>
                  <a:pt x="0" y="0"/>
                </a:lnTo>
                <a:lnTo>
                  <a:pt x="0" y="149156"/>
                </a:lnTo>
                <a:lnTo>
                  <a:pt x="4008" y="168880"/>
                </a:lnTo>
                <a:lnTo>
                  <a:pt x="14922" y="185033"/>
                </a:lnTo>
                <a:lnTo>
                  <a:pt x="31075" y="195947"/>
                </a:lnTo>
                <a:lnTo>
                  <a:pt x="50800" y="199956"/>
                </a:lnTo>
                <a:lnTo>
                  <a:pt x="5090865" y="199956"/>
                </a:lnTo>
                <a:lnTo>
                  <a:pt x="5110590" y="195947"/>
                </a:lnTo>
                <a:lnTo>
                  <a:pt x="5126743" y="185033"/>
                </a:lnTo>
                <a:lnTo>
                  <a:pt x="5137657" y="168880"/>
                </a:lnTo>
                <a:lnTo>
                  <a:pt x="5141666" y="149156"/>
                </a:lnTo>
                <a:lnTo>
                  <a:pt x="5141666" y="0"/>
                </a:lnTo>
                <a:close/>
              </a:path>
            </a:pathLst>
          </a:custGeom>
          <a:solidFill>
            <a:srgbClr val="EAEA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7"/>
          <p:cNvSpPr/>
          <p:nvPr/>
        </p:nvSpPr>
        <p:spPr>
          <a:xfrm>
            <a:off x="5224266" y="543623"/>
            <a:ext cx="0" cy="41864"/>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7"/>
          <p:cNvSpPr txBox="1"/>
          <p:nvPr/>
        </p:nvSpPr>
        <p:spPr>
          <a:xfrm>
            <a:off x="112249" y="478762"/>
            <a:ext cx="4985385" cy="1149674"/>
          </a:xfrm>
          <a:prstGeom prst="rect">
            <a:avLst/>
          </a:prstGeom>
          <a:noFill/>
          <a:ln>
            <a:noFill/>
          </a:ln>
        </p:spPr>
        <p:txBody>
          <a:bodyPr anchorCtr="0" anchor="t" bIns="0" lIns="0" spcFirstLastPara="1" rIns="0" wrap="square" tIns="53975">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3333B2"/>
                </a:solidFill>
                <a:latin typeface="Calibri"/>
                <a:ea typeface="Calibri"/>
                <a:cs typeface="Calibri"/>
                <a:sym typeface="Calibri"/>
              </a:rPr>
              <a:t>Scenario</a:t>
            </a:r>
            <a:endParaRPr b="0" i="0" sz="1200" u="none" cap="none" strike="noStrike">
              <a:solidFill>
                <a:srgbClr val="000000"/>
              </a:solidFill>
              <a:latin typeface="Calibri"/>
              <a:ea typeface="Calibri"/>
              <a:cs typeface="Calibri"/>
              <a:sym typeface="Calibri"/>
            </a:endParaRPr>
          </a:p>
          <a:p>
            <a:pPr indent="0" lvl="0" marL="12700" marR="0" rtl="0" algn="l">
              <a:lnSpc>
                <a:spcPct val="100000"/>
              </a:lnSpc>
              <a:spcBef>
                <a:spcPts val="254"/>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In a modified Race car, there is a training track where agent is given a known map and risk factors(dynamics) in advance. Agent knows exactly where it is and its action how actions result in engine state change (KNOWN MODEL).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254"/>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With full knowledge, the agent can compute optimal policies by trying through all states.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53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64" name="Google Shape;164;p7"/>
          <p:cNvSpPr txBox="1"/>
          <p:nvPr/>
        </p:nvSpPr>
        <p:spPr>
          <a:xfrm>
            <a:off x="5220322" y="1629732"/>
            <a:ext cx="192405" cy="18986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(1)</a:t>
            </a:r>
            <a:endParaRPr b="0" i="0" sz="1050" u="none" cap="none" strike="noStrike">
              <a:solidFill>
                <a:srgbClr val="000000"/>
              </a:solidFill>
              <a:latin typeface="Arial"/>
              <a:ea typeface="Arial"/>
              <a:cs typeface="Arial"/>
              <a:sym typeface="Arial"/>
            </a:endParaRPr>
          </a:p>
        </p:txBody>
      </p:sp>
      <p:grpSp>
        <p:nvGrpSpPr>
          <p:cNvPr id="165" name="Google Shape;165;p7"/>
          <p:cNvGrpSpPr/>
          <p:nvPr/>
        </p:nvGrpSpPr>
        <p:grpSpPr>
          <a:xfrm>
            <a:off x="0" y="3109250"/>
            <a:ext cx="5760261" cy="92075"/>
            <a:chOff x="0" y="3109250"/>
            <a:chExt cx="5760261" cy="92075"/>
          </a:xfrm>
        </p:grpSpPr>
        <p:sp>
          <p:nvSpPr>
            <p:cNvPr id="166" name="Google Shape;166;p7"/>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7"/>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7"/>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9" name="Google Shape;169;p7"/>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70" name="Google Shape;170;p7"/>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37465" rtl="0" algn="l">
              <a:lnSpc>
                <a:spcPct val="111666"/>
              </a:lnSpc>
              <a:spcBef>
                <a:spcPts val="0"/>
              </a:spcBef>
              <a:spcAft>
                <a:spcPts val="0"/>
              </a:spcAft>
              <a:buSzPts val="600"/>
              <a:buNone/>
            </a:pPr>
            <a:r>
              <a:rPr lang="en-US"/>
              <a:t>7</a:t>
            </a:r>
            <a:endParaRPr/>
          </a:p>
        </p:txBody>
      </p:sp>
      <p:pic>
        <p:nvPicPr>
          <p:cNvPr id="171" name="Google Shape;171;p7"/>
          <p:cNvPicPr preferRelativeResize="0"/>
          <p:nvPr/>
        </p:nvPicPr>
        <p:blipFill rotWithShape="1">
          <a:blip r:embed="rId4">
            <a:alphaModFix/>
          </a:blip>
          <a:srcRect b="0" l="0" r="0" t="0"/>
          <a:stretch/>
        </p:blipFill>
        <p:spPr>
          <a:xfrm>
            <a:off x="3413403" y="1539705"/>
            <a:ext cx="2346858" cy="1422731"/>
          </a:xfrm>
          <a:prstGeom prst="rect">
            <a:avLst/>
          </a:prstGeom>
          <a:noFill/>
          <a:ln>
            <a:noFill/>
          </a:ln>
        </p:spPr>
      </p:pic>
      <p:sp>
        <p:nvSpPr>
          <p:cNvPr id="172" name="Google Shape;172;p7"/>
          <p:cNvSpPr txBox="1"/>
          <p:nvPr/>
        </p:nvSpPr>
        <p:spPr>
          <a:xfrm>
            <a:off x="2283723" y="3137672"/>
            <a:ext cx="1330036" cy="103426"/>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8"/>
          <p:cNvSpPr txBox="1"/>
          <p:nvPr>
            <p:ph type="title"/>
          </p:nvPr>
        </p:nvSpPr>
        <p:spPr>
          <a:xfrm>
            <a:off x="82600" y="109545"/>
            <a:ext cx="4943475" cy="276984"/>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Dynamic Programming</a:t>
            </a:r>
            <a:endParaRPr/>
          </a:p>
        </p:txBody>
      </p:sp>
      <p:pic>
        <p:nvPicPr>
          <p:cNvPr id="178" name="Google Shape;178;p8"/>
          <p:cNvPicPr preferRelativeResize="0"/>
          <p:nvPr/>
        </p:nvPicPr>
        <p:blipFill rotWithShape="1">
          <a:blip r:embed="rId3">
            <a:alphaModFix/>
          </a:blip>
          <a:srcRect b="0" l="0" r="0" t="0"/>
          <a:stretch/>
        </p:blipFill>
        <p:spPr>
          <a:xfrm>
            <a:off x="219002" y="583532"/>
            <a:ext cx="121259" cy="121259"/>
          </a:xfrm>
          <a:prstGeom prst="rect">
            <a:avLst/>
          </a:prstGeom>
          <a:noFill/>
          <a:ln>
            <a:noFill/>
          </a:ln>
        </p:spPr>
      </p:pic>
      <p:sp>
        <p:nvSpPr>
          <p:cNvPr id="179" name="Google Shape;179;p8"/>
          <p:cNvSpPr txBox="1"/>
          <p:nvPr/>
        </p:nvSpPr>
        <p:spPr>
          <a:xfrm>
            <a:off x="245952" y="573682"/>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1</a:t>
            </a:r>
            <a:endParaRPr b="0" i="0" sz="600" u="none" cap="none" strike="noStrike">
              <a:solidFill>
                <a:srgbClr val="000000"/>
              </a:solidFill>
              <a:latin typeface="Calibri"/>
              <a:ea typeface="Calibri"/>
              <a:cs typeface="Calibri"/>
              <a:sym typeface="Calibri"/>
            </a:endParaRPr>
          </a:p>
        </p:txBody>
      </p:sp>
      <p:sp>
        <p:nvSpPr>
          <p:cNvPr id="180" name="Google Shape;180;p8"/>
          <p:cNvSpPr txBox="1"/>
          <p:nvPr/>
        </p:nvSpPr>
        <p:spPr>
          <a:xfrm>
            <a:off x="406632" y="537309"/>
            <a:ext cx="1062355" cy="177613"/>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Given</a:t>
            </a:r>
            <a:endParaRPr b="0" i="0" sz="1050" u="none" cap="none" strike="noStrike">
              <a:solidFill>
                <a:srgbClr val="000000"/>
              </a:solidFill>
              <a:latin typeface="Arial"/>
              <a:ea typeface="Arial"/>
              <a:cs typeface="Arial"/>
              <a:sym typeface="Arial"/>
            </a:endParaRPr>
          </a:p>
        </p:txBody>
      </p:sp>
      <p:sp>
        <p:nvSpPr>
          <p:cNvPr id="181" name="Google Shape;181;p8"/>
          <p:cNvSpPr txBox="1"/>
          <p:nvPr/>
        </p:nvSpPr>
        <p:spPr>
          <a:xfrm>
            <a:off x="536451" y="732781"/>
            <a:ext cx="2496185" cy="157730"/>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P(s` | s, a) , R(s, a, s`) , P(s`, r | s, a) </a:t>
            </a:r>
            <a:endParaRPr b="0" i="0" sz="950" u="none" cap="none" strike="noStrike">
              <a:solidFill>
                <a:srgbClr val="000000"/>
              </a:solidFill>
              <a:latin typeface="Arial"/>
              <a:ea typeface="Arial"/>
              <a:cs typeface="Arial"/>
              <a:sym typeface="Arial"/>
            </a:endParaRPr>
          </a:p>
        </p:txBody>
      </p:sp>
      <p:grpSp>
        <p:nvGrpSpPr>
          <p:cNvPr id="182" name="Google Shape;182;p8"/>
          <p:cNvGrpSpPr/>
          <p:nvPr/>
        </p:nvGrpSpPr>
        <p:grpSpPr>
          <a:xfrm>
            <a:off x="219002" y="990948"/>
            <a:ext cx="121259" cy="528662"/>
            <a:chOff x="456996" y="1391780"/>
            <a:chExt cx="121259" cy="528662"/>
          </a:xfrm>
        </p:grpSpPr>
        <p:pic>
          <p:nvPicPr>
            <p:cNvPr id="183" name="Google Shape;183;p8"/>
            <p:cNvPicPr preferRelativeResize="0"/>
            <p:nvPr/>
          </p:nvPicPr>
          <p:blipFill rotWithShape="1">
            <a:blip r:embed="rId4">
              <a:alphaModFix/>
            </a:blip>
            <a:srcRect b="0" l="0" r="0" t="0"/>
            <a:stretch/>
          </p:blipFill>
          <p:spPr>
            <a:xfrm>
              <a:off x="456996" y="1391780"/>
              <a:ext cx="121259" cy="121259"/>
            </a:xfrm>
            <a:prstGeom prst="rect">
              <a:avLst/>
            </a:prstGeom>
            <a:noFill/>
            <a:ln>
              <a:noFill/>
            </a:ln>
          </p:spPr>
        </p:pic>
        <p:pic>
          <p:nvPicPr>
            <p:cNvPr id="184" name="Google Shape;184;p8"/>
            <p:cNvPicPr preferRelativeResize="0"/>
            <p:nvPr/>
          </p:nvPicPr>
          <p:blipFill rotWithShape="1">
            <a:blip r:embed="rId5">
              <a:alphaModFix/>
            </a:blip>
            <a:srcRect b="0" l="0" r="0" t="0"/>
            <a:stretch/>
          </p:blipFill>
          <p:spPr>
            <a:xfrm>
              <a:off x="456996" y="1799183"/>
              <a:ext cx="121259" cy="121259"/>
            </a:xfrm>
            <a:prstGeom prst="rect">
              <a:avLst/>
            </a:prstGeom>
            <a:noFill/>
            <a:ln>
              <a:noFill/>
            </a:ln>
          </p:spPr>
        </p:pic>
      </p:grpSp>
      <p:sp>
        <p:nvSpPr>
          <p:cNvPr id="185" name="Google Shape;185;p8"/>
          <p:cNvSpPr txBox="1"/>
          <p:nvPr/>
        </p:nvSpPr>
        <p:spPr>
          <a:xfrm>
            <a:off x="245952" y="981098"/>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2</a:t>
            </a:r>
            <a:endParaRPr b="0" i="0" sz="600" u="none" cap="none" strike="noStrike">
              <a:solidFill>
                <a:srgbClr val="000000"/>
              </a:solidFill>
              <a:latin typeface="Calibri"/>
              <a:ea typeface="Calibri"/>
              <a:cs typeface="Calibri"/>
              <a:sym typeface="Calibri"/>
            </a:endParaRPr>
          </a:p>
        </p:txBody>
      </p:sp>
      <p:sp>
        <p:nvSpPr>
          <p:cNvPr id="186" name="Google Shape;186;p8"/>
          <p:cNvSpPr txBox="1"/>
          <p:nvPr/>
        </p:nvSpPr>
        <p:spPr>
          <a:xfrm>
            <a:off x="406632" y="944712"/>
            <a:ext cx="1306195" cy="177613"/>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To find</a:t>
            </a:r>
            <a:endParaRPr b="0" i="0" sz="1050" u="none" cap="none" strike="noStrike">
              <a:solidFill>
                <a:srgbClr val="000000"/>
              </a:solidFill>
              <a:latin typeface="Arial"/>
              <a:ea typeface="Arial"/>
              <a:cs typeface="Arial"/>
              <a:sym typeface="Arial"/>
            </a:endParaRPr>
          </a:p>
        </p:txBody>
      </p:sp>
      <p:sp>
        <p:nvSpPr>
          <p:cNvPr id="187" name="Google Shape;187;p8"/>
          <p:cNvSpPr txBox="1"/>
          <p:nvPr/>
        </p:nvSpPr>
        <p:spPr>
          <a:xfrm>
            <a:off x="536451" y="1140197"/>
            <a:ext cx="2681605" cy="157730"/>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Policy π </a:t>
            </a:r>
            <a:endParaRPr b="0" i="0" sz="950" u="none" cap="none" strike="noStrike">
              <a:solidFill>
                <a:srgbClr val="000000"/>
              </a:solidFill>
              <a:latin typeface="Arial"/>
              <a:ea typeface="Arial"/>
              <a:cs typeface="Arial"/>
              <a:sym typeface="Arial"/>
            </a:endParaRPr>
          </a:p>
        </p:txBody>
      </p:sp>
      <p:sp>
        <p:nvSpPr>
          <p:cNvPr id="188" name="Google Shape;188;p8"/>
          <p:cNvSpPr txBox="1"/>
          <p:nvPr/>
        </p:nvSpPr>
        <p:spPr>
          <a:xfrm>
            <a:off x="245952" y="1388501"/>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3</a:t>
            </a:r>
            <a:endParaRPr b="0" i="0" sz="600" u="none" cap="none" strike="noStrike">
              <a:solidFill>
                <a:srgbClr val="000000"/>
              </a:solidFill>
              <a:latin typeface="Calibri"/>
              <a:ea typeface="Calibri"/>
              <a:cs typeface="Calibri"/>
              <a:sym typeface="Calibri"/>
            </a:endParaRPr>
          </a:p>
        </p:txBody>
      </p:sp>
      <p:sp>
        <p:nvSpPr>
          <p:cNvPr id="189" name="Google Shape;189;p8"/>
          <p:cNvSpPr txBox="1"/>
          <p:nvPr/>
        </p:nvSpPr>
        <p:spPr>
          <a:xfrm>
            <a:off x="406632" y="1352128"/>
            <a:ext cx="1301750" cy="177613"/>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Solution</a:t>
            </a:r>
            <a:endParaRPr b="0" i="0" sz="1050" u="none" cap="none" strike="noStrike">
              <a:solidFill>
                <a:srgbClr val="000000"/>
              </a:solidFill>
              <a:latin typeface="Arial"/>
              <a:ea typeface="Arial"/>
              <a:cs typeface="Arial"/>
              <a:sym typeface="Arial"/>
            </a:endParaRPr>
          </a:p>
        </p:txBody>
      </p:sp>
      <p:sp>
        <p:nvSpPr>
          <p:cNvPr id="190" name="Google Shape;190;p8"/>
          <p:cNvSpPr txBox="1"/>
          <p:nvPr/>
        </p:nvSpPr>
        <p:spPr>
          <a:xfrm>
            <a:off x="83900" y="1547613"/>
            <a:ext cx="5358659" cy="1468346"/>
          </a:xfrm>
          <a:prstGeom prst="rect">
            <a:avLst/>
          </a:prstGeom>
          <a:noFill/>
          <a:ln>
            <a:noFill/>
          </a:ln>
        </p:spPr>
        <p:txBody>
          <a:bodyPr anchorCtr="0" anchor="t" bIns="0" lIns="0" spcFirstLastPara="1" rIns="0" wrap="square" tIns="11425">
            <a:spAutoFit/>
          </a:bodyPr>
          <a:lstStyle/>
          <a:p>
            <a:pPr indent="-60325" lvl="0" marL="490219"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Policy Iteration (PI): Prefer this in a relatively smaller state space where intermediate termination provides explicit interpretable policy</a:t>
            </a:r>
            <a:endParaRPr b="0" i="0" sz="1400" u="none" cap="none" strike="noStrike">
              <a:solidFill>
                <a:srgbClr val="000000"/>
              </a:solidFill>
              <a:latin typeface="Arial"/>
              <a:ea typeface="Arial"/>
              <a:cs typeface="Arial"/>
              <a:sym typeface="Arial"/>
            </a:endParaRPr>
          </a:p>
          <a:p>
            <a:pPr indent="-60325" lvl="0" marL="490219"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Value Iteration (VI): Prefer this in a relatively larger state space where fast convergence to optimal policy is obtained at the end</a:t>
            </a:r>
            <a:endParaRPr b="0" i="0" sz="1400" u="none" cap="none" strike="noStrike">
              <a:solidFill>
                <a:srgbClr val="000000"/>
              </a:solidFill>
              <a:latin typeface="Arial"/>
              <a:ea typeface="Arial"/>
              <a:cs typeface="Arial"/>
              <a:sym typeface="Arial"/>
            </a:endParaRPr>
          </a:p>
          <a:p>
            <a:pPr indent="0" lvl="0" marL="490219"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a:p>
            <a:pPr indent="0" lvl="0" marL="490219"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a:p>
            <a:pPr indent="0" lvl="0" marL="38100" marR="0" rtl="0" algn="l">
              <a:lnSpc>
                <a:spcPct val="100000"/>
              </a:lnSpc>
              <a:spcBef>
                <a:spcPts val="104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a:p>
            <a:pPr indent="0" lvl="0" marL="38100" marR="0" rtl="0" algn="l">
              <a:lnSpc>
                <a:spcPct val="100000"/>
              </a:lnSpc>
              <a:spcBef>
                <a:spcPts val="104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VI can be thought of truncated PI where evaluation is done fully before improvement.</a:t>
            </a:r>
            <a:endParaRPr b="0" i="0" sz="1050" u="none" cap="none" strike="noStrike">
              <a:solidFill>
                <a:srgbClr val="000000"/>
              </a:solidFill>
              <a:latin typeface="Arial"/>
              <a:ea typeface="Arial"/>
              <a:cs typeface="Arial"/>
              <a:sym typeface="Arial"/>
            </a:endParaRPr>
          </a:p>
        </p:txBody>
      </p:sp>
      <p:grpSp>
        <p:nvGrpSpPr>
          <p:cNvPr id="191" name="Google Shape;191;p8"/>
          <p:cNvGrpSpPr/>
          <p:nvPr/>
        </p:nvGrpSpPr>
        <p:grpSpPr>
          <a:xfrm>
            <a:off x="0" y="3109250"/>
            <a:ext cx="5760261" cy="92075"/>
            <a:chOff x="0" y="3109250"/>
            <a:chExt cx="5760261" cy="92075"/>
          </a:xfrm>
        </p:grpSpPr>
        <p:sp>
          <p:nvSpPr>
            <p:cNvPr id="192" name="Google Shape;192;p8"/>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8"/>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8"/>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5" name="Google Shape;195;p8"/>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96" name="Google Shape;196;p8"/>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37465" rtl="0" algn="l">
              <a:lnSpc>
                <a:spcPct val="111666"/>
              </a:lnSpc>
              <a:spcBef>
                <a:spcPts val="0"/>
              </a:spcBef>
              <a:spcAft>
                <a:spcPts val="0"/>
              </a:spcAft>
              <a:buSzPts val="600"/>
              <a:buNone/>
            </a:pPr>
            <a:r>
              <a:rPr lang="en-US"/>
              <a:t>8</a:t>
            </a:r>
            <a:endParaRPr/>
          </a:p>
        </p:txBody>
      </p:sp>
      <p:grpSp>
        <p:nvGrpSpPr>
          <p:cNvPr id="197" name="Google Shape;197;p8"/>
          <p:cNvGrpSpPr/>
          <p:nvPr/>
        </p:nvGrpSpPr>
        <p:grpSpPr>
          <a:xfrm>
            <a:off x="201907" y="2191323"/>
            <a:ext cx="148209" cy="163936"/>
            <a:chOff x="134127" y="2262704"/>
            <a:chExt cx="266997" cy="178837"/>
          </a:xfrm>
        </p:grpSpPr>
        <p:pic>
          <p:nvPicPr>
            <p:cNvPr id="198" name="Google Shape;198;p8"/>
            <p:cNvPicPr preferRelativeResize="0"/>
            <p:nvPr/>
          </p:nvPicPr>
          <p:blipFill rotWithShape="1">
            <a:blip r:embed="rId6">
              <a:alphaModFix/>
            </a:blip>
            <a:srcRect b="0" l="0" r="0" t="0"/>
            <a:stretch/>
          </p:blipFill>
          <p:spPr>
            <a:xfrm>
              <a:off x="134127" y="2262704"/>
              <a:ext cx="266997" cy="178837"/>
            </a:xfrm>
            <a:prstGeom prst="rect">
              <a:avLst/>
            </a:prstGeom>
            <a:noFill/>
            <a:ln>
              <a:noFill/>
            </a:ln>
          </p:spPr>
        </p:pic>
        <p:sp>
          <p:nvSpPr>
            <p:cNvPr id="199" name="Google Shape;199;p8"/>
            <p:cNvSpPr txBox="1"/>
            <p:nvPr/>
          </p:nvSpPr>
          <p:spPr>
            <a:xfrm>
              <a:off x="209626" y="2275554"/>
              <a:ext cx="148208" cy="10450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4</a:t>
              </a:r>
              <a:endParaRPr b="0" i="0" sz="600" u="none" cap="none" strike="noStrike">
                <a:solidFill>
                  <a:srgbClr val="000000"/>
                </a:solidFill>
                <a:latin typeface="Calibri"/>
                <a:ea typeface="Calibri"/>
                <a:cs typeface="Calibri"/>
                <a:sym typeface="Calibri"/>
              </a:endParaRPr>
            </a:p>
          </p:txBody>
        </p:sp>
      </p:grpSp>
      <p:sp>
        <p:nvSpPr>
          <p:cNvPr id="200" name="Google Shape;200;p8"/>
          <p:cNvSpPr txBox="1"/>
          <p:nvPr/>
        </p:nvSpPr>
        <p:spPr>
          <a:xfrm>
            <a:off x="421246" y="2174040"/>
            <a:ext cx="1062355" cy="177613"/>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Idea</a:t>
            </a:r>
            <a:endParaRPr b="0" i="0" sz="1050" u="none" cap="none" strike="noStrike">
              <a:solidFill>
                <a:srgbClr val="000000"/>
              </a:solidFill>
              <a:latin typeface="Arial"/>
              <a:ea typeface="Arial"/>
              <a:cs typeface="Arial"/>
              <a:sym typeface="Arial"/>
            </a:endParaRPr>
          </a:p>
        </p:txBody>
      </p:sp>
      <p:sp>
        <p:nvSpPr>
          <p:cNvPr id="201" name="Google Shape;201;p8"/>
          <p:cNvSpPr txBox="1"/>
          <p:nvPr/>
        </p:nvSpPr>
        <p:spPr>
          <a:xfrm>
            <a:off x="551065" y="2369512"/>
            <a:ext cx="3112798" cy="450118"/>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PI : One Step Look ahead 🡪 Evaluate 🡪 Improve</a:t>
            </a:r>
            <a:endParaRPr b="0" i="0" sz="1400" u="none" cap="none" strike="noStrike">
              <a:solidFill>
                <a:srgbClr val="000000"/>
              </a:solidFill>
              <a:latin typeface="Arial"/>
              <a:ea typeface="Arial"/>
              <a:cs typeface="Arial"/>
              <a:sym typeface="Arial"/>
            </a:endParaRPr>
          </a:p>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VI : One Step Look ahead 🡪 Control </a:t>
            </a:r>
            <a:endParaRPr b="0" i="0" sz="950" u="none" cap="none" strike="noStrike">
              <a:solidFill>
                <a:srgbClr val="000000"/>
              </a:solidFill>
              <a:latin typeface="Arial"/>
              <a:ea typeface="Arial"/>
              <a:cs typeface="Arial"/>
              <a:sym typeface="Arial"/>
            </a:endParaRPr>
          </a:p>
          <a:p>
            <a:pPr indent="0" lvl="0" marL="38100"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p:txBody>
      </p:sp>
      <p:sp>
        <p:nvSpPr>
          <p:cNvPr id="202" name="Google Shape;202;p8"/>
          <p:cNvSpPr txBox="1"/>
          <p:nvPr/>
        </p:nvSpPr>
        <p:spPr>
          <a:xfrm>
            <a:off x="2283723" y="3137672"/>
            <a:ext cx="1330036" cy="103426"/>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type="title"/>
          </p:nvPr>
        </p:nvSpPr>
        <p:spPr>
          <a:xfrm>
            <a:off x="82600" y="109545"/>
            <a:ext cx="4943475" cy="28829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208" name="Google Shape;208;p29"/>
          <p:cNvPicPr preferRelativeResize="0"/>
          <p:nvPr/>
        </p:nvPicPr>
        <p:blipFill rotWithShape="1">
          <a:blip r:embed="rId3">
            <a:alphaModFix/>
          </a:blip>
          <a:srcRect b="0" l="0" r="0" t="0"/>
          <a:stretch/>
        </p:blipFill>
        <p:spPr>
          <a:xfrm>
            <a:off x="343662" y="637743"/>
            <a:ext cx="169964" cy="169964"/>
          </a:xfrm>
          <a:prstGeom prst="rect">
            <a:avLst/>
          </a:prstGeom>
          <a:noFill/>
          <a:ln>
            <a:noFill/>
          </a:ln>
        </p:spPr>
      </p:pic>
      <p:sp>
        <p:nvSpPr>
          <p:cNvPr id="209" name="Google Shape;209;p29"/>
          <p:cNvSpPr txBox="1"/>
          <p:nvPr/>
        </p:nvSpPr>
        <p:spPr>
          <a:xfrm>
            <a:off x="387959" y="641412"/>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pic>
        <p:nvPicPr>
          <p:cNvPr id="210" name="Google Shape;210;p29"/>
          <p:cNvPicPr preferRelativeResize="0"/>
          <p:nvPr/>
        </p:nvPicPr>
        <p:blipFill rotWithShape="1">
          <a:blip r:embed="rId4">
            <a:alphaModFix/>
          </a:blip>
          <a:srcRect b="0" l="0" r="0" t="0"/>
          <a:stretch/>
        </p:blipFill>
        <p:spPr>
          <a:xfrm>
            <a:off x="343662" y="929678"/>
            <a:ext cx="169964" cy="169964"/>
          </a:xfrm>
          <a:prstGeom prst="rect">
            <a:avLst/>
          </a:prstGeom>
          <a:noFill/>
          <a:ln>
            <a:noFill/>
          </a:ln>
        </p:spPr>
      </p:pic>
      <p:sp>
        <p:nvSpPr>
          <p:cNvPr id="211" name="Google Shape;211;p29"/>
          <p:cNvSpPr txBox="1"/>
          <p:nvPr/>
        </p:nvSpPr>
        <p:spPr>
          <a:xfrm>
            <a:off x="387959" y="933347"/>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pic>
        <p:nvPicPr>
          <p:cNvPr id="212" name="Google Shape;212;p29"/>
          <p:cNvPicPr preferRelativeResize="0"/>
          <p:nvPr/>
        </p:nvPicPr>
        <p:blipFill rotWithShape="1">
          <a:blip r:embed="rId5">
            <a:alphaModFix/>
          </a:blip>
          <a:srcRect b="0" l="0" r="0" t="0"/>
          <a:stretch/>
        </p:blipFill>
        <p:spPr>
          <a:xfrm>
            <a:off x="343662" y="1221600"/>
            <a:ext cx="169964" cy="169964"/>
          </a:xfrm>
          <a:prstGeom prst="rect">
            <a:avLst/>
          </a:prstGeom>
          <a:noFill/>
          <a:ln>
            <a:noFill/>
          </a:ln>
        </p:spPr>
      </p:pic>
      <p:sp>
        <p:nvSpPr>
          <p:cNvPr id="213" name="Google Shape;213;p29"/>
          <p:cNvSpPr txBox="1"/>
          <p:nvPr/>
        </p:nvSpPr>
        <p:spPr>
          <a:xfrm>
            <a:off x="387959" y="1225281"/>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EAEAF7"/>
                </a:solidFill>
                <a:latin typeface="Calibri"/>
                <a:ea typeface="Calibri"/>
                <a:cs typeface="Calibri"/>
                <a:sym typeface="Calibri"/>
              </a:rPr>
              <a:t>3</a:t>
            </a:r>
            <a:endParaRPr b="0" i="0" sz="800" u="none" cap="none" strike="noStrike">
              <a:solidFill>
                <a:srgbClr val="000000"/>
              </a:solidFill>
              <a:latin typeface="Calibri"/>
              <a:ea typeface="Calibri"/>
              <a:cs typeface="Calibri"/>
              <a:sym typeface="Calibri"/>
            </a:endParaRPr>
          </a:p>
        </p:txBody>
      </p:sp>
      <p:pic>
        <p:nvPicPr>
          <p:cNvPr id="214" name="Google Shape;214;p29"/>
          <p:cNvPicPr preferRelativeResize="0"/>
          <p:nvPr/>
        </p:nvPicPr>
        <p:blipFill rotWithShape="1">
          <a:blip r:embed="rId6">
            <a:alphaModFix/>
          </a:blip>
          <a:srcRect b="0" l="0" r="0" t="0"/>
          <a:stretch/>
        </p:blipFill>
        <p:spPr>
          <a:xfrm>
            <a:off x="343662" y="1513535"/>
            <a:ext cx="169964" cy="169964"/>
          </a:xfrm>
          <a:prstGeom prst="rect">
            <a:avLst/>
          </a:prstGeom>
          <a:noFill/>
          <a:ln>
            <a:noFill/>
          </a:ln>
        </p:spPr>
      </p:pic>
      <p:sp>
        <p:nvSpPr>
          <p:cNvPr id="215" name="Google Shape;215;p29"/>
          <p:cNvSpPr txBox="1"/>
          <p:nvPr/>
        </p:nvSpPr>
        <p:spPr>
          <a:xfrm>
            <a:off x="387959" y="1517204"/>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4</a:t>
            </a:r>
            <a:endParaRPr b="0" i="0" sz="800" u="none" cap="none" strike="noStrike">
              <a:solidFill>
                <a:srgbClr val="000000"/>
              </a:solidFill>
              <a:latin typeface="Calibri"/>
              <a:ea typeface="Calibri"/>
              <a:cs typeface="Calibri"/>
              <a:sym typeface="Calibri"/>
            </a:endParaRPr>
          </a:p>
        </p:txBody>
      </p:sp>
      <p:sp>
        <p:nvSpPr>
          <p:cNvPr id="216" name="Google Shape;216;p29"/>
          <p:cNvSpPr txBox="1"/>
          <p:nvPr/>
        </p:nvSpPr>
        <p:spPr>
          <a:xfrm>
            <a:off x="563029" y="556604"/>
            <a:ext cx="3241800" cy="1111800"/>
          </a:xfrm>
          <a:prstGeom prst="rect">
            <a:avLst/>
          </a:prstGeom>
          <a:noFill/>
          <a:ln>
            <a:noFill/>
          </a:ln>
        </p:spPr>
        <p:txBody>
          <a:bodyPr anchorCtr="0" anchor="t" bIns="0" lIns="0" spcFirstLastPara="1" rIns="0" wrap="square" tIns="90150">
            <a:sp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MDP</a:t>
            </a:r>
            <a:endParaRPr b="0" i="0" sz="1400" u="none" cap="none" strike="noStrike">
              <a:solidFill>
                <a:srgbClr val="000000"/>
              </a:solidFill>
              <a:latin typeface="Calibri"/>
              <a:ea typeface="Calibri"/>
              <a:cs typeface="Calibri"/>
              <a:sym typeface="Calibri"/>
            </a:endParaRPr>
          </a:p>
          <a:p>
            <a:pPr indent="0" lvl="0" marL="12700" marR="0" rtl="0" algn="l">
              <a:lnSpc>
                <a:spcPct val="100000"/>
              </a:lnSpc>
              <a:spcBef>
                <a:spcPts val="62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DP</a:t>
            </a:r>
            <a:endParaRPr b="0" i="0" sz="1400" u="none" cap="none" strike="noStrike">
              <a:solidFill>
                <a:srgbClr val="000000"/>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MC</a:t>
            </a:r>
            <a:endParaRPr b="0" i="0" sz="1400" u="none" cap="none" strike="noStrike">
              <a:solidFill>
                <a:srgbClr val="3333B2"/>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small" strike="noStrike">
                <a:solidFill>
                  <a:schemeClr val="hlink"/>
                </a:solidFill>
                <a:latin typeface="Calibri"/>
                <a:ea typeface="Calibri"/>
                <a:cs typeface="Calibri"/>
                <a:sym typeface="Calibri"/>
              </a:rPr>
              <a:t>TD</a:t>
            </a:r>
            <a:endParaRPr b="0" i="0" sz="1400" u="none" cap="none" strike="noStrike">
              <a:solidFill>
                <a:srgbClr val="000000"/>
              </a:solidFill>
              <a:latin typeface="Calibri"/>
              <a:ea typeface="Calibri"/>
              <a:cs typeface="Calibri"/>
              <a:sym typeface="Calibri"/>
            </a:endParaRPr>
          </a:p>
        </p:txBody>
      </p:sp>
      <p:grpSp>
        <p:nvGrpSpPr>
          <p:cNvPr id="217" name="Google Shape;217;p29"/>
          <p:cNvGrpSpPr/>
          <p:nvPr/>
        </p:nvGrpSpPr>
        <p:grpSpPr>
          <a:xfrm>
            <a:off x="0" y="3109250"/>
            <a:ext cx="5760261" cy="92075"/>
            <a:chOff x="0" y="3109250"/>
            <a:chExt cx="5760261" cy="92075"/>
          </a:xfrm>
        </p:grpSpPr>
        <p:sp>
          <p:nvSpPr>
            <p:cNvPr id="218" name="Google Shape;218;p29"/>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9"/>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9"/>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1" name="Google Shape;221;p29"/>
          <p:cNvSpPr txBox="1"/>
          <p:nvPr>
            <p:ph idx="11" type="ftr"/>
          </p:nvPr>
        </p:nvSpPr>
        <p:spPr>
          <a:xfrm>
            <a:off x="572122" y="3137672"/>
            <a:ext cx="735330" cy="1016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222" name="Google Shape;222;p29"/>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37465" rtl="0" algn="l">
              <a:lnSpc>
                <a:spcPct val="111666"/>
              </a:lnSpc>
              <a:spcBef>
                <a:spcPts val="0"/>
              </a:spcBef>
              <a:spcAft>
                <a:spcPts val="0"/>
              </a:spcAft>
              <a:buSzPts val="600"/>
              <a:buNone/>
            </a:pPr>
            <a:r>
              <a:rPr lang="en-US"/>
              <a:t>29</a:t>
            </a:r>
            <a:endParaRPr/>
          </a:p>
        </p:txBody>
      </p:sp>
      <p:sp>
        <p:nvSpPr>
          <p:cNvPr id="223" name="Google Shape;223;p29"/>
          <p:cNvSpPr txBox="1"/>
          <p:nvPr/>
        </p:nvSpPr>
        <p:spPr>
          <a:xfrm>
            <a:off x="2283723" y="3137672"/>
            <a:ext cx="1330036" cy="103426"/>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a6c7b9e349_0_20"/>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Problem Definition</a:t>
            </a:r>
            <a:endParaRPr/>
          </a:p>
        </p:txBody>
      </p:sp>
      <p:sp>
        <p:nvSpPr>
          <p:cNvPr id="229" name="Google Shape;229;g3a6c7b9e349_0_20"/>
          <p:cNvSpPr/>
          <p:nvPr/>
        </p:nvSpPr>
        <p:spPr>
          <a:xfrm>
            <a:off x="81411" y="475127"/>
            <a:ext cx="5425053" cy="237543"/>
          </a:xfrm>
          <a:custGeom>
            <a:rect b="b" l="l" r="r" t="t"/>
            <a:pathLst>
              <a:path extrusionOk="0" h="207009" w="514223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0" name="Google Shape;230;g3a6c7b9e349_0_20"/>
          <p:cNvPicPr preferRelativeResize="0"/>
          <p:nvPr/>
        </p:nvPicPr>
        <p:blipFill rotWithShape="1">
          <a:blip r:embed="rId3">
            <a:alphaModFix/>
          </a:blip>
          <a:srcRect b="0" l="0" r="0" t="0"/>
          <a:stretch/>
        </p:blipFill>
        <p:spPr>
          <a:xfrm>
            <a:off x="82600" y="938301"/>
            <a:ext cx="5426387" cy="128069"/>
          </a:xfrm>
          <a:prstGeom prst="rect">
            <a:avLst/>
          </a:prstGeom>
          <a:noFill/>
          <a:ln>
            <a:noFill/>
          </a:ln>
        </p:spPr>
      </p:pic>
      <p:sp>
        <p:nvSpPr>
          <p:cNvPr id="231" name="Google Shape;231;g3a6c7b9e349_0_20"/>
          <p:cNvSpPr/>
          <p:nvPr/>
        </p:nvSpPr>
        <p:spPr>
          <a:xfrm>
            <a:off x="80817" y="712460"/>
            <a:ext cx="5425053" cy="923925"/>
          </a:xfrm>
          <a:custGeom>
            <a:rect b="b" l="l" r="r" t="t"/>
            <a:pathLst>
              <a:path extrusionOk="0" h="381000" w="514223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g3a6c7b9e349_0_20"/>
          <p:cNvSpPr/>
          <p:nvPr/>
        </p:nvSpPr>
        <p:spPr>
          <a:xfrm>
            <a:off x="5508987" y="714200"/>
            <a:ext cx="0" cy="29432"/>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3a6c7b9e349_0_20"/>
          <p:cNvSpPr/>
          <p:nvPr/>
        </p:nvSpPr>
        <p:spPr>
          <a:xfrm>
            <a:off x="5508987" y="684776"/>
            <a:ext cx="0" cy="29432"/>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a6c7b9e349_0_20"/>
          <p:cNvSpPr/>
          <p:nvPr/>
        </p:nvSpPr>
        <p:spPr>
          <a:xfrm>
            <a:off x="5508987" y="655353"/>
            <a:ext cx="0" cy="29432"/>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a6c7b9e349_0_20"/>
          <p:cNvSpPr/>
          <p:nvPr/>
        </p:nvSpPr>
        <p:spPr>
          <a:xfrm>
            <a:off x="5508987" y="611218"/>
            <a:ext cx="0" cy="44148"/>
          </a:xfrm>
          <a:custGeom>
            <a:rect b="b" l="l" r="r" t="t"/>
            <a:pathLst>
              <a:path extrusionOk="0" h="19050" w="120000">
                <a:moveTo>
                  <a:pt x="0" y="19050"/>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6" name="Google Shape;236;g3a6c7b9e349_0_20"/>
          <p:cNvPicPr preferRelativeResize="0"/>
          <p:nvPr/>
        </p:nvPicPr>
        <p:blipFill rotWithShape="1">
          <a:blip r:embed="rId4">
            <a:alphaModFix/>
          </a:blip>
          <a:srcRect b="0" l="0" r="0" t="0"/>
          <a:stretch/>
        </p:blipFill>
        <p:spPr>
          <a:xfrm>
            <a:off x="283194" y="1843601"/>
            <a:ext cx="97806" cy="82067"/>
          </a:xfrm>
          <a:prstGeom prst="rect">
            <a:avLst/>
          </a:prstGeom>
          <a:noFill/>
          <a:ln>
            <a:noFill/>
          </a:ln>
        </p:spPr>
      </p:pic>
      <p:pic>
        <p:nvPicPr>
          <p:cNvPr id="237" name="Google Shape;237;g3a6c7b9e349_0_20"/>
          <p:cNvPicPr preferRelativeResize="0"/>
          <p:nvPr/>
        </p:nvPicPr>
        <p:blipFill rotWithShape="1">
          <a:blip r:embed="rId5">
            <a:alphaModFix/>
          </a:blip>
          <a:srcRect b="0" l="0" r="0" t="0"/>
          <a:stretch/>
        </p:blipFill>
        <p:spPr>
          <a:xfrm>
            <a:off x="283194" y="2209822"/>
            <a:ext cx="97806" cy="82067"/>
          </a:xfrm>
          <a:prstGeom prst="rect">
            <a:avLst/>
          </a:prstGeom>
          <a:noFill/>
          <a:ln>
            <a:noFill/>
          </a:ln>
        </p:spPr>
      </p:pic>
      <p:sp>
        <p:nvSpPr>
          <p:cNvPr id="238" name="Google Shape;238;g3a6c7b9e349_0_20"/>
          <p:cNvSpPr txBox="1"/>
          <p:nvPr/>
        </p:nvSpPr>
        <p:spPr>
          <a:xfrm>
            <a:off x="79629" y="475127"/>
            <a:ext cx="5375100" cy="2575800"/>
          </a:xfrm>
          <a:prstGeom prst="rect">
            <a:avLst/>
          </a:prstGeom>
          <a:noFill/>
          <a:ln>
            <a:noFill/>
          </a:ln>
        </p:spPr>
        <p:txBody>
          <a:bodyPr anchorCtr="0" anchor="t" bIns="0" lIns="0" spcFirstLastPara="1" rIns="0" wrap="square" tIns="52700">
            <a:spAutoFit/>
          </a:bodyPr>
          <a:lstStyle/>
          <a:p>
            <a:pPr indent="0" lvl="0" marL="50800" marR="0" rtl="0" algn="just">
              <a:lnSpc>
                <a:spcPct val="100000"/>
              </a:lnSpc>
              <a:spcBef>
                <a:spcPts val="0"/>
              </a:spcBef>
              <a:spcAft>
                <a:spcPts val="0"/>
              </a:spcAft>
              <a:buClr>
                <a:srgbClr val="000000"/>
              </a:buClr>
              <a:buSzPts val="1200"/>
              <a:buFont typeface="Arial"/>
              <a:buNone/>
            </a:pPr>
            <a:r>
              <a:rPr b="0" i="0" lang="en-US" sz="1200" u="none" cap="none" strike="noStrike">
                <a:solidFill>
                  <a:srgbClr val="3333B2"/>
                </a:solidFill>
                <a:latin typeface="Calibri"/>
                <a:ea typeface="Calibri"/>
                <a:cs typeface="Calibri"/>
                <a:sym typeface="Calibri"/>
              </a:rPr>
              <a:t>Race Car Laps</a:t>
            </a:r>
            <a:endParaRPr b="0" i="0" sz="1200" u="none" cap="none" strike="noStrike">
              <a:solidFill>
                <a:srgbClr val="000000"/>
              </a:solidFill>
              <a:latin typeface="Calibri"/>
              <a:ea typeface="Calibri"/>
              <a:cs typeface="Calibri"/>
              <a:sym typeface="Calibri"/>
            </a:endParaRPr>
          </a:p>
          <a:p>
            <a:pPr indent="0" lvl="0" marL="12700" marR="0" rtl="0" algn="l">
              <a:lnSpc>
                <a:spcPct val="100000"/>
              </a:lnSpc>
              <a:spcBef>
                <a:spcPts val="254"/>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In a modified Race car, there is a training track where agent is given a known (sometimes incomplete) map and risk factors(dynamics) may not be known in advance. Agent knows exactly where it is but its actions impact on the engine state change is difficult to predict (UNKNOWN MODEL).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254"/>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With partial knowledge, the agent can compute optimal policies by trying through random experiments (Sampling). Car shuts down when its engine get overheated (optional terminal state) or Car stops once the predefined no.of.laps are completed.</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254"/>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 </a:t>
            </a:r>
            <a:r>
              <a:rPr b="0" i="0" lang="en-US" sz="900" u="none" cap="none" strike="noStrike">
                <a:solidFill>
                  <a:srgbClr val="1B1472"/>
                </a:solidFill>
                <a:latin typeface="Arial"/>
                <a:ea typeface="Arial"/>
                <a:cs typeface="Arial"/>
                <a:sym typeface="Arial"/>
              </a:rPr>
              <a:t>Key Characteristics:</a:t>
            </a:r>
            <a:endParaRPr b="0" i="0" sz="9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The agent must act under </a:t>
            </a:r>
            <a:r>
              <a:rPr b="1" i="0" lang="en-US" sz="900" u="none" cap="none" strike="noStrike">
                <a:solidFill>
                  <a:srgbClr val="000000"/>
                </a:solidFill>
                <a:latin typeface="Arial"/>
                <a:ea typeface="Arial"/>
                <a:cs typeface="Arial"/>
                <a:sym typeface="Arial"/>
              </a:rPr>
              <a:t>uncertainty</a:t>
            </a:r>
            <a:r>
              <a:rPr b="0" i="0" lang="en-US" sz="900" u="none" cap="none" strike="noStrike">
                <a:solidFill>
                  <a:srgbClr val="000000"/>
                </a:solidFill>
                <a:latin typeface="Arial"/>
                <a:ea typeface="Arial"/>
                <a:cs typeface="Arial"/>
                <a:sym typeface="Arial"/>
              </a:rPr>
              <a:t> — </a:t>
            </a:r>
            <a:endParaRPr b="0" i="0" sz="9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percepts are local, and the agent must reason about hidden dangers</a:t>
            </a:r>
            <a:endParaRPr b="0" i="0" sz="14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Tahoma"/>
                <a:ea typeface="Tahoma"/>
                <a:cs typeface="Tahoma"/>
                <a:sym typeface="Tahoma"/>
              </a:rPr>
              <a:t>Assume there are fuel constraints or/and No.of.Laps to complete!</a:t>
            </a:r>
            <a:endParaRPr b="0" i="0" sz="1050" u="none" cap="none" strike="noStrike">
              <a:solidFill>
                <a:srgbClr val="000000"/>
              </a:solidFill>
              <a:latin typeface="Tahoma"/>
              <a:ea typeface="Tahoma"/>
              <a:cs typeface="Tahoma"/>
              <a:sym typeface="Tahoma"/>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At every time step </a:t>
            </a:r>
            <a:r>
              <a:rPr b="1" i="0" lang="en-US" sz="900" u="none" cap="none" strike="noStrike">
                <a:solidFill>
                  <a:srgbClr val="000000"/>
                </a:solidFill>
                <a:latin typeface="Arial"/>
                <a:ea typeface="Arial"/>
                <a:cs typeface="Arial"/>
                <a:sym typeface="Arial"/>
              </a:rPr>
              <a:t>there is no way clear indication of </a:t>
            </a:r>
            <a:endParaRPr b="0" i="0" sz="14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Impact of next </a:t>
            </a:r>
            <a:r>
              <a:rPr b="0" i="0" lang="en-US" sz="900" u="none" cap="none" strike="noStrike">
                <a:solidFill>
                  <a:srgbClr val="000000"/>
                </a:solidFill>
                <a:latin typeface="Arial"/>
                <a:ea typeface="Arial"/>
                <a:cs typeface="Arial"/>
                <a:sym typeface="Arial"/>
              </a:rPr>
              <a:t>potential engine temperature depending on the </a:t>
            </a:r>
            <a:endParaRPr b="0" i="0" sz="9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current engine state. The entire past changes might lead to any </a:t>
            </a:r>
            <a:endParaRPr b="0" i="0" sz="14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possible state change. Hence </a:t>
            </a:r>
            <a:r>
              <a:rPr b="1" i="0" lang="en-US" sz="900" u="none" cap="none" strike="noStrike">
                <a:solidFill>
                  <a:srgbClr val="000000"/>
                </a:solidFill>
                <a:latin typeface="Arial"/>
                <a:ea typeface="Arial"/>
                <a:cs typeface="Arial"/>
                <a:sym typeface="Arial"/>
              </a:rPr>
              <a:t>immediate reward is not always available</a:t>
            </a:r>
            <a:r>
              <a:rPr b="0" i="0" lang="en-US" sz="900" u="none" cap="none" strike="noStrike">
                <a:solidFill>
                  <a:srgbClr val="000000"/>
                </a:solidFill>
                <a:latin typeface="Arial"/>
                <a:ea typeface="Arial"/>
                <a:cs typeface="Arial"/>
                <a:sym typeface="Arial"/>
              </a:rPr>
              <a:t>. </a:t>
            </a:r>
            <a:endParaRPr b="0" i="0" sz="900" u="none" cap="none" strike="noStrike">
              <a:solidFill>
                <a:srgbClr val="000000"/>
              </a:solidFill>
              <a:latin typeface="Arial"/>
              <a:ea typeface="Arial"/>
              <a:cs typeface="Arial"/>
              <a:sym typeface="Arial"/>
            </a:endParaRPr>
          </a:p>
        </p:txBody>
      </p:sp>
      <p:grpSp>
        <p:nvGrpSpPr>
          <p:cNvPr id="239" name="Google Shape;239;g3a6c7b9e349_0_20"/>
          <p:cNvGrpSpPr/>
          <p:nvPr/>
        </p:nvGrpSpPr>
        <p:grpSpPr>
          <a:xfrm>
            <a:off x="0" y="3109250"/>
            <a:ext cx="5760261" cy="92075"/>
            <a:chOff x="0" y="3109250"/>
            <a:chExt cx="5760261" cy="92075"/>
          </a:xfrm>
        </p:grpSpPr>
        <p:sp>
          <p:nvSpPr>
            <p:cNvPr id="240" name="Google Shape;240;g3a6c7b9e349_0_20"/>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a6c7b9e349_0_20"/>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3a6c7b9e349_0_20"/>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3" name="Google Shape;243;g3a6c7b9e349_0_20"/>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244" name="Google Shape;244;g3a6c7b9e349_0_20"/>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245" name="Google Shape;245;g3a6c7b9e349_0_20"/>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246" name="Google Shape;246;g3a6c7b9e349_0_20"/>
          <p:cNvPicPr preferRelativeResize="0"/>
          <p:nvPr/>
        </p:nvPicPr>
        <p:blipFill rotWithShape="1">
          <a:blip r:embed="rId5">
            <a:alphaModFix/>
          </a:blip>
          <a:srcRect b="0" l="0" r="0" t="0"/>
          <a:stretch/>
        </p:blipFill>
        <p:spPr>
          <a:xfrm>
            <a:off x="283194" y="2362222"/>
            <a:ext cx="97806" cy="82067"/>
          </a:xfrm>
          <a:prstGeom prst="rect">
            <a:avLst/>
          </a:prstGeom>
          <a:noFill/>
          <a:ln>
            <a:noFill/>
          </a:ln>
        </p:spPr>
      </p:pic>
      <p:pic>
        <p:nvPicPr>
          <p:cNvPr id="247" name="Google Shape;247;g3a6c7b9e349_0_20"/>
          <p:cNvPicPr preferRelativeResize="0"/>
          <p:nvPr/>
        </p:nvPicPr>
        <p:blipFill rotWithShape="1">
          <a:blip r:embed="rId6">
            <a:alphaModFix/>
          </a:blip>
          <a:srcRect b="0" l="0" r="0" t="0"/>
          <a:stretch/>
        </p:blipFill>
        <p:spPr>
          <a:xfrm>
            <a:off x="3925087" y="1706699"/>
            <a:ext cx="1733207" cy="1074881"/>
          </a:xfrm>
          <a:prstGeom prst="rect">
            <a:avLst/>
          </a:prstGeom>
          <a:noFill/>
          <a:ln>
            <a:noFill/>
          </a:ln>
        </p:spPr>
      </p:pic>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a6c7b9e349_0_43"/>
          <p:cNvSpPr txBox="1"/>
          <p:nvPr>
            <p:ph type="title"/>
          </p:nvPr>
        </p:nvSpPr>
        <p:spPr>
          <a:xfrm>
            <a:off x="82600" y="109545"/>
            <a:ext cx="56832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MARKOV DECISION PROCESS FORMALIZATION </a:t>
            </a:r>
            <a:r>
              <a:rPr lang="en-US" sz="1200">
                <a:solidFill>
                  <a:srgbClr val="FFFFFF"/>
                </a:solidFill>
              </a:rPr>
              <a:t>(Reduced)</a:t>
            </a:r>
            <a:endParaRPr sz="1200"/>
          </a:p>
        </p:txBody>
      </p:sp>
      <p:pic>
        <p:nvPicPr>
          <p:cNvPr id="253" name="Google Shape;253;g3a6c7b9e349_0_43"/>
          <p:cNvPicPr preferRelativeResize="0"/>
          <p:nvPr/>
        </p:nvPicPr>
        <p:blipFill rotWithShape="1">
          <a:blip r:embed="rId3">
            <a:alphaModFix/>
          </a:blip>
          <a:srcRect b="0" l="0" r="0" t="0"/>
          <a:stretch/>
        </p:blipFill>
        <p:spPr>
          <a:xfrm>
            <a:off x="182676" y="500049"/>
            <a:ext cx="121259" cy="121259"/>
          </a:xfrm>
          <a:prstGeom prst="rect">
            <a:avLst/>
          </a:prstGeom>
          <a:noFill/>
          <a:ln>
            <a:noFill/>
          </a:ln>
        </p:spPr>
      </p:pic>
      <p:sp>
        <p:nvSpPr>
          <p:cNvPr id="254" name="Google Shape;254;g3a6c7b9e349_0_43"/>
          <p:cNvSpPr txBox="1"/>
          <p:nvPr/>
        </p:nvSpPr>
        <p:spPr>
          <a:xfrm>
            <a:off x="209626" y="490199"/>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1</a:t>
            </a:r>
            <a:endParaRPr b="0" i="0" sz="600" u="none" cap="none" strike="noStrike">
              <a:solidFill>
                <a:srgbClr val="000000"/>
              </a:solidFill>
              <a:latin typeface="Calibri"/>
              <a:ea typeface="Calibri"/>
              <a:cs typeface="Calibri"/>
              <a:sym typeface="Calibri"/>
            </a:endParaRPr>
          </a:p>
        </p:txBody>
      </p:sp>
      <p:pic>
        <p:nvPicPr>
          <p:cNvPr id="255" name="Google Shape;255;g3a6c7b9e349_0_43"/>
          <p:cNvPicPr preferRelativeResize="0"/>
          <p:nvPr/>
        </p:nvPicPr>
        <p:blipFill rotWithShape="1">
          <a:blip r:embed="rId4">
            <a:alphaModFix/>
          </a:blip>
          <a:srcRect b="0" l="0" r="0" t="0"/>
          <a:stretch/>
        </p:blipFill>
        <p:spPr>
          <a:xfrm>
            <a:off x="182676" y="1079537"/>
            <a:ext cx="121259" cy="121259"/>
          </a:xfrm>
          <a:prstGeom prst="rect">
            <a:avLst/>
          </a:prstGeom>
          <a:noFill/>
          <a:ln>
            <a:noFill/>
          </a:ln>
        </p:spPr>
      </p:pic>
      <p:sp>
        <p:nvSpPr>
          <p:cNvPr id="256" name="Google Shape;256;g3a6c7b9e349_0_43"/>
          <p:cNvSpPr txBox="1"/>
          <p:nvPr/>
        </p:nvSpPr>
        <p:spPr>
          <a:xfrm>
            <a:off x="209626" y="1069688"/>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2</a:t>
            </a:r>
            <a:endParaRPr b="0" i="0" sz="600" u="none" cap="none" strike="noStrike">
              <a:solidFill>
                <a:srgbClr val="000000"/>
              </a:solidFill>
              <a:latin typeface="Calibri"/>
              <a:ea typeface="Calibri"/>
              <a:cs typeface="Calibri"/>
              <a:sym typeface="Calibri"/>
            </a:endParaRPr>
          </a:p>
        </p:txBody>
      </p:sp>
      <p:pic>
        <p:nvPicPr>
          <p:cNvPr id="257" name="Google Shape;257;g3a6c7b9e349_0_43"/>
          <p:cNvPicPr preferRelativeResize="0"/>
          <p:nvPr/>
        </p:nvPicPr>
        <p:blipFill rotWithShape="1">
          <a:blip r:embed="rId5">
            <a:alphaModFix/>
          </a:blip>
          <a:srcRect b="0" l="0" r="0" t="0"/>
          <a:stretch/>
        </p:blipFill>
        <p:spPr>
          <a:xfrm>
            <a:off x="182676" y="1659026"/>
            <a:ext cx="121259" cy="121259"/>
          </a:xfrm>
          <a:prstGeom prst="rect">
            <a:avLst/>
          </a:prstGeom>
          <a:noFill/>
          <a:ln>
            <a:noFill/>
          </a:ln>
        </p:spPr>
      </p:pic>
      <p:sp>
        <p:nvSpPr>
          <p:cNvPr id="258" name="Google Shape;258;g3a6c7b9e349_0_43"/>
          <p:cNvSpPr txBox="1"/>
          <p:nvPr/>
        </p:nvSpPr>
        <p:spPr>
          <a:xfrm>
            <a:off x="209626" y="1649176"/>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3</a:t>
            </a:r>
            <a:endParaRPr b="0" i="0" sz="600" u="none" cap="none" strike="noStrike">
              <a:solidFill>
                <a:srgbClr val="000000"/>
              </a:solidFill>
              <a:latin typeface="Calibri"/>
              <a:ea typeface="Calibri"/>
              <a:cs typeface="Calibri"/>
              <a:sym typeface="Calibri"/>
            </a:endParaRPr>
          </a:p>
        </p:txBody>
      </p:sp>
      <p:sp>
        <p:nvSpPr>
          <p:cNvPr id="259" name="Google Shape;259;g3a6c7b9e349_0_43"/>
          <p:cNvSpPr txBox="1"/>
          <p:nvPr/>
        </p:nvSpPr>
        <p:spPr>
          <a:xfrm>
            <a:off x="338892" y="401454"/>
            <a:ext cx="4557900" cy="2434500"/>
          </a:xfrm>
          <a:prstGeom prst="rect">
            <a:avLst/>
          </a:prstGeom>
          <a:noFill/>
          <a:ln>
            <a:noFill/>
          </a:ln>
        </p:spPr>
        <p:txBody>
          <a:bodyPr anchorCtr="0" anchor="t" bIns="0" lIns="0" spcFirstLastPara="1" rIns="0" wrap="square" tIns="65400">
            <a:spAutoFit/>
          </a:bodyPr>
          <a:lstStyle/>
          <a:p>
            <a:pPr indent="0" lvl="0" marL="381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States (S)</a:t>
            </a:r>
            <a:endParaRPr b="0" i="0" sz="1050" u="none" cap="none" strike="noStrike">
              <a:solidFill>
                <a:srgbClr val="000000"/>
              </a:solidFill>
              <a:latin typeface="Arial"/>
              <a:ea typeface="Arial"/>
              <a:cs typeface="Arial"/>
              <a:sym typeface="Arial"/>
            </a:endParaRPr>
          </a:p>
          <a:p>
            <a:pPr indent="-60325" lvl="0" marL="193040" marR="0" rtl="0" algn="l">
              <a:lnSpc>
                <a:spcPct val="100000"/>
              </a:lnSpc>
              <a:spcBef>
                <a:spcPts val="395"/>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S = (Cool(</a:t>
            </a:r>
            <a:r>
              <a:rPr b="1" i="0" lang="en-US" sz="950" u="none" cap="none" strike="noStrike">
                <a:solidFill>
                  <a:srgbClr val="000000"/>
                </a:solidFill>
                <a:latin typeface="Arial"/>
                <a:ea typeface="Arial"/>
                <a:cs typeface="Arial"/>
                <a:sym typeface="Arial"/>
              </a:rPr>
              <a:t>C</a:t>
            </a:r>
            <a:r>
              <a:rPr b="0" i="0" lang="en-US" sz="950" u="none" cap="none" strike="noStrike">
                <a:solidFill>
                  <a:srgbClr val="000000"/>
                </a:solidFill>
                <a:latin typeface="Arial"/>
                <a:ea typeface="Arial"/>
                <a:cs typeface="Arial"/>
                <a:sym typeface="Arial"/>
              </a:rPr>
              <a:t>), Warm(</a:t>
            </a:r>
            <a:r>
              <a:rPr b="1" i="0" lang="en-US" sz="950" u="none" cap="none" strike="noStrike">
                <a:solidFill>
                  <a:srgbClr val="000000"/>
                </a:solidFill>
                <a:latin typeface="Arial"/>
                <a:ea typeface="Arial"/>
                <a:cs typeface="Arial"/>
                <a:sym typeface="Arial"/>
              </a:rPr>
              <a:t>W</a:t>
            </a:r>
            <a:r>
              <a:rPr b="0" i="0" lang="en-US" sz="950" u="none" cap="none" strike="noStrike">
                <a:solidFill>
                  <a:srgbClr val="000000"/>
                </a:solidFill>
                <a:latin typeface="Arial"/>
                <a:ea typeface="Arial"/>
                <a:cs typeface="Arial"/>
                <a:sym typeface="Arial"/>
              </a:rPr>
              <a:t>), Overheated(</a:t>
            </a:r>
            <a:r>
              <a:rPr b="1" i="0" lang="en-US" sz="950" u="none" cap="none" strike="noStrike">
                <a:solidFill>
                  <a:srgbClr val="000000"/>
                </a:solidFill>
                <a:latin typeface="Arial"/>
                <a:ea typeface="Arial"/>
                <a:cs typeface="Arial"/>
                <a:sym typeface="Arial"/>
              </a:rPr>
              <a:t>O</a:t>
            </a:r>
            <a:r>
              <a:rPr b="0" i="0" lang="en-US" sz="950" u="none" cap="none" strike="noStrike">
                <a:solidFill>
                  <a:srgbClr val="000000"/>
                </a:solidFill>
                <a:latin typeface="Arial"/>
                <a:ea typeface="Arial"/>
                <a:cs typeface="Arial"/>
                <a:sym typeface="Arial"/>
              </a:rPr>
              <a:t>)) #Engine Temperature</a:t>
            </a:r>
            <a:endParaRPr b="0" i="0" sz="1400" u="none" cap="none" strike="noStrike">
              <a:solidFill>
                <a:srgbClr val="000000"/>
              </a:solidFill>
              <a:latin typeface="Arial"/>
              <a:ea typeface="Arial"/>
              <a:cs typeface="Arial"/>
              <a:sym typeface="Arial"/>
            </a:endParaRPr>
          </a:p>
          <a:p>
            <a:pPr indent="-60325" lvl="0" marL="193040" marR="0" rtl="0" algn="l">
              <a:lnSpc>
                <a:spcPct val="100000"/>
              </a:lnSpc>
              <a:spcBef>
                <a:spcPts val="395"/>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Finite State MDP</a:t>
            </a:r>
            <a:endParaRPr b="0" i="0" sz="1050" u="none" cap="none" strike="noStrike">
              <a:solidFill>
                <a:srgbClr val="1B1472"/>
              </a:solidFill>
              <a:latin typeface="Arial"/>
              <a:ea typeface="Arial"/>
              <a:cs typeface="Arial"/>
              <a:sym typeface="Arial"/>
            </a:endParaRPr>
          </a:p>
          <a:p>
            <a:pPr indent="0" lvl="0" marL="38100" marR="0" rtl="0" algn="l">
              <a:lnSpc>
                <a:spcPct val="100000"/>
              </a:lnSpc>
              <a:spcBef>
                <a:spcPts val="415"/>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Actions (A)</a:t>
            </a:r>
            <a:endParaRPr b="0" i="0" sz="1050" u="none" cap="none" strike="noStrike">
              <a:solidFill>
                <a:srgbClr val="000000"/>
              </a:solidFill>
              <a:latin typeface="Arial"/>
              <a:ea typeface="Arial"/>
              <a:cs typeface="Arial"/>
              <a:sym typeface="Arial"/>
            </a:endParaRPr>
          </a:p>
          <a:p>
            <a:pPr indent="-60325" lvl="0" marL="193040" marR="0" rtl="0" algn="l">
              <a:lnSpc>
                <a:spcPct val="100000"/>
              </a:lnSpc>
              <a:spcBef>
                <a:spcPts val="395"/>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A = </a:t>
            </a:r>
            <a:r>
              <a:rPr b="0" i="0" lang="en-US" sz="1000" u="none" cap="none" strike="noStrike">
                <a:solidFill>
                  <a:srgbClr val="000000"/>
                </a:solidFill>
                <a:latin typeface="Arial"/>
                <a:ea typeface="Arial"/>
                <a:cs typeface="Arial"/>
                <a:sym typeface="Arial"/>
              </a:rPr>
              <a:t>{Go Slow(</a:t>
            </a:r>
            <a:r>
              <a:rPr b="1" i="0" lang="en-US" sz="1000" u="none" cap="none" strike="noStrike">
                <a:solidFill>
                  <a:srgbClr val="000000"/>
                </a:solidFill>
                <a:latin typeface="Arial"/>
                <a:ea typeface="Arial"/>
                <a:cs typeface="Arial"/>
                <a:sym typeface="Arial"/>
              </a:rPr>
              <a:t>S</a:t>
            </a:r>
            <a:r>
              <a:rPr b="0" i="0" lang="en-US" sz="1000" u="none" cap="none" strike="noStrike">
                <a:solidFill>
                  <a:srgbClr val="000000"/>
                </a:solidFill>
                <a:latin typeface="Arial"/>
                <a:ea typeface="Arial"/>
                <a:cs typeface="Arial"/>
                <a:sym typeface="Arial"/>
              </a:rPr>
              <a:t>), Go Fast(</a:t>
            </a:r>
            <a:r>
              <a:rPr b="1" i="0" lang="en-US" sz="1000" u="none" cap="none" strike="noStrike">
                <a:solidFill>
                  <a:srgbClr val="000000"/>
                </a:solidFill>
                <a:latin typeface="Arial"/>
                <a:ea typeface="Arial"/>
                <a:cs typeface="Arial"/>
                <a:sym typeface="Arial"/>
              </a:rPr>
              <a:t>F</a:t>
            </a:r>
            <a:r>
              <a:rPr b="0" i="0" lang="en-US" sz="1000" u="none" cap="none" strike="noStrike">
                <a:solidFill>
                  <a:srgbClr val="000000"/>
                </a:solidFill>
                <a:latin typeface="Arial"/>
                <a:ea typeface="Arial"/>
                <a:cs typeface="Arial"/>
                <a:sym typeface="Arial"/>
              </a:rPr>
              <a:t>)}</a:t>
            </a:r>
            <a:endParaRPr b="0" i="0" sz="950" u="none" cap="none" strike="noStrike">
              <a:solidFill>
                <a:srgbClr val="000000"/>
              </a:solidFill>
              <a:latin typeface="Arial"/>
              <a:ea typeface="Arial"/>
              <a:cs typeface="Arial"/>
              <a:sym typeface="Arial"/>
            </a:endParaRPr>
          </a:p>
          <a:p>
            <a:pPr indent="0" lvl="0" marL="38100" marR="0" rtl="0" algn="l">
              <a:lnSpc>
                <a:spcPct val="100000"/>
              </a:lnSpc>
              <a:spcBef>
                <a:spcPts val="409"/>
              </a:spcBef>
              <a:spcAft>
                <a:spcPts val="0"/>
              </a:spcAft>
              <a:buClr>
                <a:srgbClr val="000000"/>
              </a:buClr>
              <a:buSzPts val="1050"/>
              <a:buFont typeface="Arial"/>
              <a:buNone/>
            </a:pPr>
            <a:r>
              <a:t/>
            </a:r>
            <a:endParaRPr b="0" i="0" sz="1050" u="none" cap="none" strike="noStrike">
              <a:solidFill>
                <a:srgbClr val="1B1472"/>
              </a:solidFill>
              <a:latin typeface="Arial"/>
              <a:ea typeface="Arial"/>
              <a:cs typeface="Arial"/>
              <a:sym typeface="Arial"/>
            </a:endParaRPr>
          </a:p>
          <a:p>
            <a:pPr indent="0" lvl="0" marL="38100" marR="0" rtl="0" algn="l">
              <a:lnSpc>
                <a:spcPct val="100000"/>
              </a:lnSpc>
              <a:spcBef>
                <a:spcPts val="409"/>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Rewards (R)</a:t>
            </a:r>
            <a:r>
              <a:rPr b="0" i="0" lang="en-US" sz="1050" u="none" cap="none" strike="noStrike">
                <a:solidFill>
                  <a:srgbClr val="000000"/>
                </a:solidFill>
                <a:latin typeface="Arial"/>
                <a:ea typeface="Arial"/>
                <a:cs typeface="Arial"/>
                <a:sym typeface="Arial"/>
              </a:rPr>
              <a:t> and/or </a:t>
            </a:r>
            <a:r>
              <a:rPr b="0" i="0" lang="en-US" sz="1050" u="none" cap="none" strike="noStrike">
                <a:solidFill>
                  <a:srgbClr val="1B1472"/>
                </a:solidFill>
                <a:latin typeface="Arial"/>
                <a:ea typeface="Arial"/>
                <a:cs typeface="Arial"/>
                <a:sym typeface="Arial"/>
              </a:rPr>
              <a:t>State Transition Probabilities (P) </a:t>
            </a:r>
            <a:endParaRPr b="0" i="0" sz="1400" u="none" cap="none" strike="noStrike">
              <a:solidFill>
                <a:srgbClr val="000000"/>
              </a:solidFill>
              <a:latin typeface="Arial"/>
              <a:ea typeface="Arial"/>
              <a:cs typeface="Arial"/>
              <a:sym typeface="Arial"/>
            </a:endParaRPr>
          </a:p>
          <a:p>
            <a:pPr indent="0" lvl="0" marL="38100" marR="0" rtl="0" algn="l">
              <a:lnSpc>
                <a:spcPct val="100000"/>
              </a:lnSpc>
              <a:spcBef>
                <a:spcPts val="409"/>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may be non-stationary</a:t>
            </a:r>
            <a:endParaRPr b="0" i="0" sz="1400" u="none" cap="none" strike="noStrike">
              <a:solidFill>
                <a:srgbClr val="000000"/>
              </a:solidFill>
              <a:latin typeface="Arial"/>
              <a:ea typeface="Arial"/>
              <a:cs typeface="Arial"/>
              <a:sym typeface="Arial"/>
            </a:endParaRPr>
          </a:p>
          <a:p>
            <a:pPr indent="0" lvl="0" marL="38100" marR="0" rtl="0" algn="l">
              <a:lnSpc>
                <a:spcPct val="100000"/>
              </a:lnSpc>
              <a:spcBef>
                <a:spcPts val="409"/>
              </a:spcBef>
              <a:spcAft>
                <a:spcPts val="0"/>
              </a:spcAft>
              <a:buClr>
                <a:srgbClr val="000000"/>
              </a:buClr>
              <a:buSzPts val="1050"/>
              <a:buFont typeface="Arial"/>
              <a:buNone/>
            </a:pPr>
            <a:r>
              <a:t/>
            </a:r>
            <a:endParaRPr b="0" i="0" sz="1050" u="none" cap="none" strike="noStrike">
              <a:solidFill>
                <a:srgbClr val="1B1472"/>
              </a:solidFill>
              <a:latin typeface="Arial"/>
              <a:ea typeface="Arial"/>
              <a:cs typeface="Arial"/>
              <a:sym typeface="Arial"/>
            </a:endParaRPr>
          </a:p>
          <a:p>
            <a:pPr indent="0" lvl="0" marL="38100" marR="0" rtl="0" algn="l">
              <a:lnSpc>
                <a:spcPct val="100000"/>
              </a:lnSpc>
              <a:spcBef>
                <a:spcPts val="409"/>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Policy still needs estimation of V(S) , Q(S,A) i.e., MDP components but its is not a necessity that the process is expected to follow a Markov Property!! ☺</a:t>
            </a:r>
            <a:endParaRPr b="0" i="0" sz="1050" u="none" cap="none" strike="noStrike">
              <a:solidFill>
                <a:srgbClr val="000000"/>
              </a:solidFill>
              <a:latin typeface="Arial"/>
              <a:ea typeface="Arial"/>
              <a:cs typeface="Arial"/>
              <a:sym typeface="Arial"/>
            </a:endParaRPr>
          </a:p>
        </p:txBody>
      </p:sp>
      <p:grpSp>
        <p:nvGrpSpPr>
          <p:cNvPr id="260" name="Google Shape;260;g3a6c7b9e349_0_43"/>
          <p:cNvGrpSpPr/>
          <p:nvPr/>
        </p:nvGrpSpPr>
        <p:grpSpPr>
          <a:xfrm>
            <a:off x="0" y="3109250"/>
            <a:ext cx="5760261" cy="92075"/>
            <a:chOff x="0" y="3109250"/>
            <a:chExt cx="5760261" cy="92075"/>
          </a:xfrm>
        </p:grpSpPr>
        <p:sp>
          <p:nvSpPr>
            <p:cNvPr id="261" name="Google Shape;261;g3a6c7b9e349_0_43"/>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3a6c7b9e349_0_43"/>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3a6c7b9e349_0_43"/>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4" name="Google Shape;264;g3a6c7b9e349_0_43"/>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265" name="Google Shape;265;g3a6c7b9e349_0_43"/>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grpSp>
        <p:nvGrpSpPr>
          <p:cNvPr id="266" name="Google Shape;266;g3a6c7b9e349_0_43"/>
          <p:cNvGrpSpPr/>
          <p:nvPr/>
        </p:nvGrpSpPr>
        <p:grpSpPr>
          <a:xfrm>
            <a:off x="182677" y="2244034"/>
            <a:ext cx="148210" cy="163940"/>
            <a:chOff x="134127" y="2262704"/>
            <a:chExt cx="266997" cy="178837"/>
          </a:xfrm>
        </p:grpSpPr>
        <p:pic>
          <p:nvPicPr>
            <p:cNvPr id="267" name="Google Shape;267;g3a6c7b9e349_0_43"/>
            <p:cNvPicPr preferRelativeResize="0"/>
            <p:nvPr/>
          </p:nvPicPr>
          <p:blipFill rotWithShape="1">
            <a:blip r:embed="rId5">
              <a:alphaModFix/>
            </a:blip>
            <a:srcRect b="0" l="0" r="0" t="0"/>
            <a:stretch/>
          </p:blipFill>
          <p:spPr>
            <a:xfrm>
              <a:off x="134127" y="2262704"/>
              <a:ext cx="266997" cy="178837"/>
            </a:xfrm>
            <a:prstGeom prst="rect">
              <a:avLst/>
            </a:prstGeom>
            <a:noFill/>
            <a:ln>
              <a:noFill/>
            </a:ln>
          </p:spPr>
        </p:pic>
        <p:sp>
          <p:nvSpPr>
            <p:cNvPr id="268" name="Google Shape;268;g3a6c7b9e349_0_43"/>
            <p:cNvSpPr txBox="1"/>
            <p:nvPr/>
          </p:nvSpPr>
          <p:spPr>
            <a:xfrm>
              <a:off x="209626" y="2275554"/>
              <a:ext cx="148200" cy="1140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4</a:t>
              </a:r>
              <a:endParaRPr b="0" i="0" sz="600" u="none" cap="none" strike="noStrike">
                <a:solidFill>
                  <a:srgbClr val="000000"/>
                </a:solidFill>
                <a:latin typeface="Calibri"/>
                <a:ea typeface="Calibri"/>
                <a:cs typeface="Calibri"/>
                <a:sym typeface="Calibri"/>
              </a:endParaRPr>
            </a:p>
          </p:txBody>
        </p:sp>
      </p:grpSp>
      <p:grpSp>
        <p:nvGrpSpPr>
          <p:cNvPr id="269" name="Google Shape;269;g3a6c7b9e349_0_43"/>
          <p:cNvGrpSpPr/>
          <p:nvPr/>
        </p:nvGrpSpPr>
        <p:grpSpPr>
          <a:xfrm>
            <a:off x="519404" y="3558972"/>
            <a:ext cx="266997" cy="178837"/>
            <a:chOff x="286527" y="2415104"/>
            <a:chExt cx="266997" cy="178837"/>
          </a:xfrm>
        </p:grpSpPr>
        <p:pic>
          <p:nvPicPr>
            <p:cNvPr id="270" name="Google Shape;270;g3a6c7b9e349_0_43"/>
            <p:cNvPicPr preferRelativeResize="0"/>
            <p:nvPr/>
          </p:nvPicPr>
          <p:blipFill rotWithShape="1">
            <a:blip r:embed="rId5">
              <a:alphaModFix/>
            </a:blip>
            <a:srcRect b="0" l="0" r="0" t="0"/>
            <a:stretch/>
          </p:blipFill>
          <p:spPr>
            <a:xfrm>
              <a:off x="286527" y="2415104"/>
              <a:ext cx="266997" cy="178837"/>
            </a:xfrm>
            <a:prstGeom prst="rect">
              <a:avLst/>
            </a:prstGeom>
            <a:noFill/>
            <a:ln>
              <a:noFill/>
            </a:ln>
          </p:spPr>
        </p:pic>
        <p:sp>
          <p:nvSpPr>
            <p:cNvPr id="271" name="Google Shape;271;g3a6c7b9e349_0_43"/>
            <p:cNvSpPr txBox="1"/>
            <p:nvPr/>
          </p:nvSpPr>
          <p:spPr>
            <a:xfrm>
              <a:off x="362026" y="2427954"/>
              <a:ext cx="148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5</a:t>
              </a:r>
              <a:endParaRPr b="0" i="0" sz="600" u="none" cap="none" strike="noStrike">
                <a:solidFill>
                  <a:srgbClr val="000000"/>
                </a:solidFill>
                <a:latin typeface="Calibri"/>
                <a:ea typeface="Calibri"/>
                <a:cs typeface="Calibri"/>
                <a:sym typeface="Calibri"/>
              </a:endParaRPr>
            </a:p>
          </p:txBody>
        </p:sp>
      </p:grpSp>
      <p:grpSp>
        <p:nvGrpSpPr>
          <p:cNvPr id="272" name="Google Shape;272;g3a6c7b9e349_0_43"/>
          <p:cNvGrpSpPr/>
          <p:nvPr/>
        </p:nvGrpSpPr>
        <p:grpSpPr>
          <a:xfrm>
            <a:off x="1032004" y="3531040"/>
            <a:ext cx="266997" cy="178837"/>
            <a:chOff x="438927" y="2567504"/>
            <a:chExt cx="266997" cy="178837"/>
          </a:xfrm>
        </p:grpSpPr>
        <p:pic>
          <p:nvPicPr>
            <p:cNvPr id="273" name="Google Shape;273;g3a6c7b9e349_0_43"/>
            <p:cNvPicPr preferRelativeResize="0"/>
            <p:nvPr/>
          </p:nvPicPr>
          <p:blipFill rotWithShape="1">
            <a:blip r:embed="rId5">
              <a:alphaModFix/>
            </a:blip>
            <a:srcRect b="0" l="0" r="0" t="0"/>
            <a:stretch/>
          </p:blipFill>
          <p:spPr>
            <a:xfrm>
              <a:off x="438927" y="2567504"/>
              <a:ext cx="266997" cy="178837"/>
            </a:xfrm>
            <a:prstGeom prst="rect">
              <a:avLst/>
            </a:prstGeom>
            <a:noFill/>
            <a:ln>
              <a:noFill/>
            </a:ln>
          </p:spPr>
        </p:pic>
        <p:sp>
          <p:nvSpPr>
            <p:cNvPr id="274" name="Google Shape;274;g3a6c7b9e349_0_43"/>
            <p:cNvSpPr txBox="1"/>
            <p:nvPr/>
          </p:nvSpPr>
          <p:spPr>
            <a:xfrm>
              <a:off x="514426" y="2580354"/>
              <a:ext cx="148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6</a:t>
              </a:r>
              <a:endParaRPr b="0" i="0" sz="600" u="none" cap="none" strike="noStrike">
                <a:solidFill>
                  <a:srgbClr val="000000"/>
                </a:solidFill>
                <a:latin typeface="Calibri"/>
                <a:ea typeface="Calibri"/>
                <a:cs typeface="Calibri"/>
                <a:sym typeface="Calibri"/>
              </a:endParaRPr>
            </a:p>
          </p:txBody>
        </p:sp>
      </p:grpSp>
      <p:grpSp>
        <p:nvGrpSpPr>
          <p:cNvPr id="275" name="Google Shape;275;g3a6c7b9e349_0_43"/>
          <p:cNvGrpSpPr/>
          <p:nvPr/>
        </p:nvGrpSpPr>
        <p:grpSpPr>
          <a:xfrm>
            <a:off x="1544604" y="3571203"/>
            <a:ext cx="266997" cy="178837"/>
            <a:chOff x="1452387" y="2885403"/>
            <a:chExt cx="266997" cy="178837"/>
          </a:xfrm>
        </p:grpSpPr>
        <p:pic>
          <p:nvPicPr>
            <p:cNvPr id="276" name="Google Shape;276;g3a6c7b9e349_0_43"/>
            <p:cNvPicPr preferRelativeResize="0"/>
            <p:nvPr/>
          </p:nvPicPr>
          <p:blipFill rotWithShape="1">
            <a:blip r:embed="rId5">
              <a:alphaModFix/>
            </a:blip>
            <a:srcRect b="0" l="0" r="0" t="0"/>
            <a:stretch/>
          </p:blipFill>
          <p:spPr>
            <a:xfrm>
              <a:off x="1452387" y="2885403"/>
              <a:ext cx="266997" cy="178837"/>
            </a:xfrm>
            <a:prstGeom prst="rect">
              <a:avLst/>
            </a:prstGeom>
            <a:noFill/>
            <a:ln>
              <a:noFill/>
            </a:ln>
          </p:spPr>
        </p:pic>
        <p:sp>
          <p:nvSpPr>
            <p:cNvPr id="277" name="Google Shape;277;g3a6c7b9e349_0_43"/>
            <p:cNvSpPr txBox="1"/>
            <p:nvPr/>
          </p:nvSpPr>
          <p:spPr>
            <a:xfrm>
              <a:off x="1527886" y="2898253"/>
              <a:ext cx="148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7</a:t>
              </a:r>
              <a:endParaRPr b="0" i="0" sz="600" u="none" cap="none" strike="noStrike">
                <a:solidFill>
                  <a:srgbClr val="000000"/>
                </a:solidFill>
                <a:latin typeface="Calibri"/>
                <a:ea typeface="Calibri"/>
                <a:cs typeface="Calibri"/>
                <a:sym typeface="Calibri"/>
              </a:endParaRPr>
            </a:p>
          </p:txBody>
        </p:sp>
      </p:grpSp>
      <p:sp>
        <p:nvSpPr>
          <p:cNvPr id="278" name="Google Shape;278;g3a6c7b9e349_0_43"/>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279" name="Google Shape;279;g3a6c7b9e349_0_43"/>
          <p:cNvPicPr preferRelativeResize="0"/>
          <p:nvPr/>
        </p:nvPicPr>
        <p:blipFill rotWithShape="1">
          <a:blip r:embed="rId6">
            <a:alphaModFix/>
          </a:blip>
          <a:srcRect b="0" l="0" r="0" t="0"/>
          <a:stretch/>
        </p:blipFill>
        <p:spPr>
          <a:xfrm>
            <a:off x="3967924" y="1079537"/>
            <a:ext cx="1733207" cy="1074881"/>
          </a:xfrm>
          <a:prstGeom prst="rect">
            <a:avLst/>
          </a:prstGeom>
          <a:noFill/>
          <a:ln>
            <a:noFill/>
          </a:ln>
        </p:spPr>
      </p:pic>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a6c7b9e349_0_74"/>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Monte Carlo Methods</a:t>
            </a:r>
            <a:endParaRPr/>
          </a:p>
        </p:txBody>
      </p:sp>
      <p:pic>
        <p:nvPicPr>
          <p:cNvPr id="285" name="Google Shape;285;g3a6c7b9e349_0_74"/>
          <p:cNvPicPr preferRelativeResize="0"/>
          <p:nvPr/>
        </p:nvPicPr>
        <p:blipFill rotWithShape="1">
          <a:blip r:embed="rId3">
            <a:alphaModFix/>
          </a:blip>
          <a:srcRect b="0" l="0" r="0" t="0"/>
          <a:stretch/>
        </p:blipFill>
        <p:spPr>
          <a:xfrm>
            <a:off x="219002" y="583532"/>
            <a:ext cx="121259" cy="121259"/>
          </a:xfrm>
          <a:prstGeom prst="rect">
            <a:avLst/>
          </a:prstGeom>
          <a:noFill/>
          <a:ln>
            <a:noFill/>
          </a:ln>
        </p:spPr>
      </p:pic>
      <p:sp>
        <p:nvSpPr>
          <p:cNvPr id="286" name="Google Shape;286;g3a6c7b9e349_0_74"/>
          <p:cNvSpPr txBox="1"/>
          <p:nvPr/>
        </p:nvSpPr>
        <p:spPr>
          <a:xfrm>
            <a:off x="245952" y="573682"/>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1</a:t>
            </a:r>
            <a:endParaRPr b="0" i="0" sz="600" u="none" cap="none" strike="noStrike">
              <a:solidFill>
                <a:srgbClr val="000000"/>
              </a:solidFill>
              <a:latin typeface="Calibri"/>
              <a:ea typeface="Calibri"/>
              <a:cs typeface="Calibri"/>
              <a:sym typeface="Calibri"/>
            </a:endParaRPr>
          </a:p>
        </p:txBody>
      </p:sp>
      <p:sp>
        <p:nvSpPr>
          <p:cNvPr id="287" name="Google Shape;287;g3a6c7b9e349_0_74"/>
          <p:cNvSpPr txBox="1"/>
          <p:nvPr/>
        </p:nvSpPr>
        <p:spPr>
          <a:xfrm>
            <a:off x="406632" y="537309"/>
            <a:ext cx="1062300" cy="1776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Given</a:t>
            </a:r>
            <a:endParaRPr b="0" i="0" sz="1050" u="none" cap="none" strike="noStrike">
              <a:solidFill>
                <a:srgbClr val="000000"/>
              </a:solidFill>
              <a:latin typeface="Arial"/>
              <a:ea typeface="Arial"/>
              <a:cs typeface="Arial"/>
              <a:sym typeface="Arial"/>
            </a:endParaRPr>
          </a:p>
        </p:txBody>
      </p:sp>
      <p:sp>
        <p:nvSpPr>
          <p:cNvPr id="288" name="Google Shape;288;g3a6c7b9e349_0_74"/>
          <p:cNvSpPr txBox="1"/>
          <p:nvPr/>
        </p:nvSpPr>
        <p:spPr>
          <a:xfrm>
            <a:off x="536451" y="732781"/>
            <a:ext cx="2496300" cy="157800"/>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S, A, optionally R(s, a, s`) </a:t>
            </a:r>
            <a:endParaRPr b="0" i="0" sz="950" u="none" cap="none" strike="noStrike">
              <a:solidFill>
                <a:srgbClr val="000000"/>
              </a:solidFill>
              <a:latin typeface="Arial"/>
              <a:ea typeface="Arial"/>
              <a:cs typeface="Arial"/>
              <a:sym typeface="Arial"/>
            </a:endParaRPr>
          </a:p>
        </p:txBody>
      </p:sp>
      <p:grpSp>
        <p:nvGrpSpPr>
          <p:cNvPr id="289" name="Google Shape;289;g3a6c7b9e349_0_74"/>
          <p:cNvGrpSpPr/>
          <p:nvPr/>
        </p:nvGrpSpPr>
        <p:grpSpPr>
          <a:xfrm>
            <a:off x="219002" y="990948"/>
            <a:ext cx="121259" cy="528662"/>
            <a:chOff x="456996" y="1391780"/>
            <a:chExt cx="121259" cy="528662"/>
          </a:xfrm>
        </p:grpSpPr>
        <p:pic>
          <p:nvPicPr>
            <p:cNvPr id="290" name="Google Shape;290;g3a6c7b9e349_0_74"/>
            <p:cNvPicPr preferRelativeResize="0"/>
            <p:nvPr/>
          </p:nvPicPr>
          <p:blipFill rotWithShape="1">
            <a:blip r:embed="rId4">
              <a:alphaModFix/>
            </a:blip>
            <a:srcRect b="0" l="0" r="0" t="0"/>
            <a:stretch/>
          </p:blipFill>
          <p:spPr>
            <a:xfrm>
              <a:off x="456996" y="1391780"/>
              <a:ext cx="121259" cy="121259"/>
            </a:xfrm>
            <a:prstGeom prst="rect">
              <a:avLst/>
            </a:prstGeom>
            <a:noFill/>
            <a:ln>
              <a:noFill/>
            </a:ln>
          </p:spPr>
        </p:pic>
        <p:pic>
          <p:nvPicPr>
            <p:cNvPr id="291" name="Google Shape;291;g3a6c7b9e349_0_74"/>
            <p:cNvPicPr preferRelativeResize="0"/>
            <p:nvPr/>
          </p:nvPicPr>
          <p:blipFill rotWithShape="1">
            <a:blip r:embed="rId5">
              <a:alphaModFix/>
            </a:blip>
            <a:srcRect b="0" l="0" r="0" t="0"/>
            <a:stretch/>
          </p:blipFill>
          <p:spPr>
            <a:xfrm>
              <a:off x="456996" y="1799183"/>
              <a:ext cx="121259" cy="121259"/>
            </a:xfrm>
            <a:prstGeom prst="rect">
              <a:avLst/>
            </a:prstGeom>
            <a:noFill/>
            <a:ln>
              <a:noFill/>
            </a:ln>
          </p:spPr>
        </p:pic>
      </p:grpSp>
      <p:sp>
        <p:nvSpPr>
          <p:cNvPr id="292" name="Google Shape;292;g3a6c7b9e349_0_74"/>
          <p:cNvSpPr txBox="1"/>
          <p:nvPr/>
        </p:nvSpPr>
        <p:spPr>
          <a:xfrm>
            <a:off x="245952" y="981098"/>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2</a:t>
            </a:r>
            <a:endParaRPr b="0" i="0" sz="600" u="none" cap="none" strike="noStrike">
              <a:solidFill>
                <a:srgbClr val="000000"/>
              </a:solidFill>
              <a:latin typeface="Calibri"/>
              <a:ea typeface="Calibri"/>
              <a:cs typeface="Calibri"/>
              <a:sym typeface="Calibri"/>
            </a:endParaRPr>
          </a:p>
        </p:txBody>
      </p:sp>
      <p:sp>
        <p:nvSpPr>
          <p:cNvPr id="293" name="Google Shape;293;g3a6c7b9e349_0_74"/>
          <p:cNvSpPr txBox="1"/>
          <p:nvPr/>
        </p:nvSpPr>
        <p:spPr>
          <a:xfrm>
            <a:off x="406632" y="944712"/>
            <a:ext cx="1306200" cy="1776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To find</a:t>
            </a:r>
            <a:endParaRPr b="0" i="0" sz="1050" u="none" cap="none" strike="noStrike">
              <a:solidFill>
                <a:srgbClr val="000000"/>
              </a:solidFill>
              <a:latin typeface="Arial"/>
              <a:ea typeface="Arial"/>
              <a:cs typeface="Arial"/>
              <a:sym typeface="Arial"/>
            </a:endParaRPr>
          </a:p>
        </p:txBody>
      </p:sp>
      <p:sp>
        <p:nvSpPr>
          <p:cNvPr id="294" name="Google Shape;294;g3a6c7b9e349_0_74"/>
          <p:cNvSpPr txBox="1"/>
          <p:nvPr/>
        </p:nvSpPr>
        <p:spPr>
          <a:xfrm>
            <a:off x="536451" y="1140197"/>
            <a:ext cx="2681700" cy="157800"/>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Policy π </a:t>
            </a:r>
            <a:endParaRPr b="0" i="0" sz="950" u="none" cap="none" strike="noStrike">
              <a:solidFill>
                <a:srgbClr val="000000"/>
              </a:solidFill>
              <a:latin typeface="Arial"/>
              <a:ea typeface="Arial"/>
              <a:cs typeface="Arial"/>
              <a:sym typeface="Arial"/>
            </a:endParaRPr>
          </a:p>
        </p:txBody>
      </p:sp>
      <p:sp>
        <p:nvSpPr>
          <p:cNvPr id="295" name="Google Shape;295;g3a6c7b9e349_0_74"/>
          <p:cNvSpPr txBox="1"/>
          <p:nvPr/>
        </p:nvSpPr>
        <p:spPr>
          <a:xfrm>
            <a:off x="245952" y="1388501"/>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3</a:t>
            </a:r>
            <a:endParaRPr b="0" i="0" sz="600" u="none" cap="none" strike="noStrike">
              <a:solidFill>
                <a:srgbClr val="000000"/>
              </a:solidFill>
              <a:latin typeface="Calibri"/>
              <a:ea typeface="Calibri"/>
              <a:cs typeface="Calibri"/>
              <a:sym typeface="Calibri"/>
            </a:endParaRPr>
          </a:p>
        </p:txBody>
      </p:sp>
      <p:sp>
        <p:nvSpPr>
          <p:cNvPr id="296" name="Google Shape;296;g3a6c7b9e349_0_74"/>
          <p:cNvSpPr txBox="1"/>
          <p:nvPr/>
        </p:nvSpPr>
        <p:spPr>
          <a:xfrm>
            <a:off x="406632" y="1352128"/>
            <a:ext cx="1301700" cy="1776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Solution</a:t>
            </a:r>
            <a:endParaRPr b="0" i="0" sz="1050" u="none" cap="none" strike="noStrike">
              <a:solidFill>
                <a:srgbClr val="000000"/>
              </a:solidFill>
              <a:latin typeface="Arial"/>
              <a:ea typeface="Arial"/>
              <a:cs typeface="Arial"/>
              <a:sym typeface="Arial"/>
            </a:endParaRPr>
          </a:p>
        </p:txBody>
      </p:sp>
      <p:sp>
        <p:nvSpPr>
          <p:cNvPr id="297" name="Google Shape;297;g3a6c7b9e349_0_74"/>
          <p:cNvSpPr txBox="1"/>
          <p:nvPr/>
        </p:nvSpPr>
        <p:spPr>
          <a:xfrm>
            <a:off x="128632" y="1512226"/>
            <a:ext cx="5358600" cy="1625100"/>
          </a:xfrm>
          <a:prstGeom prst="rect">
            <a:avLst/>
          </a:prstGeom>
          <a:noFill/>
          <a:ln>
            <a:noFill/>
          </a:ln>
        </p:spPr>
        <p:txBody>
          <a:bodyPr anchorCtr="0" anchor="t" bIns="0" lIns="0" spcFirstLastPara="1" rIns="0" wrap="square" tIns="11425">
            <a:spAutoFit/>
          </a:bodyPr>
          <a:lstStyle/>
          <a:p>
            <a:pPr indent="-60325" lvl="0" marL="490218"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Sample Episodes</a:t>
            </a:r>
            <a:endParaRPr b="0" i="0" sz="1400" u="none" cap="none" strike="noStrike">
              <a:solidFill>
                <a:srgbClr val="000000"/>
              </a:solidFill>
              <a:latin typeface="Arial"/>
              <a:ea typeface="Arial"/>
              <a:cs typeface="Arial"/>
              <a:sym typeface="Arial"/>
            </a:endParaRPr>
          </a:p>
          <a:p>
            <a:pPr indent="-60325" lvl="0" marL="490218"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Compute estimates of the value by discounted returns</a:t>
            </a:r>
            <a:endParaRPr b="0" i="0" sz="1400" u="none" cap="none" strike="noStrike">
              <a:solidFill>
                <a:srgbClr val="000000"/>
              </a:solidFill>
              <a:latin typeface="Arial"/>
              <a:ea typeface="Arial"/>
              <a:cs typeface="Arial"/>
              <a:sym typeface="Arial"/>
            </a:endParaRPr>
          </a:p>
          <a:p>
            <a:pPr indent="-171450" lvl="8" marL="801687" marR="0" rtl="0" algn="l">
              <a:lnSpc>
                <a:spcPct val="100000"/>
              </a:lnSpc>
              <a:spcBef>
                <a:spcPts val="0"/>
              </a:spcBef>
              <a:spcAft>
                <a:spcPts val="0"/>
              </a:spcAft>
              <a:buClr>
                <a:srgbClr val="000000"/>
              </a:buClr>
              <a:buSzPts val="950"/>
              <a:buFont typeface="Noto Sans Symbols"/>
              <a:buChar char="✔"/>
            </a:pPr>
            <a:r>
              <a:rPr b="0" i="0" lang="en-US" sz="950" u="none" cap="none" strike="noStrike">
                <a:solidFill>
                  <a:srgbClr val="000000"/>
                </a:solidFill>
                <a:latin typeface="Arial"/>
                <a:ea typeface="Arial"/>
                <a:cs typeface="Arial"/>
                <a:sym typeface="Arial"/>
              </a:rPr>
              <a:t>Simple average</a:t>
            </a:r>
            <a:endParaRPr b="0" i="0" sz="1400" u="none" cap="none" strike="noStrike">
              <a:solidFill>
                <a:srgbClr val="000000"/>
              </a:solidFill>
              <a:latin typeface="Arial"/>
              <a:ea typeface="Arial"/>
              <a:cs typeface="Arial"/>
              <a:sym typeface="Arial"/>
            </a:endParaRPr>
          </a:p>
          <a:p>
            <a:pPr indent="-171450" lvl="8" marL="801687" marR="0" rtl="0" algn="l">
              <a:lnSpc>
                <a:spcPct val="100000"/>
              </a:lnSpc>
              <a:spcBef>
                <a:spcPts val="0"/>
              </a:spcBef>
              <a:spcAft>
                <a:spcPts val="0"/>
              </a:spcAft>
              <a:buClr>
                <a:srgbClr val="000000"/>
              </a:buClr>
              <a:buSzPts val="950"/>
              <a:buFont typeface="Noto Sans Symbols"/>
              <a:buChar char="✔"/>
            </a:pPr>
            <a:r>
              <a:rPr b="0" i="0" lang="en-US" sz="950" u="none" cap="none" strike="noStrike">
                <a:solidFill>
                  <a:srgbClr val="000000"/>
                </a:solidFill>
                <a:latin typeface="Arial"/>
                <a:ea typeface="Arial"/>
                <a:cs typeface="Arial"/>
                <a:sym typeface="Arial"/>
              </a:rPr>
              <a:t>Weighted average</a:t>
            </a:r>
            <a:endParaRPr b="0" i="0" sz="1400" u="none" cap="none" strike="noStrike">
              <a:solidFill>
                <a:srgbClr val="000000"/>
              </a:solidFill>
              <a:latin typeface="Arial"/>
              <a:ea typeface="Arial"/>
              <a:cs typeface="Arial"/>
              <a:sym typeface="Arial"/>
            </a:endParaRPr>
          </a:p>
          <a:p>
            <a:pPr indent="-171450" lvl="8" marL="801687" marR="0" rtl="0" algn="l">
              <a:lnSpc>
                <a:spcPct val="100000"/>
              </a:lnSpc>
              <a:spcBef>
                <a:spcPts val="0"/>
              </a:spcBef>
              <a:spcAft>
                <a:spcPts val="0"/>
              </a:spcAft>
              <a:buClr>
                <a:srgbClr val="000000"/>
              </a:buClr>
              <a:buSzPts val="950"/>
              <a:buFont typeface="Noto Sans Symbols"/>
              <a:buChar char="✔"/>
            </a:pPr>
            <a:r>
              <a:rPr b="0" i="0" lang="en-US" sz="950" u="none" cap="none" strike="noStrike">
                <a:solidFill>
                  <a:srgbClr val="000000"/>
                </a:solidFill>
                <a:latin typeface="Arial"/>
                <a:ea typeface="Arial"/>
                <a:cs typeface="Arial"/>
                <a:sym typeface="Arial"/>
              </a:rPr>
              <a:t>Normalized weighted average</a:t>
            </a:r>
            <a:endParaRPr b="0" i="0" sz="1400" u="none" cap="none" strike="noStrike">
              <a:solidFill>
                <a:srgbClr val="000000"/>
              </a:solidFill>
              <a:latin typeface="Arial"/>
              <a:ea typeface="Arial"/>
              <a:cs typeface="Arial"/>
              <a:sym typeface="Arial"/>
            </a:endParaRPr>
          </a:p>
          <a:p>
            <a:pPr indent="0" lvl="0" marL="490218"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a:p>
            <a:pPr indent="0" lvl="0" marL="490218"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a:p>
            <a:pPr indent="0" lvl="0" marL="38100" marR="0" rtl="0" algn="l">
              <a:lnSpc>
                <a:spcPct val="100000"/>
              </a:lnSpc>
              <a:spcBef>
                <a:spcPts val="104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a:p>
            <a:pPr indent="0" lvl="0" marL="38100" marR="0" rtl="0" algn="l">
              <a:lnSpc>
                <a:spcPct val="100000"/>
              </a:lnSpc>
              <a:spcBef>
                <a:spcPts val="104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grpSp>
        <p:nvGrpSpPr>
          <p:cNvPr id="298" name="Google Shape;298;g3a6c7b9e349_0_74"/>
          <p:cNvGrpSpPr/>
          <p:nvPr/>
        </p:nvGrpSpPr>
        <p:grpSpPr>
          <a:xfrm>
            <a:off x="0" y="3109250"/>
            <a:ext cx="5760261" cy="92075"/>
            <a:chOff x="0" y="3109250"/>
            <a:chExt cx="5760261" cy="92075"/>
          </a:xfrm>
        </p:grpSpPr>
        <p:sp>
          <p:nvSpPr>
            <p:cNvPr id="299" name="Google Shape;299;g3a6c7b9e349_0_74"/>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3a6c7b9e349_0_74"/>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3a6c7b9e349_0_74"/>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2" name="Google Shape;302;g3a6c7b9e349_0_74"/>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303" name="Google Shape;303;g3a6c7b9e349_0_74"/>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grpSp>
        <p:nvGrpSpPr>
          <p:cNvPr id="304" name="Google Shape;304;g3a6c7b9e349_0_74"/>
          <p:cNvGrpSpPr/>
          <p:nvPr/>
        </p:nvGrpSpPr>
        <p:grpSpPr>
          <a:xfrm>
            <a:off x="201908" y="2191372"/>
            <a:ext cx="148210" cy="163940"/>
            <a:chOff x="134127" y="2262704"/>
            <a:chExt cx="266997" cy="178837"/>
          </a:xfrm>
        </p:grpSpPr>
        <p:pic>
          <p:nvPicPr>
            <p:cNvPr id="305" name="Google Shape;305;g3a6c7b9e349_0_74"/>
            <p:cNvPicPr preferRelativeResize="0"/>
            <p:nvPr/>
          </p:nvPicPr>
          <p:blipFill rotWithShape="1">
            <a:blip r:embed="rId6">
              <a:alphaModFix/>
            </a:blip>
            <a:srcRect b="0" l="0" r="0" t="0"/>
            <a:stretch/>
          </p:blipFill>
          <p:spPr>
            <a:xfrm>
              <a:off x="134127" y="2262704"/>
              <a:ext cx="266997" cy="178837"/>
            </a:xfrm>
            <a:prstGeom prst="rect">
              <a:avLst/>
            </a:prstGeom>
            <a:noFill/>
            <a:ln>
              <a:noFill/>
            </a:ln>
          </p:spPr>
        </p:pic>
        <p:sp>
          <p:nvSpPr>
            <p:cNvPr id="306" name="Google Shape;306;g3a6c7b9e349_0_74"/>
            <p:cNvSpPr txBox="1"/>
            <p:nvPr/>
          </p:nvSpPr>
          <p:spPr>
            <a:xfrm>
              <a:off x="209626" y="2275554"/>
              <a:ext cx="148200" cy="1140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4</a:t>
              </a:r>
              <a:endParaRPr b="0" i="0" sz="600" u="none" cap="none" strike="noStrike">
                <a:solidFill>
                  <a:srgbClr val="000000"/>
                </a:solidFill>
                <a:latin typeface="Calibri"/>
                <a:ea typeface="Calibri"/>
                <a:cs typeface="Calibri"/>
                <a:sym typeface="Calibri"/>
              </a:endParaRPr>
            </a:p>
          </p:txBody>
        </p:sp>
      </p:grpSp>
      <p:sp>
        <p:nvSpPr>
          <p:cNvPr id="307" name="Google Shape;307;g3a6c7b9e349_0_74"/>
          <p:cNvSpPr txBox="1"/>
          <p:nvPr/>
        </p:nvSpPr>
        <p:spPr>
          <a:xfrm>
            <a:off x="421246" y="2174040"/>
            <a:ext cx="1062300" cy="1776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Idea</a:t>
            </a:r>
            <a:endParaRPr b="0" i="0" sz="1050" u="none" cap="none" strike="noStrike">
              <a:solidFill>
                <a:srgbClr val="000000"/>
              </a:solidFill>
              <a:latin typeface="Arial"/>
              <a:ea typeface="Arial"/>
              <a:cs typeface="Arial"/>
              <a:sym typeface="Arial"/>
            </a:endParaRPr>
          </a:p>
        </p:txBody>
      </p:sp>
      <p:sp>
        <p:nvSpPr>
          <p:cNvPr id="308" name="Google Shape;308;g3a6c7b9e349_0_74"/>
          <p:cNvSpPr txBox="1"/>
          <p:nvPr/>
        </p:nvSpPr>
        <p:spPr>
          <a:xfrm>
            <a:off x="515765" y="2355312"/>
            <a:ext cx="4584300" cy="888900"/>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On Policy : </a:t>
            </a:r>
            <a:endParaRPr b="0" i="0" sz="950" u="none" cap="none" strike="noStrike">
              <a:solidFill>
                <a:srgbClr val="000000"/>
              </a:solidFill>
              <a:latin typeface="Arial"/>
              <a:ea typeface="Arial"/>
              <a:cs typeface="Arial"/>
              <a:sym typeface="Arial"/>
            </a:endParaRPr>
          </a:p>
          <a:p>
            <a:pPr indent="-60325" lvl="1" marL="265112"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Generate Sample/Experience 🡪 Evaluate using Return 🡪 Improve</a:t>
            </a:r>
            <a:endParaRPr b="0" i="0" sz="1400" u="none" cap="none" strike="noStrike">
              <a:solidFill>
                <a:srgbClr val="000000"/>
              </a:solidFill>
              <a:latin typeface="Arial"/>
              <a:ea typeface="Arial"/>
              <a:cs typeface="Arial"/>
              <a:sym typeface="Arial"/>
            </a:endParaRPr>
          </a:p>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Off Policy : </a:t>
            </a:r>
            <a:endParaRPr b="0" i="0" sz="950" u="none" cap="none" strike="noStrike">
              <a:solidFill>
                <a:srgbClr val="000000"/>
              </a:solidFill>
              <a:latin typeface="Arial"/>
              <a:ea typeface="Arial"/>
              <a:cs typeface="Arial"/>
              <a:sym typeface="Arial"/>
            </a:endParaRPr>
          </a:p>
          <a:p>
            <a:pPr indent="-107949" lvl="0" marL="287337"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Refer to Sample/Experience generated by another reference(behavior) policy  🡪 Evaluate using Return 🡪 Improve</a:t>
            </a:r>
            <a:endParaRPr b="0" i="0" sz="950" u="none" cap="none" strike="noStrike">
              <a:solidFill>
                <a:srgbClr val="000000"/>
              </a:solidFill>
              <a:latin typeface="Arial"/>
              <a:ea typeface="Arial"/>
              <a:cs typeface="Arial"/>
              <a:sym typeface="Arial"/>
            </a:endParaRPr>
          </a:p>
          <a:p>
            <a:pPr indent="0" lvl="0" marL="38100"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p:txBody>
      </p:sp>
      <p:sp>
        <p:nvSpPr>
          <p:cNvPr id="309" name="Google Shape;309;g3a6c7b9e349_0_74"/>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b54a426ae3_0_1346"/>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315" name="Google Shape;315;g3b54a426ae3_0_1346"/>
          <p:cNvPicPr preferRelativeResize="0"/>
          <p:nvPr/>
        </p:nvPicPr>
        <p:blipFill rotWithShape="1">
          <a:blip r:embed="rId3">
            <a:alphaModFix/>
          </a:blip>
          <a:srcRect b="0" l="0" r="0" t="0"/>
          <a:stretch/>
        </p:blipFill>
        <p:spPr>
          <a:xfrm>
            <a:off x="343662" y="637743"/>
            <a:ext cx="169964" cy="169964"/>
          </a:xfrm>
          <a:prstGeom prst="rect">
            <a:avLst/>
          </a:prstGeom>
          <a:noFill/>
          <a:ln>
            <a:noFill/>
          </a:ln>
        </p:spPr>
      </p:pic>
      <p:sp>
        <p:nvSpPr>
          <p:cNvPr id="316" name="Google Shape;316;g3b54a426ae3_0_1346"/>
          <p:cNvSpPr txBox="1"/>
          <p:nvPr/>
        </p:nvSpPr>
        <p:spPr>
          <a:xfrm>
            <a:off x="387959" y="641412"/>
            <a:ext cx="813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pic>
        <p:nvPicPr>
          <p:cNvPr id="317" name="Google Shape;317;g3b54a426ae3_0_1346"/>
          <p:cNvPicPr preferRelativeResize="0"/>
          <p:nvPr/>
        </p:nvPicPr>
        <p:blipFill rotWithShape="1">
          <a:blip r:embed="rId4">
            <a:alphaModFix/>
          </a:blip>
          <a:srcRect b="0" l="0" r="0" t="0"/>
          <a:stretch/>
        </p:blipFill>
        <p:spPr>
          <a:xfrm>
            <a:off x="343662" y="929678"/>
            <a:ext cx="169964" cy="169964"/>
          </a:xfrm>
          <a:prstGeom prst="rect">
            <a:avLst/>
          </a:prstGeom>
          <a:noFill/>
          <a:ln>
            <a:noFill/>
          </a:ln>
        </p:spPr>
      </p:pic>
      <p:sp>
        <p:nvSpPr>
          <p:cNvPr id="318" name="Google Shape;318;g3b54a426ae3_0_1346"/>
          <p:cNvSpPr txBox="1"/>
          <p:nvPr/>
        </p:nvSpPr>
        <p:spPr>
          <a:xfrm>
            <a:off x="387959" y="933347"/>
            <a:ext cx="813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pic>
        <p:nvPicPr>
          <p:cNvPr id="319" name="Google Shape;319;g3b54a426ae3_0_1346"/>
          <p:cNvPicPr preferRelativeResize="0"/>
          <p:nvPr/>
        </p:nvPicPr>
        <p:blipFill rotWithShape="1">
          <a:blip r:embed="rId5">
            <a:alphaModFix/>
          </a:blip>
          <a:srcRect b="0" l="0" r="0" t="0"/>
          <a:stretch/>
        </p:blipFill>
        <p:spPr>
          <a:xfrm>
            <a:off x="343662" y="1520050"/>
            <a:ext cx="169964" cy="169964"/>
          </a:xfrm>
          <a:prstGeom prst="rect">
            <a:avLst/>
          </a:prstGeom>
          <a:noFill/>
          <a:ln>
            <a:noFill/>
          </a:ln>
        </p:spPr>
      </p:pic>
      <p:sp>
        <p:nvSpPr>
          <p:cNvPr id="320" name="Google Shape;320;g3b54a426ae3_0_1346"/>
          <p:cNvSpPr txBox="1"/>
          <p:nvPr/>
        </p:nvSpPr>
        <p:spPr>
          <a:xfrm>
            <a:off x="397458" y="1520050"/>
            <a:ext cx="813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EAEAF7"/>
                </a:solidFill>
                <a:latin typeface="Calibri"/>
                <a:ea typeface="Calibri"/>
                <a:cs typeface="Calibri"/>
                <a:sym typeface="Calibri"/>
              </a:rPr>
              <a:t>4</a:t>
            </a:r>
            <a:endParaRPr b="0" i="0" sz="800" u="none" cap="none" strike="noStrike">
              <a:solidFill>
                <a:srgbClr val="000000"/>
              </a:solidFill>
              <a:latin typeface="Calibri"/>
              <a:ea typeface="Calibri"/>
              <a:cs typeface="Calibri"/>
              <a:sym typeface="Calibri"/>
            </a:endParaRPr>
          </a:p>
        </p:txBody>
      </p:sp>
      <p:pic>
        <p:nvPicPr>
          <p:cNvPr id="321" name="Google Shape;321;g3b54a426ae3_0_1346"/>
          <p:cNvPicPr preferRelativeResize="0"/>
          <p:nvPr/>
        </p:nvPicPr>
        <p:blipFill rotWithShape="1">
          <a:blip r:embed="rId6">
            <a:alphaModFix/>
          </a:blip>
          <a:srcRect b="0" l="0" r="0" t="0"/>
          <a:stretch/>
        </p:blipFill>
        <p:spPr>
          <a:xfrm>
            <a:off x="343662" y="1215085"/>
            <a:ext cx="169964" cy="169964"/>
          </a:xfrm>
          <a:prstGeom prst="rect">
            <a:avLst/>
          </a:prstGeom>
          <a:noFill/>
          <a:ln>
            <a:noFill/>
          </a:ln>
        </p:spPr>
      </p:pic>
      <p:sp>
        <p:nvSpPr>
          <p:cNvPr id="322" name="Google Shape;322;g3b54a426ae3_0_1346"/>
          <p:cNvSpPr txBox="1"/>
          <p:nvPr/>
        </p:nvSpPr>
        <p:spPr>
          <a:xfrm>
            <a:off x="387959" y="1218754"/>
            <a:ext cx="813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Calibri"/>
                <a:ea typeface="Calibri"/>
                <a:cs typeface="Calibri"/>
                <a:sym typeface="Calibri"/>
              </a:rPr>
              <a:t>3</a:t>
            </a:r>
            <a:endParaRPr b="0" i="0" sz="800" u="none" cap="none" strike="noStrike">
              <a:solidFill>
                <a:schemeClr val="lt1"/>
              </a:solidFill>
              <a:latin typeface="Calibri"/>
              <a:ea typeface="Calibri"/>
              <a:cs typeface="Calibri"/>
              <a:sym typeface="Calibri"/>
            </a:endParaRPr>
          </a:p>
        </p:txBody>
      </p:sp>
      <p:sp>
        <p:nvSpPr>
          <p:cNvPr id="323" name="Google Shape;323;g3b54a426ae3_0_1346"/>
          <p:cNvSpPr txBox="1"/>
          <p:nvPr/>
        </p:nvSpPr>
        <p:spPr>
          <a:xfrm>
            <a:off x="563029" y="556604"/>
            <a:ext cx="3241800" cy="1111800"/>
          </a:xfrm>
          <a:prstGeom prst="rect">
            <a:avLst/>
          </a:prstGeom>
          <a:noFill/>
          <a:ln>
            <a:noFill/>
          </a:ln>
        </p:spPr>
        <p:txBody>
          <a:bodyPr anchorCtr="0" anchor="t" bIns="0" lIns="0" spcFirstLastPara="1" rIns="0" wrap="square" tIns="90150">
            <a:sp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MDP</a:t>
            </a:r>
            <a:endParaRPr b="0" i="0" sz="1400" u="none" cap="none" strike="noStrike">
              <a:solidFill>
                <a:srgbClr val="000000"/>
              </a:solidFill>
              <a:latin typeface="Calibri"/>
              <a:ea typeface="Calibri"/>
              <a:cs typeface="Calibri"/>
              <a:sym typeface="Calibri"/>
            </a:endParaRPr>
          </a:p>
          <a:p>
            <a:pPr indent="0" lvl="0" marL="12700" marR="0" rtl="0" algn="l">
              <a:lnSpc>
                <a:spcPct val="100000"/>
              </a:lnSpc>
              <a:spcBef>
                <a:spcPts val="62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DP</a:t>
            </a:r>
            <a:endParaRPr b="0" i="0" sz="1400" u="none" cap="none" strike="noStrike">
              <a:solidFill>
                <a:srgbClr val="000000"/>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MC</a:t>
            </a:r>
            <a:endParaRPr b="0" i="0" sz="1400" u="none" cap="none" strike="noStrike">
              <a:solidFill>
                <a:srgbClr val="3333B2"/>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small" strike="noStrike">
                <a:solidFill>
                  <a:schemeClr val="hlink"/>
                </a:solidFill>
                <a:latin typeface="Calibri"/>
                <a:ea typeface="Calibri"/>
                <a:cs typeface="Calibri"/>
                <a:sym typeface="Calibri"/>
              </a:rPr>
              <a:t>TD</a:t>
            </a:r>
            <a:endParaRPr b="0" i="0" sz="1400" u="none" cap="none" strike="noStrike">
              <a:solidFill>
                <a:srgbClr val="000000"/>
              </a:solidFill>
              <a:latin typeface="Calibri"/>
              <a:ea typeface="Calibri"/>
              <a:cs typeface="Calibri"/>
              <a:sym typeface="Calibri"/>
            </a:endParaRPr>
          </a:p>
        </p:txBody>
      </p:sp>
      <p:grpSp>
        <p:nvGrpSpPr>
          <p:cNvPr id="324" name="Google Shape;324;g3b54a426ae3_0_1346"/>
          <p:cNvGrpSpPr/>
          <p:nvPr/>
        </p:nvGrpSpPr>
        <p:grpSpPr>
          <a:xfrm>
            <a:off x="0" y="3109250"/>
            <a:ext cx="5760261" cy="92075"/>
            <a:chOff x="0" y="3109250"/>
            <a:chExt cx="5760261" cy="92075"/>
          </a:xfrm>
        </p:grpSpPr>
        <p:sp>
          <p:nvSpPr>
            <p:cNvPr id="325" name="Google Shape;325;g3b54a426ae3_0_1346"/>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3b54a426ae3_0_1346"/>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3b54a426ae3_0_1346"/>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g3b54a426ae3_0_1346"/>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329" name="Google Shape;329;g3b54a426ae3_0_1346"/>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sp>
        <p:nvSpPr>
          <p:cNvPr id="330" name="Google Shape;330;g3b54a426ae3_0_1346"/>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331" name="Google Shape;331;g3b54a426ae3_0_1346"/>
          <p:cNvPicPr preferRelativeResize="0"/>
          <p:nvPr/>
        </p:nvPicPr>
        <p:blipFill>
          <a:blip r:embed="rId7">
            <a:alphaModFix/>
          </a:blip>
          <a:stretch>
            <a:fillRect/>
          </a:stretch>
        </p:blipFill>
        <p:spPr>
          <a:xfrm>
            <a:off x="1706430" y="449987"/>
            <a:ext cx="3073347" cy="2607100"/>
          </a:xfrm>
          <a:prstGeom prst="rect">
            <a:avLst/>
          </a:prstGeom>
          <a:noFill/>
          <a:ln>
            <a:noFill/>
          </a:ln>
        </p:spPr>
      </p:pic>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3ce36a5dc72_0_7"/>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337" name="Google Shape;337;g3ce36a5dc72_0_7"/>
          <p:cNvPicPr preferRelativeResize="0"/>
          <p:nvPr/>
        </p:nvPicPr>
        <p:blipFill rotWithShape="1">
          <a:blip r:embed="rId3">
            <a:alphaModFix/>
          </a:blip>
          <a:srcRect b="0" l="0" r="0" t="0"/>
          <a:stretch/>
        </p:blipFill>
        <p:spPr>
          <a:xfrm>
            <a:off x="343662" y="637743"/>
            <a:ext cx="169964" cy="169964"/>
          </a:xfrm>
          <a:prstGeom prst="rect">
            <a:avLst/>
          </a:prstGeom>
          <a:noFill/>
          <a:ln>
            <a:noFill/>
          </a:ln>
        </p:spPr>
      </p:pic>
      <p:sp>
        <p:nvSpPr>
          <p:cNvPr id="338" name="Google Shape;338;g3ce36a5dc72_0_7"/>
          <p:cNvSpPr txBox="1"/>
          <p:nvPr/>
        </p:nvSpPr>
        <p:spPr>
          <a:xfrm>
            <a:off x="387959" y="641412"/>
            <a:ext cx="813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pic>
        <p:nvPicPr>
          <p:cNvPr id="339" name="Google Shape;339;g3ce36a5dc72_0_7"/>
          <p:cNvPicPr preferRelativeResize="0"/>
          <p:nvPr/>
        </p:nvPicPr>
        <p:blipFill rotWithShape="1">
          <a:blip r:embed="rId4">
            <a:alphaModFix/>
          </a:blip>
          <a:srcRect b="0" l="0" r="0" t="0"/>
          <a:stretch/>
        </p:blipFill>
        <p:spPr>
          <a:xfrm>
            <a:off x="343662" y="929678"/>
            <a:ext cx="169964" cy="169964"/>
          </a:xfrm>
          <a:prstGeom prst="rect">
            <a:avLst/>
          </a:prstGeom>
          <a:noFill/>
          <a:ln>
            <a:noFill/>
          </a:ln>
        </p:spPr>
      </p:pic>
      <p:sp>
        <p:nvSpPr>
          <p:cNvPr id="340" name="Google Shape;340;g3ce36a5dc72_0_7"/>
          <p:cNvSpPr txBox="1"/>
          <p:nvPr/>
        </p:nvSpPr>
        <p:spPr>
          <a:xfrm>
            <a:off x="387959" y="933347"/>
            <a:ext cx="813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FAFAFD"/>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pic>
        <p:nvPicPr>
          <p:cNvPr id="341" name="Google Shape;341;g3ce36a5dc72_0_7"/>
          <p:cNvPicPr preferRelativeResize="0"/>
          <p:nvPr/>
        </p:nvPicPr>
        <p:blipFill rotWithShape="1">
          <a:blip r:embed="rId5">
            <a:alphaModFix/>
          </a:blip>
          <a:srcRect b="0" l="0" r="0" t="0"/>
          <a:stretch/>
        </p:blipFill>
        <p:spPr>
          <a:xfrm>
            <a:off x="343662" y="1520050"/>
            <a:ext cx="169964" cy="169964"/>
          </a:xfrm>
          <a:prstGeom prst="rect">
            <a:avLst/>
          </a:prstGeom>
          <a:noFill/>
          <a:ln>
            <a:noFill/>
          </a:ln>
        </p:spPr>
      </p:pic>
      <p:sp>
        <p:nvSpPr>
          <p:cNvPr id="342" name="Google Shape;342;g3ce36a5dc72_0_7"/>
          <p:cNvSpPr txBox="1"/>
          <p:nvPr/>
        </p:nvSpPr>
        <p:spPr>
          <a:xfrm>
            <a:off x="397458" y="1520050"/>
            <a:ext cx="813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rgbClr val="EAEAF7"/>
                </a:solidFill>
                <a:latin typeface="Calibri"/>
                <a:ea typeface="Calibri"/>
                <a:cs typeface="Calibri"/>
                <a:sym typeface="Calibri"/>
              </a:rPr>
              <a:t>4</a:t>
            </a:r>
            <a:endParaRPr b="0" i="0" sz="800" u="none" cap="none" strike="noStrike">
              <a:solidFill>
                <a:srgbClr val="000000"/>
              </a:solidFill>
              <a:latin typeface="Calibri"/>
              <a:ea typeface="Calibri"/>
              <a:cs typeface="Calibri"/>
              <a:sym typeface="Calibri"/>
            </a:endParaRPr>
          </a:p>
        </p:txBody>
      </p:sp>
      <p:pic>
        <p:nvPicPr>
          <p:cNvPr id="343" name="Google Shape;343;g3ce36a5dc72_0_7"/>
          <p:cNvPicPr preferRelativeResize="0"/>
          <p:nvPr/>
        </p:nvPicPr>
        <p:blipFill rotWithShape="1">
          <a:blip r:embed="rId6">
            <a:alphaModFix/>
          </a:blip>
          <a:srcRect b="0" l="0" r="0" t="0"/>
          <a:stretch/>
        </p:blipFill>
        <p:spPr>
          <a:xfrm>
            <a:off x="343662" y="1215085"/>
            <a:ext cx="169964" cy="169964"/>
          </a:xfrm>
          <a:prstGeom prst="rect">
            <a:avLst/>
          </a:prstGeom>
          <a:noFill/>
          <a:ln>
            <a:noFill/>
          </a:ln>
        </p:spPr>
      </p:pic>
      <p:sp>
        <p:nvSpPr>
          <p:cNvPr id="344" name="Google Shape;344;g3ce36a5dc72_0_7"/>
          <p:cNvSpPr txBox="1"/>
          <p:nvPr/>
        </p:nvSpPr>
        <p:spPr>
          <a:xfrm>
            <a:off x="387959" y="1218754"/>
            <a:ext cx="813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Calibri"/>
                <a:ea typeface="Calibri"/>
                <a:cs typeface="Calibri"/>
                <a:sym typeface="Calibri"/>
              </a:rPr>
              <a:t>3</a:t>
            </a:r>
            <a:endParaRPr b="0" i="0" sz="800" u="none" cap="none" strike="noStrike">
              <a:solidFill>
                <a:schemeClr val="lt1"/>
              </a:solidFill>
              <a:latin typeface="Calibri"/>
              <a:ea typeface="Calibri"/>
              <a:cs typeface="Calibri"/>
              <a:sym typeface="Calibri"/>
            </a:endParaRPr>
          </a:p>
        </p:txBody>
      </p:sp>
      <p:sp>
        <p:nvSpPr>
          <p:cNvPr id="345" name="Google Shape;345;g3ce36a5dc72_0_7"/>
          <p:cNvSpPr txBox="1"/>
          <p:nvPr/>
        </p:nvSpPr>
        <p:spPr>
          <a:xfrm>
            <a:off x="563029" y="556604"/>
            <a:ext cx="3241800" cy="1111800"/>
          </a:xfrm>
          <a:prstGeom prst="rect">
            <a:avLst/>
          </a:prstGeom>
          <a:noFill/>
          <a:ln>
            <a:noFill/>
          </a:ln>
        </p:spPr>
        <p:txBody>
          <a:bodyPr anchorCtr="0" anchor="t" bIns="0" lIns="0" spcFirstLastPara="1" rIns="0" wrap="square" tIns="90150">
            <a:sp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MDP</a:t>
            </a:r>
            <a:endParaRPr b="0" i="0" sz="1400" u="none" cap="none" strike="noStrike">
              <a:solidFill>
                <a:srgbClr val="000000"/>
              </a:solidFill>
              <a:latin typeface="Calibri"/>
              <a:ea typeface="Calibri"/>
              <a:cs typeface="Calibri"/>
              <a:sym typeface="Calibri"/>
            </a:endParaRPr>
          </a:p>
          <a:p>
            <a:pPr indent="0" lvl="0" marL="12700" marR="0" rtl="0" algn="l">
              <a:lnSpc>
                <a:spcPct val="100000"/>
              </a:lnSpc>
              <a:spcBef>
                <a:spcPts val="62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DP</a:t>
            </a:r>
            <a:endParaRPr b="0" i="0" sz="1400" u="none" cap="none" strike="noStrike">
              <a:solidFill>
                <a:srgbClr val="000000"/>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none" strike="noStrike">
                <a:solidFill>
                  <a:schemeClr val="hlink"/>
                </a:solidFill>
                <a:latin typeface="Calibri"/>
                <a:ea typeface="Calibri"/>
                <a:cs typeface="Calibri"/>
                <a:sym typeface="Calibri"/>
              </a:rPr>
              <a:t>MC</a:t>
            </a:r>
            <a:endParaRPr b="0" i="0" sz="1400" u="none" cap="none" strike="noStrike">
              <a:solidFill>
                <a:srgbClr val="3333B2"/>
              </a:solidFill>
              <a:latin typeface="Calibri"/>
              <a:ea typeface="Calibri"/>
              <a:cs typeface="Calibri"/>
              <a:sym typeface="Calibri"/>
            </a:endParaRPr>
          </a:p>
          <a:p>
            <a:pPr indent="0" lvl="0" marL="12700" marR="5080" rtl="0" algn="l">
              <a:lnSpc>
                <a:spcPct val="136800"/>
              </a:lnSpc>
              <a:spcBef>
                <a:spcPts val="0"/>
              </a:spcBef>
              <a:spcAft>
                <a:spcPts val="0"/>
              </a:spcAft>
              <a:buClr>
                <a:srgbClr val="000000"/>
              </a:buClr>
              <a:buSzPts val="1400"/>
              <a:buFont typeface="Arial"/>
              <a:buNone/>
            </a:pPr>
            <a:r>
              <a:rPr b="0" i="0" lang="en-US" sz="1400" u="sng" cap="small" strike="noStrike">
                <a:solidFill>
                  <a:schemeClr val="hlink"/>
                </a:solidFill>
                <a:latin typeface="Calibri"/>
                <a:ea typeface="Calibri"/>
                <a:cs typeface="Calibri"/>
                <a:sym typeface="Calibri"/>
              </a:rPr>
              <a:t>TD</a:t>
            </a:r>
            <a:endParaRPr b="0" i="0" sz="1400" u="none" cap="none" strike="noStrike">
              <a:solidFill>
                <a:srgbClr val="000000"/>
              </a:solidFill>
              <a:latin typeface="Calibri"/>
              <a:ea typeface="Calibri"/>
              <a:cs typeface="Calibri"/>
              <a:sym typeface="Calibri"/>
            </a:endParaRPr>
          </a:p>
        </p:txBody>
      </p:sp>
      <p:grpSp>
        <p:nvGrpSpPr>
          <p:cNvPr id="346" name="Google Shape;346;g3ce36a5dc72_0_7"/>
          <p:cNvGrpSpPr/>
          <p:nvPr/>
        </p:nvGrpSpPr>
        <p:grpSpPr>
          <a:xfrm>
            <a:off x="0" y="3109250"/>
            <a:ext cx="5760261" cy="92075"/>
            <a:chOff x="0" y="3109250"/>
            <a:chExt cx="5760261" cy="92075"/>
          </a:xfrm>
        </p:grpSpPr>
        <p:sp>
          <p:nvSpPr>
            <p:cNvPr id="347" name="Google Shape;347;g3ce36a5dc72_0_7"/>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3ce36a5dc72_0_7"/>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g3ce36a5dc72_0_7"/>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0" name="Google Shape;350;g3ce36a5dc72_0_7"/>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351" name="Google Shape;351;g3ce36a5dc72_0_7"/>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sp>
        <p:nvSpPr>
          <p:cNvPr id="352" name="Google Shape;352;g3ce36a5dc72_0_7"/>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353" name="Google Shape;353;g3ce36a5dc72_0_7"/>
          <p:cNvPicPr preferRelativeResize="0"/>
          <p:nvPr/>
        </p:nvPicPr>
        <p:blipFill>
          <a:blip r:embed="rId7">
            <a:alphaModFix/>
          </a:blip>
          <a:stretch>
            <a:fillRect/>
          </a:stretch>
        </p:blipFill>
        <p:spPr>
          <a:xfrm>
            <a:off x="3957229" y="538845"/>
            <a:ext cx="1656171" cy="2111302"/>
          </a:xfrm>
          <a:prstGeom prst="rect">
            <a:avLst/>
          </a:prstGeom>
          <a:noFill/>
          <a:ln>
            <a:noFill/>
          </a:ln>
        </p:spPr>
      </p:pic>
      <p:pic>
        <p:nvPicPr>
          <p:cNvPr id="354" name="Google Shape;354;g3ce36a5dc72_0_7"/>
          <p:cNvPicPr preferRelativeResize="0"/>
          <p:nvPr/>
        </p:nvPicPr>
        <p:blipFill>
          <a:blip r:embed="rId8">
            <a:alphaModFix/>
          </a:blip>
          <a:stretch>
            <a:fillRect/>
          </a:stretch>
        </p:blipFill>
        <p:spPr>
          <a:xfrm>
            <a:off x="3691875" y="2548950"/>
            <a:ext cx="1957575" cy="507525"/>
          </a:xfrm>
          <a:prstGeom prst="rect">
            <a:avLst/>
          </a:prstGeom>
          <a:noFill/>
          <a:ln>
            <a:noFill/>
          </a:ln>
        </p:spPr>
      </p:pic>
      <p:pic>
        <p:nvPicPr>
          <p:cNvPr id="355" name="Google Shape;355;g3ce36a5dc72_0_7"/>
          <p:cNvPicPr preferRelativeResize="0"/>
          <p:nvPr/>
        </p:nvPicPr>
        <p:blipFill>
          <a:blip r:embed="rId9">
            <a:alphaModFix/>
          </a:blip>
          <a:stretch>
            <a:fillRect/>
          </a:stretch>
        </p:blipFill>
        <p:spPr>
          <a:xfrm>
            <a:off x="1040226" y="594250"/>
            <a:ext cx="2573400" cy="1674588"/>
          </a:xfrm>
          <a:prstGeom prst="rect">
            <a:avLst/>
          </a:prstGeom>
          <a:noFill/>
          <a:ln>
            <a:noFill/>
          </a:ln>
        </p:spPr>
      </p:pic>
      <p:pic>
        <p:nvPicPr>
          <p:cNvPr id="356" name="Google Shape;356;g3ce36a5dc72_0_7"/>
          <p:cNvPicPr preferRelativeResize="0"/>
          <p:nvPr/>
        </p:nvPicPr>
        <p:blipFill>
          <a:blip r:embed="rId10">
            <a:alphaModFix/>
          </a:blip>
          <a:stretch>
            <a:fillRect/>
          </a:stretch>
        </p:blipFill>
        <p:spPr>
          <a:xfrm>
            <a:off x="1095225" y="2268850"/>
            <a:ext cx="1656175" cy="834725"/>
          </a:xfrm>
          <a:prstGeom prst="rect">
            <a:avLst/>
          </a:prstGeom>
          <a:noFill/>
          <a:ln>
            <a:noFill/>
          </a:ln>
        </p:spPr>
      </p:pic>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b54a426ae3_0_1366"/>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Problem Definition</a:t>
            </a:r>
            <a:endParaRPr/>
          </a:p>
        </p:txBody>
      </p:sp>
      <p:sp>
        <p:nvSpPr>
          <p:cNvPr id="362" name="Google Shape;362;g3b54a426ae3_0_1366"/>
          <p:cNvSpPr/>
          <p:nvPr/>
        </p:nvSpPr>
        <p:spPr>
          <a:xfrm>
            <a:off x="81411" y="475127"/>
            <a:ext cx="5425053" cy="237543"/>
          </a:xfrm>
          <a:custGeom>
            <a:rect b="b" l="l" r="r" t="t"/>
            <a:pathLst>
              <a:path extrusionOk="0" h="207009" w="514223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3" name="Google Shape;363;g3b54a426ae3_0_1366"/>
          <p:cNvPicPr preferRelativeResize="0"/>
          <p:nvPr/>
        </p:nvPicPr>
        <p:blipFill rotWithShape="1">
          <a:blip r:embed="rId3">
            <a:alphaModFix/>
          </a:blip>
          <a:srcRect b="0" l="0" r="0" t="0"/>
          <a:stretch/>
        </p:blipFill>
        <p:spPr>
          <a:xfrm>
            <a:off x="82600" y="938301"/>
            <a:ext cx="5426387" cy="128069"/>
          </a:xfrm>
          <a:prstGeom prst="rect">
            <a:avLst/>
          </a:prstGeom>
          <a:noFill/>
          <a:ln>
            <a:noFill/>
          </a:ln>
        </p:spPr>
      </p:pic>
      <p:sp>
        <p:nvSpPr>
          <p:cNvPr id="364" name="Google Shape;364;g3b54a426ae3_0_1366"/>
          <p:cNvSpPr/>
          <p:nvPr/>
        </p:nvSpPr>
        <p:spPr>
          <a:xfrm>
            <a:off x="80817" y="712460"/>
            <a:ext cx="5425053" cy="923925"/>
          </a:xfrm>
          <a:custGeom>
            <a:rect b="b" l="l" r="r" t="t"/>
            <a:pathLst>
              <a:path extrusionOk="0" h="381000" w="514223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g3b54a426ae3_0_1366"/>
          <p:cNvSpPr/>
          <p:nvPr/>
        </p:nvSpPr>
        <p:spPr>
          <a:xfrm>
            <a:off x="5508987" y="714200"/>
            <a:ext cx="0" cy="29432"/>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g3b54a426ae3_0_1366"/>
          <p:cNvSpPr/>
          <p:nvPr/>
        </p:nvSpPr>
        <p:spPr>
          <a:xfrm>
            <a:off x="5508987" y="684776"/>
            <a:ext cx="0" cy="29432"/>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g3b54a426ae3_0_1366"/>
          <p:cNvSpPr/>
          <p:nvPr/>
        </p:nvSpPr>
        <p:spPr>
          <a:xfrm>
            <a:off x="5508987" y="655353"/>
            <a:ext cx="0" cy="29432"/>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3b54a426ae3_0_1366"/>
          <p:cNvSpPr/>
          <p:nvPr/>
        </p:nvSpPr>
        <p:spPr>
          <a:xfrm>
            <a:off x="5508987" y="611218"/>
            <a:ext cx="0" cy="44148"/>
          </a:xfrm>
          <a:custGeom>
            <a:rect b="b" l="l" r="r" t="t"/>
            <a:pathLst>
              <a:path extrusionOk="0" h="19050" w="120000">
                <a:moveTo>
                  <a:pt x="0" y="19050"/>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9" name="Google Shape;369;g3b54a426ae3_0_1366"/>
          <p:cNvPicPr preferRelativeResize="0"/>
          <p:nvPr/>
        </p:nvPicPr>
        <p:blipFill rotWithShape="1">
          <a:blip r:embed="rId4">
            <a:alphaModFix/>
          </a:blip>
          <a:srcRect b="0" l="0" r="0" t="0"/>
          <a:stretch/>
        </p:blipFill>
        <p:spPr>
          <a:xfrm>
            <a:off x="283194" y="1843601"/>
            <a:ext cx="97806" cy="82067"/>
          </a:xfrm>
          <a:prstGeom prst="rect">
            <a:avLst/>
          </a:prstGeom>
          <a:noFill/>
          <a:ln>
            <a:noFill/>
          </a:ln>
        </p:spPr>
      </p:pic>
      <p:pic>
        <p:nvPicPr>
          <p:cNvPr id="370" name="Google Shape;370;g3b54a426ae3_0_1366"/>
          <p:cNvPicPr preferRelativeResize="0"/>
          <p:nvPr/>
        </p:nvPicPr>
        <p:blipFill rotWithShape="1">
          <a:blip r:embed="rId5">
            <a:alphaModFix/>
          </a:blip>
          <a:srcRect b="0" l="0" r="0" t="0"/>
          <a:stretch/>
        </p:blipFill>
        <p:spPr>
          <a:xfrm>
            <a:off x="283194" y="2209822"/>
            <a:ext cx="97806" cy="82067"/>
          </a:xfrm>
          <a:prstGeom prst="rect">
            <a:avLst/>
          </a:prstGeom>
          <a:noFill/>
          <a:ln>
            <a:noFill/>
          </a:ln>
        </p:spPr>
      </p:pic>
      <p:sp>
        <p:nvSpPr>
          <p:cNvPr id="371" name="Google Shape;371;g3b54a426ae3_0_1366"/>
          <p:cNvSpPr txBox="1"/>
          <p:nvPr/>
        </p:nvSpPr>
        <p:spPr>
          <a:xfrm>
            <a:off x="79629" y="475127"/>
            <a:ext cx="5375100" cy="2394300"/>
          </a:xfrm>
          <a:prstGeom prst="rect">
            <a:avLst/>
          </a:prstGeom>
          <a:noFill/>
          <a:ln>
            <a:noFill/>
          </a:ln>
        </p:spPr>
        <p:txBody>
          <a:bodyPr anchorCtr="0" anchor="t" bIns="0" lIns="0" spcFirstLastPara="1" rIns="0" wrap="square" tIns="52700">
            <a:spAutoFit/>
          </a:bodyPr>
          <a:lstStyle/>
          <a:p>
            <a:pPr indent="0" lvl="0" marL="50800" marR="0" rtl="0" algn="just">
              <a:lnSpc>
                <a:spcPct val="100000"/>
              </a:lnSpc>
              <a:spcBef>
                <a:spcPts val="0"/>
              </a:spcBef>
              <a:spcAft>
                <a:spcPts val="0"/>
              </a:spcAft>
              <a:buClr>
                <a:srgbClr val="000000"/>
              </a:buClr>
              <a:buSzPts val="1200"/>
              <a:buFont typeface="Arial"/>
              <a:buNone/>
            </a:pPr>
            <a:r>
              <a:rPr b="0" i="0" lang="en-US" sz="1200" u="none" cap="none" strike="noStrike">
                <a:solidFill>
                  <a:srgbClr val="3333B2"/>
                </a:solidFill>
                <a:latin typeface="Calibri"/>
                <a:ea typeface="Calibri"/>
                <a:cs typeface="Calibri"/>
                <a:sym typeface="Calibri"/>
              </a:rPr>
              <a:t>(Modified) Race Car Example</a:t>
            </a:r>
            <a:endParaRPr b="0" i="0" sz="1200" u="none" cap="none" strike="noStrike">
              <a:solidFill>
                <a:srgbClr val="000000"/>
              </a:solidFill>
              <a:latin typeface="Calibri"/>
              <a:ea typeface="Calibri"/>
              <a:cs typeface="Calibri"/>
              <a:sym typeface="Calibri"/>
            </a:endParaRPr>
          </a:p>
          <a:p>
            <a:pPr indent="0" lvl="0" marL="12700" marR="0" rtl="0" algn="l">
              <a:lnSpc>
                <a:spcPct val="100000"/>
              </a:lnSpc>
              <a:spcBef>
                <a:spcPts val="254"/>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In a modified Race car, there is a training track where agent is given a known (sometimes incomplete) map and risk factors(dynamics) may not be known in advance. Agent knows exactly where it is but its actions impact on the engine state change is difficult to predict (UNKNOWN MODEL).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254"/>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With partial knowledge, the agent can compute optimal policies by trying through random experiments (Sampling). Car sometimes may shuts down when its engine get overheated (optional terminal state) otherwise Race is allowed to proceed indefinitely (NO predefined no.of.laps to complete)</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254"/>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 </a:t>
            </a:r>
            <a:r>
              <a:rPr b="0" i="0" lang="en-US" sz="900" u="none" cap="none" strike="noStrike">
                <a:solidFill>
                  <a:srgbClr val="1B1472"/>
                </a:solidFill>
                <a:latin typeface="Arial"/>
                <a:ea typeface="Arial"/>
                <a:cs typeface="Arial"/>
                <a:sym typeface="Arial"/>
              </a:rPr>
              <a:t>Key Characteristics:</a:t>
            </a:r>
            <a:endParaRPr b="0" i="0" sz="9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The agent must act under </a:t>
            </a:r>
            <a:r>
              <a:rPr b="1" i="0" lang="en-US" sz="900" u="none" cap="none" strike="noStrike">
                <a:solidFill>
                  <a:srgbClr val="000000"/>
                </a:solidFill>
                <a:latin typeface="Arial"/>
                <a:ea typeface="Arial"/>
                <a:cs typeface="Arial"/>
                <a:sym typeface="Arial"/>
              </a:rPr>
              <a:t>uncertainty</a:t>
            </a:r>
            <a:r>
              <a:rPr b="0" i="0" lang="en-US" sz="900" u="none" cap="none" strike="noStrike">
                <a:solidFill>
                  <a:srgbClr val="000000"/>
                </a:solidFill>
                <a:latin typeface="Arial"/>
                <a:ea typeface="Arial"/>
                <a:cs typeface="Arial"/>
                <a:sym typeface="Arial"/>
              </a:rPr>
              <a:t> — </a:t>
            </a:r>
            <a:endParaRPr b="0" i="0" sz="9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percepts are local, and the agent must reason about hidden dangers</a:t>
            </a:r>
            <a:endParaRPr b="0" i="0" sz="14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Tahoma"/>
                <a:ea typeface="Tahoma"/>
                <a:cs typeface="Tahoma"/>
                <a:sym typeface="Tahoma"/>
              </a:rPr>
              <a:t>Assume there are neither fuel constraints nor No.of.Laps to complete!</a:t>
            </a:r>
            <a:endParaRPr b="0" i="0" sz="1050" u="none" cap="none" strike="noStrike">
              <a:solidFill>
                <a:srgbClr val="000000"/>
              </a:solidFill>
              <a:latin typeface="Tahoma"/>
              <a:ea typeface="Tahoma"/>
              <a:cs typeface="Tahoma"/>
              <a:sym typeface="Tahoma"/>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At every time step </a:t>
            </a:r>
            <a:r>
              <a:rPr b="1" i="0" lang="en-US" sz="900" u="none" cap="none" strike="noStrike">
                <a:solidFill>
                  <a:srgbClr val="000000"/>
                </a:solidFill>
                <a:latin typeface="Arial"/>
                <a:ea typeface="Arial"/>
                <a:cs typeface="Arial"/>
                <a:sym typeface="Arial"/>
              </a:rPr>
              <a:t>there is an indication (direct/indirect) of </a:t>
            </a:r>
            <a:endParaRPr b="0" i="0" sz="14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Impact of next </a:t>
            </a:r>
            <a:r>
              <a:rPr b="0" i="0" lang="en-US" sz="900" u="none" cap="none" strike="noStrike">
                <a:solidFill>
                  <a:srgbClr val="000000"/>
                </a:solidFill>
                <a:latin typeface="Arial"/>
                <a:ea typeface="Arial"/>
                <a:cs typeface="Arial"/>
                <a:sym typeface="Arial"/>
              </a:rPr>
              <a:t>potential engine temperature depending on the </a:t>
            </a:r>
            <a:endParaRPr b="0" i="0" sz="900" u="none" cap="none" strike="noStrike">
              <a:solidFill>
                <a:srgbClr val="000000"/>
              </a:solidFill>
              <a:latin typeface="Arial"/>
              <a:ea typeface="Arial"/>
              <a:cs typeface="Arial"/>
              <a:sym typeface="Arial"/>
            </a:endParaRPr>
          </a:p>
          <a:p>
            <a:pPr indent="0" lvl="0" marL="347980" marR="0" rtl="0" algn="just">
              <a:lnSpc>
                <a:spcPct val="100000"/>
              </a:lnSpc>
              <a:spcBef>
                <a:spcPts val="335"/>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current engine state. I</a:t>
            </a:r>
            <a:r>
              <a:rPr b="1" i="0" lang="en-US" sz="900" u="none" cap="none" strike="noStrike">
                <a:solidFill>
                  <a:srgbClr val="000000"/>
                </a:solidFill>
                <a:latin typeface="Arial"/>
                <a:ea typeface="Arial"/>
                <a:cs typeface="Arial"/>
                <a:sym typeface="Arial"/>
              </a:rPr>
              <a:t>mmediate reward is available</a:t>
            </a:r>
            <a:r>
              <a:rPr b="0" i="0" lang="en-US" sz="900" u="none" cap="none" strike="noStrike">
                <a:solidFill>
                  <a:srgbClr val="000000"/>
                </a:solidFill>
                <a:latin typeface="Arial"/>
                <a:ea typeface="Arial"/>
                <a:cs typeface="Arial"/>
                <a:sym typeface="Arial"/>
              </a:rPr>
              <a:t>. </a:t>
            </a:r>
            <a:endParaRPr b="0" i="0" sz="900" u="none" cap="none" strike="noStrike">
              <a:solidFill>
                <a:srgbClr val="000000"/>
              </a:solidFill>
              <a:latin typeface="Arial"/>
              <a:ea typeface="Arial"/>
              <a:cs typeface="Arial"/>
              <a:sym typeface="Arial"/>
            </a:endParaRPr>
          </a:p>
        </p:txBody>
      </p:sp>
      <p:grpSp>
        <p:nvGrpSpPr>
          <p:cNvPr id="372" name="Google Shape;372;g3b54a426ae3_0_1366"/>
          <p:cNvGrpSpPr/>
          <p:nvPr/>
        </p:nvGrpSpPr>
        <p:grpSpPr>
          <a:xfrm>
            <a:off x="0" y="3109250"/>
            <a:ext cx="5760261" cy="92075"/>
            <a:chOff x="0" y="3109250"/>
            <a:chExt cx="5760261" cy="92075"/>
          </a:xfrm>
        </p:grpSpPr>
        <p:sp>
          <p:nvSpPr>
            <p:cNvPr id="373" name="Google Shape;373;g3b54a426ae3_0_1366"/>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3b54a426ae3_0_1366"/>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g3b54a426ae3_0_1366"/>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6" name="Google Shape;376;g3b54a426ae3_0_1366"/>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377" name="Google Shape;377;g3b54a426ae3_0_1366"/>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378" name="Google Shape;378;g3b54a426ae3_0_1366"/>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379" name="Google Shape;379;g3b54a426ae3_0_1366"/>
          <p:cNvPicPr preferRelativeResize="0"/>
          <p:nvPr/>
        </p:nvPicPr>
        <p:blipFill rotWithShape="1">
          <a:blip r:embed="rId5">
            <a:alphaModFix/>
          </a:blip>
          <a:srcRect b="0" l="0" r="0" t="0"/>
          <a:stretch/>
        </p:blipFill>
        <p:spPr>
          <a:xfrm>
            <a:off x="283194" y="2362222"/>
            <a:ext cx="97806" cy="82067"/>
          </a:xfrm>
          <a:prstGeom prst="rect">
            <a:avLst/>
          </a:prstGeom>
          <a:noFill/>
          <a:ln>
            <a:noFill/>
          </a:ln>
        </p:spPr>
      </p:pic>
      <p:pic>
        <p:nvPicPr>
          <p:cNvPr id="380" name="Google Shape;380;g3b54a426ae3_0_1366"/>
          <p:cNvPicPr preferRelativeResize="0"/>
          <p:nvPr/>
        </p:nvPicPr>
        <p:blipFill rotWithShape="1">
          <a:blip r:embed="rId6">
            <a:alphaModFix/>
          </a:blip>
          <a:srcRect b="0" l="0" r="0" t="0"/>
          <a:stretch/>
        </p:blipFill>
        <p:spPr>
          <a:xfrm>
            <a:off x="3925087" y="1706699"/>
            <a:ext cx="1733207" cy="1074881"/>
          </a:xfrm>
          <a:prstGeom prst="rect">
            <a:avLst/>
          </a:prstGeom>
          <a:noFill/>
          <a:ln>
            <a:noFill/>
          </a:ln>
        </p:spPr>
      </p:pic>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b54a426ae3_0_1389"/>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Temporal Difference Learning Methods</a:t>
            </a:r>
            <a:endParaRPr/>
          </a:p>
        </p:txBody>
      </p:sp>
      <p:pic>
        <p:nvPicPr>
          <p:cNvPr id="386" name="Google Shape;386;g3b54a426ae3_0_1389"/>
          <p:cNvPicPr preferRelativeResize="0"/>
          <p:nvPr/>
        </p:nvPicPr>
        <p:blipFill rotWithShape="1">
          <a:blip r:embed="rId3">
            <a:alphaModFix/>
          </a:blip>
          <a:srcRect b="0" l="0" r="0" t="0"/>
          <a:stretch/>
        </p:blipFill>
        <p:spPr>
          <a:xfrm>
            <a:off x="219002" y="583532"/>
            <a:ext cx="121259" cy="121259"/>
          </a:xfrm>
          <a:prstGeom prst="rect">
            <a:avLst/>
          </a:prstGeom>
          <a:noFill/>
          <a:ln>
            <a:noFill/>
          </a:ln>
        </p:spPr>
      </p:pic>
      <p:sp>
        <p:nvSpPr>
          <p:cNvPr id="387" name="Google Shape;387;g3b54a426ae3_0_1389"/>
          <p:cNvSpPr txBox="1"/>
          <p:nvPr/>
        </p:nvSpPr>
        <p:spPr>
          <a:xfrm>
            <a:off x="245952" y="573682"/>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1</a:t>
            </a:r>
            <a:endParaRPr b="0" i="0" sz="600" u="none" cap="none" strike="noStrike">
              <a:solidFill>
                <a:srgbClr val="000000"/>
              </a:solidFill>
              <a:latin typeface="Calibri"/>
              <a:ea typeface="Calibri"/>
              <a:cs typeface="Calibri"/>
              <a:sym typeface="Calibri"/>
            </a:endParaRPr>
          </a:p>
        </p:txBody>
      </p:sp>
      <p:sp>
        <p:nvSpPr>
          <p:cNvPr id="388" name="Google Shape;388;g3b54a426ae3_0_1389"/>
          <p:cNvSpPr txBox="1"/>
          <p:nvPr/>
        </p:nvSpPr>
        <p:spPr>
          <a:xfrm>
            <a:off x="406632" y="537309"/>
            <a:ext cx="1062300" cy="1776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Given</a:t>
            </a:r>
            <a:endParaRPr b="0" i="0" sz="1050" u="none" cap="none" strike="noStrike">
              <a:solidFill>
                <a:srgbClr val="000000"/>
              </a:solidFill>
              <a:latin typeface="Arial"/>
              <a:ea typeface="Arial"/>
              <a:cs typeface="Arial"/>
              <a:sym typeface="Arial"/>
            </a:endParaRPr>
          </a:p>
        </p:txBody>
      </p:sp>
      <p:sp>
        <p:nvSpPr>
          <p:cNvPr id="389" name="Google Shape;389;g3b54a426ae3_0_1389"/>
          <p:cNvSpPr txBox="1"/>
          <p:nvPr/>
        </p:nvSpPr>
        <p:spPr>
          <a:xfrm>
            <a:off x="536451" y="732781"/>
            <a:ext cx="2496300" cy="157800"/>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S, A, R(s, a, s`), (optionally)P(a | s) </a:t>
            </a:r>
            <a:endParaRPr b="0" i="0" sz="950" u="none" cap="none" strike="noStrike">
              <a:solidFill>
                <a:srgbClr val="000000"/>
              </a:solidFill>
              <a:latin typeface="Arial"/>
              <a:ea typeface="Arial"/>
              <a:cs typeface="Arial"/>
              <a:sym typeface="Arial"/>
            </a:endParaRPr>
          </a:p>
        </p:txBody>
      </p:sp>
      <p:grpSp>
        <p:nvGrpSpPr>
          <p:cNvPr id="390" name="Google Shape;390;g3b54a426ae3_0_1389"/>
          <p:cNvGrpSpPr/>
          <p:nvPr/>
        </p:nvGrpSpPr>
        <p:grpSpPr>
          <a:xfrm>
            <a:off x="219002" y="990948"/>
            <a:ext cx="121259" cy="528662"/>
            <a:chOff x="456996" y="1391780"/>
            <a:chExt cx="121259" cy="528662"/>
          </a:xfrm>
        </p:grpSpPr>
        <p:pic>
          <p:nvPicPr>
            <p:cNvPr id="391" name="Google Shape;391;g3b54a426ae3_0_1389"/>
            <p:cNvPicPr preferRelativeResize="0"/>
            <p:nvPr/>
          </p:nvPicPr>
          <p:blipFill rotWithShape="1">
            <a:blip r:embed="rId4">
              <a:alphaModFix/>
            </a:blip>
            <a:srcRect b="0" l="0" r="0" t="0"/>
            <a:stretch/>
          </p:blipFill>
          <p:spPr>
            <a:xfrm>
              <a:off x="456996" y="1391780"/>
              <a:ext cx="121259" cy="121259"/>
            </a:xfrm>
            <a:prstGeom prst="rect">
              <a:avLst/>
            </a:prstGeom>
            <a:noFill/>
            <a:ln>
              <a:noFill/>
            </a:ln>
          </p:spPr>
        </p:pic>
        <p:pic>
          <p:nvPicPr>
            <p:cNvPr id="392" name="Google Shape;392;g3b54a426ae3_0_1389"/>
            <p:cNvPicPr preferRelativeResize="0"/>
            <p:nvPr/>
          </p:nvPicPr>
          <p:blipFill rotWithShape="1">
            <a:blip r:embed="rId5">
              <a:alphaModFix/>
            </a:blip>
            <a:srcRect b="0" l="0" r="0" t="0"/>
            <a:stretch/>
          </p:blipFill>
          <p:spPr>
            <a:xfrm>
              <a:off x="456996" y="1799183"/>
              <a:ext cx="121259" cy="121259"/>
            </a:xfrm>
            <a:prstGeom prst="rect">
              <a:avLst/>
            </a:prstGeom>
            <a:noFill/>
            <a:ln>
              <a:noFill/>
            </a:ln>
          </p:spPr>
        </p:pic>
      </p:grpSp>
      <p:sp>
        <p:nvSpPr>
          <p:cNvPr id="393" name="Google Shape;393;g3b54a426ae3_0_1389"/>
          <p:cNvSpPr txBox="1"/>
          <p:nvPr/>
        </p:nvSpPr>
        <p:spPr>
          <a:xfrm>
            <a:off x="245952" y="981098"/>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2</a:t>
            </a:r>
            <a:endParaRPr b="0" i="0" sz="600" u="none" cap="none" strike="noStrike">
              <a:solidFill>
                <a:srgbClr val="000000"/>
              </a:solidFill>
              <a:latin typeface="Calibri"/>
              <a:ea typeface="Calibri"/>
              <a:cs typeface="Calibri"/>
              <a:sym typeface="Calibri"/>
            </a:endParaRPr>
          </a:p>
        </p:txBody>
      </p:sp>
      <p:sp>
        <p:nvSpPr>
          <p:cNvPr id="394" name="Google Shape;394;g3b54a426ae3_0_1389"/>
          <p:cNvSpPr txBox="1"/>
          <p:nvPr/>
        </p:nvSpPr>
        <p:spPr>
          <a:xfrm>
            <a:off x="406632" y="944712"/>
            <a:ext cx="1306200" cy="1776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To find</a:t>
            </a:r>
            <a:endParaRPr b="0" i="0" sz="1050" u="none" cap="none" strike="noStrike">
              <a:solidFill>
                <a:srgbClr val="000000"/>
              </a:solidFill>
              <a:latin typeface="Arial"/>
              <a:ea typeface="Arial"/>
              <a:cs typeface="Arial"/>
              <a:sym typeface="Arial"/>
            </a:endParaRPr>
          </a:p>
        </p:txBody>
      </p:sp>
      <p:sp>
        <p:nvSpPr>
          <p:cNvPr id="395" name="Google Shape;395;g3b54a426ae3_0_1389"/>
          <p:cNvSpPr txBox="1"/>
          <p:nvPr/>
        </p:nvSpPr>
        <p:spPr>
          <a:xfrm>
            <a:off x="536451" y="1140197"/>
            <a:ext cx="2681700" cy="157800"/>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Policy π </a:t>
            </a:r>
            <a:endParaRPr b="0" i="0" sz="950" u="none" cap="none" strike="noStrike">
              <a:solidFill>
                <a:srgbClr val="000000"/>
              </a:solidFill>
              <a:latin typeface="Arial"/>
              <a:ea typeface="Arial"/>
              <a:cs typeface="Arial"/>
              <a:sym typeface="Arial"/>
            </a:endParaRPr>
          </a:p>
        </p:txBody>
      </p:sp>
      <p:sp>
        <p:nvSpPr>
          <p:cNvPr id="396" name="Google Shape;396;g3b54a426ae3_0_1389"/>
          <p:cNvSpPr txBox="1"/>
          <p:nvPr/>
        </p:nvSpPr>
        <p:spPr>
          <a:xfrm>
            <a:off x="245952" y="1388501"/>
            <a:ext cx="672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3</a:t>
            </a:r>
            <a:endParaRPr b="0" i="0" sz="600" u="none" cap="none" strike="noStrike">
              <a:solidFill>
                <a:srgbClr val="000000"/>
              </a:solidFill>
              <a:latin typeface="Calibri"/>
              <a:ea typeface="Calibri"/>
              <a:cs typeface="Calibri"/>
              <a:sym typeface="Calibri"/>
            </a:endParaRPr>
          </a:p>
        </p:txBody>
      </p:sp>
      <p:sp>
        <p:nvSpPr>
          <p:cNvPr id="397" name="Google Shape;397;g3b54a426ae3_0_1389"/>
          <p:cNvSpPr txBox="1"/>
          <p:nvPr/>
        </p:nvSpPr>
        <p:spPr>
          <a:xfrm>
            <a:off x="406632" y="1352128"/>
            <a:ext cx="1301700" cy="1776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Solution</a:t>
            </a:r>
            <a:endParaRPr b="0" i="0" sz="1050" u="none" cap="none" strike="noStrike">
              <a:solidFill>
                <a:srgbClr val="000000"/>
              </a:solidFill>
              <a:latin typeface="Arial"/>
              <a:ea typeface="Arial"/>
              <a:cs typeface="Arial"/>
              <a:sym typeface="Arial"/>
            </a:endParaRPr>
          </a:p>
        </p:txBody>
      </p:sp>
      <p:sp>
        <p:nvSpPr>
          <p:cNvPr id="398" name="Google Shape;398;g3b54a426ae3_0_1389"/>
          <p:cNvSpPr txBox="1"/>
          <p:nvPr/>
        </p:nvSpPr>
        <p:spPr>
          <a:xfrm>
            <a:off x="128632" y="1512226"/>
            <a:ext cx="5358600" cy="1625100"/>
          </a:xfrm>
          <a:prstGeom prst="rect">
            <a:avLst/>
          </a:prstGeom>
          <a:noFill/>
          <a:ln>
            <a:noFill/>
          </a:ln>
        </p:spPr>
        <p:txBody>
          <a:bodyPr anchorCtr="0" anchor="t" bIns="0" lIns="0" spcFirstLastPara="1" rIns="0" wrap="square" tIns="11425">
            <a:spAutoFit/>
          </a:bodyPr>
          <a:lstStyle/>
          <a:p>
            <a:pPr indent="-60325" lvl="0" marL="490218"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Sample Episodes</a:t>
            </a:r>
            <a:endParaRPr b="0" i="0" sz="1400" u="none" cap="none" strike="noStrike">
              <a:solidFill>
                <a:srgbClr val="000000"/>
              </a:solidFill>
              <a:latin typeface="Arial"/>
              <a:ea typeface="Arial"/>
              <a:cs typeface="Arial"/>
              <a:sym typeface="Arial"/>
            </a:endParaRPr>
          </a:p>
          <a:p>
            <a:pPr indent="-60325" lvl="0" marL="490218"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Compute estimates of the value by discounted </a:t>
            </a:r>
            <a:r>
              <a:rPr b="0" i="0" lang="en-US" sz="950" u="none" cap="none" strike="noStrike">
                <a:solidFill>
                  <a:srgbClr val="0070C0"/>
                </a:solidFill>
                <a:latin typeface="Arial"/>
                <a:ea typeface="Arial"/>
                <a:cs typeface="Arial"/>
                <a:sym typeface="Arial"/>
              </a:rPr>
              <a:t>next state estimates (bootstrapping)</a:t>
            </a:r>
            <a:endParaRPr b="0" i="0" sz="1400" u="none" cap="none" strike="noStrike">
              <a:solidFill>
                <a:srgbClr val="000000"/>
              </a:solidFill>
              <a:latin typeface="Arial"/>
              <a:ea typeface="Arial"/>
              <a:cs typeface="Arial"/>
              <a:sym typeface="Arial"/>
            </a:endParaRPr>
          </a:p>
          <a:p>
            <a:pPr indent="-171450" lvl="8" marL="801687" marR="0" rtl="0" algn="l">
              <a:lnSpc>
                <a:spcPct val="100000"/>
              </a:lnSpc>
              <a:spcBef>
                <a:spcPts val="0"/>
              </a:spcBef>
              <a:spcAft>
                <a:spcPts val="0"/>
              </a:spcAft>
              <a:buClr>
                <a:srgbClr val="000000"/>
              </a:buClr>
              <a:buSzPts val="950"/>
              <a:buFont typeface="Noto Sans Symbols"/>
              <a:buChar char="✔"/>
            </a:pPr>
            <a:r>
              <a:rPr b="0" i="0" lang="en-US" sz="950" u="none" cap="none" strike="noStrike">
                <a:solidFill>
                  <a:srgbClr val="000000"/>
                </a:solidFill>
                <a:latin typeface="Arial"/>
                <a:ea typeface="Arial"/>
                <a:cs typeface="Arial"/>
                <a:sym typeface="Arial"/>
              </a:rPr>
              <a:t>Simple average</a:t>
            </a:r>
            <a:endParaRPr b="0" i="0" sz="1400" u="none" cap="none" strike="noStrike">
              <a:solidFill>
                <a:srgbClr val="000000"/>
              </a:solidFill>
              <a:latin typeface="Arial"/>
              <a:ea typeface="Arial"/>
              <a:cs typeface="Arial"/>
              <a:sym typeface="Arial"/>
            </a:endParaRPr>
          </a:p>
          <a:p>
            <a:pPr indent="-171450" lvl="8" marL="801687" marR="0" rtl="0" algn="l">
              <a:lnSpc>
                <a:spcPct val="100000"/>
              </a:lnSpc>
              <a:spcBef>
                <a:spcPts val="0"/>
              </a:spcBef>
              <a:spcAft>
                <a:spcPts val="0"/>
              </a:spcAft>
              <a:buClr>
                <a:srgbClr val="000000"/>
              </a:buClr>
              <a:buSzPts val="950"/>
              <a:buFont typeface="Noto Sans Symbols"/>
              <a:buChar char="✔"/>
            </a:pPr>
            <a:r>
              <a:rPr b="0" i="0" lang="en-US" sz="950" u="none" cap="none" strike="noStrike">
                <a:solidFill>
                  <a:srgbClr val="000000"/>
                </a:solidFill>
                <a:latin typeface="Arial"/>
                <a:ea typeface="Arial"/>
                <a:cs typeface="Arial"/>
                <a:sym typeface="Arial"/>
              </a:rPr>
              <a:t>Weighted average</a:t>
            </a:r>
            <a:endParaRPr b="0" i="0" sz="1400" u="none" cap="none" strike="noStrike">
              <a:solidFill>
                <a:srgbClr val="000000"/>
              </a:solidFill>
              <a:latin typeface="Arial"/>
              <a:ea typeface="Arial"/>
              <a:cs typeface="Arial"/>
              <a:sym typeface="Arial"/>
            </a:endParaRPr>
          </a:p>
          <a:p>
            <a:pPr indent="-171450" lvl="8" marL="801687" marR="0" rtl="0" algn="l">
              <a:lnSpc>
                <a:spcPct val="100000"/>
              </a:lnSpc>
              <a:spcBef>
                <a:spcPts val="0"/>
              </a:spcBef>
              <a:spcAft>
                <a:spcPts val="0"/>
              </a:spcAft>
              <a:buClr>
                <a:srgbClr val="000000"/>
              </a:buClr>
              <a:buSzPts val="950"/>
              <a:buFont typeface="Noto Sans Symbols"/>
              <a:buChar char="✔"/>
            </a:pPr>
            <a:r>
              <a:rPr b="0" i="0" lang="en-US" sz="950" u="none" cap="none" strike="noStrike">
                <a:solidFill>
                  <a:srgbClr val="000000"/>
                </a:solidFill>
                <a:latin typeface="Arial"/>
                <a:ea typeface="Arial"/>
                <a:cs typeface="Arial"/>
                <a:sym typeface="Arial"/>
              </a:rPr>
              <a:t>Normalized weighted average</a:t>
            </a:r>
            <a:endParaRPr b="0" i="0" sz="1400" u="none" cap="none" strike="noStrike">
              <a:solidFill>
                <a:srgbClr val="000000"/>
              </a:solidFill>
              <a:latin typeface="Arial"/>
              <a:ea typeface="Arial"/>
              <a:cs typeface="Arial"/>
              <a:sym typeface="Arial"/>
            </a:endParaRPr>
          </a:p>
          <a:p>
            <a:pPr indent="0" lvl="0" marL="490218"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a:p>
            <a:pPr indent="0" lvl="0" marL="490218"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a:p>
            <a:pPr indent="0" lvl="0" marL="38100" marR="0" rtl="0" algn="l">
              <a:lnSpc>
                <a:spcPct val="100000"/>
              </a:lnSpc>
              <a:spcBef>
                <a:spcPts val="104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a:p>
            <a:pPr indent="0" lvl="0" marL="38100" marR="0" rtl="0" algn="l">
              <a:lnSpc>
                <a:spcPct val="100000"/>
              </a:lnSpc>
              <a:spcBef>
                <a:spcPts val="104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grpSp>
        <p:nvGrpSpPr>
          <p:cNvPr id="399" name="Google Shape;399;g3b54a426ae3_0_1389"/>
          <p:cNvGrpSpPr/>
          <p:nvPr/>
        </p:nvGrpSpPr>
        <p:grpSpPr>
          <a:xfrm>
            <a:off x="0" y="3109250"/>
            <a:ext cx="5760261" cy="92075"/>
            <a:chOff x="0" y="3109250"/>
            <a:chExt cx="5760261" cy="92075"/>
          </a:xfrm>
        </p:grpSpPr>
        <p:sp>
          <p:nvSpPr>
            <p:cNvPr id="400" name="Google Shape;400;g3b54a426ae3_0_1389"/>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g3b54a426ae3_0_1389"/>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3b54a426ae3_0_1389"/>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3" name="Google Shape;403;g3b54a426ae3_0_1389"/>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404" name="Google Shape;404;g3b54a426ae3_0_1389"/>
          <p:cNvSpPr txBox="1"/>
          <p:nvPr>
            <p:ph idx="12" type="sldNum"/>
          </p:nvPr>
        </p:nvSpPr>
        <p:spPr>
          <a:xfrm>
            <a:off x="4648848" y="31249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grpSp>
        <p:nvGrpSpPr>
          <p:cNvPr id="405" name="Google Shape;405;g3b54a426ae3_0_1389"/>
          <p:cNvGrpSpPr/>
          <p:nvPr/>
        </p:nvGrpSpPr>
        <p:grpSpPr>
          <a:xfrm>
            <a:off x="201908" y="2191372"/>
            <a:ext cx="148210" cy="163940"/>
            <a:chOff x="134127" y="2262704"/>
            <a:chExt cx="266997" cy="178837"/>
          </a:xfrm>
        </p:grpSpPr>
        <p:pic>
          <p:nvPicPr>
            <p:cNvPr id="406" name="Google Shape;406;g3b54a426ae3_0_1389"/>
            <p:cNvPicPr preferRelativeResize="0"/>
            <p:nvPr/>
          </p:nvPicPr>
          <p:blipFill rotWithShape="1">
            <a:blip r:embed="rId6">
              <a:alphaModFix/>
            </a:blip>
            <a:srcRect b="0" l="0" r="0" t="0"/>
            <a:stretch/>
          </p:blipFill>
          <p:spPr>
            <a:xfrm>
              <a:off x="134127" y="2262704"/>
              <a:ext cx="266997" cy="178837"/>
            </a:xfrm>
            <a:prstGeom prst="rect">
              <a:avLst/>
            </a:prstGeom>
            <a:noFill/>
            <a:ln>
              <a:noFill/>
            </a:ln>
          </p:spPr>
        </p:pic>
        <p:sp>
          <p:nvSpPr>
            <p:cNvPr id="407" name="Google Shape;407;g3b54a426ae3_0_1389"/>
            <p:cNvSpPr txBox="1"/>
            <p:nvPr/>
          </p:nvSpPr>
          <p:spPr>
            <a:xfrm>
              <a:off x="209626" y="2275554"/>
              <a:ext cx="148200" cy="1140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600"/>
                <a:buFont typeface="Arial"/>
                <a:buNone/>
              </a:pPr>
              <a:r>
                <a:rPr b="0" i="0" lang="en-US" sz="600" u="none" cap="none" strike="noStrike">
                  <a:solidFill>
                    <a:srgbClr val="FFFFFF"/>
                  </a:solidFill>
                  <a:latin typeface="Calibri"/>
                  <a:ea typeface="Calibri"/>
                  <a:cs typeface="Calibri"/>
                  <a:sym typeface="Calibri"/>
                </a:rPr>
                <a:t>4</a:t>
              </a:r>
              <a:endParaRPr b="0" i="0" sz="600" u="none" cap="none" strike="noStrike">
                <a:solidFill>
                  <a:srgbClr val="000000"/>
                </a:solidFill>
                <a:latin typeface="Calibri"/>
                <a:ea typeface="Calibri"/>
                <a:cs typeface="Calibri"/>
                <a:sym typeface="Calibri"/>
              </a:endParaRPr>
            </a:p>
          </p:txBody>
        </p:sp>
      </p:grpSp>
      <p:sp>
        <p:nvSpPr>
          <p:cNvPr id="408" name="Google Shape;408;g3b54a426ae3_0_1389"/>
          <p:cNvSpPr txBox="1"/>
          <p:nvPr/>
        </p:nvSpPr>
        <p:spPr>
          <a:xfrm>
            <a:off x="421246" y="2174040"/>
            <a:ext cx="1062300" cy="1776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1050"/>
              <a:buFont typeface="Arial"/>
              <a:buNone/>
            </a:pPr>
            <a:r>
              <a:rPr b="0" i="0" lang="en-US" sz="1050" u="none" cap="none" strike="noStrike">
                <a:solidFill>
                  <a:srgbClr val="1B1472"/>
                </a:solidFill>
                <a:latin typeface="Arial"/>
                <a:ea typeface="Arial"/>
                <a:cs typeface="Arial"/>
                <a:sym typeface="Arial"/>
              </a:rPr>
              <a:t>Idea</a:t>
            </a:r>
            <a:endParaRPr b="0" i="0" sz="1050" u="none" cap="none" strike="noStrike">
              <a:solidFill>
                <a:srgbClr val="000000"/>
              </a:solidFill>
              <a:latin typeface="Arial"/>
              <a:ea typeface="Arial"/>
              <a:cs typeface="Arial"/>
              <a:sym typeface="Arial"/>
            </a:endParaRPr>
          </a:p>
        </p:txBody>
      </p:sp>
      <p:sp>
        <p:nvSpPr>
          <p:cNvPr id="409" name="Google Shape;409;g3b54a426ae3_0_1389"/>
          <p:cNvSpPr txBox="1"/>
          <p:nvPr/>
        </p:nvSpPr>
        <p:spPr>
          <a:xfrm>
            <a:off x="536450" y="2282352"/>
            <a:ext cx="4584300" cy="888900"/>
          </a:xfrm>
          <a:prstGeom prst="rect">
            <a:avLst/>
          </a:prstGeom>
          <a:noFill/>
          <a:ln>
            <a:noFill/>
          </a:ln>
        </p:spPr>
        <p:txBody>
          <a:bodyPr anchorCtr="0" anchor="t" bIns="0" lIns="0" spcFirstLastPara="1" rIns="0" wrap="square" tIns="11425">
            <a:spAutoFit/>
          </a:bodyPr>
          <a:lstStyle/>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On Policy : </a:t>
            </a:r>
            <a:endParaRPr b="0" i="0" sz="950" u="none" cap="none" strike="noStrike">
              <a:solidFill>
                <a:srgbClr val="000000"/>
              </a:solidFill>
              <a:latin typeface="Arial"/>
              <a:ea typeface="Arial"/>
              <a:cs typeface="Arial"/>
              <a:sym typeface="Arial"/>
            </a:endParaRPr>
          </a:p>
          <a:p>
            <a:pPr indent="-60325" lvl="1" marL="265112"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Generate Sample/Experience 🡪 Evaluate using </a:t>
            </a:r>
            <a:r>
              <a:rPr b="0" i="0" lang="en-US" sz="950" u="none" cap="none" strike="noStrike">
                <a:solidFill>
                  <a:srgbClr val="0070C0"/>
                </a:solidFill>
                <a:latin typeface="Arial"/>
                <a:ea typeface="Arial"/>
                <a:cs typeface="Arial"/>
                <a:sym typeface="Arial"/>
              </a:rPr>
              <a:t>bootstrapping</a:t>
            </a:r>
            <a:r>
              <a:rPr b="0" i="0" lang="en-US" sz="950" u="none" cap="none" strike="noStrike">
                <a:solidFill>
                  <a:srgbClr val="000000"/>
                </a:solidFill>
                <a:latin typeface="Arial"/>
                <a:ea typeface="Arial"/>
                <a:cs typeface="Arial"/>
                <a:sym typeface="Arial"/>
              </a:rPr>
              <a:t> 🡪 Improve</a:t>
            </a:r>
            <a:endParaRPr b="0" i="0" sz="1400" u="none" cap="none" strike="noStrike">
              <a:solidFill>
                <a:srgbClr val="000000"/>
              </a:solidFill>
              <a:latin typeface="Arial"/>
              <a:ea typeface="Arial"/>
              <a:cs typeface="Arial"/>
              <a:sym typeface="Arial"/>
            </a:endParaRPr>
          </a:p>
          <a:p>
            <a:pPr indent="-60325" lvl="0" marL="38100"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Off Policy : </a:t>
            </a:r>
            <a:endParaRPr b="0" i="0" sz="950" u="none" cap="none" strike="noStrike">
              <a:solidFill>
                <a:srgbClr val="000000"/>
              </a:solidFill>
              <a:latin typeface="Arial"/>
              <a:ea typeface="Arial"/>
              <a:cs typeface="Arial"/>
              <a:sym typeface="Arial"/>
            </a:endParaRPr>
          </a:p>
          <a:p>
            <a:pPr indent="-107949" lvl="0" marL="287337" marR="0" rtl="0" algn="l">
              <a:lnSpc>
                <a:spcPct val="100000"/>
              </a:lnSpc>
              <a:spcBef>
                <a:spcPts val="0"/>
              </a:spcBef>
              <a:spcAft>
                <a:spcPts val="0"/>
              </a:spcAft>
              <a:buClr>
                <a:srgbClr val="000000"/>
              </a:buClr>
              <a:buSzPts val="950"/>
              <a:buFont typeface="Arial"/>
              <a:buChar char="•"/>
            </a:pPr>
            <a:r>
              <a:rPr b="0" i="0" lang="en-US" sz="950" u="none" cap="none" strike="noStrike">
                <a:solidFill>
                  <a:srgbClr val="000000"/>
                </a:solidFill>
                <a:latin typeface="Arial"/>
                <a:ea typeface="Arial"/>
                <a:cs typeface="Arial"/>
                <a:sym typeface="Arial"/>
              </a:rPr>
              <a:t>Refer to Sample/Experience generated by another reference(behavior) policy  🡪 Evaluate using </a:t>
            </a:r>
            <a:r>
              <a:rPr b="0" i="0" lang="en-US" sz="950" u="none" cap="none" strike="noStrike">
                <a:solidFill>
                  <a:srgbClr val="0070C0"/>
                </a:solidFill>
                <a:latin typeface="Arial"/>
                <a:ea typeface="Arial"/>
                <a:cs typeface="Arial"/>
                <a:sym typeface="Arial"/>
              </a:rPr>
              <a:t>bootstrapping</a:t>
            </a:r>
            <a:r>
              <a:rPr b="0" i="0" lang="en-US" sz="950" u="none" cap="none" strike="noStrike">
                <a:solidFill>
                  <a:srgbClr val="000000"/>
                </a:solidFill>
                <a:latin typeface="Arial"/>
                <a:ea typeface="Arial"/>
                <a:cs typeface="Arial"/>
                <a:sym typeface="Arial"/>
              </a:rPr>
              <a:t> 🡪 Improve</a:t>
            </a:r>
            <a:endParaRPr b="0" i="0" sz="950" u="none" cap="none" strike="noStrike">
              <a:solidFill>
                <a:srgbClr val="000000"/>
              </a:solidFill>
              <a:latin typeface="Arial"/>
              <a:ea typeface="Arial"/>
              <a:cs typeface="Arial"/>
              <a:sym typeface="Arial"/>
            </a:endParaRPr>
          </a:p>
          <a:p>
            <a:pPr indent="0" lvl="0" marL="38100" marR="0" rtl="0" algn="l">
              <a:lnSpc>
                <a:spcPct val="100000"/>
              </a:lnSpc>
              <a:spcBef>
                <a:spcPts val="0"/>
              </a:spcBef>
              <a:spcAft>
                <a:spcPts val="0"/>
              </a:spcAft>
              <a:buClr>
                <a:srgbClr val="000000"/>
              </a:buClr>
              <a:buSzPts val="950"/>
              <a:buFont typeface="Arial"/>
              <a:buNone/>
            </a:pPr>
            <a:r>
              <a:t/>
            </a:r>
            <a:endParaRPr b="0" i="0" sz="950" u="none" cap="none" strike="noStrike">
              <a:solidFill>
                <a:srgbClr val="000000"/>
              </a:solidFill>
              <a:latin typeface="Arial"/>
              <a:ea typeface="Arial"/>
              <a:cs typeface="Arial"/>
              <a:sym typeface="Arial"/>
            </a:endParaRPr>
          </a:p>
        </p:txBody>
      </p:sp>
      <p:sp>
        <p:nvSpPr>
          <p:cNvPr id="410" name="Google Shape;410;g3b54a426ae3_0_1389"/>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b54a426ae3_0_1418"/>
          <p:cNvSpPr txBox="1"/>
          <p:nvPr>
            <p:ph type="title"/>
          </p:nvPr>
        </p:nvSpPr>
        <p:spPr>
          <a:xfrm>
            <a:off x="82600" y="109545"/>
            <a:ext cx="4943400" cy="261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sp>
        <p:nvSpPr>
          <p:cNvPr id="416" name="Google Shape;416;g3b54a426ae3_0_1418"/>
          <p:cNvSpPr txBox="1"/>
          <p:nvPr>
            <p:ph idx="1" type="body"/>
          </p:nvPr>
        </p:nvSpPr>
        <p:spPr>
          <a:xfrm>
            <a:off x="777220" y="516129"/>
            <a:ext cx="3812400" cy="2462700"/>
          </a:xfrm>
          <a:prstGeom prst="rect">
            <a:avLst/>
          </a:prstGeom>
          <a:noFill/>
          <a:ln>
            <a:noFill/>
          </a:ln>
        </p:spPr>
        <p:txBody>
          <a:bodyPr anchorCtr="0" anchor="t" bIns="0" lIns="0" spcFirstLastPara="1" rIns="0" wrap="square" tIns="0">
            <a:spAutoFit/>
          </a:bodyPr>
          <a:lstStyle/>
          <a:p>
            <a:pPr indent="-228600" lvl="0" marL="457200" rtl="0" algn="ctr">
              <a:lnSpc>
                <a:spcPct val="100000"/>
              </a:lnSpc>
              <a:spcBef>
                <a:spcPts val="0"/>
              </a:spcBef>
              <a:spcAft>
                <a:spcPts val="0"/>
              </a:spcAft>
              <a:buSzPts val="1400"/>
              <a:buNone/>
            </a:pPr>
            <a:r>
              <a:rPr b="1" lang="en-US" sz="1600"/>
              <a:t>Temporal Difference Learning Methods</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rPr b="1" lang="en-US" sz="1600">
                <a:solidFill>
                  <a:schemeClr val="dk1"/>
                </a:solidFill>
              </a:rPr>
              <a:t>Policy Evaluation (PE) Algorithm</a:t>
            </a:r>
            <a:endParaRPr/>
          </a:p>
          <a:p>
            <a:pPr indent="-228600" lvl="0" marL="457200" rtl="0" algn="ctr">
              <a:lnSpc>
                <a:spcPct val="100000"/>
              </a:lnSpc>
              <a:spcBef>
                <a:spcPts val="0"/>
              </a:spcBef>
              <a:spcAft>
                <a:spcPts val="0"/>
              </a:spcAft>
              <a:buSzPts val="1400"/>
              <a:buNone/>
            </a:pPr>
            <a:r>
              <a:rPr b="1" lang="en-US" sz="1600">
                <a:solidFill>
                  <a:schemeClr val="dk1"/>
                </a:solidFill>
              </a:rPr>
              <a:t>TD(0)</a:t>
            </a:r>
            <a:endParaRPr b="1" sz="1600">
              <a:solidFill>
                <a:schemeClr val="dk1"/>
              </a:solidFill>
            </a:endParaRPr>
          </a:p>
        </p:txBody>
      </p:sp>
      <p:sp>
        <p:nvSpPr>
          <p:cNvPr id="417" name="Google Shape;417;g3b54a426ae3_0_1418"/>
          <p:cNvSpPr txBox="1"/>
          <p:nvPr/>
        </p:nvSpPr>
        <p:spPr>
          <a:xfrm>
            <a:off x="-35250" y="900400"/>
            <a:ext cx="2179200" cy="1571100"/>
          </a:xfrm>
          <a:prstGeom prst="rect">
            <a:avLst/>
          </a:prstGeom>
          <a:solidFill>
            <a:srgbClr val="FFC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1B1472"/>
                </a:solidFill>
              </a:rPr>
              <a:t>Next slides follow a full fledged numerical example of algorithm in the Race car example with Policy Evaluation based learning for 2 iterations</a:t>
            </a:r>
            <a:endParaRPr sz="1050">
              <a:solidFill>
                <a:srgbClr val="1B1472"/>
              </a:solidFill>
            </a:endParaRPr>
          </a:p>
          <a:p>
            <a:pPr indent="0" lvl="0" marL="0" rtl="0" algn="l">
              <a:spcBef>
                <a:spcPts val="0"/>
              </a:spcBef>
              <a:spcAft>
                <a:spcPts val="0"/>
              </a:spcAft>
              <a:buNone/>
            </a:pPr>
            <a:r>
              <a:rPr lang="en-US" sz="1050">
                <a:solidFill>
                  <a:srgbClr val="1B1472"/>
                </a:solidFill>
              </a:rPr>
              <a:t>Learners are advised to go through the run of the algorithm. This is a full fledged lecture material that was used in NSP2 cluster offering in 2025</a:t>
            </a:r>
            <a:endParaRPr sz="1050">
              <a:solidFill>
                <a:srgbClr val="1B147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b54a426ae3_0_1423"/>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TD(0)</a:t>
            </a:r>
            <a:endParaRPr/>
          </a:p>
        </p:txBody>
      </p:sp>
      <p:sp>
        <p:nvSpPr>
          <p:cNvPr id="423" name="Google Shape;423;g3b54a426ae3_0_1423"/>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4" name="Google Shape;424;g3b54a426ae3_0_1423"/>
          <p:cNvGrpSpPr/>
          <p:nvPr/>
        </p:nvGrpSpPr>
        <p:grpSpPr>
          <a:xfrm>
            <a:off x="0" y="3109250"/>
            <a:ext cx="5760261" cy="92075"/>
            <a:chOff x="0" y="3109250"/>
            <a:chExt cx="5760261" cy="92075"/>
          </a:xfrm>
        </p:grpSpPr>
        <p:sp>
          <p:nvSpPr>
            <p:cNvPr id="425" name="Google Shape;425;g3b54a426ae3_0_1423"/>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g3b54a426ae3_0_1423"/>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g3b54a426ae3_0_1423"/>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8" name="Google Shape;428;g3b54a426ae3_0_1423"/>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429" name="Google Shape;429;g3b54a426ae3_0_1423"/>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430" name="Google Shape;430;g3b54a426ae3_0_1423"/>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431" name="Google Shape;431;g3b54a426ae3_0_1423"/>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432" name="Google Shape;432;g3b54a426ae3_0_1423"/>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433" name="Google Shape;433;g3b54a426ae3_0_1423"/>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434" name="Google Shape;434;g3b54a426ae3_0_1423"/>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435" name="Google Shape;435;g3b54a426ae3_0_1423"/>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436" name="Google Shape;436;g3b54a426ae3_0_1423"/>
          <p:cNvSpPr txBox="1"/>
          <p:nvPr/>
        </p:nvSpPr>
        <p:spPr>
          <a:xfrm>
            <a:off x="441272" y="767528"/>
            <a:ext cx="1721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rgbClr val="000000"/>
                </a:solidFill>
                <a:latin typeface="Arial"/>
                <a:ea typeface="Arial"/>
                <a:cs typeface="Arial"/>
                <a:sym typeface="Arial"/>
              </a:rPr>
              <a:t>0                      0                    0</a:t>
            </a:r>
            <a:endParaRPr b="0" i="0" sz="800" u="none" cap="none" strike="noStrike">
              <a:solidFill>
                <a:srgbClr val="000000"/>
              </a:solidFill>
              <a:latin typeface="Arial"/>
              <a:ea typeface="Arial"/>
              <a:cs typeface="Arial"/>
              <a:sym typeface="Arial"/>
            </a:endParaRPr>
          </a:p>
        </p:txBody>
      </p:sp>
      <p:sp>
        <p:nvSpPr>
          <p:cNvPr id="437" name="Google Shape;437;g3b54a426ae3_0_1423"/>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438" name="Google Shape;438;g3b54a426ae3_0_1423"/>
          <p:cNvSpPr txBox="1"/>
          <p:nvPr/>
        </p:nvSpPr>
        <p:spPr>
          <a:xfrm>
            <a:off x="3409950" y="2678961"/>
            <a:ext cx="2317500" cy="430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1B1472"/>
                </a:solidFill>
                <a:latin typeface="Arial"/>
                <a:ea typeface="Arial"/>
                <a:cs typeface="Arial"/>
                <a:sym typeface="Arial"/>
              </a:rPr>
              <a:t>Use case : A driving policy is already learnt which needs to be evaluated for monitoring or certification/approval by safety engineers. </a:t>
            </a:r>
            <a:endParaRPr b="1" i="0" sz="750" u="none" cap="none" strike="noStrike">
              <a:solidFill>
                <a:srgbClr val="1B1472"/>
              </a:solidFill>
              <a:latin typeface="Arial"/>
              <a:ea typeface="Arial"/>
              <a:cs typeface="Arial"/>
              <a:sym typeface="Arial"/>
            </a:endParaRPr>
          </a:p>
        </p:txBody>
      </p:sp>
      <p:sp>
        <p:nvSpPr>
          <p:cNvPr id="439" name="Google Shape;439;g3b54a426ae3_0_1423"/>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p:txBody>
      </p:sp>
      <p:cxnSp>
        <p:nvCxnSpPr>
          <p:cNvPr id="440" name="Google Shape;440;g3b54a426ae3_0_1423"/>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441" name="Google Shape;441;g3b54a426ae3_0_1423"/>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442" name="Google Shape;442;g3b54a426ae3_0_1423"/>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443" name="Google Shape;443;g3b54a426ae3_0_1423"/>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444" name="Google Shape;444;g3b54a426ae3_0_1423"/>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445" name="Google Shape;445;g3b54a426ae3_0_1423"/>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446" name="Google Shape;446;g3b54a426ae3_0_1423"/>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447" name="Google Shape;447;g3b54a426ae3_0_1423"/>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pic>
        <p:nvPicPr>
          <p:cNvPr id="448" name="Google Shape;448;g3b54a426ae3_0_1423"/>
          <p:cNvPicPr preferRelativeResize="0"/>
          <p:nvPr/>
        </p:nvPicPr>
        <p:blipFill rotWithShape="1">
          <a:blip r:embed="rId7">
            <a:alphaModFix/>
          </a:blip>
          <a:srcRect b="0" l="0" r="0" t="0"/>
          <a:stretch/>
        </p:blipFill>
        <p:spPr>
          <a:xfrm>
            <a:off x="3534515" y="15834"/>
            <a:ext cx="2241365" cy="1002022"/>
          </a:xfrm>
          <a:prstGeom prst="rect">
            <a:avLst/>
          </a:prstGeom>
          <a:noFill/>
          <a:ln>
            <a:noFill/>
          </a:ln>
        </p:spPr>
      </p:pic>
      <p:sp>
        <p:nvSpPr>
          <p:cNvPr id="449" name="Google Shape;449;g3b54a426ae3_0_1423"/>
          <p:cNvSpPr/>
          <p:nvPr/>
        </p:nvSpPr>
        <p:spPr>
          <a:xfrm>
            <a:off x="3346879" y="194697"/>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0" name="Google Shape;450;g3b54a426ae3_0_1423"/>
          <p:cNvSpPr/>
          <p:nvPr/>
        </p:nvSpPr>
        <p:spPr>
          <a:xfrm>
            <a:off x="5173205" y="434241"/>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0.5</a:t>
            </a:r>
            <a:endParaRPr b="1" i="0" sz="600" u="none" cap="none" strike="noStrike">
              <a:solidFill>
                <a:srgbClr val="000000"/>
              </a:solidFill>
              <a:latin typeface="Arial"/>
              <a:ea typeface="Arial"/>
              <a:cs typeface="Arial"/>
              <a:sym typeface="Arial"/>
            </a:endParaRPr>
          </a:p>
        </p:txBody>
      </p:sp>
      <p:sp>
        <p:nvSpPr>
          <p:cNvPr id="451" name="Google Shape;451;g3b54a426ae3_0_1423"/>
          <p:cNvSpPr txBox="1"/>
          <p:nvPr/>
        </p:nvSpPr>
        <p:spPr>
          <a:xfrm>
            <a:off x="82600" y="1717926"/>
            <a:ext cx="2793000" cy="4425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452" name="Google Shape;452;g3b54a426ae3_0_1423"/>
          <p:cNvSpPr/>
          <p:nvPr/>
        </p:nvSpPr>
        <p:spPr>
          <a:xfrm>
            <a:off x="61738" y="1818205"/>
            <a:ext cx="2367600" cy="1277400"/>
          </a:xfrm>
          <a:prstGeom prst="rect">
            <a:avLst/>
          </a:prstGeom>
          <a:solidFill>
            <a:srgbClr val="DAE5F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FF0000"/>
                </a:solidFill>
                <a:latin typeface="Arial"/>
                <a:ea typeface="Arial"/>
                <a:cs typeface="Arial"/>
                <a:sym typeface="Arial"/>
              </a:rPr>
              <a:t>Important Note : </a:t>
            </a:r>
            <a:endParaRPr b="0" i="0" sz="1400" u="none" cap="none" strike="noStrike">
              <a:solidFill>
                <a:srgbClr val="000000"/>
              </a:solidFill>
              <a:latin typeface="Arial"/>
              <a:ea typeface="Arial"/>
              <a:cs typeface="Arial"/>
              <a:sym typeface="Arial"/>
            </a:endParaRPr>
          </a:p>
          <a:p>
            <a:pPr indent="-44450" lvl="0" marL="0" marR="0" rtl="0" algn="l">
              <a:lnSpc>
                <a:spcPct val="100000"/>
              </a:lnSpc>
              <a:spcBef>
                <a:spcPts val="0"/>
              </a:spcBef>
              <a:spcAft>
                <a:spcPts val="0"/>
              </a:spcAft>
              <a:buClr>
                <a:srgbClr val="FF0000"/>
              </a:buClr>
              <a:buSzPts val="700"/>
              <a:buFont typeface="Arial"/>
              <a:buChar char="•"/>
            </a:pPr>
            <a:r>
              <a:rPr b="0" i="0" lang="en-US" sz="700" u="none" cap="none" strike="noStrike">
                <a:solidFill>
                  <a:srgbClr val="FF0000"/>
                </a:solidFill>
                <a:latin typeface="Arial"/>
                <a:ea typeface="Arial"/>
                <a:cs typeface="Arial"/>
                <a:sym typeface="Arial"/>
              </a:rPr>
              <a:t>In few textbooks/ running incremental upcoming examples, dynamics are given so </a:t>
            </a:r>
            <a:r>
              <a:rPr b="1" i="0" lang="en-US" sz="700" u="none" cap="none" strike="noStrike">
                <a:solidFill>
                  <a:schemeClr val="dk1"/>
                </a:solidFill>
                <a:latin typeface="Arial"/>
                <a:ea typeface="Arial"/>
                <a:cs typeface="Arial"/>
                <a:sym typeface="Arial"/>
              </a:rPr>
              <a:t>only to </a:t>
            </a:r>
            <a:r>
              <a:rPr b="1" i="1" lang="en-US" sz="700" u="none" cap="none" strike="noStrike">
                <a:solidFill>
                  <a:schemeClr val="dk1"/>
                </a:solidFill>
                <a:latin typeface="Arial"/>
                <a:ea typeface="Arial"/>
                <a:cs typeface="Arial"/>
                <a:sym typeface="Arial"/>
              </a:rPr>
              <a:t>simulate trajectories</a:t>
            </a:r>
            <a:r>
              <a:rPr b="1" i="0" lang="en-US" sz="700" u="none" cap="none" strike="noStrike">
                <a:solidFill>
                  <a:schemeClr val="dk1"/>
                </a:solidFill>
                <a:latin typeface="Arial"/>
                <a:ea typeface="Arial"/>
                <a:cs typeface="Arial"/>
                <a:sym typeface="Arial"/>
              </a:rPr>
              <a:t> </a:t>
            </a:r>
            <a:r>
              <a:rPr b="0" i="0" lang="en-US" sz="700" u="none" cap="none" strike="noStrike">
                <a:solidFill>
                  <a:srgbClr val="FF0000"/>
                </a:solidFill>
                <a:latin typeface="Arial"/>
                <a:ea typeface="Arial"/>
                <a:cs typeface="Arial"/>
                <a:sym typeface="Arial"/>
              </a:rPr>
              <a:t>and show updates step by step. TD itself doesn’t require knowing the full transition model — it only needs sampled transitions (s,a,r,s′) </a:t>
            </a:r>
            <a:r>
              <a:rPr b="0" i="0" lang="en-US" sz="700" u="sng" cap="none" strike="noStrike">
                <a:solidFill>
                  <a:schemeClr val="dk1"/>
                </a:solidFill>
                <a:latin typeface="Arial"/>
                <a:ea typeface="Arial"/>
                <a:cs typeface="Arial"/>
                <a:sym typeface="Arial"/>
              </a:rPr>
              <a:t>while training from scratch ie., when policy is not known/learnt yet.</a:t>
            </a:r>
            <a:endParaRPr b="0" i="0" sz="1400" u="none" cap="none" strike="noStrike">
              <a:solidFill>
                <a:srgbClr val="000000"/>
              </a:solidFill>
              <a:latin typeface="Arial"/>
              <a:ea typeface="Arial"/>
              <a:cs typeface="Arial"/>
              <a:sym typeface="Arial"/>
            </a:endParaRPr>
          </a:p>
          <a:p>
            <a:pPr indent="-44450" lvl="0" marL="0" marR="0" rtl="0" algn="l">
              <a:lnSpc>
                <a:spcPct val="100000"/>
              </a:lnSpc>
              <a:spcBef>
                <a:spcPts val="0"/>
              </a:spcBef>
              <a:spcAft>
                <a:spcPts val="0"/>
              </a:spcAft>
              <a:buClr>
                <a:srgbClr val="FF0000"/>
              </a:buClr>
              <a:buSzPts val="700"/>
              <a:buFont typeface="Arial"/>
              <a:buChar char="•"/>
            </a:pPr>
            <a:r>
              <a:rPr b="0" i="0" lang="en-US" sz="700" u="none" cap="none" strike="noStrike">
                <a:solidFill>
                  <a:srgbClr val="FF0000"/>
                </a:solidFill>
                <a:latin typeface="Arial"/>
                <a:ea typeface="Arial"/>
                <a:cs typeface="Arial"/>
                <a:sym typeface="Arial"/>
              </a:rPr>
              <a:t>The dynamics are provided for clarity and reproducibility, not because TD requires them</a:t>
            </a:r>
            <a:r>
              <a:rPr b="1" i="0" lang="en-US" sz="700" u="none" cap="none" strike="noStrike">
                <a:solidFill>
                  <a:schemeClr val="dk1"/>
                </a:solidFill>
                <a:latin typeface="Arial"/>
                <a:ea typeface="Arial"/>
                <a:cs typeface="Arial"/>
                <a:sym typeface="Arial"/>
              </a:rPr>
              <a:t>. In practice, TD works model-free, just like Monte Carlo.</a:t>
            </a:r>
            <a:endParaRPr b="0" i="0" sz="1400" u="none" cap="none" strike="noStrike">
              <a:solidFill>
                <a:srgbClr val="000000"/>
              </a:solidFill>
              <a:latin typeface="Arial"/>
              <a:ea typeface="Arial"/>
              <a:cs typeface="Arial"/>
              <a:sym typeface="Arial"/>
            </a:endParaRPr>
          </a:p>
        </p:txBody>
      </p:sp>
      <p:cxnSp>
        <p:nvCxnSpPr>
          <p:cNvPr id="453" name="Google Shape;453;g3b54a426ae3_0_1423"/>
          <p:cNvCxnSpPr>
            <a:stCxn id="452" idx="3"/>
          </p:cNvCxnSpPr>
          <p:nvPr/>
        </p:nvCxnSpPr>
        <p:spPr>
          <a:xfrm flipH="1" rot="10800000">
            <a:off x="2429338" y="2256205"/>
            <a:ext cx="1828800" cy="200700"/>
          </a:xfrm>
          <a:prstGeom prst="curvedConnector3">
            <a:avLst>
              <a:gd fmla="val 50000" name="adj1"/>
            </a:avLst>
          </a:prstGeom>
          <a:noFill/>
          <a:ln cap="flat" cmpd="sng" w="9525">
            <a:solidFill>
              <a:srgbClr val="FF0000"/>
            </a:solidFill>
            <a:prstDash val="solid"/>
            <a:round/>
            <a:headEnd len="sm" w="sm" type="none"/>
            <a:tailEnd len="med" w="med" type="triangle"/>
          </a:ln>
        </p:spPr>
      </p:cxn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b54a426ae3_0_1458"/>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TD(0)</a:t>
            </a:r>
            <a:endParaRPr/>
          </a:p>
        </p:txBody>
      </p:sp>
      <p:sp>
        <p:nvSpPr>
          <p:cNvPr id="459" name="Google Shape;459;g3b54a426ae3_0_1458"/>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0" name="Google Shape;460;g3b54a426ae3_0_1458"/>
          <p:cNvGrpSpPr/>
          <p:nvPr/>
        </p:nvGrpSpPr>
        <p:grpSpPr>
          <a:xfrm>
            <a:off x="0" y="3109250"/>
            <a:ext cx="5760261" cy="92075"/>
            <a:chOff x="0" y="3109250"/>
            <a:chExt cx="5760261" cy="92075"/>
          </a:xfrm>
        </p:grpSpPr>
        <p:sp>
          <p:nvSpPr>
            <p:cNvPr id="461" name="Google Shape;461;g3b54a426ae3_0_1458"/>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3b54a426ae3_0_1458"/>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3b54a426ae3_0_1458"/>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4" name="Google Shape;464;g3b54a426ae3_0_1458"/>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465" name="Google Shape;465;g3b54a426ae3_0_1458"/>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466" name="Google Shape;466;g3b54a426ae3_0_1458"/>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467" name="Google Shape;467;g3b54a426ae3_0_1458"/>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468" name="Google Shape;468;g3b54a426ae3_0_1458"/>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469" name="Google Shape;469;g3b54a426ae3_0_1458"/>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470" name="Google Shape;470;g3b54a426ae3_0_1458"/>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471" name="Google Shape;471;g3b54a426ae3_0_1458"/>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472" name="Google Shape;472;g3b54a426ae3_0_1458"/>
          <p:cNvSpPr txBox="1"/>
          <p:nvPr/>
        </p:nvSpPr>
        <p:spPr>
          <a:xfrm>
            <a:off x="441272" y="767528"/>
            <a:ext cx="1721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800" u="none" cap="none" strike="noStrike">
                <a:solidFill>
                  <a:srgbClr val="000000"/>
                </a:solidFill>
                <a:latin typeface="Arial"/>
                <a:ea typeface="Arial"/>
                <a:cs typeface="Arial"/>
                <a:sym typeface="Arial"/>
              </a:rPr>
              <a:t>1</a:t>
            </a:r>
            <a:r>
              <a:rPr b="0" i="0" lang="en-US" sz="800" u="none" cap="none" strike="noStrike">
                <a:solidFill>
                  <a:srgbClr val="000000"/>
                </a:solidFill>
                <a:latin typeface="Arial"/>
                <a:ea typeface="Arial"/>
                <a:cs typeface="Arial"/>
                <a:sym typeface="Arial"/>
              </a:rPr>
              <a:t>                      0                    0</a:t>
            </a:r>
            <a:endParaRPr b="0" i="0" sz="800" u="none" cap="none" strike="noStrike">
              <a:solidFill>
                <a:srgbClr val="000000"/>
              </a:solidFill>
              <a:latin typeface="Arial"/>
              <a:ea typeface="Arial"/>
              <a:cs typeface="Arial"/>
              <a:sym typeface="Arial"/>
            </a:endParaRPr>
          </a:p>
        </p:txBody>
      </p:sp>
      <p:sp>
        <p:nvSpPr>
          <p:cNvPr id="473" name="Google Shape;473;g3b54a426ae3_0_1458"/>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474" name="Google Shape;474;g3b54a426ae3_0_1458"/>
          <p:cNvSpPr txBox="1"/>
          <p:nvPr/>
        </p:nvSpPr>
        <p:spPr>
          <a:xfrm>
            <a:off x="3409950" y="2678961"/>
            <a:ext cx="2317500" cy="430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50"/>
              <a:buFont typeface="Arial"/>
              <a:buNone/>
            </a:pPr>
            <a:r>
              <a:t/>
            </a:r>
            <a:endParaRPr b="1" i="0" sz="750" u="none" cap="none" strike="noStrike">
              <a:solidFill>
                <a:srgbClr val="1B1472"/>
              </a:solidFill>
              <a:latin typeface="Arial"/>
              <a:ea typeface="Arial"/>
              <a:cs typeface="Arial"/>
              <a:sym typeface="Arial"/>
            </a:endParaRPr>
          </a:p>
        </p:txBody>
      </p:sp>
      <p:sp>
        <p:nvSpPr>
          <p:cNvPr id="475" name="Google Shape;475;g3b54a426ae3_0_1458"/>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p:txBody>
      </p:sp>
      <p:cxnSp>
        <p:nvCxnSpPr>
          <p:cNvPr id="476" name="Google Shape;476;g3b54a426ae3_0_1458"/>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477" name="Google Shape;477;g3b54a426ae3_0_1458"/>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478" name="Google Shape;478;g3b54a426ae3_0_1458"/>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479" name="Google Shape;479;g3b54a426ae3_0_1458"/>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480" name="Google Shape;480;g3b54a426ae3_0_1458"/>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481" name="Google Shape;481;g3b54a426ae3_0_1458"/>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482" name="Google Shape;482;g3b54a426ae3_0_1458"/>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483" name="Google Shape;483;g3b54a426ae3_0_1458"/>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pic>
        <p:nvPicPr>
          <p:cNvPr id="484" name="Google Shape;484;g3b54a426ae3_0_1458"/>
          <p:cNvPicPr preferRelativeResize="0"/>
          <p:nvPr/>
        </p:nvPicPr>
        <p:blipFill rotWithShape="1">
          <a:blip r:embed="rId7">
            <a:alphaModFix/>
          </a:blip>
          <a:srcRect b="0" l="0" r="0" t="0"/>
          <a:stretch/>
        </p:blipFill>
        <p:spPr>
          <a:xfrm>
            <a:off x="3534515" y="15834"/>
            <a:ext cx="2241365" cy="1002022"/>
          </a:xfrm>
          <a:prstGeom prst="rect">
            <a:avLst/>
          </a:prstGeom>
          <a:noFill/>
          <a:ln>
            <a:noFill/>
          </a:ln>
        </p:spPr>
      </p:pic>
      <p:sp>
        <p:nvSpPr>
          <p:cNvPr id="485" name="Google Shape;485;g3b54a426ae3_0_1458"/>
          <p:cNvSpPr/>
          <p:nvPr/>
        </p:nvSpPr>
        <p:spPr>
          <a:xfrm>
            <a:off x="3346879" y="543947"/>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6" name="Google Shape;486;g3b54a426ae3_0_1458"/>
          <p:cNvSpPr/>
          <p:nvPr/>
        </p:nvSpPr>
        <p:spPr>
          <a:xfrm>
            <a:off x="5173205" y="434241"/>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0.5</a:t>
            </a:r>
            <a:endParaRPr b="1" i="0" sz="600" u="none" cap="none" strike="noStrike">
              <a:solidFill>
                <a:srgbClr val="000000"/>
              </a:solidFill>
              <a:latin typeface="Arial"/>
              <a:ea typeface="Arial"/>
              <a:cs typeface="Arial"/>
              <a:sym typeface="Arial"/>
            </a:endParaRPr>
          </a:p>
        </p:txBody>
      </p:sp>
      <p:sp>
        <p:nvSpPr>
          <p:cNvPr id="487" name="Google Shape;487;g3b54a426ae3_0_1458"/>
          <p:cNvSpPr txBox="1"/>
          <p:nvPr/>
        </p:nvSpPr>
        <p:spPr>
          <a:xfrm>
            <a:off x="82600" y="1717926"/>
            <a:ext cx="2793000" cy="9813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Target = R+</a:t>
            </a:r>
            <a:r>
              <a:rPr b="1" i="0" lang="en-US" sz="700" u="none" cap="none" strike="noStrike">
                <a:solidFill>
                  <a:srgbClr val="000000"/>
                </a:solidFill>
                <a:latin typeface="Arial"/>
                <a:ea typeface="Arial"/>
                <a:cs typeface="Arial"/>
                <a:sym typeface="Arial"/>
              </a:rPr>
              <a:t> γV(W) = 2+(0.9 * 0)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TD Error = Target – Old Estimate = 2-V(C) = 2-0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Update the value : V(C) = 0 + 0.5(2) = 1</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488" name="Google Shape;488;g3b54a426ae3_0_1458"/>
          <p:cNvSpPr/>
          <p:nvPr/>
        </p:nvSpPr>
        <p:spPr>
          <a:xfrm>
            <a:off x="514351" y="1714343"/>
            <a:ext cx="506100" cy="120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b54a426ae3_0_1492"/>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TD(0)</a:t>
            </a:r>
            <a:endParaRPr/>
          </a:p>
        </p:txBody>
      </p:sp>
      <p:sp>
        <p:nvSpPr>
          <p:cNvPr id="494" name="Google Shape;494;g3b54a426ae3_0_1492"/>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5" name="Google Shape;495;g3b54a426ae3_0_1492"/>
          <p:cNvGrpSpPr/>
          <p:nvPr/>
        </p:nvGrpSpPr>
        <p:grpSpPr>
          <a:xfrm>
            <a:off x="0" y="3109250"/>
            <a:ext cx="5760261" cy="92075"/>
            <a:chOff x="0" y="3109250"/>
            <a:chExt cx="5760261" cy="92075"/>
          </a:xfrm>
        </p:grpSpPr>
        <p:sp>
          <p:nvSpPr>
            <p:cNvPr id="496" name="Google Shape;496;g3b54a426ae3_0_1492"/>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g3b54a426ae3_0_1492"/>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3b54a426ae3_0_1492"/>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9" name="Google Shape;499;g3b54a426ae3_0_1492"/>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500" name="Google Shape;500;g3b54a426ae3_0_1492"/>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501" name="Google Shape;501;g3b54a426ae3_0_1492"/>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502" name="Google Shape;502;g3b54a426ae3_0_1492"/>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503" name="Google Shape;503;g3b54a426ae3_0_1492"/>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504" name="Google Shape;504;g3b54a426ae3_0_1492"/>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05" name="Google Shape;505;g3b54a426ae3_0_1492"/>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06" name="Google Shape;506;g3b54a426ae3_0_1492"/>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07" name="Google Shape;507;g3b54a426ae3_0_1492"/>
          <p:cNvSpPr txBox="1"/>
          <p:nvPr/>
        </p:nvSpPr>
        <p:spPr>
          <a:xfrm>
            <a:off x="441272" y="767528"/>
            <a:ext cx="1721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rgbClr val="000000"/>
                </a:solidFill>
                <a:latin typeface="Arial"/>
                <a:ea typeface="Arial"/>
                <a:cs typeface="Arial"/>
                <a:sym typeface="Arial"/>
              </a:rPr>
              <a:t>1                     </a:t>
            </a:r>
            <a:r>
              <a:rPr b="1" i="0" lang="en-US" sz="800" u="none" cap="none" strike="noStrike">
                <a:solidFill>
                  <a:srgbClr val="000000"/>
                </a:solidFill>
                <a:latin typeface="Arial"/>
                <a:ea typeface="Arial"/>
                <a:cs typeface="Arial"/>
                <a:sym typeface="Arial"/>
              </a:rPr>
              <a:t>0.95</a:t>
            </a:r>
            <a:r>
              <a:rPr b="0" i="0" lang="en-US" sz="800" u="none" cap="none" strike="noStrike">
                <a:solidFill>
                  <a:srgbClr val="000000"/>
                </a:solidFill>
                <a:latin typeface="Arial"/>
                <a:ea typeface="Arial"/>
                <a:cs typeface="Arial"/>
                <a:sym typeface="Arial"/>
              </a:rPr>
              <a:t>                  0</a:t>
            </a:r>
            <a:endParaRPr b="0" i="0" sz="800" u="none" cap="none" strike="noStrike">
              <a:solidFill>
                <a:srgbClr val="000000"/>
              </a:solidFill>
              <a:latin typeface="Arial"/>
              <a:ea typeface="Arial"/>
              <a:cs typeface="Arial"/>
              <a:sym typeface="Arial"/>
            </a:endParaRPr>
          </a:p>
        </p:txBody>
      </p:sp>
      <p:sp>
        <p:nvSpPr>
          <p:cNvPr id="508" name="Google Shape;508;g3b54a426ae3_0_1492"/>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509" name="Google Shape;509;g3b54a426ae3_0_1492"/>
          <p:cNvSpPr txBox="1"/>
          <p:nvPr/>
        </p:nvSpPr>
        <p:spPr>
          <a:xfrm>
            <a:off x="2667000" y="2678961"/>
            <a:ext cx="3060600" cy="430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In practice, we can define an episode cutoff (e.g., after 2 or10 steps or when Overheated occurs). If Overheated isn’t reached,  still the episode an be programmed to end artificially. That’s how learning continues.</a:t>
            </a:r>
            <a:endParaRPr b="1" i="0" sz="700" u="none" cap="none" strike="noStrike">
              <a:solidFill>
                <a:srgbClr val="1B1472"/>
              </a:solidFill>
              <a:latin typeface="Arial"/>
              <a:ea typeface="Arial"/>
              <a:cs typeface="Arial"/>
              <a:sym typeface="Arial"/>
            </a:endParaRPr>
          </a:p>
        </p:txBody>
      </p:sp>
      <p:sp>
        <p:nvSpPr>
          <p:cNvPr id="510" name="Google Shape;510;g3b54a426ae3_0_1492"/>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p:txBody>
      </p:sp>
      <p:cxnSp>
        <p:nvCxnSpPr>
          <p:cNvPr id="511" name="Google Shape;511;g3b54a426ae3_0_1492"/>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512" name="Google Shape;512;g3b54a426ae3_0_1492"/>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513" name="Google Shape;513;g3b54a426ae3_0_1492"/>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514" name="Google Shape;514;g3b54a426ae3_0_1492"/>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515" name="Google Shape;515;g3b54a426ae3_0_1492"/>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516" name="Google Shape;516;g3b54a426ae3_0_1492"/>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517" name="Google Shape;517;g3b54a426ae3_0_1492"/>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518" name="Google Shape;518;g3b54a426ae3_0_1492"/>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pic>
        <p:nvPicPr>
          <p:cNvPr id="519" name="Google Shape;519;g3b54a426ae3_0_1492"/>
          <p:cNvPicPr preferRelativeResize="0"/>
          <p:nvPr/>
        </p:nvPicPr>
        <p:blipFill rotWithShape="1">
          <a:blip r:embed="rId7">
            <a:alphaModFix/>
          </a:blip>
          <a:srcRect b="0" l="0" r="0" t="0"/>
          <a:stretch/>
        </p:blipFill>
        <p:spPr>
          <a:xfrm>
            <a:off x="3534515" y="15834"/>
            <a:ext cx="2241365" cy="1002022"/>
          </a:xfrm>
          <a:prstGeom prst="rect">
            <a:avLst/>
          </a:prstGeom>
          <a:noFill/>
          <a:ln>
            <a:noFill/>
          </a:ln>
        </p:spPr>
      </p:pic>
      <p:sp>
        <p:nvSpPr>
          <p:cNvPr id="520" name="Google Shape;520;g3b54a426ae3_0_1492"/>
          <p:cNvSpPr/>
          <p:nvPr/>
        </p:nvSpPr>
        <p:spPr>
          <a:xfrm>
            <a:off x="3346879" y="884668"/>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1" name="Google Shape;521;g3b54a426ae3_0_1492"/>
          <p:cNvSpPr/>
          <p:nvPr/>
        </p:nvSpPr>
        <p:spPr>
          <a:xfrm>
            <a:off x="5173205" y="434241"/>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0.5</a:t>
            </a:r>
            <a:endParaRPr b="1" i="0" sz="600" u="none" cap="none" strike="noStrike">
              <a:solidFill>
                <a:srgbClr val="000000"/>
              </a:solidFill>
              <a:latin typeface="Arial"/>
              <a:ea typeface="Arial"/>
              <a:cs typeface="Arial"/>
              <a:sym typeface="Arial"/>
            </a:endParaRPr>
          </a:p>
        </p:txBody>
      </p:sp>
      <p:sp>
        <p:nvSpPr>
          <p:cNvPr id="522" name="Google Shape;522;g3b54a426ae3_0_1492"/>
          <p:cNvSpPr txBox="1"/>
          <p:nvPr/>
        </p:nvSpPr>
        <p:spPr>
          <a:xfrm>
            <a:off x="82600" y="1717926"/>
            <a:ext cx="2793000" cy="765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C</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V(W) = 0 + 0.5 [1+ (0.9*1)-0] = 0.95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523" name="Google Shape;523;g3b54a426ae3_0_1492"/>
          <p:cNvSpPr/>
          <p:nvPr/>
        </p:nvSpPr>
        <p:spPr>
          <a:xfrm>
            <a:off x="846518" y="1716884"/>
            <a:ext cx="506100" cy="120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54a426ae3_0_1526"/>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TD(0)</a:t>
            </a:r>
            <a:endParaRPr/>
          </a:p>
        </p:txBody>
      </p:sp>
      <p:sp>
        <p:nvSpPr>
          <p:cNvPr id="529" name="Google Shape;529;g3b54a426ae3_0_1526"/>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0" name="Google Shape;530;g3b54a426ae3_0_1526"/>
          <p:cNvGrpSpPr/>
          <p:nvPr/>
        </p:nvGrpSpPr>
        <p:grpSpPr>
          <a:xfrm>
            <a:off x="0" y="3109250"/>
            <a:ext cx="5760261" cy="92075"/>
            <a:chOff x="0" y="3109250"/>
            <a:chExt cx="5760261" cy="92075"/>
          </a:xfrm>
        </p:grpSpPr>
        <p:sp>
          <p:nvSpPr>
            <p:cNvPr id="531" name="Google Shape;531;g3b54a426ae3_0_1526"/>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3b54a426ae3_0_1526"/>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g3b54a426ae3_0_1526"/>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4" name="Google Shape;534;g3b54a426ae3_0_1526"/>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535" name="Google Shape;535;g3b54a426ae3_0_1526"/>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536" name="Google Shape;536;g3b54a426ae3_0_1526"/>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537" name="Google Shape;537;g3b54a426ae3_0_1526"/>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538" name="Google Shape;538;g3b54a426ae3_0_1526"/>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539" name="Google Shape;539;g3b54a426ae3_0_1526"/>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40" name="Google Shape;540;g3b54a426ae3_0_1526"/>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41" name="Google Shape;541;g3b54a426ae3_0_1526"/>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42" name="Google Shape;542;g3b54a426ae3_0_1526"/>
          <p:cNvSpPr txBox="1"/>
          <p:nvPr/>
        </p:nvSpPr>
        <p:spPr>
          <a:xfrm>
            <a:off x="441272" y="767528"/>
            <a:ext cx="1721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rgbClr val="000000"/>
                </a:solidFill>
                <a:latin typeface="Arial"/>
                <a:ea typeface="Arial"/>
                <a:cs typeface="Arial"/>
                <a:sym typeface="Arial"/>
              </a:rPr>
              <a:t>1                     0.95                  0</a:t>
            </a:r>
            <a:endParaRPr b="0" i="0" sz="800" u="none" cap="none" strike="noStrike">
              <a:solidFill>
                <a:srgbClr val="000000"/>
              </a:solidFill>
              <a:latin typeface="Arial"/>
              <a:ea typeface="Arial"/>
              <a:cs typeface="Arial"/>
              <a:sym typeface="Arial"/>
            </a:endParaRPr>
          </a:p>
        </p:txBody>
      </p:sp>
      <p:sp>
        <p:nvSpPr>
          <p:cNvPr id="543" name="Google Shape;543;g3b54a426ae3_0_1526"/>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544" name="Google Shape;544;g3b54a426ae3_0_1526"/>
          <p:cNvSpPr txBox="1"/>
          <p:nvPr/>
        </p:nvSpPr>
        <p:spPr>
          <a:xfrm>
            <a:off x="4197349" y="2876550"/>
            <a:ext cx="1530000" cy="2328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Continued for 1 more episode…..</a:t>
            </a:r>
            <a:endParaRPr b="1" i="0" sz="700" u="none" cap="none" strike="noStrike">
              <a:solidFill>
                <a:srgbClr val="1B1472"/>
              </a:solidFill>
              <a:latin typeface="Arial"/>
              <a:ea typeface="Arial"/>
              <a:cs typeface="Arial"/>
              <a:sym typeface="Arial"/>
            </a:endParaRPr>
          </a:p>
        </p:txBody>
      </p:sp>
      <p:sp>
        <p:nvSpPr>
          <p:cNvPr id="545" name="Google Shape;545;g3b54a426ae3_0_1526"/>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V</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p:txBody>
      </p:sp>
      <p:cxnSp>
        <p:nvCxnSpPr>
          <p:cNvPr id="546" name="Google Shape;546;g3b54a426ae3_0_1526"/>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547" name="Google Shape;547;g3b54a426ae3_0_1526"/>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548" name="Google Shape;548;g3b54a426ae3_0_1526"/>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549" name="Google Shape;549;g3b54a426ae3_0_1526"/>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550" name="Google Shape;550;g3b54a426ae3_0_1526"/>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551" name="Google Shape;551;g3b54a426ae3_0_1526"/>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552" name="Google Shape;552;g3b54a426ae3_0_1526"/>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553" name="Google Shape;553;g3b54a426ae3_0_1526"/>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pic>
        <p:nvPicPr>
          <p:cNvPr id="554" name="Google Shape;554;g3b54a426ae3_0_1526"/>
          <p:cNvPicPr preferRelativeResize="0"/>
          <p:nvPr/>
        </p:nvPicPr>
        <p:blipFill rotWithShape="1">
          <a:blip r:embed="rId7">
            <a:alphaModFix/>
          </a:blip>
          <a:srcRect b="0" l="0" r="0" t="0"/>
          <a:stretch/>
        </p:blipFill>
        <p:spPr>
          <a:xfrm>
            <a:off x="3534515" y="15834"/>
            <a:ext cx="2241365" cy="1002022"/>
          </a:xfrm>
          <a:prstGeom prst="rect">
            <a:avLst/>
          </a:prstGeom>
          <a:noFill/>
          <a:ln>
            <a:noFill/>
          </a:ln>
        </p:spPr>
      </p:pic>
      <p:sp>
        <p:nvSpPr>
          <p:cNvPr id="555" name="Google Shape;555;g3b54a426ae3_0_1526"/>
          <p:cNvSpPr/>
          <p:nvPr/>
        </p:nvSpPr>
        <p:spPr>
          <a:xfrm>
            <a:off x="3346879" y="884668"/>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6" name="Google Shape;556;g3b54a426ae3_0_1526"/>
          <p:cNvSpPr/>
          <p:nvPr/>
        </p:nvSpPr>
        <p:spPr>
          <a:xfrm>
            <a:off x="5173205" y="434241"/>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0.5</a:t>
            </a:r>
            <a:endParaRPr b="1" i="0" sz="600" u="none" cap="none" strike="noStrike">
              <a:solidFill>
                <a:srgbClr val="000000"/>
              </a:solidFill>
              <a:latin typeface="Arial"/>
              <a:ea typeface="Arial"/>
              <a:cs typeface="Arial"/>
              <a:sym typeface="Arial"/>
            </a:endParaRPr>
          </a:p>
        </p:txBody>
      </p:sp>
      <p:sp>
        <p:nvSpPr>
          <p:cNvPr id="557" name="Google Shape;557;g3b54a426ae3_0_1526"/>
          <p:cNvSpPr txBox="1"/>
          <p:nvPr/>
        </p:nvSpPr>
        <p:spPr>
          <a:xfrm>
            <a:off x="82600" y="1717926"/>
            <a:ext cx="2793000" cy="13044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C</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t=0 : V(C) = 1 + 0.5 [2+ (0.9*1)-1] = 1.95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t=1 : V(C) = 1.95 + 0.5 [2+ (0.9*0.95)-1.95] = ~2.4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t=2 : V(W) = 0.95 + 0.5 [1+ (0.9*0.95)-0.95] = ~1.40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558" name="Google Shape;558;g3b54a426ae3_0_1526"/>
          <p:cNvSpPr txBox="1"/>
          <p:nvPr/>
        </p:nvSpPr>
        <p:spPr>
          <a:xfrm>
            <a:off x="432070" y="1085447"/>
            <a:ext cx="1721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800" u="none" cap="none" strike="noStrike">
                <a:solidFill>
                  <a:srgbClr val="000000"/>
                </a:solidFill>
                <a:latin typeface="Arial"/>
                <a:ea typeface="Arial"/>
                <a:cs typeface="Arial"/>
                <a:sym typeface="Arial"/>
              </a:rPr>
              <a:t>1.95                 2.40              1.40    </a:t>
            </a:r>
            <a:endParaRPr b="1" i="0" sz="8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b54a426ae3_0_1560"/>
          <p:cNvSpPr txBox="1"/>
          <p:nvPr>
            <p:ph type="title"/>
          </p:nvPr>
        </p:nvSpPr>
        <p:spPr>
          <a:xfrm>
            <a:off x="82600" y="109545"/>
            <a:ext cx="4943400" cy="261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sp>
        <p:nvSpPr>
          <p:cNvPr id="564" name="Google Shape;564;g3b54a426ae3_0_1560"/>
          <p:cNvSpPr txBox="1"/>
          <p:nvPr>
            <p:ph idx="1" type="body"/>
          </p:nvPr>
        </p:nvSpPr>
        <p:spPr>
          <a:xfrm>
            <a:off x="777220" y="516129"/>
            <a:ext cx="3812400" cy="2216400"/>
          </a:xfrm>
          <a:prstGeom prst="rect">
            <a:avLst/>
          </a:prstGeom>
          <a:noFill/>
          <a:ln>
            <a:noFill/>
          </a:ln>
        </p:spPr>
        <p:txBody>
          <a:bodyPr anchorCtr="0" anchor="t" bIns="0" lIns="0" spcFirstLastPara="1" rIns="0" wrap="square" tIns="0">
            <a:spAutoFit/>
          </a:bodyPr>
          <a:lstStyle/>
          <a:p>
            <a:pPr indent="-228600" lvl="0" marL="457200" rtl="0" algn="ctr">
              <a:lnSpc>
                <a:spcPct val="100000"/>
              </a:lnSpc>
              <a:spcBef>
                <a:spcPts val="0"/>
              </a:spcBef>
              <a:spcAft>
                <a:spcPts val="0"/>
              </a:spcAft>
              <a:buSzPts val="1400"/>
              <a:buNone/>
            </a:pPr>
            <a:r>
              <a:rPr b="1" lang="en-US" sz="1600"/>
              <a:t>Temporal Difference Learning Methods</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rPr b="1" lang="en-US" sz="1600">
                <a:solidFill>
                  <a:schemeClr val="dk1"/>
                </a:solidFill>
              </a:rPr>
              <a:t>On Policy Control Algorithms</a:t>
            </a:r>
            <a:endParaRPr b="1" sz="1600">
              <a:solidFill>
                <a:schemeClr val="dk1"/>
              </a:solidFill>
            </a:endParaRPr>
          </a:p>
        </p:txBody>
      </p:sp>
      <p:sp>
        <p:nvSpPr>
          <p:cNvPr id="565" name="Google Shape;565;g3b54a426ae3_0_1560"/>
          <p:cNvSpPr txBox="1"/>
          <p:nvPr/>
        </p:nvSpPr>
        <p:spPr>
          <a:xfrm>
            <a:off x="0" y="845400"/>
            <a:ext cx="2195100" cy="1673400"/>
          </a:xfrm>
          <a:prstGeom prst="rect">
            <a:avLst/>
          </a:prstGeom>
          <a:solidFill>
            <a:srgbClr val="FFC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1B1472"/>
                </a:solidFill>
              </a:rPr>
              <a:t>Next slides follow a full fledged numerical example of algorithm in the Race car example with Policy Evaluation based learning for 2 iterations</a:t>
            </a:r>
            <a:endParaRPr sz="1050">
              <a:solidFill>
                <a:srgbClr val="1B1472"/>
              </a:solidFill>
            </a:endParaRPr>
          </a:p>
          <a:p>
            <a:pPr indent="0" lvl="0" marL="0" rtl="0" algn="l">
              <a:spcBef>
                <a:spcPts val="0"/>
              </a:spcBef>
              <a:spcAft>
                <a:spcPts val="0"/>
              </a:spcAft>
              <a:buNone/>
            </a:pPr>
            <a:r>
              <a:rPr lang="en-US" sz="1050">
                <a:solidFill>
                  <a:srgbClr val="1B1472"/>
                </a:solidFill>
              </a:rPr>
              <a:t>Learners are advised to go through the run of the algorithm. This is a full fledged lecture material that was used in NSP2 cluster offering in 2025</a:t>
            </a:r>
            <a:endParaRPr sz="1050">
              <a:solidFill>
                <a:srgbClr val="1B147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3b54a426ae3_0_1565"/>
          <p:cNvSpPr txBox="1"/>
          <p:nvPr>
            <p:ph type="title"/>
          </p:nvPr>
        </p:nvSpPr>
        <p:spPr>
          <a:xfrm>
            <a:off x="82600" y="109545"/>
            <a:ext cx="4943400" cy="261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sp>
        <p:nvSpPr>
          <p:cNvPr id="571" name="Google Shape;571;g3b54a426ae3_0_1565"/>
          <p:cNvSpPr txBox="1"/>
          <p:nvPr>
            <p:ph idx="1" type="body"/>
          </p:nvPr>
        </p:nvSpPr>
        <p:spPr>
          <a:xfrm>
            <a:off x="777220" y="516129"/>
            <a:ext cx="3812400" cy="2462700"/>
          </a:xfrm>
          <a:prstGeom prst="rect">
            <a:avLst/>
          </a:prstGeom>
          <a:noFill/>
          <a:ln>
            <a:noFill/>
          </a:ln>
        </p:spPr>
        <p:txBody>
          <a:bodyPr anchorCtr="0" anchor="t" bIns="0" lIns="0" spcFirstLastPara="1" rIns="0" wrap="square" tIns="0">
            <a:spAutoFit/>
          </a:bodyPr>
          <a:lstStyle/>
          <a:p>
            <a:pPr indent="-228600" lvl="0" marL="457200" rtl="0" algn="ctr">
              <a:lnSpc>
                <a:spcPct val="100000"/>
              </a:lnSpc>
              <a:spcBef>
                <a:spcPts val="0"/>
              </a:spcBef>
              <a:spcAft>
                <a:spcPts val="0"/>
              </a:spcAft>
              <a:buSzPts val="1400"/>
              <a:buNone/>
            </a:pPr>
            <a:r>
              <a:rPr b="1" lang="en-US" sz="1600"/>
              <a:t>Temporal Difference Learning Methods</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rPr b="1" lang="en-US" sz="1600">
                <a:solidFill>
                  <a:schemeClr val="dk1"/>
                </a:solidFill>
              </a:rPr>
              <a:t>On Policy Control Algorithms</a:t>
            </a:r>
            <a:endParaRPr/>
          </a:p>
          <a:p>
            <a:pPr indent="-228600" lvl="0" marL="457200" rtl="0" algn="ctr">
              <a:lnSpc>
                <a:spcPct val="100000"/>
              </a:lnSpc>
              <a:spcBef>
                <a:spcPts val="0"/>
              </a:spcBef>
              <a:spcAft>
                <a:spcPts val="0"/>
              </a:spcAft>
              <a:buSzPts val="1400"/>
              <a:buNone/>
            </a:pPr>
            <a:r>
              <a:rPr b="1" lang="en-US" sz="1600">
                <a:solidFill>
                  <a:srgbClr val="0070C0"/>
                </a:solidFill>
              </a:rPr>
              <a:t>SARSA</a:t>
            </a:r>
            <a:endParaRPr b="1" sz="1600">
              <a:solidFill>
                <a:srgbClr val="0070C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b54a426ae3_0_1570"/>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SARSA</a:t>
            </a:r>
            <a:endParaRPr/>
          </a:p>
        </p:txBody>
      </p:sp>
      <p:sp>
        <p:nvSpPr>
          <p:cNvPr id="577" name="Google Shape;577;g3b54a426ae3_0_1570"/>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8" name="Google Shape;578;g3b54a426ae3_0_1570"/>
          <p:cNvGrpSpPr/>
          <p:nvPr/>
        </p:nvGrpSpPr>
        <p:grpSpPr>
          <a:xfrm>
            <a:off x="0" y="3109250"/>
            <a:ext cx="5760261" cy="92075"/>
            <a:chOff x="0" y="3109250"/>
            <a:chExt cx="5760261" cy="92075"/>
          </a:xfrm>
        </p:grpSpPr>
        <p:sp>
          <p:nvSpPr>
            <p:cNvPr id="579" name="Google Shape;579;g3b54a426ae3_0_1570"/>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g3b54a426ae3_0_1570"/>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g3b54a426ae3_0_1570"/>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2" name="Google Shape;582;g3b54a426ae3_0_1570"/>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583" name="Google Shape;583;g3b54a426ae3_0_1570"/>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584" name="Google Shape;584;g3b54a426ae3_0_1570"/>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585" name="Google Shape;585;g3b54a426ae3_0_1570"/>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586" name="Google Shape;586;g3b54a426ae3_0_1570"/>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587" name="Google Shape;587;g3b54a426ae3_0_1570"/>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588" name="Google Shape;588;g3b54a426ae3_0_1570"/>
          <p:cNvSpPr txBox="1"/>
          <p:nvPr/>
        </p:nvSpPr>
        <p:spPr>
          <a:xfrm>
            <a:off x="2811550" y="2609348"/>
            <a:ext cx="2915700" cy="4998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Use case : A driving policy is already learnt but there are few unforeseen changes. Policy needs to be retrained to reflect the actual risk observed via exploration</a:t>
            </a:r>
            <a:endParaRPr b="1" i="0" sz="700" u="none" cap="none" strike="noStrike">
              <a:solidFill>
                <a:srgbClr val="1B1472"/>
              </a:solidFill>
              <a:latin typeface="Arial"/>
              <a:ea typeface="Arial"/>
              <a:cs typeface="Arial"/>
              <a:sym typeface="Arial"/>
            </a:endParaRPr>
          </a:p>
        </p:txBody>
      </p:sp>
      <p:pic>
        <p:nvPicPr>
          <p:cNvPr id="589" name="Google Shape;589;g3b54a426ae3_0_1570"/>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590" name="Google Shape;590;g3b54a426ae3_0_1570"/>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591" name="Google Shape;591;g3b54a426ae3_0_1570"/>
          <p:cNvSpPr txBox="1"/>
          <p:nvPr/>
        </p:nvSpPr>
        <p:spPr>
          <a:xfrm>
            <a:off x="82600" y="1717926"/>
            <a:ext cx="2793000" cy="5502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592" name="Google Shape;592;g3b54a426ae3_0_1570"/>
          <p:cNvSpPr/>
          <p:nvPr/>
        </p:nvSpPr>
        <p:spPr>
          <a:xfrm>
            <a:off x="514351" y="1714343"/>
            <a:ext cx="506100" cy="120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93" name="Google Shape;593;g3b54a426ae3_0_1570"/>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94" name="Google Shape;594;g3b54a426ae3_0_1570"/>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95" name="Google Shape;595;g3b54a426ae3_0_1570"/>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596" name="Google Shape;596;g3b54a426ae3_0_1570"/>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chemeClr val="dk1"/>
                </a:solidFill>
                <a:latin typeface="Calibri"/>
                <a:ea typeface="Calibri"/>
                <a:cs typeface="Calibri"/>
                <a:sym typeface="Calibri"/>
              </a:rPr>
              <a:t>  0              0          0	0            0             0</a:t>
            </a:r>
            <a:endParaRPr b="0" i="0" sz="300" u="none" cap="none" strike="noStrike">
              <a:solidFill>
                <a:srgbClr val="000000"/>
              </a:solidFill>
              <a:latin typeface="Arial"/>
              <a:ea typeface="Arial"/>
              <a:cs typeface="Arial"/>
              <a:sym typeface="Arial"/>
            </a:endParaRPr>
          </a:p>
        </p:txBody>
      </p:sp>
      <p:sp>
        <p:nvSpPr>
          <p:cNvPr id="597" name="Google Shape;597;g3b54a426ae3_0_1570"/>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p:txBody>
      </p:sp>
      <p:cxnSp>
        <p:nvCxnSpPr>
          <p:cNvPr id="598" name="Google Shape;598;g3b54a426ae3_0_1570"/>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599" name="Google Shape;599;g3b54a426ae3_0_1570"/>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600" name="Google Shape;600;g3b54a426ae3_0_1570"/>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601" name="Google Shape;601;g3b54a426ae3_0_1570"/>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602" name="Google Shape;602;g3b54a426ae3_0_1570"/>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603" name="Google Shape;603;g3b54a426ae3_0_1570"/>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604" name="Google Shape;604;g3b54a426ae3_0_1570"/>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605" name="Google Shape;605;g3b54a426ae3_0_1570"/>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606" name="Google Shape;606;g3b54a426ae3_0_1570"/>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607" name="Google Shape;607;g3b54a426ae3_0_1570"/>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608" name="Google Shape;608;g3b54a426ae3_0_1570"/>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609" name="Google Shape;609;g3b54a426ae3_0_1570"/>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610" name="Google Shape;610;g3b54a426ae3_0_1570"/>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611" name="Google Shape;611;g3b54a426ae3_0_1570"/>
          <p:cNvSpPr/>
          <p:nvPr/>
        </p:nvSpPr>
        <p:spPr>
          <a:xfrm>
            <a:off x="3519941" y="197034"/>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2" name="Google Shape;612;g3b54a426ae3_0_1570"/>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b54a426ae3_0_1610"/>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SARSA</a:t>
            </a:r>
            <a:endParaRPr/>
          </a:p>
        </p:txBody>
      </p:sp>
      <p:sp>
        <p:nvSpPr>
          <p:cNvPr id="618" name="Google Shape;618;g3b54a426ae3_0_1610"/>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9" name="Google Shape;619;g3b54a426ae3_0_1610"/>
          <p:cNvGrpSpPr/>
          <p:nvPr/>
        </p:nvGrpSpPr>
        <p:grpSpPr>
          <a:xfrm>
            <a:off x="0" y="3109250"/>
            <a:ext cx="5760261" cy="92075"/>
            <a:chOff x="0" y="3109250"/>
            <a:chExt cx="5760261" cy="92075"/>
          </a:xfrm>
        </p:grpSpPr>
        <p:sp>
          <p:nvSpPr>
            <p:cNvPr id="620" name="Google Shape;620;g3b54a426ae3_0_1610"/>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3b54a426ae3_0_1610"/>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g3b54a426ae3_0_1610"/>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3" name="Google Shape;623;g3b54a426ae3_0_1610"/>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624" name="Google Shape;624;g3b54a426ae3_0_1610"/>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625" name="Google Shape;625;g3b54a426ae3_0_1610"/>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626" name="Google Shape;626;g3b54a426ae3_0_1610"/>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627" name="Google Shape;627;g3b54a426ae3_0_1610"/>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628" name="Google Shape;628;g3b54a426ae3_0_1610"/>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629" name="Google Shape;629;g3b54a426ae3_0_1610"/>
          <p:cNvSpPr txBox="1"/>
          <p:nvPr/>
        </p:nvSpPr>
        <p:spPr>
          <a:xfrm>
            <a:off x="1552944" y="2491404"/>
            <a:ext cx="2688900" cy="5757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From State “C” &amp; “W”, Action “F” &amp; “S” are derived respectively by applying E-greedy on current policy  from Q values learnt till now.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In the shown time step : (S,A,R,S,A) = (C,F,2,W,S)</a:t>
            </a:r>
            <a:endParaRPr b="1" i="0" sz="700" u="none" cap="none" strike="noStrike">
              <a:solidFill>
                <a:srgbClr val="1B1472"/>
              </a:solidFill>
              <a:latin typeface="Arial"/>
              <a:ea typeface="Arial"/>
              <a:cs typeface="Arial"/>
              <a:sym typeface="Arial"/>
            </a:endParaRPr>
          </a:p>
        </p:txBody>
      </p:sp>
      <p:pic>
        <p:nvPicPr>
          <p:cNvPr id="630" name="Google Shape;630;g3b54a426ae3_0_1610"/>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631" name="Google Shape;631;g3b54a426ae3_0_1610"/>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632" name="Google Shape;632;g3b54a426ae3_0_1610"/>
          <p:cNvSpPr txBox="1"/>
          <p:nvPr/>
        </p:nvSpPr>
        <p:spPr>
          <a:xfrm>
            <a:off x="82600" y="1717926"/>
            <a:ext cx="2793000" cy="765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Q(C,F) = 0 + 0.8 [2+ (0.9*0)-0] = 1.6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633" name="Google Shape;633;g3b54a426ae3_0_1610"/>
          <p:cNvSpPr/>
          <p:nvPr/>
        </p:nvSpPr>
        <p:spPr>
          <a:xfrm>
            <a:off x="514351" y="1714343"/>
            <a:ext cx="571500" cy="1494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4" name="Google Shape;634;g3b54a426ae3_0_1610"/>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635" name="Google Shape;635;g3b54a426ae3_0_1610"/>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636" name="Google Shape;636;g3b54a426ae3_0_1610"/>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637" name="Google Shape;637;g3b54a426ae3_0_1610"/>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chemeClr val="dk1"/>
                </a:solidFill>
                <a:latin typeface="Calibri"/>
                <a:ea typeface="Calibri"/>
                <a:cs typeface="Calibri"/>
                <a:sym typeface="Calibri"/>
              </a:rPr>
              <a:t>  </a:t>
            </a:r>
            <a:r>
              <a:rPr b="1" i="0" lang="en-US" sz="800" u="none" cap="none" strike="noStrike">
                <a:solidFill>
                  <a:schemeClr val="dk1"/>
                </a:solidFill>
                <a:latin typeface="Calibri"/>
                <a:ea typeface="Calibri"/>
                <a:cs typeface="Calibri"/>
                <a:sym typeface="Calibri"/>
              </a:rPr>
              <a:t>1.6</a:t>
            </a:r>
            <a:r>
              <a:rPr b="0" i="0" lang="en-US" sz="800" u="none" cap="none" strike="noStrike">
                <a:solidFill>
                  <a:schemeClr val="dk1"/>
                </a:solidFill>
                <a:latin typeface="Calibri"/>
                <a:ea typeface="Calibri"/>
                <a:cs typeface="Calibri"/>
                <a:sym typeface="Calibri"/>
              </a:rPr>
              <a:t>           0          0	0            0             0</a:t>
            </a:r>
            <a:endParaRPr b="0" i="0" sz="300" u="none" cap="none" strike="noStrike">
              <a:solidFill>
                <a:srgbClr val="000000"/>
              </a:solidFill>
              <a:latin typeface="Arial"/>
              <a:ea typeface="Arial"/>
              <a:cs typeface="Arial"/>
              <a:sym typeface="Arial"/>
            </a:endParaRPr>
          </a:p>
        </p:txBody>
      </p:sp>
      <p:sp>
        <p:nvSpPr>
          <p:cNvPr id="638" name="Google Shape;638;g3b54a426ae3_0_1610"/>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cxnSp>
        <p:nvCxnSpPr>
          <p:cNvPr id="639" name="Google Shape;639;g3b54a426ae3_0_1610"/>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640" name="Google Shape;640;g3b54a426ae3_0_1610"/>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641" name="Google Shape;641;g3b54a426ae3_0_1610"/>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642" name="Google Shape;642;g3b54a426ae3_0_1610"/>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643" name="Google Shape;643;g3b54a426ae3_0_1610"/>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644" name="Google Shape;644;g3b54a426ae3_0_1610"/>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645" name="Google Shape;645;g3b54a426ae3_0_1610"/>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646" name="Google Shape;646;g3b54a426ae3_0_1610"/>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647" name="Google Shape;647;g3b54a426ae3_0_1610"/>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648" name="Google Shape;648;g3b54a426ae3_0_1610"/>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649" name="Google Shape;649;g3b54a426ae3_0_1610"/>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650" name="Google Shape;650;g3b54a426ae3_0_1610"/>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651" name="Google Shape;651;g3b54a426ae3_0_1610"/>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652" name="Google Shape;652;g3b54a426ae3_0_1610"/>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3" name="Google Shape;653;g3b54a426ae3_0_1610"/>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54a426ae3_0_1650"/>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SARSA</a:t>
            </a:r>
            <a:endParaRPr/>
          </a:p>
        </p:txBody>
      </p:sp>
      <p:sp>
        <p:nvSpPr>
          <p:cNvPr id="659" name="Google Shape;659;g3b54a426ae3_0_1650"/>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0" name="Google Shape;660;g3b54a426ae3_0_1650"/>
          <p:cNvGrpSpPr/>
          <p:nvPr/>
        </p:nvGrpSpPr>
        <p:grpSpPr>
          <a:xfrm>
            <a:off x="0" y="3109250"/>
            <a:ext cx="5760261" cy="92075"/>
            <a:chOff x="0" y="3109250"/>
            <a:chExt cx="5760261" cy="92075"/>
          </a:xfrm>
        </p:grpSpPr>
        <p:sp>
          <p:nvSpPr>
            <p:cNvPr id="661" name="Google Shape;661;g3b54a426ae3_0_1650"/>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g3b54a426ae3_0_1650"/>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g3b54a426ae3_0_1650"/>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4" name="Google Shape;664;g3b54a426ae3_0_1650"/>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665" name="Google Shape;665;g3b54a426ae3_0_1650"/>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666" name="Google Shape;666;g3b54a426ae3_0_1650"/>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667" name="Google Shape;667;g3b54a426ae3_0_1650"/>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668" name="Google Shape;668;g3b54a426ae3_0_1650"/>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669" name="Google Shape;669;g3b54a426ae3_0_1650"/>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670" name="Google Shape;670;g3b54a426ae3_0_1650"/>
          <p:cNvSpPr txBox="1"/>
          <p:nvPr/>
        </p:nvSpPr>
        <p:spPr>
          <a:xfrm>
            <a:off x="2686493" y="2678961"/>
            <a:ext cx="3041100" cy="430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Terminating episode 1 after 2 steps. </a:t>
            </a:r>
            <a:r>
              <a:rPr b="0" i="0" lang="en-US" sz="600" u="none" cap="none" strike="noStrike">
                <a:solidFill>
                  <a:srgbClr val="000000"/>
                </a:solidFill>
                <a:latin typeface="Arial"/>
                <a:ea typeface="Arial"/>
                <a:cs typeface="Arial"/>
                <a:sym typeface="Arial"/>
              </a:rPr>
              <a:t>In practice, we can define an episode cutoff (e.g., after 2 or10 steps or when Overheated occurs). If Overheated isn’t reached,  still the episode an be programmed to end artificially. That’s how learning continues.</a:t>
            </a:r>
            <a:endParaRPr b="1" i="0" sz="600" u="none" cap="none" strike="noStrike">
              <a:solidFill>
                <a:srgbClr val="1B147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1B1472"/>
              </a:solidFill>
              <a:latin typeface="Arial"/>
              <a:ea typeface="Arial"/>
              <a:cs typeface="Arial"/>
              <a:sym typeface="Arial"/>
            </a:endParaRPr>
          </a:p>
        </p:txBody>
      </p:sp>
      <p:pic>
        <p:nvPicPr>
          <p:cNvPr id="671" name="Google Shape;671;g3b54a426ae3_0_1650"/>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672" name="Google Shape;672;g3b54a426ae3_0_1650"/>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673" name="Google Shape;673;g3b54a426ae3_0_1650"/>
          <p:cNvSpPr txBox="1"/>
          <p:nvPr/>
        </p:nvSpPr>
        <p:spPr>
          <a:xfrm>
            <a:off x="82600" y="1717926"/>
            <a:ext cx="2793000" cy="765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Q(W,S) = 0 + 0.6 [1+ (0.9*1.6)-0] = ~1.95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674" name="Google Shape;674;g3b54a426ae3_0_1650"/>
          <p:cNvSpPr/>
          <p:nvPr/>
        </p:nvSpPr>
        <p:spPr>
          <a:xfrm>
            <a:off x="879354" y="1711419"/>
            <a:ext cx="587400" cy="1521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5" name="Google Shape;675;g3b54a426ae3_0_1650"/>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676" name="Google Shape;676;g3b54a426ae3_0_1650"/>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677" name="Google Shape;677;g3b54a426ae3_0_1650"/>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678" name="Google Shape;678;g3b54a426ae3_0_1650"/>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chemeClr val="dk1"/>
                </a:solidFill>
                <a:latin typeface="Calibri"/>
                <a:ea typeface="Calibri"/>
                <a:cs typeface="Calibri"/>
                <a:sym typeface="Calibri"/>
              </a:rPr>
              <a:t>  1.6           0          0	</a:t>
            </a:r>
            <a:r>
              <a:rPr b="1" i="0" lang="en-US" sz="800" u="none" cap="none" strike="noStrike">
                <a:solidFill>
                  <a:schemeClr val="dk1"/>
                </a:solidFill>
                <a:latin typeface="Calibri"/>
                <a:ea typeface="Calibri"/>
                <a:cs typeface="Calibri"/>
                <a:sym typeface="Calibri"/>
              </a:rPr>
              <a:t>1.95</a:t>
            </a:r>
            <a:r>
              <a:rPr b="0" i="0" lang="en-US" sz="800" u="none" cap="none" strike="noStrike">
                <a:solidFill>
                  <a:schemeClr val="dk1"/>
                </a:solidFill>
                <a:latin typeface="Calibri"/>
                <a:ea typeface="Calibri"/>
                <a:cs typeface="Calibri"/>
                <a:sym typeface="Calibri"/>
              </a:rPr>
              <a:t>            0           0</a:t>
            </a:r>
            <a:endParaRPr b="0" i="0" sz="300" u="none" cap="none" strike="noStrike">
              <a:solidFill>
                <a:srgbClr val="000000"/>
              </a:solidFill>
              <a:latin typeface="Arial"/>
              <a:ea typeface="Arial"/>
              <a:cs typeface="Arial"/>
              <a:sym typeface="Arial"/>
            </a:endParaRPr>
          </a:p>
        </p:txBody>
      </p:sp>
      <p:cxnSp>
        <p:nvCxnSpPr>
          <p:cNvPr id="679" name="Google Shape;679;g3b54a426ae3_0_1650"/>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680" name="Google Shape;680;g3b54a426ae3_0_1650"/>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681" name="Google Shape;681;g3b54a426ae3_0_1650"/>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682" name="Google Shape;682;g3b54a426ae3_0_1650"/>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683" name="Google Shape;683;g3b54a426ae3_0_1650"/>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684" name="Google Shape;684;g3b54a426ae3_0_1650"/>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685" name="Google Shape;685;g3b54a426ae3_0_1650"/>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686" name="Google Shape;686;g3b54a426ae3_0_1650"/>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687" name="Google Shape;687;g3b54a426ae3_0_1650"/>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688" name="Google Shape;688;g3b54a426ae3_0_1650"/>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689" name="Google Shape;689;g3b54a426ae3_0_1650"/>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690" name="Google Shape;690;g3b54a426ae3_0_1650"/>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691" name="Google Shape;691;g3b54a426ae3_0_1650"/>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692" name="Google Shape;692;g3b54a426ae3_0_1650"/>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3" name="Google Shape;693;g3b54a426ae3_0_1650"/>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694" name="Google Shape;694;g3b54a426ae3_0_1650"/>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g3b54a426ae3_0_1690"/>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SARSA</a:t>
            </a:r>
            <a:endParaRPr/>
          </a:p>
        </p:txBody>
      </p:sp>
      <p:sp>
        <p:nvSpPr>
          <p:cNvPr id="700" name="Google Shape;700;g3b54a426ae3_0_1690"/>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01" name="Google Shape;701;g3b54a426ae3_0_1690"/>
          <p:cNvGrpSpPr/>
          <p:nvPr/>
        </p:nvGrpSpPr>
        <p:grpSpPr>
          <a:xfrm>
            <a:off x="0" y="3109250"/>
            <a:ext cx="5760261" cy="92075"/>
            <a:chOff x="0" y="3109250"/>
            <a:chExt cx="5760261" cy="92075"/>
          </a:xfrm>
        </p:grpSpPr>
        <p:sp>
          <p:nvSpPr>
            <p:cNvPr id="702" name="Google Shape;702;g3b54a426ae3_0_1690"/>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g3b54a426ae3_0_1690"/>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g3b54a426ae3_0_1690"/>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5" name="Google Shape;705;g3b54a426ae3_0_1690"/>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706" name="Google Shape;706;g3b54a426ae3_0_1690"/>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707" name="Google Shape;707;g3b54a426ae3_0_1690"/>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708" name="Google Shape;708;g3b54a426ae3_0_1690"/>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709" name="Google Shape;709;g3b54a426ae3_0_1690"/>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710" name="Google Shape;710;g3b54a426ae3_0_1690"/>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711" name="Google Shape;711;g3b54a426ae3_0_1690"/>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712" name="Google Shape;712;g3b54a426ae3_0_1690"/>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713" name="Google Shape;713;g3b54a426ae3_0_1690"/>
          <p:cNvSpPr txBox="1"/>
          <p:nvPr/>
        </p:nvSpPr>
        <p:spPr>
          <a:xfrm>
            <a:off x="92818" y="1649835"/>
            <a:ext cx="2793000" cy="15816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70C0"/>
                </a:solidFill>
                <a:latin typeface="Arial"/>
                <a:ea typeface="Arial"/>
                <a:cs typeface="Arial"/>
                <a:sym typeface="Arial"/>
              </a:rPr>
              <a:t>Episode 1: </a:t>
            </a:r>
            <a:r>
              <a:rPr b="1" i="0" lang="en-US" sz="600" u="none" cap="none" strike="noStrike">
                <a:solidFill>
                  <a:srgbClr val="C00000"/>
                </a:solidFill>
                <a:latin typeface="Arial"/>
                <a:ea typeface="Arial"/>
                <a:cs typeface="Arial"/>
                <a:sym typeface="Arial"/>
              </a:rPr>
              <a:t>C</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F</a:t>
            </a:r>
            <a:r>
              <a:rPr b="1" i="0" lang="en-US" sz="600" u="none" cap="none" strike="noStrike">
                <a:solidFill>
                  <a:srgbClr val="0070C0"/>
                </a:solidFill>
                <a:latin typeface="Arial"/>
                <a:ea typeface="Arial"/>
                <a:cs typeface="Arial"/>
                <a:sym typeface="Arial"/>
              </a:rPr>
              <a:t>, 2, </a:t>
            </a:r>
            <a:r>
              <a:rPr b="1" i="0" lang="en-US" sz="600" u="none" cap="none" strike="noStrike">
                <a:solidFill>
                  <a:srgbClr val="C00000"/>
                </a:solidFill>
                <a:latin typeface="Arial"/>
                <a:ea typeface="Arial"/>
                <a:cs typeface="Arial"/>
                <a:sym typeface="Arial"/>
              </a:rPr>
              <a:t>W</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S</a:t>
            </a:r>
            <a:r>
              <a:rPr b="1" i="0" lang="en-US" sz="600" u="none" cap="none" strike="noStrike">
                <a:solidFill>
                  <a:srgbClr val="0070C0"/>
                </a:solidFill>
                <a:latin typeface="Arial"/>
                <a:ea typeface="Arial"/>
                <a:cs typeface="Arial"/>
                <a:sym typeface="Arial"/>
              </a:rPr>
              <a:t>, 1, </a:t>
            </a:r>
            <a:r>
              <a:rPr b="1" i="0" lang="en-US" sz="600" u="none" cap="none" strike="noStrike">
                <a:solidFill>
                  <a:srgbClr val="C00000"/>
                </a:solidFill>
                <a:latin typeface="Arial"/>
                <a:ea typeface="Arial"/>
                <a:cs typeface="Arial"/>
                <a:sym typeface="Arial"/>
              </a:rPr>
              <a:t>C</a:t>
            </a:r>
            <a:r>
              <a:rPr b="1" i="0" lang="en-US" sz="600" u="none" cap="none" strike="noStrike">
                <a:solidFill>
                  <a:srgbClr val="0070C0"/>
                </a:solidFill>
                <a:latin typeface="Arial"/>
                <a:ea typeface="Arial"/>
                <a:cs typeface="Arial"/>
                <a:sym typeface="Arial"/>
              </a:rPr>
              <a:t> , </a:t>
            </a:r>
            <a:r>
              <a:rPr b="1" i="0" lang="en-US" sz="600" u="none" cap="none" strike="noStrike">
                <a:solidFill>
                  <a:schemeClr val="dk1"/>
                </a:solidFill>
                <a:latin typeface="Arial"/>
                <a:ea typeface="Arial"/>
                <a:cs typeface="Arial"/>
                <a:sym typeface="Arial"/>
              </a:rPr>
              <a:t>F</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70C0"/>
                </a:solidFill>
                <a:latin typeface="Arial"/>
                <a:ea typeface="Arial"/>
                <a:cs typeface="Arial"/>
                <a:sym typeface="Arial"/>
              </a:rPr>
              <a:t>Episode 2: </a:t>
            </a:r>
            <a:r>
              <a:rPr b="1" i="0" lang="en-US" sz="600" u="none" cap="none" strike="noStrike">
                <a:solidFill>
                  <a:srgbClr val="C00000"/>
                </a:solidFill>
                <a:latin typeface="Arial"/>
                <a:ea typeface="Arial"/>
                <a:cs typeface="Arial"/>
                <a:sym typeface="Arial"/>
              </a:rPr>
              <a:t>C</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F</a:t>
            </a:r>
            <a:r>
              <a:rPr b="1" i="0" lang="en-US" sz="600" u="none" cap="none" strike="noStrike">
                <a:solidFill>
                  <a:srgbClr val="0070C0"/>
                </a:solidFill>
                <a:latin typeface="Arial"/>
                <a:ea typeface="Arial"/>
                <a:cs typeface="Arial"/>
                <a:sym typeface="Arial"/>
              </a:rPr>
              <a:t>, 2, </a:t>
            </a:r>
            <a:r>
              <a:rPr b="1" i="0" lang="en-US" sz="600" u="none" cap="none" strike="noStrike">
                <a:solidFill>
                  <a:srgbClr val="C00000"/>
                </a:solidFill>
                <a:latin typeface="Arial"/>
                <a:ea typeface="Arial"/>
                <a:cs typeface="Arial"/>
                <a:sym typeface="Arial"/>
              </a:rPr>
              <a:t>C</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F</a:t>
            </a:r>
            <a:r>
              <a:rPr b="1" i="0" lang="en-US" sz="600" u="none" cap="none" strike="noStrike">
                <a:solidFill>
                  <a:srgbClr val="0070C0"/>
                </a:solidFill>
                <a:latin typeface="Arial"/>
                <a:ea typeface="Arial"/>
                <a:cs typeface="Arial"/>
                <a:sym typeface="Arial"/>
              </a:rPr>
              <a:t>, 2, </a:t>
            </a:r>
            <a:r>
              <a:rPr b="1" i="0" lang="en-US" sz="600" u="none" cap="none" strike="noStrike">
                <a:solidFill>
                  <a:srgbClr val="C00000"/>
                </a:solidFill>
                <a:latin typeface="Arial"/>
                <a:ea typeface="Arial"/>
                <a:cs typeface="Arial"/>
                <a:sym typeface="Arial"/>
              </a:rPr>
              <a:t>W, </a:t>
            </a:r>
            <a:r>
              <a:rPr b="1" i="0" lang="en-US" sz="600" u="none" cap="none" strike="noStrike">
                <a:solidFill>
                  <a:schemeClr val="dk1"/>
                </a:solidFill>
                <a:latin typeface="Arial"/>
                <a:ea typeface="Arial"/>
                <a:cs typeface="Arial"/>
                <a:sym typeface="Arial"/>
              </a:rPr>
              <a:t>S</a:t>
            </a:r>
            <a:r>
              <a:rPr b="1" i="0" lang="en-US" sz="600" u="none" cap="none" strike="noStrike">
                <a:solidFill>
                  <a:srgbClr val="0070C0"/>
                </a:solidFill>
                <a:latin typeface="Arial"/>
                <a:ea typeface="Arial"/>
                <a:cs typeface="Arial"/>
                <a:sym typeface="Arial"/>
              </a:rPr>
              <a:t>, 1, </a:t>
            </a:r>
            <a:r>
              <a:rPr b="1" i="0" lang="en-US" sz="600" u="none" cap="none" strike="noStrike">
                <a:solidFill>
                  <a:srgbClr val="C00000"/>
                </a:solidFill>
                <a:latin typeface="Arial"/>
                <a:ea typeface="Arial"/>
                <a:cs typeface="Arial"/>
                <a:sym typeface="Arial"/>
              </a:rPr>
              <a:t>W , </a:t>
            </a:r>
            <a:r>
              <a:rPr b="1" i="0" lang="en-US" sz="600" u="none" cap="none" strike="noStrike">
                <a:solidFill>
                  <a:schemeClr val="dk1"/>
                </a:solidFill>
                <a:latin typeface="Arial"/>
                <a:ea typeface="Arial"/>
                <a:cs typeface="Arial"/>
                <a:sym typeface="Arial"/>
              </a:rPr>
              <a:t>S,</a:t>
            </a:r>
            <a:r>
              <a:rPr b="1" i="0" lang="en-US" sz="600" u="none" cap="none" strike="noStrike">
                <a:solidFill>
                  <a:srgbClr val="0070C0"/>
                </a:solidFill>
                <a:latin typeface="Arial"/>
                <a:ea typeface="Arial"/>
                <a:cs typeface="Arial"/>
                <a:sym typeface="Arial"/>
              </a:rPr>
              <a:t> 1, </a:t>
            </a:r>
            <a:r>
              <a:rPr b="1" i="0" lang="en-US" sz="600" u="none" cap="none" strike="noStrike">
                <a:solidFill>
                  <a:srgbClr val="C00000"/>
                </a:solidFill>
                <a:latin typeface="Arial"/>
                <a:ea typeface="Arial"/>
                <a:cs typeface="Arial"/>
                <a:sym typeface="Arial"/>
              </a:rPr>
              <a:t>W , </a:t>
            </a:r>
            <a:r>
              <a:rPr b="1" i="0" lang="en-US" sz="600" u="none" cap="none" strike="noStrike">
                <a:solidFill>
                  <a:schemeClr val="dk1"/>
                </a:solidFill>
                <a:latin typeface="Arial"/>
                <a:ea typeface="Arial"/>
                <a:cs typeface="Arial"/>
                <a:sym typeface="Arial"/>
              </a:rPr>
              <a:t>F,</a:t>
            </a:r>
            <a:r>
              <a:rPr b="1" i="0" lang="en-US" sz="600" u="none" cap="none" strike="noStrike">
                <a:solidFill>
                  <a:srgbClr val="0070C0"/>
                </a:solidFill>
                <a:latin typeface="Arial"/>
                <a:ea typeface="Arial"/>
                <a:cs typeface="Arial"/>
                <a:sym typeface="Arial"/>
              </a:rPr>
              <a:t> -10, </a:t>
            </a:r>
            <a:r>
              <a:rPr b="1" i="0" lang="en-US" sz="600" u="none" cap="none" strike="noStrike">
                <a:solidFill>
                  <a:srgbClr val="C00000"/>
                </a:solidFill>
                <a:latin typeface="Arial"/>
                <a:ea typeface="Arial"/>
                <a:cs typeface="Arial"/>
                <a:sym typeface="Arial"/>
              </a:rPr>
              <a:t>O</a:t>
            </a:r>
            <a:r>
              <a:rPr b="1" i="0" lang="en-US" sz="600" u="none" cap="none" strike="noStrike">
                <a:solidFill>
                  <a:schemeClr val="dk1"/>
                </a:solidFill>
                <a:latin typeface="Arial"/>
                <a:ea typeface="Arial"/>
                <a:cs typeface="Arial"/>
                <a:sym typeface="Arial"/>
              </a:rPr>
              <a:t> </a:t>
            </a:r>
            <a:endParaRPr b="1" i="0" sz="6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Arial"/>
                <a:ea typeface="Arial"/>
                <a:cs typeface="Arial"/>
                <a:sym typeface="Arial"/>
              </a:rPr>
              <a:t>t=0 : Q(C,F) = 1.6 + 0.8 [2+ (0.9*1)-1.6] = 3.07</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Arial"/>
                <a:ea typeface="Arial"/>
                <a:cs typeface="Arial"/>
                <a:sym typeface="Arial"/>
              </a:rPr>
              <a:t>t=1 : Q(C,F) = 3.07 + 0.8 [2+ (0.9*1.95)-3.07] = ~3.62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Arial"/>
                <a:ea typeface="Arial"/>
                <a:cs typeface="Arial"/>
                <a:sym typeface="Arial"/>
              </a:rPr>
              <a:t>t=2 : Q(W,S) = 1.95 + 0.8 [1+ (0.9*1.95)-1.95] = ~2.59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Arial"/>
                <a:ea typeface="Arial"/>
                <a:cs typeface="Arial"/>
                <a:sym typeface="Arial"/>
              </a:rPr>
              <a:t>t=3 : Q(W,S) = 2.59 + 0.8 [1+ (0.9*0)-2.59] = ~1.32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Arial"/>
                <a:ea typeface="Arial"/>
                <a:cs typeface="Arial"/>
                <a:sym typeface="Arial"/>
              </a:rPr>
              <a:t>t=4 : Q(W,F) = 0 + 0.8 [-10+ (0.9*0)-0] = ~-8</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p:txBody>
      </p:sp>
      <p:sp>
        <p:nvSpPr>
          <p:cNvPr id="714" name="Google Shape;714;g3b54a426ae3_0_1690"/>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715" name="Google Shape;715;g3b54a426ae3_0_1690"/>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716" name="Google Shape;716;g3b54a426ae3_0_1690"/>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717" name="Google Shape;717;g3b54a426ae3_0_1690"/>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chemeClr val="dk1"/>
                </a:solidFill>
                <a:latin typeface="Calibri"/>
                <a:ea typeface="Calibri"/>
                <a:cs typeface="Calibri"/>
                <a:sym typeface="Calibri"/>
              </a:rPr>
              <a:t>  1.6          0          0	1.95            0             </a:t>
            </a:r>
            <a:endParaRPr b="0" i="0" sz="300" u="none" cap="none" strike="noStrike">
              <a:solidFill>
                <a:srgbClr val="000000"/>
              </a:solidFill>
              <a:latin typeface="Arial"/>
              <a:ea typeface="Arial"/>
              <a:cs typeface="Arial"/>
              <a:sym typeface="Arial"/>
            </a:endParaRPr>
          </a:p>
        </p:txBody>
      </p:sp>
      <p:cxnSp>
        <p:nvCxnSpPr>
          <p:cNvPr id="718" name="Google Shape;718;g3b54a426ae3_0_1690"/>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719" name="Google Shape;719;g3b54a426ae3_0_1690"/>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720" name="Google Shape;720;g3b54a426ae3_0_1690"/>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721" name="Google Shape;721;g3b54a426ae3_0_1690"/>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722" name="Google Shape;722;g3b54a426ae3_0_1690"/>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723" name="Google Shape;723;g3b54a426ae3_0_1690"/>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724" name="Google Shape;724;g3b54a426ae3_0_1690"/>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725" name="Google Shape;725;g3b54a426ae3_0_1690"/>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726" name="Google Shape;726;g3b54a426ae3_0_1690"/>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727" name="Google Shape;727;g3b54a426ae3_0_1690"/>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728" name="Google Shape;728;g3b54a426ae3_0_1690"/>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729" name="Google Shape;729;g3b54a426ae3_0_1690"/>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730" name="Google Shape;730;g3b54a426ae3_0_1690"/>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731" name="Google Shape;731;g3b54a426ae3_0_1690"/>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2" name="Google Shape;732;g3b54a426ae3_0_1690"/>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733" name="Google Shape;733;g3b54a426ae3_0_1690"/>
          <p:cNvSpPr txBox="1"/>
          <p:nvPr/>
        </p:nvSpPr>
        <p:spPr>
          <a:xfrm>
            <a:off x="289408" y="1110457"/>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800" u="none" cap="none" strike="noStrike">
                <a:solidFill>
                  <a:schemeClr val="dk1"/>
                </a:solidFill>
                <a:latin typeface="Calibri"/>
                <a:ea typeface="Calibri"/>
                <a:cs typeface="Calibri"/>
                <a:sym typeface="Calibri"/>
              </a:rPr>
              <a:t>  3.62          0          -8	1.32            </a:t>
            </a:r>
            <a:r>
              <a:rPr b="0" i="0" lang="en-US" sz="800" u="none" cap="none" strike="noStrike">
                <a:solidFill>
                  <a:schemeClr val="dk1"/>
                </a:solidFill>
                <a:latin typeface="Calibri"/>
                <a:ea typeface="Calibri"/>
                <a:cs typeface="Calibri"/>
                <a:sym typeface="Calibri"/>
              </a:rPr>
              <a:t>0             </a:t>
            </a:r>
            <a:endParaRPr b="0" i="0" sz="300" u="none" cap="none" strike="noStrike">
              <a:solidFill>
                <a:srgbClr val="000000"/>
              </a:solidFill>
              <a:latin typeface="Arial"/>
              <a:ea typeface="Arial"/>
              <a:cs typeface="Arial"/>
              <a:sym typeface="Arial"/>
            </a:endParaRPr>
          </a:p>
        </p:txBody>
      </p:sp>
      <p:sp>
        <p:nvSpPr>
          <p:cNvPr id="734" name="Google Shape;734;g3b54a426ae3_0_1690"/>
          <p:cNvSpPr txBox="1"/>
          <p:nvPr/>
        </p:nvSpPr>
        <p:spPr>
          <a:xfrm>
            <a:off x="309839" y="1415629"/>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800" u="none" cap="none" strike="noStrike">
                <a:solidFill>
                  <a:schemeClr val="dk1"/>
                </a:solidFill>
                <a:latin typeface="Calibri"/>
                <a:ea typeface="Calibri"/>
                <a:cs typeface="Calibri"/>
                <a:sym typeface="Calibri"/>
              </a:rPr>
              <a:t>  </a:t>
            </a:r>
            <a:r>
              <a:rPr b="0" i="0" lang="en-US" sz="800" u="none" cap="none" strike="noStrike">
                <a:solidFill>
                  <a:schemeClr val="dk1"/>
                </a:solidFill>
                <a:latin typeface="Calibri"/>
                <a:ea typeface="Calibri"/>
                <a:cs typeface="Calibri"/>
                <a:sym typeface="Calibri"/>
              </a:rPr>
              <a:t>          </a:t>
            </a:r>
            <a:endParaRPr b="0" i="0" sz="300" u="none" cap="none" strike="noStrike">
              <a:solidFill>
                <a:srgbClr val="000000"/>
              </a:solidFill>
              <a:latin typeface="Arial"/>
              <a:ea typeface="Arial"/>
              <a:cs typeface="Arial"/>
              <a:sym typeface="Arial"/>
            </a:endParaRPr>
          </a:p>
        </p:txBody>
      </p:sp>
      <p:sp>
        <p:nvSpPr>
          <p:cNvPr id="735" name="Google Shape;735;g3b54a426ae3_0_1690"/>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b54a426ae3_0_1730"/>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SARSA</a:t>
            </a:r>
            <a:endParaRPr/>
          </a:p>
        </p:txBody>
      </p:sp>
      <p:sp>
        <p:nvSpPr>
          <p:cNvPr id="741" name="Google Shape;741;g3b54a426ae3_0_1730"/>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2" name="Google Shape;742;g3b54a426ae3_0_1730"/>
          <p:cNvGrpSpPr/>
          <p:nvPr/>
        </p:nvGrpSpPr>
        <p:grpSpPr>
          <a:xfrm>
            <a:off x="0" y="3109250"/>
            <a:ext cx="5760261" cy="92075"/>
            <a:chOff x="0" y="3109250"/>
            <a:chExt cx="5760261" cy="92075"/>
          </a:xfrm>
        </p:grpSpPr>
        <p:sp>
          <p:nvSpPr>
            <p:cNvPr id="743" name="Google Shape;743;g3b54a426ae3_0_1730"/>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g3b54a426ae3_0_1730"/>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g3b54a426ae3_0_1730"/>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6" name="Google Shape;746;g3b54a426ae3_0_1730"/>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747" name="Google Shape;747;g3b54a426ae3_0_1730"/>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748" name="Google Shape;748;g3b54a426ae3_0_1730"/>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749" name="Google Shape;749;g3b54a426ae3_0_1730"/>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750" name="Google Shape;750;g3b54a426ae3_0_1730"/>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751" name="Google Shape;751;g3b54a426ae3_0_1730"/>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752" name="Google Shape;752;g3b54a426ae3_0_1730"/>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753" name="Google Shape;753;g3b54a426ae3_0_1730"/>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754" name="Google Shape;754;g3b54a426ae3_0_1730"/>
          <p:cNvSpPr txBox="1"/>
          <p:nvPr/>
        </p:nvSpPr>
        <p:spPr>
          <a:xfrm>
            <a:off x="81158" y="1997248"/>
            <a:ext cx="2793000" cy="16740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70C0"/>
                </a:solidFill>
                <a:latin typeface="Arial"/>
                <a:ea typeface="Arial"/>
                <a:cs typeface="Arial"/>
                <a:sym typeface="Arial"/>
              </a:rPr>
              <a:t>Episode 1: </a:t>
            </a:r>
            <a:r>
              <a:rPr b="1" i="0" lang="en-US" sz="600" u="none" cap="none" strike="noStrike">
                <a:solidFill>
                  <a:srgbClr val="C00000"/>
                </a:solidFill>
                <a:latin typeface="Arial"/>
                <a:ea typeface="Arial"/>
                <a:cs typeface="Arial"/>
                <a:sym typeface="Arial"/>
              </a:rPr>
              <a:t>C</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F</a:t>
            </a:r>
            <a:r>
              <a:rPr b="1" i="0" lang="en-US" sz="600" u="none" cap="none" strike="noStrike">
                <a:solidFill>
                  <a:srgbClr val="0070C0"/>
                </a:solidFill>
                <a:latin typeface="Arial"/>
                <a:ea typeface="Arial"/>
                <a:cs typeface="Arial"/>
                <a:sym typeface="Arial"/>
              </a:rPr>
              <a:t>, 2, </a:t>
            </a:r>
            <a:r>
              <a:rPr b="1" i="0" lang="en-US" sz="600" u="none" cap="none" strike="noStrike">
                <a:solidFill>
                  <a:srgbClr val="C00000"/>
                </a:solidFill>
                <a:latin typeface="Arial"/>
                <a:ea typeface="Arial"/>
                <a:cs typeface="Arial"/>
                <a:sym typeface="Arial"/>
              </a:rPr>
              <a:t>W</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S</a:t>
            </a:r>
            <a:r>
              <a:rPr b="1" i="0" lang="en-US" sz="600" u="none" cap="none" strike="noStrike">
                <a:solidFill>
                  <a:srgbClr val="0070C0"/>
                </a:solidFill>
                <a:latin typeface="Arial"/>
                <a:ea typeface="Arial"/>
                <a:cs typeface="Arial"/>
                <a:sym typeface="Arial"/>
              </a:rPr>
              <a:t>, 1, </a:t>
            </a:r>
            <a:r>
              <a:rPr b="1" i="0" lang="en-US" sz="600" u="none" cap="none" strike="noStrike">
                <a:solidFill>
                  <a:srgbClr val="C00000"/>
                </a:solidFill>
                <a:latin typeface="Arial"/>
                <a:ea typeface="Arial"/>
                <a:cs typeface="Arial"/>
                <a:sym typeface="Arial"/>
              </a:rPr>
              <a:t>C</a:t>
            </a:r>
            <a:r>
              <a:rPr b="1" i="0" lang="en-US" sz="600" u="none" cap="none" strike="noStrike">
                <a:solidFill>
                  <a:srgbClr val="0070C0"/>
                </a:solidFill>
                <a:latin typeface="Arial"/>
                <a:ea typeface="Arial"/>
                <a:cs typeface="Arial"/>
                <a:sym typeface="Arial"/>
              </a:rPr>
              <a:t> , </a:t>
            </a:r>
            <a:r>
              <a:rPr b="1" i="0" lang="en-US" sz="600" u="none" cap="none" strike="noStrike">
                <a:solidFill>
                  <a:schemeClr val="dk1"/>
                </a:solidFill>
                <a:latin typeface="Arial"/>
                <a:ea typeface="Arial"/>
                <a:cs typeface="Arial"/>
                <a:sym typeface="Arial"/>
              </a:rPr>
              <a:t>F</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70C0"/>
                </a:solidFill>
                <a:latin typeface="Arial"/>
                <a:ea typeface="Arial"/>
                <a:cs typeface="Arial"/>
                <a:sym typeface="Arial"/>
              </a:rPr>
              <a:t>Episode 2: </a:t>
            </a:r>
            <a:r>
              <a:rPr b="1" i="0" lang="en-US" sz="600" u="none" cap="none" strike="noStrike">
                <a:solidFill>
                  <a:srgbClr val="C00000"/>
                </a:solidFill>
                <a:latin typeface="Arial"/>
                <a:ea typeface="Arial"/>
                <a:cs typeface="Arial"/>
                <a:sym typeface="Arial"/>
              </a:rPr>
              <a:t>C</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F</a:t>
            </a:r>
            <a:r>
              <a:rPr b="1" i="0" lang="en-US" sz="600" u="none" cap="none" strike="noStrike">
                <a:solidFill>
                  <a:srgbClr val="0070C0"/>
                </a:solidFill>
                <a:latin typeface="Arial"/>
                <a:ea typeface="Arial"/>
                <a:cs typeface="Arial"/>
                <a:sym typeface="Arial"/>
              </a:rPr>
              <a:t>, 2, </a:t>
            </a:r>
            <a:r>
              <a:rPr b="1" i="0" lang="en-US" sz="600" u="none" cap="none" strike="noStrike">
                <a:solidFill>
                  <a:srgbClr val="C00000"/>
                </a:solidFill>
                <a:latin typeface="Arial"/>
                <a:ea typeface="Arial"/>
                <a:cs typeface="Arial"/>
                <a:sym typeface="Arial"/>
              </a:rPr>
              <a:t>C</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F</a:t>
            </a:r>
            <a:r>
              <a:rPr b="1" i="0" lang="en-US" sz="600" u="none" cap="none" strike="noStrike">
                <a:solidFill>
                  <a:srgbClr val="0070C0"/>
                </a:solidFill>
                <a:latin typeface="Arial"/>
                <a:ea typeface="Arial"/>
                <a:cs typeface="Arial"/>
                <a:sym typeface="Arial"/>
              </a:rPr>
              <a:t>, 2, </a:t>
            </a:r>
            <a:r>
              <a:rPr b="1" i="0" lang="en-US" sz="600" u="none" cap="none" strike="noStrike">
                <a:solidFill>
                  <a:srgbClr val="C00000"/>
                </a:solidFill>
                <a:latin typeface="Arial"/>
                <a:ea typeface="Arial"/>
                <a:cs typeface="Arial"/>
                <a:sym typeface="Arial"/>
              </a:rPr>
              <a:t>W, </a:t>
            </a:r>
            <a:r>
              <a:rPr b="1" i="0" lang="en-US" sz="600" u="none" cap="none" strike="noStrike">
                <a:solidFill>
                  <a:schemeClr val="dk1"/>
                </a:solidFill>
                <a:latin typeface="Arial"/>
                <a:ea typeface="Arial"/>
                <a:cs typeface="Arial"/>
                <a:sym typeface="Arial"/>
              </a:rPr>
              <a:t>S</a:t>
            </a:r>
            <a:r>
              <a:rPr b="1" i="0" lang="en-US" sz="600" u="none" cap="none" strike="noStrike">
                <a:solidFill>
                  <a:srgbClr val="0070C0"/>
                </a:solidFill>
                <a:latin typeface="Arial"/>
                <a:ea typeface="Arial"/>
                <a:cs typeface="Arial"/>
                <a:sym typeface="Arial"/>
              </a:rPr>
              <a:t>, 1, </a:t>
            </a:r>
            <a:r>
              <a:rPr b="1" i="0" lang="en-US" sz="600" u="none" cap="none" strike="noStrike">
                <a:solidFill>
                  <a:srgbClr val="C00000"/>
                </a:solidFill>
                <a:latin typeface="Arial"/>
                <a:ea typeface="Arial"/>
                <a:cs typeface="Arial"/>
                <a:sym typeface="Arial"/>
              </a:rPr>
              <a:t>W , </a:t>
            </a:r>
            <a:r>
              <a:rPr b="1" i="0" lang="en-US" sz="600" u="none" cap="none" strike="noStrike">
                <a:solidFill>
                  <a:schemeClr val="dk1"/>
                </a:solidFill>
                <a:latin typeface="Arial"/>
                <a:ea typeface="Arial"/>
                <a:cs typeface="Arial"/>
                <a:sym typeface="Arial"/>
              </a:rPr>
              <a:t>S,</a:t>
            </a:r>
            <a:r>
              <a:rPr b="1" i="0" lang="en-US" sz="600" u="none" cap="none" strike="noStrike">
                <a:solidFill>
                  <a:srgbClr val="0070C0"/>
                </a:solidFill>
                <a:latin typeface="Arial"/>
                <a:ea typeface="Arial"/>
                <a:cs typeface="Arial"/>
                <a:sym typeface="Arial"/>
              </a:rPr>
              <a:t> 1, </a:t>
            </a:r>
            <a:r>
              <a:rPr b="1" i="0" lang="en-US" sz="600" u="none" cap="none" strike="noStrike">
                <a:solidFill>
                  <a:srgbClr val="C00000"/>
                </a:solidFill>
                <a:latin typeface="Arial"/>
                <a:ea typeface="Arial"/>
                <a:cs typeface="Arial"/>
                <a:sym typeface="Arial"/>
              </a:rPr>
              <a:t>W , </a:t>
            </a:r>
            <a:r>
              <a:rPr b="1" i="0" lang="en-US" sz="600" u="none" cap="none" strike="noStrike">
                <a:solidFill>
                  <a:schemeClr val="dk1"/>
                </a:solidFill>
                <a:latin typeface="Arial"/>
                <a:ea typeface="Arial"/>
                <a:cs typeface="Arial"/>
                <a:sym typeface="Arial"/>
              </a:rPr>
              <a:t>F,</a:t>
            </a:r>
            <a:r>
              <a:rPr b="1" i="0" lang="en-US" sz="600" u="none" cap="none" strike="noStrike">
                <a:solidFill>
                  <a:srgbClr val="0070C0"/>
                </a:solidFill>
                <a:latin typeface="Arial"/>
                <a:ea typeface="Arial"/>
                <a:cs typeface="Arial"/>
                <a:sym typeface="Arial"/>
              </a:rPr>
              <a:t> -10, </a:t>
            </a:r>
            <a:r>
              <a:rPr b="1" i="0" lang="en-US" sz="600" u="none" cap="none" strike="noStrike">
                <a:solidFill>
                  <a:srgbClr val="C00000"/>
                </a:solidFill>
                <a:latin typeface="Arial"/>
                <a:ea typeface="Arial"/>
                <a:cs typeface="Arial"/>
                <a:sym typeface="Arial"/>
              </a:rPr>
              <a:t>O</a:t>
            </a:r>
            <a:r>
              <a:rPr b="1" i="0" lang="en-US" sz="600" u="none" cap="none" strike="noStrike">
                <a:solidFill>
                  <a:schemeClr val="dk1"/>
                </a:solidFill>
                <a:latin typeface="Arial"/>
                <a:ea typeface="Arial"/>
                <a:cs typeface="Arial"/>
                <a:sym typeface="Arial"/>
              </a:rPr>
              <a:t> </a:t>
            </a:r>
            <a:endParaRPr b="1" i="0" sz="6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70C0"/>
                </a:solidFill>
                <a:latin typeface="Arial"/>
                <a:ea typeface="Arial"/>
                <a:cs typeface="Arial"/>
                <a:sym typeface="Arial"/>
              </a:rPr>
              <a:t>Episode 3: </a:t>
            </a:r>
            <a:r>
              <a:rPr b="1" i="0" lang="en-US" sz="600" u="none" cap="none" strike="noStrike">
                <a:solidFill>
                  <a:srgbClr val="C00000"/>
                </a:solidFill>
                <a:latin typeface="Arial"/>
                <a:ea typeface="Arial"/>
                <a:cs typeface="Arial"/>
                <a:sym typeface="Arial"/>
              </a:rPr>
              <a:t>W</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S</a:t>
            </a:r>
            <a:r>
              <a:rPr b="1" i="0" lang="en-US" sz="600" u="none" cap="none" strike="noStrike">
                <a:solidFill>
                  <a:srgbClr val="0070C0"/>
                </a:solidFill>
                <a:latin typeface="Arial"/>
                <a:ea typeface="Arial"/>
                <a:cs typeface="Arial"/>
                <a:sym typeface="Arial"/>
              </a:rPr>
              <a:t>, +1, </a:t>
            </a:r>
            <a:r>
              <a:rPr b="1" i="0" lang="en-US" sz="600" u="none" cap="none" strike="noStrike">
                <a:solidFill>
                  <a:srgbClr val="C00000"/>
                </a:solidFill>
                <a:latin typeface="Arial"/>
                <a:ea typeface="Arial"/>
                <a:cs typeface="Arial"/>
                <a:sym typeface="Arial"/>
              </a:rPr>
              <a:t>W</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F, </a:t>
            </a:r>
            <a:r>
              <a:rPr b="1" i="0" lang="en-US" sz="600" u="none" cap="none" strike="noStrike">
                <a:solidFill>
                  <a:srgbClr val="0070C0"/>
                </a:solidFill>
                <a:latin typeface="Arial"/>
                <a:ea typeface="Arial"/>
                <a:cs typeface="Arial"/>
                <a:sym typeface="Arial"/>
              </a:rPr>
              <a:t>+10, </a:t>
            </a:r>
            <a:r>
              <a:rPr b="1" i="0" lang="en-US" sz="600" u="none" cap="none" strike="noStrike">
                <a:solidFill>
                  <a:srgbClr val="C00000"/>
                </a:solidFill>
                <a:latin typeface="Arial"/>
                <a:ea typeface="Arial"/>
                <a:cs typeface="Arial"/>
                <a:sym typeface="Arial"/>
              </a:rPr>
              <a:t>O</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Arial"/>
                <a:ea typeface="Arial"/>
                <a:cs typeface="Arial"/>
                <a:sym typeface="Arial"/>
              </a:rPr>
              <a:t>t=0 : Q(W,S)  = 1.32 + 0.8 [1+ (0.9*</a:t>
            </a:r>
            <a:r>
              <a:rPr b="1" i="0" lang="en-US" sz="600" u="none" cap="none" strike="noStrike">
                <a:solidFill>
                  <a:srgbClr val="FF0000"/>
                </a:solidFill>
                <a:latin typeface="Arial"/>
                <a:ea typeface="Arial"/>
                <a:cs typeface="Arial"/>
                <a:sym typeface="Arial"/>
              </a:rPr>
              <a:t>-8</a:t>
            </a:r>
            <a:r>
              <a:rPr b="1" i="0" lang="en-US" sz="600" u="none" cap="none" strike="noStrike">
                <a:solidFill>
                  <a:schemeClr val="dk1"/>
                </a:solidFill>
                <a:latin typeface="Arial"/>
                <a:ea typeface="Arial"/>
                <a:cs typeface="Arial"/>
                <a:sym typeface="Arial"/>
              </a:rPr>
              <a:t>)-1.32] = </a:t>
            </a:r>
            <a:r>
              <a:rPr b="1" i="0" lang="en-US" sz="600" u="none" cap="none" strike="noStrike">
                <a:solidFill>
                  <a:srgbClr val="FF0000"/>
                </a:solidFill>
                <a:latin typeface="Arial"/>
                <a:ea typeface="Arial"/>
                <a:cs typeface="Arial"/>
                <a:sym typeface="Arial"/>
              </a:rPr>
              <a:t>-4.69</a:t>
            </a:r>
            <a:r>
              <a:rPr b="1" i="0" lang="en-US" sz="600" u="none" cap="none" strike="noStrike">
                <a:solidFill>
                  <a:schemeClr val="dk1"/>
                </a:solidFill>
                <a:latin typeface="Arial"/>
                <a:ea typeface="Arial"/>
                <a:cs typeface="Arial"/>
                <a:sym typeface="Arial"/>
              </a:rPr>
              <a:t>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Arial"/>
                <a:ea typeface="Arial"/>
                <a:cs typeface="Arial"/>
                <a:sym typeface="Arial"/>
              </a:rPr>
              <a:t>t=1 : Q(W,F) = -8 + 0.8 [10+ (0.9*</a:t>
            </a:r>
            <a:r>
              <a:rPr b="1" i="0" lang="en-US" sz="600" u="none" cap="none" strike="noStrike">
                <a:solidFill>
                  <a:srgbClr val="FF0000"/>
                </a:solidFill>
                <a:latin typeface="Arial"/>
                <a:ea typeface="Arial"/>
                <a:cs typeface="Arial"/>
                <a:sym typeface="Arial"/>
              </a:rPr>
              <a:t>0</a:t>
            </a:r>
            <a:r>
              <a:rPr b="1" i="0" lang="en-US" sz="600" u="none" cap="none" strike="noStrike">
                <a:solidFill>
                  <a:schemeClr val="dk1"/>
                </a:solidFill>
                <a:latin typeface="Arial"/>
                <a:ea typeface="Arial"/>
                <a:cs typeface="Arial"/>
                <a:sym typeface="Arial"/>
              </a:rPr>
              <a:t>)+8] = ~</a:t>
            </a:r>
            <a:r>
              <a:rPr b="1" i="0" lang="en-US" sz="600" u="none" cap="none" strike="noStrike">
                <a:solidFill>
                  <a:srgbClr val="FF0000"/>
                </a:solidFill>
                <a:latin typeface="Arial"/>
                <a:ea typeface="Arial"/>
                <a:cs typeface="Arial"/>
                <a:sym typeface="Arial"/>
              </a:rPr>
              <a:t>+6.4</a:t>
            </a:r>
            <a:r>
              <a:rPr b="1" i="0" lang="en-US" sz="600" u="none" cap="none" strike="noStrike">
                <a:solidFill>
                  <a:schemeClr val="dk1"/>
                </a:solidFill>
                <a:latin typeface="Arial"/>
                <a:ea typeface="Arial"/>
                <a:cs typeface="Arial"/>
                <a:sym typeface="Arial"/>
              </a:rPr>
              <a:t>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70C0"/>
                </a:solidFill>
                <a:latin typeface="Arial"/>
                <a:ea typeface="Arial"/>
                <a:cs typeface="Arial"/>
                <a:sym typeface="Arial"/>
              </a:rPr>
              <a:t>Episode 4: </a:t>
            </a:r>
            <a:r>
              <a:rPr b="1" i="0" lang="en-US" sz="600" u="none" cap="none" strike="noStrike">
                <a:solidFill>
                  <a:srgbClr val="C00000"/>
                </a:solidFill>
                <a:latin typeface="Arial"/>
                <a:ea typeface="Arial"/>
                <a:cs typeface="Arial"/>
                <a:sym typeface="Arial"/>
              </a:rPr>
              <a:t>W</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S</a:t>
            </a:r>
            <a:r>
              <a:rPr b="1" i="0" lang="en-US" sz="600" u="none" cap="none" strike="noStrike">
                <a:solidFill>
                  <a:srgbClr val="0070C0"/>
                </a:solidFill>
                <a:latin typeface="Arial"/>
                <a:ea typeface="Arial"/>
                <a:cs typeface="Arial"/>
                <a:sym typeface="Arial"/>
              </a:rPr>
              <a:t>, +1, </a:t>
            </a:r>
            <a:r>
              <a:rPr b="1" i="0" lang="en-US" sz="600" u="none" cap="none" strike="noStrike">
                <a:solidFill>
                  <a:srgbClr val="C00000"/>
                </a:solidFill>
                <a:latin typeface="Arial"/>
                <a:ea typeface="Arial"/>
                <a:cs typeface="Arial"/>
                <a:sym typeface="Arial"/>
              </a:rPr>
              <a:t>W</a:t>
            </a:r>
            <a:r>
              <a:rPr b="1" i="0" lang="en-US" sz="600" u="none" cap="none" strike="noStrike">
                <a:solidFill>
                  <a:srgbClr val="0070C0"/>
                </a:solidFill>
                <a:latin typeface="Arial"/>
                <a:ea typeface="Arial"/>
                <a:cs typeface="Arial"/>
                <a:sym typeface="Arial"/>
              </a:rPr>
              <a:t>, </a:t>
            </a:r>
            <a:r>
              <a:rPr b="1" i="0" lang="en-US" sz="600" u="none" cap="none" strike="noStrike">
                <a:solidFill>
                  <a:schemeClr val="dk1"/>
                </a:solidFill>
                <a:latin typeface="Arial"/>
                <a:ea typeface="Arial"/>
                <a:cs typeface="Arial"/>
                <a:sym typeface="Arial"/>
              </a:rPr>
              <a:t>F</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Arial"/>
                <a:ea typeface="Arial"/>
                <a:cs typeface="Arial"/>
                <a:sym typeface="Arial"/>
              </a:rPr>
              <a:t>t=0 : Q(W,S) = -4.69 + 0.8 [1+ (0.9*</a:t>
            </a:r>
            <a:r>
              <a:rPr b="1" i="0" lang="en-US" sz="600" u="none" cap="none" strike="noStrike">
                <a:solidFill>
                  <a:srgbClr val="FF0000"/>
                </a:solidFill>
                <a:latin typeface="Arial"/>
                <a:ea typeface="Arial"/>
                <a:cs typeface="Arial"/>
                <a:sym typeface="Arial"/>
              </a:rPr>
              <a:t>6.4</a:t>
            </a:r>
            <a:r>
              <a:rPr b="1" i="0" lang="en-US" sz="600" u="none" cap="none" strike="noStrike">
                <a:solidFill>
                  <a:schemeClr val="dk1"/>
                </a:solidFill>
                <a:latin typeface="Arial"/>
                <a:ea typeface="Arial"/>
                <a:cs typeface="Arial"/>
                <a:sym typeface="Arial"/>
              </a:rPr>
              <a:t>)+4.69] = ~</a:t>
            </a:r>
            <a:r>
              <a:rPr b="1" i="0" lang="en-US" sz="600" u="none" cap="none" strike="noStrike">
                <a:solidFill>
                  <a:srgbClr val="FF0000"/>
                </a:solidFill>
                <a:latin typeface="Arial"/>
                <a:ea typeface="Arial"/>
                <a:cs typeface="Arial"/>
                <a:sym typeface="Arial"/>
              </a:rPr>
              <a:t>+4.47</a:t>
            </a:r>
            <a:r>
              <a:rPr b="1" i="0" lang="en-US" sz="600" u="none" cap="none" strike="noStrike">
                <a:solidFill>
                  <a:schemeClr val="dk1"/>
                </a:solidFill>
                <a:latin typeface="Arial"/>
                <a:ea typeface="Arial"/>
                <a:cs typeface="Arial"/>
                <a:sym typeface="Arial"/>
              </a:rPr>
              <a:t>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chemeClr val="dk1"/>
              </a:solidFill>
              <a:latin typeface="Arial"/>
              <a:ea typeface="Arial"/>
              <a:cs typeface="Arial"/>
              <a:sym typeface="Arial"/>
            </a:endParaRPr>
          </a:p>
        </p:txBody>
      </p:sp>
      <p:sp>
        <p:nvSpPr>
          <p:cNvPr id="755" name="Google Shape;755;g3b54a426ae3_0_1730"/>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756" name="Google Shape;756;g3b54a426ae3_0_1730"/>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757" name="Google Shape;757;g3b54a426ae3_0_1730"/>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758" name="Google Shape;758;g3b54a426ae3_0_1730"/>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          0          0	1.95            0             </a:t>
            </a:r>
            <a:endParaRPr b="0" i="0" sz="300" u="none" cap="none" strike="noStrike">
              <a:solidFill>
                <a:srgbClr val="000000"/>
              </a:solidFill>
              <a:latin typeface="Arial"/>
              <a:ea typeface="Arial"/>
              <a:cs typeface="Arial"/>
              <a:sym typeface="Arial"/>
            </a:endParaRPr>
          </a:p>
        </p:txBody>
      </p:sp>
      <p:cxnSp>
        <p:nvCxnSpPr>
          <p:cNvPr id="759" name="Google Shape;759;g3b54a426ae3_0_1730"/>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760" name="Google Shape;760;g3b54a426ae3_0_1730"/>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761" name="Google Shape;761;g3b54a426ae3_0_1730"/>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762" name="Google Shape;762;g3b54a426ae3_0_1730"/>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763" name="Google Shape;763;g3b54a426ae3_0_1730"/>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764" name="Google Shape;764;g3b54a426ae3_0_1730"/>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765" name="Google Shape;765;g3b54a426ae3_0_1730"/>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766" name="Google Shape;766;g3b54a426ae3_0_1730"/>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767" name="Google Shape;767;g3b54a426ae3_0_1730"/>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768" name="Google Shape;768;g3b54a426ae3_0_1730"/>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769" name="Google Shape;769;g3b54a426ae3_0_1730"/>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770" name="Google Shape;770;g3b54a426ae3_0_1730"/>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771" name="Google Shape;771;g3b54a426ae3_0_1730"/>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772" name="Google Shape;772;g3b54a426ae3_0_1730"/>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3" name="Google Shape;773;g3b54a426ae3_0_1730"/>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774" name="Google Shape;774;g3b54a426ae3_0_1730"/>
          <p:cNvSpPr txBox="1"/>
          <p:nvPr/>
        </p:nvSpPr>
        <p:spPr>
          <a:xfrm>
            <a:off x="289408" y="1110457"/>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3.62          0          -8	</a:t>
            </a:r>
            <a:r>
              <a:rPr b="1" i="0" lang="en-US" sz="800" u="none" cap="none" strike="noStrike">
                <a:solidFill>
                  <a:srgbClr val="FF0000"/>
                </a:solidFill>
                <a:latin typeface="Calibri"/>
                <a:ea typeface="Calibri"/>
                <a:cs typeface="Calibri"/>
                <a:sym typeface="Calibri"/>
              </a:rPr>
              <a:t>1.32 </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
        <p:nvSpPr>
          <p:cNvPr id="775" name="Google Shape;775;g3b54a426ae3_0_1730"/>
          <p:cNvSpPr txBox="1"/>
          <p:nvPr/>
        </p:nvSpPr>
        <p:spPr>
          <a:xfrm>
            <a:off x="309839" y="1415629"/>
            <a:ext cx="22461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3.62          0       6.48     </a:t>
            </a:r>
            <a:r>
              <a:rPr b="1" i="0" lang="en-US" sz="800" u="none" cap="none" strike="noStrike">
                <a:solidFill>
                  <a:srgbClr val="FF0000"/>
                </a:solidFill>
                <a:latin typeface="Calibri"/>
                <a:ea typeface="Calibri"/>
                <a:cs typeface="Calibri"/>
                <a:sym typeface="Calibri"/>
              </a:rPr>
              <a:t>-4.69</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
        <p:nvSpPr>
          <p:cNvPr id="776" name="Google Shape;776;g3b54a426ae3_0_1730"/>
          <p:cNvSpPr txBox="1"/>
          <p:nvPr/>
        </p:nvSpPr>
        <p:spPr>
          <a:xfrm>
            <a:off x="3034674" y="971996"/>
            <a:ext cx="2629200" cy="95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Continued for two more episodes….</a:t>
            </a:r>
            <a:endParaRPr b="1" i="0" sz="700" u="none" cap="none" strike="noStrike">
              <a:solidFill>
                <a:srgbClr val="1B147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FF0000"/>
                </a:solidFill>
                <a:latin typeface="Arial"/>
                <a:ea typeface="Arial"/>
                <a:cs typeface="Arial"/>
                <a:sym typeface="Arial"/>
              </a:rPr>
              <a:t>Observe </a:t>
            </a:r>
            <a:r>
              <a:rPr b="1" i="0" lang="en-US" sz="700" u="none" cap="none" strike="noStrike">
                <a:solidFill>
                  <a:srgbClr val="1B1472"/>
                </a:solidFill>
                <a:latin typeface="Arial"/>
                <a:ea typeface="Arial"/>
                <a:cs typeface="Arial"/>
                <a:sym typeface="Arial"/>
              </a:rPr>
              <a:t>the  difference in value updates w.r.t Q(W,S) between successive time steps in episodes 3 &amp; 4.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At the worst case on larger learning rate eg., 0.8 the pull is even larger</a:t>
            </a:r>
            <a:endParaRPr b="1" i="0" sz="700" u="none" cap="none" strike="noStrike">
              <a:solidFill>
                <a:srgbClr val="1B147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This large pull is an effect of the </a:t>
            </a:r>
            <a:r>
              <a:rPr b="1" i="0" lang="en-US" sz="700" u="none" cap="none" strike="noStrike">
                <a:solidFill>
                  <a:srgbClr val="00B0F0"/>
                </a:solidFill>
                <a:latin typeface="Arial"/>
                <a:ea typeface="Arial"/>
                <a:cs typeface="Arial"/>
                <a:sym typeface="Arial"/>
              </a:rPr>
              <a:t>VARIANCE</a:t>
            </a:r>
            <a:r>
              <a:rPr b="1" i="0" lang="en-US" sz="700" u="none" cap="none" strike="noStrike">
                <a:solidFill>
                  <a:srgbClr val="1B1472"/>
                </a:solidFill>
                <a:latin typeface="Arial"/>
                <a:ea typeface="Arial"/>
                <a:cs typeface="Arial"/>
                <a:sym typeface="Arial"/>
              </a:rPr>
              <a:t> produced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1" lang="en-US" sz="700" u="none" cap="none" strike="noStrike">
                <a:solidFill>
                  <a:schemeClr val="dk1"/>
                </a:solidFill>
                <a:latin typeface="Arial"/>
                <a:ea typeface="Arial"/>
                <a:cs typeface="Arial"/>
                <a:sym typeface="Arial"/>
              </a:rPr>
              <a:t>Solution to tackle : Expected SARSA</a:t>
            </a:r>
            <a:endParaRPr b="1" i="1" sz="600" u="none" cap="none" strike="noStrike">
              <a:solidFill>
                <a:schemeClr val="dk1"/>
              </a:solidFill>
              <a:latin typeface="Arial"/>
              <a:ea typeface="Arial"/>
              <a:cs typeface="Arial"/>
              <a:sym typeface="Arial"/>
            </a:endParaRPr>
          </a:p>
        </p:txBody>
      </p:sp>
      <p:sp>
        <p:nvSpPr>
          <p:cNvPr id="777" name="Google Shape;777;g3b54a426ae3_0_1730"/>
          <p:cNvSpPr/>
          <p:nvPr/>
        </p:nvSpPr>
        <p:spPr>
          <a:xfrm>
            <a:off x="319728" y="1694620"/>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778" name="Google Shape;778;g3b54a426ae3_0_1730"/>
          <p:cNvCxnSpPr/>
          <p:nvPr/>
        </p:nvCxnSpPr>
        <p:spPr>
          <a:xfrm>
            <a:off x="919995" y="1694620"/>
            <a:ext cx="0" cy="225300"/>
          </a:xfrm>
          <a:prstGeom prst="straightConnector1">
            <a:avLst/>
          </a:prstGeom>
          <a:noFill/>
          <a:ln cap="flat" cmpd="sng" w="9525">
            <a:solidFill>
              <a:schemeClr val="dk1"/>
            </a:solidFill>
            <a:prstDash val="solid"/>
            <a:round/>
            <a:headEnd len="sm" w="sm" type="none"/>
            <a:tailEnd len="sm" w="sm" type="none"/>
          </a:ln>
        </p:spPr>
      </p:cxnSp>
      <p:cxnSp>
        <p:nvCxnSpPr>
          <p:cNvPr id="779" name="Google Shape;779;g3b54a426ae3_0_1730"/>
          <p:cNvCxnSpPr/>
          <p:nvPr/>
        </p:nvCxnSpPr>
        <p:spPr>
          <a:xfrm>
            <a:off x="1575978" y="1701247"/>
            <a:ext cx="0" cy="225300"/>
          </a:xfrm>
          <a:prstGeom prst="straightConnector1">
            <a:avLst/>
          </a:prstGeom>
          <a:noFill/>
          <a:ln cap="flat" cmpd="sng" w="9525">
            <a:solidFill>
              <a:schemeClr val="dk1"/>
            </a:solidFill>
            <a:prstDash val="solid"/>
            <a:round/>
            <a:headEnd len="sm" w="sm" type="none"/>
            <a:tailEnd len="sm" w="sm" type="none"/>
          </a:ln>
        </p:spPr>
      </p:cxnSp>
      <p:sp>
        <p:nvSpPr>
          <p:cNvPr id="780" name="Google Shape;780;g3b54a426ae3_0_1730"/>
          <p:cNvSpPr txBox="1"/>
          <p:nvPr/>
        </p:nvSpPr>
        <p:spPr>
          <a:xfrm>
            <a:off x="319728" y="1688274"/>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800" u="none" cap="none" strike="noStrike">
                <a:solidFill>
                  <a:schemeClr val="dk1"/>
                </a:solidFill>
                <a:latin typeface="Calibri"/>
                <a:ea typeface="Calibri"/>
                <a:cs typeface="Calibri"/>
                <a:sym typeface="Calibri"/>
              </a:rPr>
              <a:t>  </a:t>
            </a:r>
            <a:r>
              <a:rPr b="0" i="0" lang="en-US" sz="800" u="none" cap="none" strike="noStrike">
                <a:solidFill>
                  <a:schemeClr val="dk1"/>
                </a:solidFill>
                <a:latin typeface="Calibri"/>
                <a:ea typeface="Calibri"/>
                <a:cs typeface="Calibri"/>
                <a:sym typeface="Calibri"/>
              </a:rPr>
              <a:t>          </a:t>
            </a:r>
            <a:endParaRPr b="0" i="0" sz="300" u="none" cap="none" strike="noStrike">
              <a:solidFill>
                <a:srgbClr val="000000"/>
              </a:solidFill>
              <a:latin typeface="Arial"/>
              <a:ea typeface="Arial"/>
              <a:cs typeface="Arial"/>
              <a:sym typeface="Arial"/>
            </a:endParaRPr>
          </a:p>
        </p:txBody>
      </p:sp>
      <p:sp>
        <p:nvSpPr>
          <p:cNvPr id="781" name="Google Shape;781;g3b54a426ae3_0_1730"/>
          <p:cNvSpPr txBox="1"/>
          <p:nvPr/>
        </p:nvSpPr>
        <p:spPr>
          <a:xfrm>
            <a:off x="54070" y="785748"/>
            <a:ext cx="387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4</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p:txBody>
      </p:sp>
      <p:sp>
        <p:nvSpPr>
          <p:cNvPr id="782" name="Google Shape;782;g3b54a426ae3_0_1730"/>
          <p:cNvSpPr txBox="1"/>
          <p:nvPr/>
        </p:nvSpPr>
        <p:spPr>
          <a:xfrm>
            <a:off x="293868" y="1687432"/>
            <a:ext cx="22461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3.62          0       6.48     </a:t>
            </a:r>
            <a:r>
              <a:rPr b="1" i="0" lang="en-US" sz="800" u="none" cap="none" strike="noStrike">
                <a:solidFill>
                  <a:srgbClr val="FF0000"/>
                </a:solidFill>
                <a:latin typeface="Calibri"/>
                <a:ea typeface="Calibri"/>
                <a:cs typeface="Calibri"/>
                <a:sym typeface="Calibri"/>
              </a:rPr>
              <a:t>+4.47</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b54a426ae3_0_1945"/>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Expected SARSA</a:t>
            </a:r>
            <a:endParaRPr/>
          </a:p>
        </p:txBody>
      </p:sp>
      <p:sp>
        <p:nvSpPr>
          <p:cNvPr id="788" name="Google Shape;788;g3b54a426ae3_0_1945"/>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9" name="Google Shape;789;g3b54a426ae3_0_1945"/>
          <p:cNvGrpSpPr/>
          <p:nvPr/>
        </p:nvGrpSpPr>
        <p:grpSpPr>
          <a:xfrm>
            <a:off x="0" y="3109250"/>
            <a:ext cx="5760261" cy="92075"/>
            <a:chOff x="0" y="3109250"/>
            <a:chExt cx="5760261" cy="92075"/>
          </a:xfrm>
        </p:grpSpPr>
        <p:sp>
          <p:nvSpPr>
            <p:cNvPr id="790" name="Google Shape;790;g3b54a426ae3_0_1945"/>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g3b54a426ae3_0_1945"/>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g3b54a426ae3_0_1945"/>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3" name="Google Shape;793;g3b54a426ae3_0_1945"/>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794" name="Google Shape;794;g3b54a426ae3_0_1945"/>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795" name="Google Shape;795;g3b54a426ae3_0_1945"/>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796" name="Google Shape;796;g3b54a426ae3_0_1945"/>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797" name="Google Shape;797;g3b54a426ae3_0_1945"/>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798" name="Google Shape;798;g3b54a426ae3_0_1945"/>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799" name="Google Shape;799;g3b54a426ae3_0_1945"/>
          <p:cNvSpPr txBox="1"/>
          <p:nvPr/>
        </p:nvSpPr>
        <p:spPr>
          <a:xfrm>
            <a:off x="129994" y="2028358"/>
            <a:ext cx="3083700" cy="1950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-10, </a:t>
            </a:r>
            <a:r>
              <a:rPr b="1" i="0" lang="en-US" sz="700" u="none" cap="none" strike="noStrike">
                <a:solidFill>
                  <a:srgbClr val="C00000"/>
                </a:solidFill>
                <a:latin typeface="Arial"/>
                <a:ea typeface="Arial"/>
                <a:cs typeface="Arial"/>
                <a:sym typeface="Arial"/>
              </a:rPr>
              <a:t>O</a:t>
            </a:r>
            <a:r>
              <a:rPr b="1" i="0" lang="en-US" sz="700" u="none" cap="none" strike="noStrike">
                <a:solidFill>
                  <a:schemeClr val="dk1"/>
                </a:solidFill>
                <a:latin typeface="Arial"/>
                <a:ea typeface="Arial"/>
                <a:cs typeface="Arial"/>
                <a:sym typeface="Arial"/>
              </a:rPr>
              <a:t> </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3: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 </a:t>
            </a:r>
            <a:r>
              <a:rPr b="1" i="0" lang="en-US" sz="700" u="none" cap="none" strike="noStrike">
                <a:solidFill>
                  <a:srgbClr val="0070C0"/>
                </a:solidFill>
                <a:latin typeface="Arial"/>
                <a:ea typeface="Arial"/>
                <a:cs typeface="Arial"/>
                <a:sym typeface="Arial"/>
              </a:rPr>
              <a:t>+10, </a:t>
            </a:r>
            <a:r>
              <a:rPr b="1" i="0" lang="en-US" sz="700" u="none" cap="none" strike="noStrike">
                <a:solidFill>
                  <a:srgbClr val="C00000"/>
                </a:solidFill>
                <a:latin typeface="Arial"/>
                <a:ea typeface="Arial"/>
                <a:cs typeface="Arial"/>
                <a:sym typeface="Arial"/>
              </a:rPr>
              <a:t>O</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t=0 : Q(W,S)  = 1.57 + 0.8 [1+ (0.9*((</a:t>
            </a:r>
            <a:r>
              <a:rPr b="1" i="0" lang="en-US" sz="700" u="none" cap="none" strike="noStrike">
                <a:solidFill>
                  <a:srgbClr val="FF0000"/>
                </a:solidFill>
                <a:latin typeface="Arial"/>
                <a:ea typeface="Arial"/>
                <a:cs typeface="Arial"/>
                <a:sym typeface="Arial"/>
              </a:rPr>
              <a:t>-8*0.5) + (1.57*0.5))</a:t>
            </a:r>
            <a:r>
              <a:rPr b="1" i="0" lang="en-US" sz="700" u="none" cap="none" strike="noStrike">
                <a:solidFill>
                  <a:schemeClr val="dk1"/>
                </a:solidFill>
                <a:latin typeface="Arial"/>
                <a:ea typeface="Arial"/>
                <a:cs typeface="Arial"/>
                <a:sym typeface="Arial"/>
              </a:rPr>
              <a:t>)-1.57] = </a:t>
            </a:r>
            <a:r>
              <a:rPr b="1" i="0" lang="en-US" sz="700" u="none" cap="none" strike="noStrike">
                <a:solidFill>
                  <a:srgbClr val="FF0000"/>
                </a:solidFill>
                <a:latin typeface="Arial"/>
                <a:ea typeface="Arial"/>
                <a:cs typeface="Arial"/>
                <a:sym typeface="Arial"/>
              </a:rPr>
              <a:t>-1.14</a:t>
            </a:r>
            <a:r>
              <a:rPr b="1" i="0" lang="en-US" sz="700" u="none" cap="none" strike="noStrike">
                <a:solidFill>
                  <a:schemeClr val="dk1"/>
                </a:solidFill>
                <a:latin typeface="Arial"/>
                <a:ea typeface="Arial"/>
                <a:cs typeface="Arial"/>
                <a:sym typeface="Arial"/>
              </a:rPr>
              <a:t>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t=1 : Q(W,F) = -8 + 0.8 [10+ (0.9*</a:t>
            </a:r>
            <a:r>
              <a:rPr b="1" i="0" lang="en-US" sz="700" u="none" cap="none" strike="noStrike">
                <a:solidFill>
                  <a:srgbClr val="FF0000"/>
                </a:solidFill>
                <a:latin typeface="Arial"/>
                <a:ea typeface="Arial"/>
                <a:cs typeface="Arial"/>
                <a:sym typeface="Arial"/>
              </a:rPr>
              <a:t>0</a:t>
            </a:r>
            <a:r>
              <a:rPr b="1" i="0" lang="en-US" sz="700" u="none" cap="none" strike="noStrike">
                <a:solidFill>
                  <a:schemeClr val="dk1"/>
                </a:solidFill>
                <a:latin typeface="Arial"/>
                <a:ea typeface="Arial"/>
                <a:cs typeface="Arial"/>
                <a:sym typeface="Arial"/>
              </a:rPr>
              <a:t>)+8] = ~</a:t>
            </a:r>
            <a:r>
              <a:rPr b="1" i="0" lang="en-US" sz="700" u="none" cap="none" strike="noStrike">
                <a:solidFill>
                  <a:srgbClr val="FF0000"/>
                </a:solidFill>
                <a:latin typeface="Arial"/>
                <a:ea typeface="Arial"/>
                <a:cs typeface="Arial"/>
                <a:sym typeface="Arial"/>
              </a:rPr>
              <a:t>+6.4</a:t>
            </a:r>
            <a:r>
              <a:rPr b="1" i="0" lang="en-US" sz="7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4: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t=0 : Q(W,S) = -1.14 + 0.8 [1+ (0.9*</a:t>
            </a:r>
            <a:r>
              <a:rPr b="1" i="0" lang="en-US" sz="700" u="none" cap="none" strike="noStrike">
                <a:solidFill>
                  <a:srgbClr val="FF0000"/>
                </a:solidFill>
                <a:latin typeface="Arial"/>
                <a:ea typeface="Arial"/>
                <a:cs typeface="Arial"/>
                <a:sym typeface="Arial"/>
              </a:rPr>
              <a:t>((-1.14*0.5)+(6.4*0.5))</a:t>
            </a:r>
            <a:r>
              <a:rPr b="1" i="0" lang="en-US" sz="700" u="none" cap="none" strike="noStrike">
                <a:solidFill>
                  <a:schemeClr val="dk1"/>
                </a:solidFill>
                <a:latin typeface="Arial"/>
                <a:ea typeface="Arial"/>
                <a:cs typeface="Arial"/>
                <a:sym typeface="Arial"/>
              </a:rPr>
              <a:t>)+1.14] = ~</a:t>
            </a:r>
            <a:r>
              <a:rPr b="1" i="0" lang="en-US" sz="700" u="none" cap="none" strike="noStrike">
                <a:solidFill>
                  <a:srgbClr val="FF0000"/>
                </a:solidFill>
                <a:latin typeface="Arial"/>
                <a:ea typeface="Arial"/>
                <a:cs typeface="Arial"/>
                <a:sym typeface="Arial"/>
              </a:rPr>
              <a:t>+2.46</a:t>
            </a:r>
            <a:r>
              <a:rPr b="1" i="0" lang="en-US" sz="700" u="none" cap="none" strike="noStrike">
                <a:solidFill>
                  <a:schemeClr val="dk1"/>
                </a:solidFill>
                <a:latin typeface="Arial"/>
                <a:ea typeface="Arial"/>
                <a:cs typeface="Arial"/>
                <a:sym typeface="Arial"/>
              </a:rPr>
              <a:t>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800" name="Google Shape;800;g3b54a426ae3_0_1945"/>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801" name="Google Shape;801;g3b54a426ae3_0_1945"/>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802" name="Google Shape;802;g3b54a426ae3_0_1945"/>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803" name="Google Shape;803;g3b54a426ae3_0_1945"/>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804" name="Google Shape;804;g3b54a426ae3_0_1945"/>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805" name="Google Shape;805;g3b54a426ae3_0_1945"/>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806" name="Google Shape;806;g3b54a426ae3_0_1945"/>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807" name="Google Shape;807;g3b54a426ae3_0_1945"/>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808" name="Google Shape;808;g3b54a426ae3_0_1945"/>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809" name="Google Shape;809;g3b54a426ae3_0_1945"/>
          <p:cNvPicPr preferRelativeResize="0"/>
          <p:nvPr/>
        </p:nvPicPr>
        <p:blipFill rotWithShape="1">
          <a:blip r:embed="rId6">
            <a:alphaModFix/>
          </a:blip>
          <a:srcRect b="0" l="0" r="0" t="0"/>
          <a:stretch/>
        </p:blipFill>
        <p:spPr>
          <a:xfrm>
            <a:off x="325079" y="652004"/>
            <a:ext cx="247568" cy="107156"/>
          </a:xfrm>
          <a:prstGeom prst="rect">
            <a:avLst/>
          </a:prstGeom>
          <a:noFill/>
          <a:ln>
            <a:noFill/>
          </a:ln>
        </p:spPr>
      </p:pic>
      <p:pic>
        <p:nvPicPr>
          <p:cNvPr id="810" name="Google Shape;810;g3b54a426ae3_0_1945"/>
          <p:cNvPicPr preferRelativeResize="0"/>
          <p:nvPr/>
        </p:nvPicPr>
        <p:blipFill rotWithShape="1">
          <a:blip r:embed="rId7">
            <a:alphaModFix/>
          </a:blip>
          <a:srcRect b="0" l="0" r="0" t="0"/>
          <a:stretch/>
        </p:blipFill>
        <p:spPr>
          <a:xfrm>
            <a:off x="660303" y="649609"/>
            <a:ext cx="249913" cy="117267"/>
          </a:xfrm>
          <a:prstGeom prst="rect">
            <a:avLst/>
          </a:prstGeom>
          <a:noFill/>
          <a:ln>
            <a:noFill/>
          </a:ln>
        </p:spPr>
      </p:pic>
      <p:pic>
        <p:nvPicPr>
          <p:cNvPr id="811" name="Google Shape;811;g3b54a426ae3_0_1945"/>
          <p:cNvPicPr preferRelativeResize="0"/>
          <p:nvPr/>
        </p:nvPicPr>
        <p:blipFill rotWithShape="1">
          <a:blip r:embed="rId6">
            <a:alphaModFix/>
          </a:blip>
          <a:srcRect b="0" l="0" r="0" t="0"/>
          <a:stretch/>
        </p:blipFill>
        <p:spPr>
          <a:xfrm>
            <a:off x="967808" y="638754"/>
            <a:ext cx="247568" cy="107156"/>
          </a:xfrm>
          <a:prstGeom prst="rect">
            <a:avLst/>
          </a:prstGeom>
          <a:noFill/>
          <a:ln>
            <a:noFill/>
          </a:ln>
        </p:spPr>
      </p:pic>
      <p:pic>
        <p:nvPicPr>
          <p:cNvPr id="812" name="Google Shape;812;g3b54a426ae3_0_1945"/>
          <p:cNvPicPr preferRelativeResize="0"/>
          <p:nvPr/>
        </p:nvPicPr>
        <p:blipFill rotWithShape="1">
          <a:blip r:embed="rId7">
            <a:alphaModFix/>
          </a:blip>
          <a:srcRect b="0" l="0" r="0" t="0"/>
          <a:stretch/>
        </p:blipFill>
        <p:spPr>
          <a:xfrm>
            <a:off x="1303032" y="636359"/>
            <a:ext cx="249913" cy="117267"/>
          </a:xfrm>
          <a:prstGeom prst="rect">
            <a:avLst/>
          </a:prstGeom>
          <a:noFill/>
          <a:ln>
            <a:noFill/>
          </a:ln>
        </p:spPr>
      </p:pic>
      <p:pic>
        <p:nvPicPr>
          <p:cNvPr id="813" name="Google Shape;813;g3b54a426ae3_0_1945"/>
          <p:cNvPicPr preferRelativeResize="0"/>
          <p:nvPr/>
        </p:nvPicPr>
        <p:blipFill rotWithShape="1">
          <a:blip r:embed="rId6">
            <a:alphaModFix/>
          </a:blip>
          <a:srcRect b="0" l="0" r="0" t="0"/>
          <a:stretch/>
        </p:blipFill>
        <p:spPr>
          <a:xfrm>
            <a:off x="1577402" y="638755"/>
            <a:ext cx="247568" cy="107156"/>
          </a:xfrm>
          <a:prstGeom prst="rect">
            <a:avLst/>
          </a:prstGeom>
          <a:noFill/>
          <a:ln>
            <a:noFill/>
          </a:ln>
        </p:spPr>
      </p:pic>
      <p:pic>
        <p:nvPicPr>
          <p:cNvPr id="814" name="Google Shape;814;g3b54a426ae3_0_1945"/>
          <p:cNvPicPr preferRelativeResize="0"/>
          <p:nvPr/>
        </p:nvPicPr>
        <p:blipFill rotWithShape="1">
          <a:blip r:embed="rId7">
            <a:alphaModFix/>
          </a:blip>
          <a:srcRect b="0" l="0" r="0" t="0"/>
          <a:stretch/>
        </p:blipFill>
        <p:spPr>
          <a:xfrm>
            <a:off x="1912626" y="636360"/>
            <a:ext cx="249913" cy="117267"/>
          </a:xfrm>
          <a:prstGeom prst="rect">
            <a:avLst/>
          </a:prstGeom>
          <a:noFill/>
          <a:ln>
            <a:noFill/>
          </a:ln>
        </p:spPr>
      </p:pic>
      <p:pic>
        <p:nvPicPr>
          <p:cNvPr id="815" name="Google Shape;815;g3b54a426ae3_0_1945"/>
          <p:cNvPicPr preferRelativeResize="0"/>
          <p:nvPr/>
        </p:nvPicPr>
        <p:blipFill rotWithShape="1">
          <a:blip r:embed="rId8">
            <a:alphaModFix/>
          </a:blip>
          <a:srcRect b="0" l="0" r="0" t="0"/>
          <a:stretch/>
        </p:blipFill>
        <p:spPr>
          <a:xfrm>
            <a:off x="3670886" y="34350"/>
            <a:ext cx="2078916" cy="883997"/>
          </a:xfrm>
          <a:prstGeom prst="rect">
            <a:avLst/>
          </a:prstGeom>
          <a:noFill/>
          <a:ln>
            <a:noFill/>
          </a:ln>
        </p:spPr>
      </p:pic>
      <p:sp>
        <p:nvSpPr>
          <p:cNvPr id="816" name="Google Shape;816;g3b54a426ae3_0_1945"/>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7" name="Google Shape;817;g3b54a426ae3_0_1945"/>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818" name="Google Shape;818;g3b54a426ae3_0_1945"/>
          <p:cNvSpPr txBox="1"/>
          <p:nvPr/>
        </p:nvSpPr>
        <p:spPr>
          <a:xfrm>
            <a:off x="289408" y="1110457"/>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2.59         0        -8	</a:t>
            </a:r>
            <a:r>
              <a:rPr b="1" i="0" lang="en-US" sz="800" u="none" cap="none" strike="noStrike">
                <a:solidFill>
                  <a:srgbClr val="FF0000"/>
                </a:solidFill>
                <a:latin typeface="Calibri"/>
                <a:ea typeface="Calibri"/>
                <a:cs typeface="Calibri"/>
                <a:sym typeface="Calibri"/>
              </a:rPr>
              <a:t>1.57</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
        <p:nvSpPr>
          <p:cNvPr id="819" name="Google Shape;819;g3b54a426ae3_0_1945"/>
          <p:cNvSpPr txBox="1"/>
          <p:nvPr/>
        </p:nvSpPr>
        <p:spPr>
          <a:xfrm>
            <a:off x="309839" y="1415629"/>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2.59         0        6.4      </a:t>
            </a:r>
            <a:r>
              <a:rPr b="1" i="0" lang="en-US" sz="800" u="none" cap="none" strike="noStrike">
                <a:solidFill>
                  <a:srgbClr val="FF0000"/>
                </a:solidFill>
                <a:latin typeface="Calibri"/>
                <a:ea typeface="Calibri"/>
                <a:cs typeface="Calibri"/>
                <a:sym typeface="Calibri"/>
              </a:rPr>
              <a:t>-1.14</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
        <p:nvSpPr>
          <p:cNvPr id="820" name="Google Shape;820;g3b54a426ae3_0_1945"/>
          <p:cNvSpPr txBox="1"/>
          <p:nvPr/>
        </p:nvSpPr>
        <p:spPr>
          <a:xfrm>
            <a:off x="3269323" y="2710211"/>
            <a:ext cx="2629200" cy="3816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Continued for one more episode….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FF0000"/>
                </a:solidFill>
                <a:latin typeface="Arial"/>
                <a:ea typeface="Arial"/>
                <a:cs typeface="Arial"/>
                <a:sym typeface="Arial"/>
              </a:rPr>
              <a:t>Assumed likelihood for all the states “_” for simplicity :P(S|_) = 0.05, P(F|_) = 0.5</a:t>
            </a:r>
            <a:endParaRPr b="1" i="0" sz="600" u="none" cap="none" strike="noStrike">
              <a:solidFill>
                <a:srgbClr val="1B1472"/>
              </a:solidFill>
              <a:latin typeface="Arial"/>
              <a:ea typeface="Arial"/>
              <a:cs typeface="Arial"/>
              <a:sym typeface="Arial"/>
            </a:endParaRPr>
          </a:p>
        </p:txBody>
      </p:sp>
      <p:pic>
        <p:nvPicPr>
          <p:cNvPr id="821" name="Google Shape;821;g3b54a426ae3_0_1945"/>
          <p:cNvPicPr preferRelativeResize="0"/>
          <p:nvPr/>
        </p:nvPicPr>
        <p:blipFill rotWithShape="1">
          <a:blip r:embed="rId9">
            <a:alphaModFix/>
          </a:blip>
          <a:srcRect b="0" l="0" r="0" t="0"/>
          <a:stretch/>
        </p:blipFill>
        <p:spPr>
          <a:xfrm>
            <a:off x="3670886" y="956932"/>
            <a:ext cx="2078916" cy="307271"/>
          </a:xfrm>
          <a:prstGeom prst="rect">
            <a:avLst/>
          </a:prstGeom>
          <a:noFill/>
          <a:ln>
            <a:noFill/>
          </a:ln>
        </p:spPr>
      </p:pic>
      <p:sp>
        <p:nvSpPr>
          <p:cNvPr id="822" name="Google Shape;822;g3b54a426ae3_0_1945"/>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          0          0	1.37          0           0</a:t>
            </a:r>
            <a:endParaRPr b="0" i="0" sz="300" u="none" cap="none" strike="noStrike">
              <a:solidFill>
                <a:srgbClr val="000000"/>
              </a:solidFill>
              <a:latin typeface="Arial"/>
              <a:ea typeface="Arial"/>
              <a:cs typeface="Arial"/>
              <a:sym typeface="Arial"/>
            </a:endParaRPr>
          </a:p>
        </p:txBody>
      </p:sp>
      <p:sp>
        <p:nvSpPr>
          <p:cNvPr id="823" name="Google Shape;823;g3b54a426ae3_0_1945"/>
          <p:cNvSpPr/>
          <p:nvPr/>
        </p:nvSpPr>
        <p:spPr>
          <a:xfrm>
            <a:off x="303489" y="17013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824" name="Google Shape;824;g3b54a426ae3_0_1945"/>
          <p:cNvCxnSpPr/>
          <p:nvPr/>
        </p:nvCxnSpPr>
        <p:spPr>
          <a:xfrm>
            <a:off x="903756" y="1701375"/>
            <a:ext cx="0" cy="225300"/>
          </a:xfrm>
          <a:prstGeom prst="straightConnector1">
            <a:avLst/>
          </a:prstGeom>
          <a:noFill/>
          <a:ln cap="flat" cmpd="sng" w="9525">
            <a:solidFill>
              <a:schemeClr val="dk1"/>
            </a:solidFill>
            <a:prstDash val="solid"/>
            <a:round/>
            <a:headEnd len="sm" w="sm" type="none"/>
            <a:tailEnd len="sm" w="sm" type="none"/>
          </a:ln>
        </p:spPr>
      </p:cxnSp>
      <p:cxnSp>
        <p:nvCxnSpPr>
          <p:cNvPr id="825" name="Google Shape;825;g3b54a426ae3_0_1945"/>
          <p:cNvCxnSpPr/>
          <p:nvPr/>
        </p:nvCxnSpPr>
        <p:spPr>
          <a:xfrm>
            <a:off x="1559739" y="1708002"/>
            <a:ext cx="0" cy="225300"/>
          </a:xfrm>
          <a:prstGeom prst="straightConnector1">
            <a:avLst/>
          </a:prstGeom>
          <a:noFill/>
          <a:ln cap="flat" cmpd="sng" w="9525">
            <a:solidFill>
              <a:schemeClr val="dk1"/>
            </a:solidFill>
            <a:prstDash val="solid"/>
            <a:round/>
            <a:headEnd len="sm" w="sm" type="none"/>
            <a:tailEnd len="sm" w="sm" type="none"/>
          </a:ln>
        </p:spPr>
      </p:cxnSp>
      <p:sp>
        <p:nvSpPr>
          <p:cNvPr id="826" name="Google Shape;826;g3b54a426ae3_0_1945"/>
          <p:cNvSpPr txBox="1"/>
          <p:nvPr/>
        </p:nvSpPr>
        <p:spPr>
          <a:xfrm>
            <a:off x="303489" y="1695029"/>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2.59         0        6.4      </a:t>
            </a:r>
            <a:r>
              <a:rPr b="1" i="0" lang="en-US" sz="800" u="none" cap="none" strike="noStrike">
                <a:solidFill>
                  <a:srgbClr val="FF0000"/>
                </a:solidFill>
                <a:latin typeface="Calibri"/>
                <a:ea typeface="Calibri"/>
                <a:cs typeface="Calibri"/>
                <a:sym typeface="Calibri"/>
              </a:rPr>
              <a:t>+2.46</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
        <p:nvSpPr>
          <p:cNvPr id="827" name="Google Shape;827;g3b54a426ae3_0_1945"/>
          <p:cNvSpPr txBox="1"/>
          <p:nvPr/>
        </p:nvSpPr>
        <p:spPr>
          <a:xfrm>
            <a:off x="54070" y="785748"/>
            <a:ext cx="387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4</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p:txBody>
      </p:sp>
      <p:pic>
        <p:nvPicPr>
          <p:cNvPr id="828" name="Google Shape;828;g3b54a426ae3_0_1945"/>
          <p:cNvPicPr preferRelativeResize="0"/>
          <p:nvPr/>
        </p:nvPicPr>
        <p:blipFill rotWithShape="1">
          <a:blip r:embed="rId10">
            <a:alphaModFix/>
          </a:blip>
          <a:srcRect b="0" l="0" r="0" t="0"/>
          <a:stretch/>
        </p:blipFill>
        <p:spPr>
          <a:xfrm>
            <a:off x="3836211" y="1409622"/>
            <a:ext cx="1910119" cy="1148104"/>
          </a:xfrm>
          <a:prstGeom prst="rect">
            <a:avLst/>
          </a:prstGeom>
          <a:noFill/>
          <a:ln>
            <a:noFill/>
          </a:ln>
        </p:spPr>
      </p:pic>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b54a426ae3_0_1776"/>
          <p:cNvSpPr txBox="1"/>
          <p:nvPr>
            <p:ph type="title"/>
          </p:nvPr>
        </p:nvSpPr>
        <p:spPr>
          <a:xfrm>
            <a:off x="82600" y="109545"/>
            <a:ext cx="4943400" cy="261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sp>
        <p:nvSpPr>
          <p:cNvPr id="834" name="Google Shape;834;g3b54a426ae3_0_1776"/>
          <p:cNvSpPr txBox="1"/>
          <p:nvPr>
            <p:ph idx="1" type="body"/>
          </p:nvPr>
        </p:nvSpPr>
        <p:spPr>
          <a:xfrm>
            <a:off x="777220" y="516129"/>
            <a:ext cx="3812400" cy="2462700"/>
          </a:xfrm>
          <a:prstGeom prst="rect">
            <a:avLst/>
          </a:prstGeom>
          <a:noFill/>
          <a:ln>
            <a:noFill/>
          </a:ln>
        </p:spPr>
        <p:txBody>
          <a:bodyPr anchorCtr="0" anchor="t" bIns="0" lIns="0" spcFirstLastPara="1" rIns="0" wrap="square" tIns="0">
            <a:spAutoFit/>
          </a:bodyPr>
          <a:lstStyle/>
          <a:p>
            <a:pPr indent="-228600" lvl="0" marL="457200" rtl="0" algn="ctr">
              <a:lnSpc>
                <a:spcPct val="100000"/>
              </a:lnSpc>
              <a:spcBef>
                <a:spcPts val="0"/>
              </a:spcBef>
              <a:spcAft>
                <a:spcPts val="0"/>
              </a:spcAft>
              <a:buSzPts val="1400"/>
              <a:buNone/>
            </a:pPr>
            <a:r>
              <a:rPr b="1" lang="en-US" sz="1600"/>
              <a:t>Temporal Difference Learning Methods</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rPr b="1" lang="en-US" sz="1600">
                <a:solidFill>
                  <a:schemeClr val="dk1"/>
                </a:solidFill>
              </a:rPr>
              <a:t>On Policy Control Algorithms</a:t>
            </a:r>
            <a:endParaRPr/>
          </a:p>
          <a:p>
            <a:pPr indent="-228600" lvl="0" marL="457200" rtl="0" algn="ctr">
              <a:lnSpc>
                <a:spcPct val="100000"/>
              </a:lnSpc>
              <a:spcBef>
                <a:spcPts val="0"/>
              </a:spcBef>
              <a:spcAft>
                <a:spcPts val="0"/>
              </a:spcAft>
              <a:buSzPts val="1400"/>
              <a:buNone/>
            </a:pPr>
            <a:r>
              <a:rPr b="1" lang="en-US" sz="1600">
                <a:solidFill>
                  <a:srgbClr val="0070C0"/>
                </a:solidFill>
              </a:rPr>
              <a:t>Expected SARSA</a:t>
            </a:r>
            <a:endParaRPr b="1" sz="1600">
              <a:solidFill>
                <a:srgbClr val="0070C0"/>
              </a:solidFill>
            </a:endParaRPr>
          </a:p>
        </p:txBody>
      </p:sp>
      <p:sp>
        <p:nvSpPr>
          <p:cNvPr id="835" name="Google Shape;835;g3b54a426ae3_0_1776"/>
          <p:cNvSpPr txBox="1"/>
          <p:nvPr/>
        </p:nvSpPr>
        <p:spPr>
          <a:xfrm>
            <a:off x="0" y="789625"/>
            <a:ext cx="2179200" cy="1665600"/>
          </a:xfrm>
          <a:prstGeom prst="rect">
            <a:avLst/>
          </a:prstGeom>
          <a:solidFill>
            <a:srgbClr val="FFC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1B1472"/>
                </a:solidFill>
              </a:rPr>
              <a:t>Next slides follow a full fledged numerical example of algorithm in the Race car example with Policy Evaluation based learning for 2 iterations</a:t>
            </a:r>
            <a:endParaRPr sz="1050">
              <a:solidFill>
                <a:srgbClr val="1B1472"/>
              </a:solidFill>
            </a:endParaRPr>
          </a:p>
          <a:p>
            <a:pPr indent="0" lvl="0" marL="0" rtl="0" algn="l">
              <a:spcBef>
                <a:spcPts val="0"/>
              </a:spcBef>
              <a:spcAft>
                <a:spcPts val="0"/>
              </a:spcAft>
              <a:buNone/>
            </a:pPr>
            <a:r>
              <a:rPr lang="en-US" sz="1050">
                <a:solidFill>
                  <a:srgbClr val="1B1472"/>
                </a:solidFill>
              </a:rPr>
              <a:t>Learners are advised to go through the run of the algorithm. This is a full fledged lecture material that was used in NSP2 cluster offering in 2025</a:t>
            </a:r>
            <a:endParaRPr sz="1050">
              <a:solidFill>
                <a:srgbClr val="1B147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g3b54a426ae3_0_1781"/>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Expected SARSA</a:t>
            </a:r>
            <a:endParaRPr/>
          </a:p>
        </p:txBody>
      </p:sp>
      <p:sp>
        <p:nvSpPr>
          <p:cNvPr id="841" name="Google Shape;841;g3b54a426ae3_0_1781"/>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42" name="Google Shape;842;g3b54a426ae3_0_1781"/>
          <p:cNvGrpSpPr/>
          <p:nvPr/>
        </p:nvGrpSpPr>
        <p:grpSpPr>
          <a:xfrm>
            <a:off x="0" y="3109250"/>
            <a:ext cx="5760261" cy="92075"/>
            <a:chOff x="0" y="3109250"/>
            <a:chExt cx="5760261" cy="92075"/>
          </a:xfrm>
        </p:grpSpPr>
        <p:sp>
          <p:nvSpPr>
            <p:cNvPr id="843" name="Google Shape;843;g3b54a426ae3_0_1781"/>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g3b54a426ae3_0_1781"/>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g3b54a426ae3_0_1781"/>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6" name="Google Shape;846;g3b54a426ae3_0_1781"/>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847" name="Google Shape;847;g3b54a426ae3_0_1781"/>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848" name="Google Shape;848;g3b54a426ae3_0_1781"/>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849" name="Google Shape;849;g3b54a426ae3_0_1781"/>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850" name="Google Shape;850;g3b54a426ae3_0_1781"/>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851" name="Google Shape;851;g3b54a426ae3_0_1781"/>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852" name="Google Shape;852;g3b54a426ae3_0_1781"/>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853" name="Google Shape;853;g3b54a426ae3_0_1781"/>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854" name="Google Shape;854;g3b54a426ae3_0_1781"/>
          <p:cNvSpPr txBox="1"/>
          <p:nvPr/>
        </p:nvSpPr>
        <p:spPr>
          <a:xfrm>
            <a:off x="82600" y="1717926"/>
            <a:ext cx="2793000" cy="5502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855" name="Google Shape;855;g3b54a426ae3_0_1781"/>
          <p:cNvSpPr/>
          <p:nvPr/>
        </p:nvSpPr>
        <p:spPr>
          <a:xfrm>
            <a:off x="514351" y="1714343"/>
            <a:ext cx="506100" cy="120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6" name="Google Shape;856;g3b54a426ae3_0_1781"/>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857" name="Google Shape;857;g3b54a426ae3_0_1781"/>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858" name="Google Shape;858;g3b54a426ae3_0_1781"/>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859" name="Google Shape;859;g3b54a426ae3_0_1781"/>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chemeClr val="dk1"/>
                </a:solidFill>
                <a:latin typeface="Calibri"/>
                <a:ea typeface="Calibri"/>
                <a:cs typeface="Calibri"/>
                <a:sym typeface="Calibri"/>
              </a:rPr>
              <a:t>  0              0          0	0            0             0</a:t>
            </a:r>
            <a:endParaRPr b="0" i="0" sz="300" u="none" cap="none" strike="noStrike">
              <a:solidFill>
                <a:srgbClr val="000000"/>
              </a:solidFill>
              <a:latin typeface="Arial"/>
              <a:ea typeface="Arial"/>
              <a:cs typeface="Arial"/>
              <a:sym typeface="Arial"/>
            </a:endParaRPr>
          </a:p>
        </p:txBody>
      </p:sp>
      <p:sp>
        <p:nvSpPr>
          <p:cNvPr id="860" name="Google Shape;860;g3b54a426ae3_0_1781"/>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p:txBody>
      </p:sp>
      <p:cxnSp>
        <p:nvCxnSpPr>
          <p:cNvPr id="861" name="Google Shape;861;g3b54a426ae3_0_1781"/>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862" name="Google Shape;862;g3b54a426ae3_0_1781"/>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863" name="Google Shape;863;g3b54a426ae3_0_1781"/>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864" name="Google Shape;864;g3b54a426ae3_0_1781"/>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865" name="Google Shape;865;g3b54a426ae3_0_1781"/>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866" name="Google Shape;866;g3b54a426ae3_0_1781"/>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867" name="Google Shape;867;g3b54a426ae3_0_1781"/>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868" name="Google Shape;868;g3b54a426ae3_0_1781"/>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869" name="Google Shape;869;g3b54a426ae3_0_1781"/>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870" name="Google Shape;870;g3b54a426ae3_0_1781"/>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871" name="Google Shape;871;g3b54a426ae3_0_1781"/>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872" name="Google Shape;872;g3b54a426ae3_0_1781"/>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873" name="Google Shape;873;g3b54a426ae3_0_1781"/>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874" name="Google Shape;874;g3b54a426ae3_0_1781"/>
          <p:cNvSpPr/>
          <p:nvPr/>
        </p:nvSpPr>
        <p:spPr>
          <a:xfrm>
            <a:off x="3519941" y="197034"/>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5" name="Google Shape;875;g3b54a426ae3_0_1781"/>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pic>
        <p:nvPicPr>
          <p:cNvPr id="876" name="Google Shape;876;g3b54a426ae3_0_1781"/>
          <p:cNvPicPr preferRelativeResize="0"/>
          <p:nvPr/>
        </p:nvPicPr>
        <p:blipFill rotWithShape="1">
          <a:blip r:embed="rId10">
            <a:alphaModFix/>
          </a:blip>
          <a:srcRect b="0" l="0" r="0" t="0"/>
          <a:stretch/>
        </p:blipFill>
        <p:spPr>
          <a:xfrm>
            <a:off x="3670886" y="956932"/>
            <a:ext cx="2078916" cy="307271"/>
          </a:xfrm>
          <a:prstGeom prst="rect">
            <a:avLst/>
          </a:prstGeom>
          <a:noFill/>
          <a:ln>
            <a:noFill/>
          </a:ln>
        </p:spPr>
      </p:pic>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54a426ae3_0_1821"/>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Expected SARSA</a:t>
            </a:r>
            <a:endParaRPr/>
          </a:p>
        </p:txBody>
      </p:sp>
      <p:sp>
        <p:nvSpPr>
          <p:cNvPr id="882" name="Google Shape;882;g3b54a426ae3_0_1821"/>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3" name="Google Shape;883;g3b54a426ae3_0_1821"/>
          <p:cNvGrpSpPr/>
          <p:nvPr/>
        </p:nvGrpSpPr>
        <p:grpSpPr>
          <a:xfrm>
            <a:off x="0" y="3109250"/>
            <a:ext cx="5760261" cy="92075"/>
            <a:chOff x="0" y="3109250"/>
            <a:chExt cx="5760261" cy="92075"/>
          </a:xfrm>
        </p:grpSpPr>
        <p:sp>
          <p:nvSpPr>
            <p:cNvPr id="884" name="Google Shape;884;g3b54a426ae3_0_1821"/>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g3b54a426ae3_0_1821"/>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g3b54a426ae3_0_1821"/>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7" name="Google Shape;887;g3b54a426ae3_0_1821"/>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888" name="Google Shape;888;g3b54a426ae3_0_1821"/>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889" name="Google Shape;889;g3b54a426ae3_0_1821"/>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890" name="Google Shape;890;g3b54a426ae3_0_1821"/>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891" name="Google Shape;891;g3b54a426ae3_0_1821"/>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892" name="Google Shape;892;g3b54a426ae3_0_1821"/>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893" name="Google Shape;893;g3b54a426ae3_0_1821"/>
          <p:cNvSpPr txBox="1"/>
          <p:nvPr/>
        </p:nvSpPr>
        <p:spPr>
          <a:xfrm>
            <a:off x="1416924" y="2651915"/>
            <a:ext cx="4310400" cy="457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1B1472"/>
                </a:solidFill>
                <a:latin typeface="Arial"/>
                <a:ea typeface="Arial"/>
                <a:cs typeface="Arial"/>
                <a:sym typeface="Arial"/>
              </a:rPr>
              <a:t>Actions “F” &amp; “S` are derived by applying E-greedy on policy from state “C” &amp;“W”, For above highlighted timestep:  (S,A,R,S) = (C,F,2,W)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1B1472"/>
                </a:solidFill>
                <a:latin typeface="Arial"/>
                <a:ea typeface="Arial"/>
                <a:cs typeface="Arial"/>
                <a:sym typeface="Arial"/>
              </a:rPr>
              <a:t>During bootstrapping the expected values are used. </a:t>
            </a:r>
            <a:endParaRPr b="1" i="0" sz="600" u="none" cap="none" strike="noStrike">
              <a:solidFill>
                <a:srgbClr val="1B147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1B1472"/>
                </a:solidFill>
                <a:latin typeface="Arial"/>
                <a:ea typeface="Arial"/>
                <a:cs typeface="Arial"/>
                <a:sym typeface="Arial"/>
              </a:rPr>
              <a:t>For simplicity in this episode its </a:t>
            </a:r>
            <a:r>
              <a:rPr b="1" i="0" lang="en-US" sz="600" u="none" cap="none" strike="noStrike">
                <a:solidFill>
                  <a:srgbClr val="FF0000"/>
                </a:solidFill>
                <a:latin typeface="Arial"/>
                <a:ea typeface="Arial"/>
                <a:cs typeface="Arial"/>
                <a:sym typeface="Arial"/>
              </a:rPr>
              <a:t>assumed that all actions are equiprobable for state “W”</a:t>
            </a:r>
            <a:endParaRPr b="1" i="0" sz="600" u="none" cap="none" strike="noStrike">
              <a:solidFill>
                <a:srgbClr val="FF0000"/>
              </a:solidFill>
              <a:latin typeface="Arial"/>
              <a:ea typeface="Arial"/>
              <a:cs typeface="Arial"/>
              <a:sym typeface="Arial"/>
            </a:endParaRPr>
          </a:p>
        </p:txBody>
      </p:sp>
      <p:pic>
        <p:nvPicPr>
          <p:cNvPr id="894" name="Google Shape;894;g3b54a426ae3_0_1821"/>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895" name="Google Shape;895;g3b54a426ae3_0_1821"/>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896" name="Google Shape;896;g3b54a426ae3_0_1821"/>
          <p:cNvSpPr txBox="1"/>
          <p:nvPr/>
        </p:nvSpPr>
        <p:spPr>
          <a:xfrm>
            <a:off x="82600" y="1717926"/>
            <a:ext cx="2793000" cy="765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Q(C,F) = 0 + 0.8 [2+ (0.9*</a:t>
            </a:r>
            <a:r>
              <a:rPr b="1" i="0" lang="en-US" sz="700" u="none" cap="none" strike="noStrike">
                <a:solidFill>
                  <a:srgbClr val="FF0000"/>
                </a:solidFill>
                <a:latin typeface="Arial"/>
                <a:ea typeface="Arial"/>
                <a:cs typeface="Arial"/>
                <a:sym typeface="Arial"/>
              </a:rPr>
              <a:t>(0.5*Q(W,S)+0.5*Q(W,F)</a:t>
            </a:r>
            <a:r>
              <a:rPr b="1" i="0" lang="en-US" sz="700" u="none" cap="none" strike="noStrike">
                <a:solidFill>
                  <a:schemeClr val="dk1"/>
                </a:solidFill>
                <a:latin typeface="Arial"/>
                <a:ea typeface="Arial"/>
                <a:cs typeface="Arial"/>
                <a:sym typeface="Arial"/>
              </a:rPr>
              <a:t>)-0] = 1.6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897" name="Google Shape;897;g3b54a426ae3_0_1821"/>
          <p:cNvSpPr/>
          <p:nvPr/>
        </p:nvSpPr>
        <p:spPr>
          <a:xfrm>
            <a:off x="514351" y="1717925"/>
            <a:ext cx="453600" cy="1458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8" name="Google Shape;898;g3b54a426ae3_0_1821"/>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899" name="Google Shape;899;g3b54a426ae3_0_1821"/>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900" name="Google Shape;900;g3b54a426ae3_0_1821"/>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901" name="Google Shape;901;g3b54a426ae3_0_1821"/>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chemeClr val="dk1"/>
                </a:solidFill>
                <a:latin typeface="Calibri"/>
                <a:ea typeface="Calibri"/>
                <a:cs typeface="Calibri"/>
                <a:sym typeface="Calibri"/>
              </a:rPr>
              <a:t>  </a:t>
            </a:r>
            <a:r>
              <a:rPr b="1" i="0" lang="en-US" sz="800" u="none" cap="none" strike="noStrike">
                <a:solidFill>
                  <a:schemeClr val="dk1"/>
                </a:solidFill>
                <a:latin typeface="Calibri"/>
                <a:ea typeface="Calibri"/>
                <a:cs typeface="Calibri"/>
                <a:sym typeface="Calibri"/>
              </a:rPr>
              <a:t>1.6</a:t>
            </a:r>
            <a:r>
              <a:rPr b="0" i="0" lang="en-US" sz="800" u="none" cap="none" strike="noStrike">
                <a:solidFill>
                  <a:schemeClr val="dk1"/>
                </a:solidFill>
                <a:latin typeface="Calibri"/>
                <a:ea typeface="Calibri"/>
                <a:cs typeface="Calibri"/>
                <a:sym typeface="Calibri"/>
              </a:rPr>
              <a:t>          0          0	0            0             0</a:t>
            </a:r>
            <a:endParaRPr b="0" i="0" sz="300" u="none" cap="none" strike="noStrike">
              <a:solidFill>
                <a:srgbClr val="000000"/>
              </a:solidFill>
              <a:latin typeface="Arial"/>
              <a:ea typeface="Arial"/>
              <a:cs typeface="Arial"/>
              <a:sym typeface="Arial"/>
            </a:endParaRPr>
          </a:p>
        </p:txBody>
      </p:sp>
      <p:cxnSp>
        <p:nvCxnSpPr>
          <p:cNvPr id="902" name="Google Shape;902;g3b54a426ae3_0_1821"/>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903" name="Google Shape;903;g3b54a426ae3_0_1821"/>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904" name="Google Shape;904;g3b54a426ae3_0_1821"/>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905" name="Google Shape;905;g3b54a426ae3_0_1821"/>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906" name="Google Shape;906;g3b54a426ae3_0_1821"/>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907" name="Google Shape;907;g3b54a426ae3_0_1821"/>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908" name="Google Shape;908;g3b54a426ae3_0_1821"/>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909" name="Google Shape;909;g3b54a426ae3_0_1821"/>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910" name="Google Shape;910;g3b54a426ae3_0_1821"/>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911" name="Google Shape;911;g3b54a426ae3_0_1821"/>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912" name="Google Shape;912;g3b54a426ae3_0_1821"/>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913" name="Google Shape;913;g3b54a426ae3_0_1821"/>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914" name="Google Shape;914;g3b54a426ae3_0_1821"/>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915" name="Google Shape;915;g3b54a426ae3_0_1821"/>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6" name="Google Shape;916;g3b54a426ae3_0_1821"/>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917" name="Google Shape;917;g3b54a426ae3_0_1821"/>
          <p:cNvSpPr txBox="1"/>
          <p:nvPr/>
        </p:nvSpPr>
        <p:spPr>
          <a:xfrm>
            <a:off x="2554337" y="1421975"/>
            <a:ext cx="3195600" cy="6228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FF0000"/>
                </a:solidFill>
                <a:latin typeface="Arial"/>
                <a:ea typeface="Arial"/>
                <a:cs typeface="Arial"/>
                <a:sym typeface="Arial"/>
              </a:rPr>
              <a:t>Important note from TextBook: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1B1472"/>
                </a:solidFill>
                <a:latin typeface="Arial"/>
                <a:ea typeface="Arial"/>
                <a:cs typeface="Arial"/>
                <a:sym typeface="Arial"/>
              </a:rPr>
              <a:t>In these results Expected Sarsa was used on-policy, but in general it might use a policy different from the target policy to generate behavior, in which case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1B1472"/>
                </a:solidFill>
                <a:latin typeface="Arial"/>
                <a:ea typeface="Arial"/>
                <a:cs typeface="Arial"/>
                <a:sym typeface="Arial"/>
              </a:rPr>
              <a:t>it becomes an off-policy algorithm. For example, suppose the target is the greedy policy while behavior is more exploratory; then Expected Sarsa is exactly Q-learning. </a:t>
            </a:r>
            <a:endParaRPr b="1" i="0" sz="600" u="none" cap="none" strike="noStrike">
              <a:solidFill>
                <a:srgbClr val="1B1472"/>
              </a:solidFill>
              <a:latin typeface="Arial"/>
              <a:ea typeface="Arial"/>
              <a:cs typeface="Arial"/>
              <a:sym typeface="Arial"/>
            </a:endParaRPr>
          </a:p>
        </p:txBody>
      </p:sp>
      <p:pic>
        <p:nvPicPr>
          <p:cNvPr id="918" name="Google Shape;918;g3b54a426ae3_0_1821"/>
          <p:cNvPicPr preferRelativeResize="0"/>
          <p:nvPr/>
        </p:nvPicPr>
        <p:blipFill rotWithShape="1">
          <a:blip r:embed="rId10">
            <a:alphaModFix/>
          </a:blip>
          <a:srcRect b="0" l="0" r="0" t="0"/>
          <a:stretch/>
        </p:blipFill>
        <p:spPr>
          <a:xfrm>
            <a:off x="3670886" y="956932"/>
            <a:ext cx="2078916" cy="307271"/>
          </a:xfrm>
          <a:prstGeom prst="rect">
            <a:avLst/>
          </a:prstGeom>
          <a:noFill/>
          <a:ln>
            <a:noFill/>
          </a:ln>
        </p:spPr>
      </p:pic>
      <p:sp>
        <p:nvSpPr>
          <p:cNvPr id="919" name="Google Shape;919;g3b54a426ae3_0_1821"/>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g3b54a426ae3_0_1863"/>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Expected SARSA</a:t>
            </a:r>
            <a:endParaRPr/>
          </a:p>
        </p:txBody>
      </p:sp>
      <p:sp>
        <p:nvSpPr>
          <p:cNvPr id="925" name="Google Shape;925;g3b54a426ae3_0_1863"/>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26" name="Google Shape;926;g3b54a426ae3_0_1863"/>
          <p:cNvGrpSpPr/>
          <p:nvPr/>
        </p:nvGrpSpPr>
        <p:grpSpPr>
          <a:xfrm>
            <a:off x="0" y="3109250"/>
            <a:ext cx="5760261" cy="92075"/>
            <a:chOff x="0" y="3109250"/>
            <a:chExt cx="5760261" cy="92075"/>
          </a:xfrm>
        </p:grpSpPr>
        <p:sp>
          <p:nvSpPr>
            <p:cNvPr id="927" name="Google Shape;927;g3b54a426ae3_0_1863"/>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g3b54a426ae3_0_1863"/>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g3b54a426ae3_0_1863"/>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0" name="Google Shape;930;g3b54a426ae3_0_1863"/>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931" name="Google Shape;931;g3b54a426ae3_0_1863"/>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932" name="Google Shape;932;g3b54a426ae3_0_1863"/>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933" name="Google Shape;933;g3b54a426ae3_0_1863"/>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934" name="Google Shape;934;g3b54a426ae3_0_1863"/>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935" name="Google Shape;935;g3b54a426ae3_0_1863"/>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936" name="Google Shape;936;g3b54a426ae3_0_1863"/>
          <p:cNvSpPr txBox="1"/>
          <p:nvPr/>
        </p:nvSpPr>
        <p:spPr>
          <a:xfrm>
            <a:off x="3098174" y="2678961"/>
            <a:ext cx="2629200" cy="430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FF0000"/>
                </a:solidFill>
                <a:latin typeface="Arial"/>
                <a:ea typeface="Arial"/>
                <a:cs typeface="Arial"/>
                <a:sym typeface="Arial"/>
              </a:rPr>
              <a:t>Assumed that all actions are equiprobable from a state in this episode</a:t>
            </a:r>
            <a:endParaRPr b="1" i="0" sz="700" u="none" cap="none" strike="noStrike">
              <a:solidFill>
                <a:srgbClr val="FF0000"/>
              </a:solidFill>
              <a:latin typeface="Arial"/>
              <a:ea typeface="Arial"/>
              <a:cs typeface="Arial"/>
              <a:sym typeface="Arial"/>
            </a:endParaRPr>
          </a:p>
        </p:txBody>
      </p:sp>
      <p:pic>
        <p:nvPicPr>
          <p:cNvPr id="937" name="Google Shape;937;g3b54a426ae3_0_1863"/>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938" name="Google Shape;938;g3b54a426ae3_0_1863"/>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939" name="Google Shape;939;g3b54a426ae3_0_1863"/>
          <p:cNvSpPr txBox="1"/>
          <p:nvPr/>
        </p:nvSpPr>
        <p:spPr>
          <a:xfrm>
            <a:off x="82600" y="1717926"/>
            <a:ext cx="2793000" cy="765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Q(W,S) = 0 + 0.8 [1+ (0.9</a:t>
            </a:r>
            <a:r>
              <a:rPr b="1" i="0" lang="en-US" sz="700" u="none" cap="none" strike="noStrike">
                <a:solidFill>
                  <a:srgbClr val="FF0000"/>
                </a:solidFill>
                <a:latin typeface="Arial"/>
                <a:ea typeface="Arial"/>
                <a:cs typeface="Arial"/>
                <a:sym typeface="Arial"/>
              </a:rPr>
              <a:t>*(0.5*Q(C,S)+0.5*Q(C,F)))-</a:t>
            </a:r>
            <a:r>
              <a:rPr b="1" i="0" lang="en-US" sz="700" u="none" cap="none" strike="noStrike">
                <a:solidFill>
                  <a:schemeClr val="dk1"/>
                </a:solidFill>
                <a:latin typeface="Arial"/>
                <a:ea typeface="Arial"/>
                <a:cs typeface="Arial"/>
                <a:sym typeface="Arial"/>
              </a:rPr>
              <a:t>0] = ~1.37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940" name="Google Shape;940;g3b54a426ae3_0_1863"/>
          <p:cNvSpPr/>
          <p:nvPr/>
        </p:nvSpPr>
        <p:spPr>
          <a:xfrm>
            <a:off x="879354" y="1703814"/>
            <a:ext cx="423600" cy="159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1" name="Google Shape;941;g3b54a426ae3_0_1863"/>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942" name="Google Shape;942;g3b54a426ae3_0_1863"/>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943" name="Google Shape;943;g3b54a426ae3_0_1863"/>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944" name="Google Shape;944;g3b54a426ae3_0_1863"/>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chemeClr val="dk1"/>
                </a:solidFill>
                <a:latin typeface="Calibri"/>
                <a:ea typeface="Calibri"/>
                <a:cs typeface="Calibri"/>
                <a:sym typeface="Calibri"/>
              </a:rPr>
              <a:t>  1.6          0          0	</a:t>
            </a:r>
            <a:r>
              <a:rPr b="1" i="0" lang="en-US" sz="800" u="none" cap="none" strike="noStrike">
                <a:solidFill>
                  <a:schemeClr val="dk1"/>
                </a:solidFill>
                <a:latin typeface="Calibri"/>
                <a:ea typeface="Calibri"/>
                <a:cs typeface="Calibri"/>
                <a:sym typeface="Calibri"/>
              </a:rPr>
              <a:t>1.37</a:t>
            </a:r>
            <a:r>
              <a:rPr b="0" i="0" lang="en-US" sz="800" u="none" cap="none" strike="noStrike">
                <a:solidFill>
                  <a:schemeClr val="dk1"/>
                </a:solidFill>
                <a:latin typeface="Calibri"/>
                <a:ea typeface="Calibri"/>
                <a:cs typeface="Calibri"/>
                <a:sym typeface="Calibri"/>
              </a:rPr>
              <a:t>          0           0</a:t>
            </a:r>
            <a:endParaRPr b="0" i="0" sz="300" u="none" cap="none" strike="noStrike">
              <a:solidFill>
                <a:srgbClr val="000000"/>
              </a:solidFill>
              <a:latin typeface="Arial"/>
              <a:ea typeface="Arial"/>
              <a:cs typeface="Arial"/>
              <a:sym typeface="Arial"/>
            </a:endParaRPr>
          </a:p>
        </p:txBody>
      </p:sp>
      <p:cxnSp>
        <p:nvCxnSpPr>
          <p:cNvPr id="945" name="Google Shape;945;g3b54a426ae3_0_1863"/>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946" name="Google Shape;946;g3b54a426ae3_0_1863"/>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947" name="Google Shape;947;g3b54a426ae3_0_1863"/>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948" name="Google Shape;948;g3b54a426ae3_0_1863"/>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949" name="Google Shape;949;g3b54a426ae3_0_1863"/>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950" name="Google Shape;950;g3b54a426ae3_0_1863"/>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951" name="Google Shape;951;g3b54a426ae3_0_1863"/>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952" name="Google Shape;952;g3b54a426ae3_0_1863"/>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953" name="Google Shape;953;g3b54a426ae3_0_1863"/>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954" name="Google Shape;954;g3b54a426ae3_0_1863"/>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955" name="Google Shape;955;g3b54a426ae3_0_1863"/>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956" name="Google Shape;956;g3b54a426ae3_0_1863"/>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957" name="Google Shape;957;g3b54a426ae3_0_1863"/>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958" name="Google Shape;958;g3b54a426ae3_0_1863"/>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59" name="Google Shape;959;g3b54a426ae3_0_1863"/>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pic>
        <p:nvPicPr>
          <p:cNvPr id="960" name="Google Shape;960;g3b54a426ae3_0_1863"/>
          <p:cNvPicPr preferRelativeResize="0"/>
          <p:nvPr/>
        </p:nvPicPr>
        <p:blipFill rotWithShape="1">
          <a:blip r:embed="rId10">
            <a:alphaModFix/>
          </a:blip>
          <a:srcRect b="0" l="0" r="0" t="0"/>
          <a:stretch/>
        </p:blipFill>
        <p:spPr>
          <a:xfrm>
            <a:off x="3670886" y="956932"/>
            <a:ext cx="2078916" cy="307271"/>
          </a:xfrm>
          <a:prstGeom prst="rect">
            <a:avLst/>
          </a:prstGeom>
          <a:noFill/>
          <a:ln>
            <a:noFill/>
          </a:ln>
        </p:spPr>
      </p:pic>
      <p:sp>
        <p:nvSpPr>
          <p:cNvPr id="961" name="Google Shape;961;g3b54a426ae3_0_1863"/>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b54a426ae3_0_1904"/>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Expected SARSA</a:t>
            </a:r>
            <a:endParaRPr/>
          </a:p>
        </p:txBody>
      </p:sp>
      <p:sp>
        <p:nvSpPr>
          <p:cNvPr id="967" name="Google Shape;967;g3b54a426ae3_0_1904"/>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68" name="Google Shape;968;g3b54a426ae3_0_1904"/>
          <p:cNvGrpSpPr/>
          <p:nvPr/>
        </p:nvGrpSpPr>
        <p:grpSpPr>
          <a:xfrm>
            <a:off x="0" y="3109250"/>
            <a:ext cx="5760261" cy="92075"/>
            <a:chOff x="0" y="3109250"/>
            <a:chExt cx="5760261" cy="92075"/>
          </a:xfrm>
        </p:grpSpPr>
        <p:sp>
          <p:nvSpPr>
            <p:cNvPr id="969" name="Google Shape;969;g3b54a426ae3_0_1904"/>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g3b54a426ae3_0_1904"/>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g3b54a426ae3_0_1904"/>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2" name="Google Shape;972;g3b54a426ae3_0_1904"/>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973" name="Google Shape;973;g3b54a426ae3_0_1904"/>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974" name="Google Shape;974;g3b54a426ae3_0_1904"/>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975" name="Google Shape;975;g3b54a426ae3_0_1904"/>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976" name="Google Shape;976;g3b54a426ae3_0_1904"/>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977" name="Google Shape;977;g3b54a426ae3_0_1904"/>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978" name="Google Shape;978;g3b54a426ae3_0_1904"/>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979" name="Google Shape;979;g3b54a426ae3_0_1904"/>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980" name="Google Shape;980;g3b54a426ae3_0_1904"/>
          <p:cNvSpPr txBox="1"/>
          <p:nvPr/>
        </p:nvSpPr>
        <p:spPr>
          <a:xfrm>
            <a:off x="92818" y="1649835"/>
            <a:ext cx="2793000" cy="18432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-10, </a:t>
            </a:r>
            <a:r>
              <a:rPr b="1" i="0" lang="en-US" sz="700" u="none" cap="none" strike="noStrike">
                <a:solidFill>
                  <a:srgbClr val="C00000"/>
                </a:solidFill>
                <a:latin typeface="Arial"/>
                <a:ea typeface="Arial"/>
                <a:cs typeface="Arial"/>
                <a:sym typeface="Arial"/>
              </a:rPr>
              <a:t>O</a:t>
            </a:r>
            <a:r>
              <a:rPr b="1" i="0" lang="en-US" sz="700" u="none" cap="none" strike="noStrike">
                <a:solidFill>
                  <a:schemeClr val="dk1"/>
                </a:solidFill>
                <a:latin typeface="Arial"/>
                <a:ea typeface="Arial"/>
                <a:cs typeface="Arial"/>
                <a:sym typeface="Arial"/>
              </a:rPr>
              <a:t> </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t=0 : Q(C,F) = 1.6+0.8(2+0.9</a:t>
            </a:r>
            <a:r>
              <a:rPr b="1" i="0" lang="en-US" sz="700" u="none" cap="none" strike="noStrike">
                <a:solidFill>
                  <a:srgbClr val="FF0000"/>
                </a:solidFill>
                <a:latin typeface="Arial"/>
                <a:ea typeface="Arial"/>
                <a:cs typeface="Arial"/>
                <a:sym typeface="Arial"/>
              </a:rPr>
              <a:t>(0.5*1.6+0.5*0)</a:t>
            </a:r>
            <a:r>
              <a:rPr b="1" i="0" lang="en-US" sz="700" u="none" cap="none" strike="noStrike">
                <a:solidFill>
                  <a:schemeClr val="dk1"/>
                </a:solidFill>
                <a:latin typeface="Arial"/>
                <a:ea typeface="Arial"/>
                <a:cs typeface="Arial"/>
                <a:sym typeface="Arial"/>
              </a:rPr>
              <a:t>−1.6)=~2.496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t=1 : Q(C,F) = 2.496+0.8(2+0.9</a:t>
            </a:r>
            <a:r>
              <a:rPr b="1" i="0" lang="en-US" sz="700" u="none" cap="none" strike="noStrike">
                <a:solidFill>
                  <a:srgbClr val="FF0000"/>
                </a:solidFill>
                <a:latin typeface="Arial"/>
                <a:ea typeface="Arial"/>
                <a:cs typeface="Arial"/>
                <a:sym typeface="Arial"/>
              </a:rPr>
              <a:t>(0.5*1.37+0.5*0)</a:t>
            </a:r>
            <a:r>
              <a:rPr b="1" i="0" lang="en-US" sz="700" u="none" cap="none" strike="noStrike">
                <a:solidFill>
                  <a:schemeClr val="dk1"/>
                </a:solidFill>
                <a:latin typeface="Arial"/>
                <a:ea typeface="Arial"/>
                <a:cs typeface="Arial"/>
                <a:sym typeface="Arial"/>
              </a:rPr>
              <a:t>−2.496)=~2.59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t=2 : Q(W,S) = 1.37+0.8(1+0.9</a:t>
            </a:r>
            <a:r>
              <a:rPr b="1" i="0" lang="en-US" sz="700" u="none" cap="none" strike="noStrike">
                <a:solidFill>
                  <a:srgbClr val="FF0000"/>
                </a:solidFill>
                <a:latin typeface="Arial"/>
                <a:ea typeface="Arial"/>
                <a:cs typeface="Arial"/>
                <a:sym typeface="Arial"/>
              </a:rPr>
              <a:t>(0.5*1.37+0.5*0)</a:t>
            </a:r>
            <a:r>
              <a:rPr b="1" i="0" lang="en-US" sz="700" u="none" cap="none" strike="noStrike">
                <a:solidFill>
                  <a:schemeClr val="dk1"/>
                </a:solidFill>
                <a:latin typeface="Arial"/>
                <a:ea typeface="Arial"/>
                <a:cs typeface="Arial"/>
                <a:sym typeface="Arial"/>
              </a:rPr>
              <a:t>−1.37)=~1.57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t=3 : Q(W,S) = 1.57 + 0.8 [1+0.9</a:t>
            </a:r>
            <a:r>
              <a:rPr b="1" i="0" lang="en-US" sz="700" u="none" cap="none" strike="noStrike">
                <a:solidFill>
                  <a:srgbClr val="FF0000"/>
                </a:solidFill>
                <a:latin typeface="Arial"/>
                <a:ea typeface="Arial"/>
                <a:cs typeface="Arial"/>
                <a:sym typeface="Arial"/>
              </a:rPr>
              <a:t>(0.5*1.57+0.5*0)</a:t>
            </a:r>
            <a:r>
              <a:rPr b="1" i="0" lang="en-US" sz="700" u="none" cap="none" strike="noStrike">
                <a:solidFill>
                  <a:schemeClr val="dk1"/>
                </a:solidFill>
                <a:latin typeface="Arial"/>
                <a:ea typeface="Arial"/>
                <a:cs typeface="Arial"/>
                <a:sym typeface="Arial"/>
              </a:rPr>
              <a:t>−1.57] = ~1.68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t=4 : Q(W,F) = 0 + 0.8 [-10+ (0.9*0)-0] = ~-8</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981" name="Google Shape;981;g3b54a426ae3_0_1904"/>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982" name="Google Shape;982;g3b54a426ae3_0_1904"/>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983" name="Google Shape;983;g3b54a426ae3_0_1904"/>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984" name="Google Shape;984;g3b54a426ae3_0_1904"/>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985" name="Google Shape;985;g3b54a426ae3_0_1904"/>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986" name="Google Shape;986;g3b54a426ae3_0_1904"/>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987" name="Google Shape;987;g3b54a426ae3_0_1904"/>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988" name="Google Shape;988;g3b54a426ae3_0_1904"/>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989" name="Google Shape;989;g3b54a426ae3_0_1904"/>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990" name="Google Shape;990;g3b54a426ae3_0_1904"/>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991" name="Google Shape;991;g3b54a426ae3_0_1904"/>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992" name="Google Shape;992;g3b54a426ae3_0_1904"/>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993" name="Google Shape;993;g3b54a426ae3_0_1904"/>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994" name="Google Shape;994;g3b54a426ae3_0_1904"/>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995" name="Google Shape;995;g3b54a426ae3_0_1904"/>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996" name="Google Shape;996;g3b54a426ae3_0_1904"/>
          <p:cNvPicPr preferRelativeResize="0"/>
          <p:nvPr/>
        </p:nvPicPr>
        <p:blipFill rotWithShape="1">
          <a:blip r:embed="rId9">
            <a:alphaModFix/>
          </a:blip>
          <a:srcRect b="0" l="0" r="0" t="0"/>
          <a:stretch/>
        </p:blipFill>
        <p:spPr>
          <a:xfrm>
            <a:off x="3670886" y="34350"/>
            <a:ext cx="2078916" cy="883997"/>
          </a:xfrm>
          <a:prstGeom prst="rect">
            <a:avLst/>
          </a:prstGeom>
          <a:noFill/>
          <a:ln>
            <a:noFill/>
          </a:ln>
        </p:spPr>
      </p:pic>
      <p:sp>
        <p:nvSpPr>
          <p:cNvPr id="997" name="Google Shape;997;g3b54a426ae3_0_1904"/>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98" name="Google Shape;998;g3b54a426ae3_0_1904"/>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999" name="Google Shape;999;g3b54a426ae3_0_1904"/>
          <p:cNvSpPr txBox="1"/>
          <p:nvPr/>
        </p:nvSpPr>
        <p:spPr>
          <a:xfrm>
            <a:off x="289408" y="1110457"/>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800" u="none" cap="none" strike="noStrike">
                <a:solidFill>
                  <a:schemeClr val="dk1"/>
                </a:solidFill>
                <a:latin typeface="Calibri"/>
                <a:ea typeface="Calibri"/>
                <a:cs typeface="Calibri"/>
                <a:sym typeface="Calibri"/>
              </a:rPr>
              <a:t>  2.59         0        -8	1.57           </a:t>
            </a:r>
            <a:r>
              <a:rPr b="0" i="0" lang="en-US" sz="800" u="none" cap="none" strike="noStrike">
                <a:solidFill>
                  <a:schemeClr val="dk1"/>
                </a:solidFill>
                <a:latin typeface="Calibri"/>
                <a:ea typeface="Calibri"/>
                <a:cs typeface="Calibri"/>
                <a:sym typeface="Calibri"/>
              </a:rPr>
              <a:t>0             </a:t>
            </a:r>
            <a:endParaRPr b="0" i="0" sz="300" u="none" cap="none" strike="noStrike">
              <a:solidFill>
                <a:srgbClr val="000000"/>
              </a:solidFill>
              <a:latin typeface="Arial"/>
              <a:ea typeface="Arial"/>
              <a:cs typeface="Arial"/>
              <a:sym typeface="Arial"/>
            </a:endParaRPr>
          </a:p>
        </p:txBody>
      </p:sp>
      <p:sp>
        <p:nvSpPr>
          <p:cNvPr id="1000" name="Google Shape;1000;g3b54a426ae3_0_1904"/>
          <p:cNvSpPr txBox="1"/>
          <p:nvPr/>
        </p:nvSpPr>
        <p:spPr>
          <a:xfrm>
            <a:off x="2816659" y="2678961"/>
            <a:ext cx="2629200" cy="3816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Continued for one more episode….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FF0000"/>
                </a:solidFill>
                <a:latin typeface="Arial"/>
                <a:ea typeface="Arial"/>
                <a:cs typeface="Arial"/>
                <a:sym typeface="Arial"/>
              </a:rPr>
              <a:t>Assumed likelihood for all the states “_” for simplicity :P(S|_) = 0.05, P(F|_) = 0.5</a:t>
            </a:r>
            <a:endParaRPr b="1" i="0" sz="600" u="none" cap="none" strike="noStrike">
              <a:solidFill>
                <a:srgbClr val="1B1472"/>
              </a:solidFill>
              <a:latin typeface="Arial"/>
              <a:ea typeface="Arial"/>
              <a:cs typeface="Arial"/>
              <a:sym typeface="Arial"/>
            </a:endParaRPr>
          </a:p>
        </p:txBody>
      </p:sp>
      <p:pic>
        <p:nvPicPr>
          <p:cNvPr id="1001" name="Google Shape;1001;g3b54a426ae3_0_1904"/>
          <p:cNvPicPr preferRelativeResize="0"/>
          <p:nvPr/>
        </p:nvPicPr>
        <p:blipFill rotWithShape="1">
          <a:blip r:embed="rId10">
            <a:alphaModFix/>
          </a:blip>
          <a:srcRect b="0" l="0" r="0" t="0"/>
          <a:stretch/>
        </p:blipFill>
        <p:spPr>
          <a:xfrm>
            <a:off x="3670886" y="956932"/>
            <a:ext cx="2078916" cy="307271"/>
          </a:xfrm>
          <a:prstGeom prst="rect">
            <a:avLst/>
          </a:prstGeom>
          <a:noFill/>
          <a:ln>
            <a:noFill/>
          </a:ln>
        </p:spPr>
      </p:pic>
      <p:sp>
        <p:nvSpPr>
          <p:cNvPr id="1002" name="Google Shape;1002;g3b54a426ae3_0_1904"/>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          0          0	1.37          0           0</a:t>
            </a:r>
            <a:endParaRPr b="0" i="0" sz="300" u="none" cap="none" strike="noStrike">
              <a:solidFill>
                <a:srgbClr val="000000"/>
              </a:solidFill>
              <a:latin typeface="Arial"/>
              <a:ea typeface="Arial"/>
              <a:cs typeface="Arial"/>
              <a:sym typeface="Arial"/>
            </a:endParaRPr>
          </a:p>
        </p:txBody>
      </p:sp>
      <p:sp>
        <p:nvSpPr>
          <p:cNvPr id="1003" name="Google Shape;1003;g3b54a426ae3_0_1904"/>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c53b5bf8f1_0_0"/>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Expected SARSA</a:t>
            </a:r>
            <a:endParaRPr/>
          </a:p>
        </p:txBody>
      </p:sp>
      <p:sp>
        <p:nvSpPr>
          <p:cNvPr id="1009" name="Google Shape;1009;g3c53b5bf8f1_0_0"/>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10" name="Google Shape;1010;g3c53b5bf8f1_0_0"/>
          <p:cNvGrpSpPr/>
          <p:nvPr/>
        </p:nvGrpSpPr>
        <p:grpSpPr>
          <a:xfrm>
            <a:off x="0" y="3109250"/>
            <a:ext cx="5760261" cy="92075"/>
            <a:chOff x="0" y="3109250"/>
            <a:chExt cx="5760261" cy="92075"/>
          </a:xfrm>
        </p:grpSpPr>
        <p:sp>
          <p:nvSpPr>
            <p:cNvPr id="1011" name="Google Shape;1011;g3c53b5bf8f1_0_0"/>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g3c53b5bf8f1_0_0"/>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g3c53b5bf8f1_0_0"/>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14" name="Google Shape;1014;g3c53b5bf8f1_0_0"/>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015" name="Google Shape;1015;g3c53b5bf8f1_0_0"/>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1016" name="Google Shape;1016;g3c53b5bf8f1_0_0"/>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1017" name="Google Shape;1017;g3c53b5bf8f1_0_0"/>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1018" name="Google Shape;1018;g3c53b5bf8f1_0_0"/>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1019" name="Google Shape;1019;g3c53b5bf8f1_0_0"/>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1020" name="Google Shape;1020;g3c53b5bf8f1_0_0"/>
          <p:cNvSpPr txBox="1"/>
          <p:nvPr/>
        </p:nvSpPr>
        <p:spPr>
          <a:xfrm>
            <a:off x="129994" y="2028358"/>
            <a:ext cx="3083700" cy="1950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-10, </a:t>
            </a:r>
            <a:r>
              <a:rPr b="1" i="0" lang="en-US" sz="700" u="none" cap="none" strike="noStrike">
                <a:solidFill>
                  <a:srgbClr val="C00000"/>
                </a:solidFill>
                <a:latin typeface="Arial"/>
                <a:ea typeface="Arial"/>
                <a:cs typeface="Arial"/>
                <a:sym typeface="Arial"/>
              </a:rPr>
              <a:t>O</a:t>
            </a:r>
            <a:r>
              <a:rPr b="1" i="0" lang="en-US" sz="700" u="none" cap="none" strike="noStrike">
                <a:solidFill>
                  <a:schemeClr val="dk1"/>
                </a:solidFill>
                <a:latin typeface="Arial"/>
                <a:ea typeface="Arial"/>
                <a:cs typeface="Arial"/>
                <a:sym typeface="Arial"/>
              </a:rPr>
              <a:t> </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3: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 </a:t>
            </a:r>
            <a:r>
              <a:rPr b="1" i="0" lang="en-US" sz="700" u="none" cap="none" strike="noStrike">
                <a:solidFill>
                  <a:srgbClr val="0070C0"/>
                </a:solidFill>
                <a:latin typeface="Arial"/>
                <a:ea typeface="Arial"/>
                <a:cs typeface="Arial"/>
                <a:sym typeface="Arial"/>
              </a:rPr>
              <a:t>+10, </a:t>
            </a:r>
            <a:r>
              <a:rPr b="1" i="0" lang="en-US" sz="700" u="none" cap="none" strike="noStrike">
                <a:solidFill>
                  <a:srgbClr val="C00000"/>
                </a:solidFill>
                <a:latin typeface="Arial"/>
                <a:ea typeface="Arial"/>
                <a:cs typeface="Arial"/>
                <a:sym typeface="Arial"/>
              </a:rPr>
              <a:t>O</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t=0 : Q(W,S)  = 1.57 + 0.8 [1+ (0.9*((</a:t>
            </a:r>
            <a:r>
              <a:rPr b="1" i="0" lang="en-US" sz="700" u="none" cap="none" strike="noStrike">
                <a:solidFill>
                  <a:srgbClr val="FF0000"/>
                </a:solidFill>
                <a:latin typeface="Arial"/>
                <a:ea typeface="Arial"/>
                <a:cs typeface="Arial"/>
                <a:sym typeface="Arial"/>
              </a:rPr>
              <a:t>-8*0.5) + (1.57*0.5))</a:t>
            </a:r>
            <a:r>
              <a:rPr b="1" i="0" lang="en-US" sz="700" u="none" cap="none" strike="noStrike">
                <a:solidFill>
                  <a:schemeClr val="dk1"/>
                </a:solidFill>
                <a:latin typeface="Arial"/>
                <a:ea typeface="Arial"/>
                <a:cs typeface="Arial"/>
                <a:sym typeface="Arial"/>
              </a:rPr>
              <a:t>)-1.57] = </a:t>
            </a:r>
            <a:r>
              <a:rPr b="1" i="0" lang="en-US" sz="700" u="none" cap="none" strike="noStrike">
                <a:solidFill>
                  <a:srgbClr val="FF0000"/>
                </a:solidFill>
                <a:latin typeface="Arial"/>
                <a:ea typeface="Arial"/>
                <a:cs typeface="Arial"/>
                <a:sym typeface="Arial"/>
              </a:rPr>
              <a:t>-1.14</a:t>
            </a:r>
            <a:r>
              <a:rPr b="1" i="0" lang="en-US" sz="700" u="none" cap="none" strike="noStrike">
                <a:solidFill>
                  <a:schemeClr val="dk1"/>
                </a:solidFill>
                <a:latin typeface="Arial"/>
                <a:ea typeface="Arial"/>
                <a:cs typeface="Arial"/>
                <a:sym typeface="Arial"/>
              </a:rPr>
              <a:t>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t=1 : Q(W,F) = -8 + 0.8 [10+ (0.9*</a:t>
            </a:r>
            <a:r>
              <a:rPr b="1" i="0" lang="en-US" sz="700" u="none" cap="none" strike="noStrike">
                <a:solidFill>
                  <a:srgbClr val="FF0000"/>
                </a:solidFill>
                <a:latin typeface="Arial"/>
                <a:ea typeface="Arial"/>
                <a:cs typeface="Arial"/>
                <a:sym typeface="Arial"/>
              </a:rPr>
              <a:t>0</a:t>
            </a:r>
            <a:r>
              <a:rPr b="1" i="0" lang="en-US" sz="700" u="none" cap="none" strike="noStrike">
                <a:solidFill>
                  <a:schemeClr val="dk1"/>
                </a:solidFill>
                <a:latin typeface="Arial"/>
                <a:ea typeface="Arial"/>
                <a:cs typeface="Arial"/>
                <a:sym typeface="Arial"/>
              </a:rPr>
              <a:t>)+8] = ~</a:t>
            </a:r>
            <a:r>
              <a:rPr b="1" i="0" lang="en-US" sz="700" u="none" cap="none" strike="noStrike">
                <a:solidFill>
                  <a:srgbClr val="FF0000"/>
                </a:solidFill>
                <a:latin typeface="Arial"/>
                <a:ea typeface="Arial"/>
                <a:cs typeface="Arial"/>
                <a:sym typeface="Arial"/>
              </a:rPr>
              <a:t>+6.4</a:t>
            </a:r>
            <a:r>
              <a:rPr b="1" i="0" lang="en-US" sz="7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4: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t=0 : Q(W,S) = -1.14 + 0.8 [1+ (0.9*</a:t>
            </a:r>
            <a:r>
              <a:rPr b="1" i="0" lang="en-US" sz="700" u="none" cap="none" strike="noStrike">
                <a:solidFill>
                  <a:srgbClr val="FF0000"/>
                </a:solidFill>
                <a:latin typeface="Arial"/>
                <a:ea typeface="Arial"/>
                <a:cs typeface="Arial"/>
                <a:sym typeface="Arial"/>
              </a:rPr>
              <a:t>((-1.14*0.5)+(6.4*0.5))</a:t>
            </a:r>
            <a:r>
              <a:rPr b="1" i="0" lang="en-US" sz="700" u="none" cap="none" strike="noStrike">
                <a:solidFill>
                  <a:schemeClr val="dk1"/>
                </a:solidFill>
                <a:latin typeface="Arial"/>
                <a:ea typeface="Arial"/>
                <a:cs typeface="Arial"/>
                <a:sym typeface="Arial"/>
              </a:rPr>
              <a:t>)+1.14] = ~</a:t>
            </a:r>
            <a:r>
              <a:rPr b="1" i="0" lang="en-US" sz="700" u="none" cap="none" strike="noStrike">
                <a:solidFill>
                  <a:srgbClr val="FF0000"/>
                </a:solidFill>
                <a:latin typeface="Arial"/>
                <a:ea typeface="Arial"/>
                <a:cs typeface="Arial"/>
                <a:sym typeface="Arial"/>
              </a:rPr>
              <a:t>+2.46</a:t>
            </a:r>
            <a:r>
              <a:rPr b="1" i="0" lang="en-US" sz="700" u="none" cap="none" strike="noStrike">
                <a:solidFill>
                  <a:schemeClr val="dk1"/>
                </a:solidFill>
                <a:latin typeface="Arial"/>
                <a:ea typeface="Arial"/>
                <a:cs typeface="Arial"/>
                <a:sym typeface="Arial"/>
              </a:rPr>
              <a:t>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021" name="Google Shape;1021;g3c53b5bf8f1_0_0"/>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022" name="Google Shape;1022;g3c53b5bf8f1_0_0"/>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023" name="Google Shape;1023;g3c53b5bf8f1_0_0"/>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024" name="Google Shape;1024;g3c53b5bf8f1_0_0"/>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025" name="Google Shape;1025;g3c53b5bf8f1_0_0"/>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026" name="Google Shape;1026;g3c53b5bf8f1_0_0"/>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027" name="Google Shape;1027;g3c53b5bf8f1_0_0"/>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028" name="Google Shape;1028;g3c53b5bf8f1_0_0"/>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029" name="Google Shape;1029;g3c53b5bf8f1_0_0"/>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030" name="Google Shape;1030;g3c53b5bf8f1_0_0"/>
          <p:cNvPicPr preferRelativeResize="0"/>
          <p:nvPr/>
        </p:nvPicPr>
        <p:blipFill rotWithShape="1">
          <a:blip r:embed="rId6">
            <a:alphaModFix/>
          </a:blip>
          <a:srcRect b="0" l="0" r="0" t="0"/>
          <a:stretch/>
        </p:blipFill>
        <p:spPr>
          <a:xfrm>
            <a:off x="325079" y="652004"/>
            <a:ext cx="247568" cy="107156"/>
          </a:xfrm>
          <a:prstGeom prst="rect">
            <a:avLst/>
          </a:prstGeom>
          <a:noFill/>
          <a:ln>
            <a:noFill/>
          </a:ln>
        </p:spPr>
      </p:pic>
      <p:pic>
        <p:nvPicPr>
          <p:cNvPr id="1031" name="Google Shape;1031;g3c53b5bf8f1_0_0"/>
          <p:cNvPicPr preferRelativeResize="0"/>
          <p:nvPr/>
        </p:nvPicPr>
        <p:blipFill rotWithShape="1">
          <a:blip r:embed="rId7">
            <a:alphaModFix/>
          </a:blip>
          <a:srcRect b="0" l="0" r="0" t="0"/>
          <a:stretch/>
        </p:blipFill>
        <p:spPr>
          <a:xfrm>
            <a:off x="660303" y="649609"/>
            <a:ext cx="249913" cy="117267"/>
          </a:xfrm>
          <a:prstGeom prst="rect">
            <a:avLst/>
          </a:prstGeom>
          <a:noFill/>
          <a:ln>
            <a:noFill/>
          </a:ln>
        </p:spPr>
      </p:pic>
      <p:pic>
        <p:nvPicPr>
          <p:cNvPr id="1032" name="Google Shape;1032;g3c53b5bf8f1_0_0"/>
          <p:cNvPicPr preferRelativeResize="0"/>
          <p:nvPr/>
        </p:nvPicPr>
        <p:blipFill rotWithShape="1">
          <a:blip r:embed="rId6">
            <a:alphaModFix/>
          </a:blip>
          <a:srcRect b="0" l="0" r="0" t="0"/>
          <a:stretch/>
        </p:blipFill>
        <p:spPr>
          <a:xfrm>
            <a:off x="967808" y="638754"/>
            <a:ext cx="247568" cy="107156"/>
          </a:xfrm>
          <a:prstGeom prst="rect">
            <a:avLst/>
          </a:prstGeom>
          <a:noFill/>
          <a:ln>
            <a:noFill/>
          </a:ln>
        </p:spPr>
      </p:pic>
      <p:pic>
        <p:nvPicPr>
          <p:cNvPr id="1033" name="Google Shape;1033;g3c53b5bf8f1_0_0"/>
          <p:cNvPicPr preferRelativeResize="0"/>
          <p:nvPr/>
        </p:nvPicPr>
        <p:blipFill rotWithShape="1">
          <a:blip r:embed="rId7">
            <a:alphaModFix/>
          </a:blip>
          <a:srcRect b="0" l="0" r="0" t="0"/>
          <a:stretch/>
        </p:blipFill>
        <p:spPr>
          <a:xfrm>
            <a:off x="1303032" y="636359"/>
            <a:ext cx="249913" cy="117267"/>
          </a:xfrm>
          <a:prstGeom prst="rect">
            <a:avLst/>
          </a:prstGeom>
          <a:noFill/>
          <a:ln>
            <a:noFill/>
          </a:ln>
        </p:spPr>
      </p:pic>
      <p:pic>
        <p:nvPicPr>
          <p:cNvPr id="1034" name="Google Shape;1034;g3c53b5bf8f1_0_0"/>
          <p:cNvPicPr preferRelativeResize="0"/>
          <p:nvPr/>
        </p:nvPicPr>
        <p:blipFill rotWithShape="1">
          <a:blip r:embed="rId6">
            <a:alphaModFix/>
          </a:blip>
          <a:srcRect b="0" l="0" r="0" t="0"/>
          <a:stretch/>
        </p:blipFill>
        <p:spPr>
          <a:xfrm>
            <a:off x="1577402" y="638755"/>
            <a:ext cx="247568" cy="107156"/>
          </a:xfrm>
          <a:prstGeom prst="rect">
            <a:avLst/>
          </a:prstGeom>
          <a:noFill/>
          <a:ln>
            <a:noFill/>
          </a:ln>
        </p:spPr>
      </p:pic>
      <p:pic>
        <p:nvPicPr>
          <p:cNvPr id="1035" name="Google Shape;1035;g3c53b5bf8f1_0_0"/>
          <p:cNvPicPr preferRelativeResize="0"/>
          <p:nvPr/>
        </p:nvPicPr>
        <p:blipFill rotWithShape="1">
          <a:blip r:embed="rId7">
            <a:alphaModFix/>
          </a:blip>
          <a:srcRect b="0" l="0" r="0" t="0"/>
          <a:stretch/>
        </p:blipFill>
        <p:spPr>
          <a:xfrm>
            <a:off x="1912626" y="636360"/>
            <a:ext cx="249913" cy="117267"/>
          </a:xfrm>
          <a:prstGeom prst="rect">
            <a:avLst/>
          </a:prstGeom>
          <a:noFill/>
          <a:ln>
            <a:noFill/>
          </a:ln>
        </p:spPr>
      </p:pic>
      <p:pic>
        <p:nvPicPr>
          <p:cNvPr id="1036" name="Google Shape;1036;g3c53b5bf8f1_0_0"/>
          <p:cNvPicPr preferRelativeResize="0"/>
          <p:nvPr/>
        </p:nvPicPr>
        <p:blipFill rotWithShape="1">
          <a:blip r:embed="rId8">
            <a:alphaModFix/>
          </a:blip>
          <a:srcRect b="0" l="0" r="0" t="0"/>
          <a:stretch/>
        </p:blipFill>
        <p:spPr>
          <a:xfrm>
            <a:off x="3670886" y="34350"/>
            <a:ext cx="2078916" cy="883997"/>
          </a:xfrm>
          <a:prstGeom prst="rect">
            <a:avLst/>
          </a:prstGeom>
          <a:noFill/>
          <a:ln>
            <a:noFill/>
          </a:ln>
        </p:spPr>
      </p:pic>
      <p:sp>
        <p:nvSpPr>
          <p:cNvPr id="1037" name="Google Shape;1037;g3c53b5bf8f1_0_0"/>
          <p:cNvSpPr/>
          <p:nvPr/>
        </p:nvSpPr>
        <p:spPr>
          <a:xfrm>
            <a:off x="3484718" y="665033"/>
            <a:ext cx="187500" cy="534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38" name="Google Shape;1038;g3c53b5bf8f1_0_0"/>
          <p:cNvSpPr/>
          <p:nvPr/>
        </p:nvSpPr>
        <p:spPr>
          <a:xfrm>
            <a:off x="5324392" y="267068"/>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039" name="Google Shape;1039;g3c53b5bf8f1_0_0"/>
          <p:cNvSpPr txBox="1"/>
          <p:nvPr/>
        </p:nvSpPr>
        <p:spPr>
          <a:xfrm>
            <a:off x="289408" y="1110457"/>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2.59         0        -8	</a:t>
            </a:r>
            <a:r>
              <a:rPr b="1" i="0" lang="en-US" sz="800" u="none" cap="none" strike="noStrike">
                <a:solidFill>
                  <a:srgbClr val="FF0000"/>
                </a:solidFill>
                <a:latin typeface="Calibri"/>
                <a:ea typeface="Calibri"/>
                <a:cs typeface="Calibri"/>
                <a:sym typeface="Calibri"/>
              </a:rPr>
              <a:t>1.57</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
        <p:nvSpPr>
          <p:cNvPr id="1040" name="Google Shape;1040;g3c53b5bf8f1_0_0"/>
          <p:cNvSpPr txBox="1"/>
          <p:nvPr/>
        </p:nvSpPr>
        <p:spPr>
          <a:xfrm>
            <a:off x="309839" y="1415629"/>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2.59         0        6.4      </a:t>
            </a:r>
            <a:r>
              <a:rPr b="1" i="0" lang="en-US" sz="800" u="none" cap="none" strike="noStrike">
                <a:solidFill>
                  <a:srgbClr val="FF0000"/>
                </a:solidFill>
                <a:latin typeface="Calibri"/>
                <a:ea typeface="Calibri"/>
                <a:cs typeface="Calibri"/>
                <a:sym typeface="Calibri"/>
              </a:rPr>
              <a:t>-1.14</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
        <p:nvSpPr>
          <p:cNvPr id="1041" name="Google Shape;1041;g3c53b5bf8f1_0_0"/>
          <p:cNvSpPr txBox="1"/>
          <p:nvPr/>
        </p:nvSpPr>
        <p:spPr>
          <a:xfrm>
            <a:off x="3269323" y="2710211"/>
            <a:ext cx="2629200" cy="3816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Continued for one more episode….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FF0000"/>
                </a:solidFill>
                <a:latin typeface="Arial"/>
                <a:ea typeface="Arial"/>
                <a:cs typeface="Arial"/>
                <a:sym typeface="Arial"/>
              </a:rPr>
              <a:t>Assumed likelihood for all the states “_” for simplicity :P(S|_) = 0.05, P(F|_) = 0.5</a:t>
            </a:r>
            <a:endParaRPr b="1" i="0" sz="600" u="none" cap="none" strike="noStrike">
              <a:solidFill>
                <a:srgbClr val="1B1472"/>
              </a:solidFill>
              <a:latin typeface="Arial"/>
              <a:ea typeface="Arial"/>
              <a:cs typeface="Arial"/>
              <a:sym typeface="Arial"/>
            </a:endParaRPr>
          </a:p>
        </p:txBody>
      </p:sp>
      <p:pic>
        <p:nvPicPr>
          <p:cNvPr id="1042" name="Google Shape;1042;g3c53b5bf8f1_0_0"/>
          <p:cNvPicPr preferRelativeResize="0"/>
          <p:nvPr/>
        </p:nvPicPr>
        <p:blipFill rotWithShape="1">
          <a:blip r:embed="rId9">
            <a:alphaModFix/>
          </a:blip>
          <a:srcRect b="0" l="0" r="0" t="0"/>
          <a:stretch/>
        </p:blipFill>
        <p:spPr>
          <a:xfrm>
            <a:off x="3670886" y="956932"/>
            <a:ext cx="2078916" cy="307271"/>
          </a:xfrm>
          <a:prstGeom prst="rect">
            <a:avLst/>
          </a:prstGeom>
          <a:noFill/>
          <a:ln>
            <a:noFill/>
          </a:ln>
        </p:spPr>
      </p:pic>
      <p:sp>
        <p:nvSpPr>
          <p:cNvPr id="1043" name="Google Shape;1043;g3c53b5bf8f1_0_0"/>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          0          0	1.37          0           0</a:t>
            </a:r>
            <a:endParaRPr b="0" i="0" sz="300" u="none" cap="none" strike="noStrike">
              <a:solidFill>
                <a:srgbClr val="000000"/>
              </a:solidFill>
              <a:latin typeface="Arial"/>
              <a:ea typeface="Arial"/>
              <a:cs typeface="Arial"/>
              <a:sym typeface="Arial"/>
            </a:endParaRPr>
          </a:p>
        </p:txBody>
      </p:sp>
      <p:sp>
        <p:nvSpPr>
          <p:cNvPr id="1044" name="Google Shape;1044;g3c53b5bf8f1_0_0"/>
          <p:cNvSpPr/>
          <p:nvPr/>
        </p:nvSpPr>
        <p:spPr>
          <a:xfrm>
            <a:off x="303489" y="17013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045" name="Google Shape;1045;g3c53b5bf8f1_0_0"/>
          <p:cNvCxnSpPr/>
          <p:nvPr/>
        </p:nvCxnSpPr>
        <p:spPr>
          <a:xfrm>
            <a:off x="903756" y="1701375"/>
            <a:ext cx="0" cy="225300"/>
          </a:xfrm>
          <a:prstGeom prst="straightConnector1">
            <a:avLst/>
          </a:prstGeom>
          <a:noFill/>
          <a:ln cap="flat" cmpd="sng" w="9525">
            <a:solidFill>
              <a:schemeClr val="dk1"/>
            </a:solidFill>
            <a:prstDash val="solid"/>
            <a:round/>
            <a:headEnd len="sm" w="sm" type="none"/>
            <a:tailEnd len="sm" w="sm" type="none"/>
          </a:ln>
        </p:spPr>
      </p:cxnSp>
      <p:cxnSp>
        <p:nvCxnSpPr>
          <p:cNvPr id="1046" name="Google Shape;1046;g3c53b5bf8f1_0_0"/>
          <p:cNvCxnSpPr/>
          <p:nvPr/>
        </p:nvCxnSpPr>
        <p:spPr>
          <a:xfrm>
            <a:off x="1559739" y="1708002"/>
            <a:ext cx="0" cy="225300"/>
          </a:xfrm>
          <a:prstGeom prst="straightConnector1">
            <a:avLst/>
          </a:prstGeom>
          <a:noFill/>
          <a:ln cap="flat" cmpd="sng" w="9525">
            <a:solidFill>
              <a:schemeClr val="dk1"/>
            </a:solidFill>
            <a:prstDash val="solid"/>
            <a:round/>
            <a:headEnd len="sm" w="sm" type="none"/>
            <a:tailEnd len="sm" w="sm" type="none"/>
          </a:ln>
        </p:spPr>
      </p:cxnSp>
      <p:sp>
        <p:nvSpPr>
          <p:cNvPr id="1047" name="Google Shape;1047;g3c53b5bf8f1_0_0"/>
          <p:cNvSpPr txBox="1"/>
          <p:nvPr/>
        </p:nvSpPr>
        <p:spPr>
          <a:xfrm>
            <a:off x="303489" y="1695029"/>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2.59         0        6.4      </a:t>
            </a:r>
            <a:r>
              <a:rPr b="1" i="0" lang="en-US" sz="800" u="none" cap="none" strike="noStrike">
                <a:solidFill>
                  <a:srgbClr val="FF0000"/>
                </a:solidFill>
                <a:latin typeface="Calibri"/>
                <a:ea typeface="Calibri"/>
                <a:cs typeface="Calibri"/>
                <a:sym typeface="Calibri"/>
              </a:rPr>
              <a:t>+2.46</a:t>
            </a:r>
            <a:r>
              <a:rPr b="0" i="0" lang="en-US" sz="800" u="none" cap="none" strike="noStrike">
                <a:solidFill>
                  <a:schemeClr val="dk1"/>
                </a:solidFill>
                <a:latin typeface="Calibri"/>
                <a:ea typeface="Calibri"/>
                <a:cs typeface="Calibri"/>
                <a:sym typeface="Calibri"/>
              </a:rPr>
              <a:t>           0             </a:t>
            </a:r>
            <a:endParaRPr b="0" i="0" sz="300" u="none" cap="none" strike="noStrike">
              <a:solidFill>
                <a:srgbClr val="000000"/>
              </a:solidFill>
              <a:latin typeface="Arial"/>
              <a:ea typeface="Arial"/>
              <a:cs typeface="Arial"/>
              <a:sym typeface="Arial"/>
            </a:endParaRPr>
          </a:p>
        </p:txBody>
      </p:sp>
      <p:sp>
        <p:nvSpPr>
          <p:cNvPr id="1048" name="Google Shape;1048;g3c53b5bf8f1_0_0"/>
          <p:cNvSpPr txBox="1"/>
          <p:nvPr/>
        </p:nvSpPr>
        <p:spPr>
          <a:xfrm>
            <a:off x="54070" y="785748"/>
            <a:ext cx="387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4</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p:txBody>
      </p:sp>
      <p:pic>
        <p:nvPicPr>
          <p:cNvPr id="1049" name="Google Shape;1049;g3c53b5bf8f1_0_0"/>
          <p:cNvPicPr preferRelativeResize="0"/>
          <p:nvPr/>
        </p:nvPicPr>
        <p:blipFill rotWithShape="1">
          <a:blip r:embed="rId10">
            <a:alphaModFix/>
          </a:blip>
          <a:srcRect b="0" l="0" r="0" t="0"/>
          <a:stretch/>
        </p:blipFill>
        <p:spPr>
          <a:xfrm>
            <a:off x="3836211" y="1409622"/>
            <a:ext cx="1910119" cy="1148104"/>
          </a:xfrm>
          <a:prstGeom prst="rect">
            <a:avLst/>
          </a:prstGeom>
          <a:noFill/>
          <a:ln>
            <a:noFill/>
          </a:ln>
        </p:spPr>
      </p:pic>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g3b75ff0c716_0_0"/>
          <p:cNvSpPr txBox="1"/>
          <p:nvPr>
            <p:ph type="title"/>
          </p:nvPr>
        </p:nvSpPr>
        <p:spPr>
          <a:xfrm>
            <a:off x="82600" y="109545"/>
            <a:ext cx="4943400" cy="261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sp>
        <p:nvSpPr>
          <p:cNvPr id="1055" name="Google Shape;1055;g3b75ff0c716_0_0"/>
          <p:cNvSpPr txBox="1"/>
          <p:nvPr>
            <p:ph idx="1" type="body"/>
          </p:nvPr>
        </p:nvSpPr>
        <p:spPr>
          <a:xfrm>
            <a:off x="777220" y="516129"/>
            <a:ext cx="3812400" cy="2462700"/>
          </a:xfrm>
          <a:prstGeom prst="rect">
            <a:avLst/>
          </a:prstGeom>
          <a:noFill/>
          <a:ln>
            <a:noFill/>
          </a:ln>
        </p:spPr>
        <p:txBody>
          <a:bodyPr anchorCtr="0" anchor="t" bIns="0" lIns="0" spcFirstLastPara="1" rIns="0" wrap="square" tIns="0">
            <a:spAutoFit/>
          </a:bodyPr>
          <a:lstStyle/>
          <a:p>
            <a:pPr indent="-228600" lvl="0" marL="457200" rtl="0" algn="ctr">
              <a:lnSpc>
                <a:spcPct val="100000"/>
              </a:lnSpc>
              <a:spcBef>
                <a:spcPts val="0"/>
              </a:spcBef>
              <a:spcAft>
                <a:spcPts val="0"/>
              </a:spcAft>
              <a:buSzPts val="1400"/>
              <a:buNone/>
            </a:pPr>
            <a:r>
              <a:rPr b="1" lang="en-US" sz="1600"/>
              <a:t>Temporal Difference Learning Methods</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rPr b="1" lang="en-US" sz="1600">
                <a:solidFill>
                  <a:schemeClr val="dk1"/>
                </a:solidFill>
              </a:rPr>
              <a:t>Off Policy Control Algorithms</a:t>
            </a:r>
            <a:endParaRPr/>
          </a:p>
          <a:p>
            <a:pPr indent="-228600" lvl="0" marL="457200" rtl="0" algn="ctr">
              <a:lnSpc>
                <a:spcPct val="100000"/>
              </a:lnSpc>
              <a:spcBef>
                <a:spcPts val="0"/>
              </a:spcBef>
              <a:spcAft>
                <a:spcPts val="0"/>
              </a:spcAft>
              <a:buSzPts val="1400"/>
              <a:buNone/>
            </a:pPr>
            <a:r>
              <a:rPr b="1" lang="en-US" sz="1600">
                <a:solidFill>
                  <a:srgbClr val="0070C0"/>
                </a:solidFill>
              </a:rPr>
              <a:t>Q-Learning</a:t>
            </a:r>
            <a:endParaRPr b="1" sz="1600">
              <a:solidFill>
                <a:schemeClr val="dk1"/>
              </a:solidFill>
            </a:endParaRPr>
          </a:p>
        </p:txBody>
      </p:sp>
      <p:sp>
        <p:nvSpPr>
          <p:cNvPr id="1056" name="Google Shape;1056;g3b75ff0c716_0_0"/>
          <p:cNvSpPr txBox="1"/>
          <p:nvPr/>
        </p:nvSpPr>
        <p:spPr>
          <a:xfrm>
            <a:off x="-35250" y="801475"/>
            <a:ext cx="2179200" cy="1678200"/>
          </a:xfrm>
          <a:prstGeom prst="rect">
            <a:avLst/>
          </a:prstGeom>
          <a:solidFill>
            <a:srgbClr val="FFC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1B1472"/>
                </a:solidFill>
              </a:rPr>
              <a:t>Next slides follow a full fledged numerical example of algorithm in the Race car example with Policy Evaluation based learning for 2 iterations</a:t>
            </a:r>
            <a:endParaRPr sz="1050">
              <a:solidFill>
                <a:srgbClr val="1B1472"/>
              </a:solidFill>
            </a:endParaRPr>
          </a:p>
          <a:p>
            <a:pPr indent="0" lvl="0" marL="0" rtl="0" algn="l">
              <a:spcBef>
                <a:spcPts val="0"/>
              </a:spcBef>
              <a:spcAft>
                <a:spcPts val="0"/>
              </a:spcAft>
              <a:buNone/>
            </a:pPr>
            <a:r>
              <a:rPr lang="en-US" sz="1050">
                <a:solidFill>
                  <a:srgbClr val="1B1472"/>
                </a:solidFill>
              </a:rPr>
              <a:t>Learners are advised to go through the run of the algorithm. This is a full fledged lecture material that was used in NSP2 cluster offering in 2025</a:t>
            </a:r>
            <a:endParaRPr sz="1050">
              <a:solidFill>
                <a:srgbClr val="1B147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b75ff0c716_0_5"/>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Q-Learning</a:t>
            </a:r>
            <a:endParaRPr/>
          </a:p>
        </p:txBody>
      </p:sp>
      <p:sp>
        <p:nvSpPr>
          <p:cNvPr id="1062" name="Google Shape;1062;g3b75ff0c716_0_5"/>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3" name="Google Shape;1063;g3b75ff0c716_0_5"/>
          <p:cNvGrpSpPr/>
          <p:nvPr/>
        </p:nvGrpSpPr>
        <p:grpSpPr>
          <a:xfrm>
            <a:off x="0" y="3109250"/>
            <a:ext cx="5760261" cy="92075"/>
            <a:chOff x="0" y="3109250"/>
            <a:chExt cx="5760261" cy="92075"/>
          </a:xfrm>
        </p:grpSpPr>
        <p:sp>
          <p:nvSpPr>
            <p:cNvPr id="1064" name="Google Shape;1064;g3b75ff0c716_0_5"/>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g3b75ff0c716_0_5"/>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g3b75ff0c716_0_5"/>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7" name="Google Shape;1067;g3b75ff0c716_0_5"/>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068" name="Google Shape;1068;g3b75ff0c716_0_5"/>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1069" name="Google Shape;1069;g3b75ff0c716_0_5"/>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1070" name="Google Shape;1070;g3b75ff0c716_0_5"/>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1071" name="Google Shape;1071;g3b75ff0c716_0_5"/>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1072" name="Google Shape;1072;g3b75ff0c716_0_5"/>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073" name="Google Shape;1073;g3b75ff0c716_0_5"/>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1074" name="Google Shape;1074;g3b75ff0c716_0_5"/>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075" name="Google Shape;1075;g3b75ff0c716_0_5"/>
          <p:cNvSpPr txBox="1"/>
          <p:nvPr/>
        </p:nvSpPr>
        <p:spPr>
          <a:xfrm>
            <a:off x="82600" y="1717926"/>
            <a:ext cx="2793000" cy="5502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076" name="Google Shape;1076;g3b75ff0c716_0_5"/>
          <p:cNvSpPr/>
          <p:nvPr/>
        </p:nvSpPr>
        <p:spPr>
          <a:xfrm>
            <a:off x="514351" y="1714343"/>
            <a:ext cx="506100" cy="120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77" name="Google Shape;1077;g3b75ff0c716_0_5"/>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078" name="Google Shape;1078;g3b75ff0c716_0_5"/>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079" name="Google Shape;1079;g3b75ff0c716_0_5"/>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080" name="Google Shape;1080;g3b75ff0c716_0_5"/>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800" u="none" cap="none" strike="noStrike">
                <a:solidFill>
                  <a:schemeClr val="dk1"/>
                </a:solidFill>
                <a:latin typeface="Calibri"/>
                <a:ea typeface="Calibri"/>
                <a:cs typeface="Calibri"/>
                <a:sym typeface="Calibri"/>
              </a:rPr>
              <a:t>  0              0          0	0            0             0</a:t>
            </a:r>
            <a:endParaRPr b="0" i="0" sz="300" u="none" cap="none" strike="noStrike">
              <a:solidFill>
                <a:srgbClr val="000000"/>
              </a:solidFill>
              <a:latin typeface="Arial"/>
              <a:ea typeface="Arial"/>
              <a:cs typeface="Arial"/>
              <a:sym typeface="Arial"/>
            </a:endParaRPr>
          </a:p>
        </p:txBody>
      </p:sp>
      <p:sp>
        <p:nvSpPr>
          <p:cNvPr id="1081" name="Google Shape;1081;g3b75ff0c716_0_5"/>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p:txBody>
      </p:sp>
      <p:cxnSp>
        <p:nvCxnSpPr>
          <p:cNvPr id="1082" name="Google Shape;1082;g3b75ff0c716_0_5"/>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083" name="Google Shape;1083;g3b75ff0c716_0_5"/>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084" name="Google Shape;1084;g3b75ff0c716_0_5"/>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085" name="Google Shape;1085;g3b75ff0c716_0_5"/>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086" name="Google Shape;1086;g3b75ff0c716_0_5"/>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087" name="Google Shape;1087;g3b75ff0c716_0_5"/>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088" name="Google Shape;1088;g3b75ff0c716_0_5"/>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1089" name="Google Shape;1089;g3b75ff0c716_0_5"/>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1090" name="Google Shape;1090;g3b75ff0c716_0_5"/>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1091" name="Google Shape;1091;g3b75ff0c716_0_5"/>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1092" name="Google Shape;1092;g3b75ff0c716_0_5"/>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1093" name="Google Shape;1093;g3b75ff0c716_0_5"/>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1094" name="Google Shape;1094;g3b75ff0c716_0_5"/>
          <p:cNvPicPr preferRelativeResize="0"/>
          <p:nvPr/>
        </p:nvPicPr>
        <p:blipFill rotWithShape="1">
          <a:blip r:embed="rId9">
            <a:alphaModFix/>
          </a:blip>
          <a:srcRect b="0" l="0" r="0" t="0"/>
          <a:stretch/>
        </p:blipFill>
        <p:spPr>
          <a:xfrm>
            <a:off x="3757404" y="67131"/>
            <a:ext cx="2005082" cy="889801"/>
          </a:xfrm>
          <a:prstGeom prst="rect">
            <a:avLst/>
          </a:prstGeom>
          <a:noFill/>
          <a:ln>
            <a:noFill/>
          </a:ln>
        </p:spPr>
      </p:pic>
      <p:sp>
        <p:nvSpPr>
          <p:cNvPr id="1095" name="Google Shape;1095;g3b75ff0c716_0_5"/>
          <p:cNvSpPr/>
          <p:nvPr/>
        </p:nvSpPr>
        <p:spPr>
          <a:xfrm>
            <a:off x="3577091" y="41420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96" name="Google Shape;1096;g3b75ff0c716_0_5"/>
          <p:cNvSpPr/>
          <p:nvPr/>
        </p:nvSpPr>
        <p:spPr>
          <a:xfrm>
            <a:off x="5359775" y="553782"/>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097" name="Google Shape;1097;g3b75ff0c716_0_5"/>
          <p:cNvSpPr txBox="1"/>
          <p:nvPr/>
        </p:nvSpPr>
        <p:spPr>
          <a:xfrm>
            <a:off x="2852197" y="2600622"/>
            <a:ext cx="2908200" cy="50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Target Policy : </a:t>
            </a:r>
            <a:r>
              <a:rPr b="0" i="0" lang="en-US" sz="700" u="none" cap="none" strike="noStrike">
                <a:solidFill>
                  <a:schemeClr val="dk1"/>
                </a:solidFill>
                <a:latin typeface="Arial"/>
                <a:ea typeface="Arial"/>
                <a:cs typeface="Arial"/>
                <a:sym typeface="Arial"/>
              </a:rPr>
              <a:t>Greedy (MAX) is used to evaluate /update the Q values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Behavior Policy : </a:t>
            </a:r>
            <a:r>
              <a:rPr b="0" i="0" lang="en-US" sz="700" u="none" cap="none" strike="noStrike">
                <a:solidFill>
                  <a:srgbClr val="000000"/>
                </a:solidFill>
                <a:latin typeface="Arial"/>
                <a:ea typeface="Arial"/>
                <a:cs typeface="Arial"/>
                <a:sym typeface="Arial"/>
              </a:rPr>
              <a:t>ε-greedy is used to select actions based on the policy derived from Q - Value</a:t>
            </a:r>
            <a:r>
              <a:rPr b="1" i="0" lang="en-US" sz="700" u="none" cap="none" strike="noStrike">
                <a:solidFill>
                  <a:schemeClr val="dk1"/>
                </a:solidFill>
                <a:latin typeface="Arial"/>
                <a:ea typeface="Arial"/>
                <a:cs typeface="Arial"/>
                <a:sym typeface="Arial"/>
              </a:rPr>
              <a:t> </a:t>
            </a:r>
            <a:endParaRPr b="1" i="0" sz="700" u="none" cap="none" strike="noStrike">
              <a:solidFill>
                <a:schemeClr val="dk1"/>
              </a:solidFill>
              <a:latin typeface="Arial"/>
              <a:ea typeface="Arial"/>
              <a:cs typeface="Arial"/>
              <a:sym typeface="Arial"/>
            </a:endParaRPr>
          </a:p>
        </p:txBody>
      </p:sp>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b75ff0c716_0_45"/>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Q-Learning</a:t>
            </a:r>
            <a:endParaRPr/>
          </a:p>
        </p:txBody>
      </p:sp>
      <p:sp>
        <p:nvSpPr>
          <p:cNvPr id="1103" name="Google Shape;1103;g3b75ff0c716_0_45"/>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04" name="Google Shape;1104;g3b75ff0c716_0_45"/>
          <p:cNvGrpSpPr/>
          <p:nvPr/>
        </p:nvGrpSpPr>
        <p:grpSpPr>
          <a:xfrm>
            <a:off x="0" y="3109250"/>
            <a:ext cx="5760261" cy="92075"/>
            <a:chOff x="0" y="3109250"/>
            <a:chExt cx="5760261" cy="92075"/>
          </a:xfrm>
        </p:grpSpPr>
        <p:sp>
          <p:nvSpPr>
            <p:cNvPr id="1105" name="Google Shape;1105;g3b75ff0c716_0_45"/>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g3b75ff0c716_0_45"/>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g3b75ff0c716_0_45"/>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8" name="Google Shape;1108;g3b75ff0c716_0_45"/>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109" name="Google Shape;1109;g3b75ff0c716_0_45"/>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1110" name="Google Shape;1110;g3b75ff0c716_0_45"/>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1111" name="Google Shape;1111;g3b75ff0c716_0_45"/>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1112" name="Google Shape;1112;g3b75ff0c716_0_45"/>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1113" name="Google Shape;1113;g3b75ff0c716_0_45"/>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114" name="Google Shape;1114;g3b75ff0c716_0_45"/>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1115" name="Google Shape;1115;g3b75ff0c716_0_45"/>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116" name="Google Shape;1116;g3b75ff0c716_0_45"/>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117" name="Google Shape;1117;g3b75ff0c716_0_45"/>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118" name="Google Shape;1118;g3b75ff0c716_0_45"/>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119" name="Google Shape;1119;g3b75ff0c716_0_45"/>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800" u="none" cap="none" strike="noStrike">
                <a:solidFill>
                  <a:schemeClr val="dk1"/>
                </a:solidFill>
                <a:latin typeface="Calibri"/>
                <a:ea typeface="Calibri"/>
                <a:cs typeface="Calibri"/>
                <a:sym typeface="Calibri"/>
              </a:rPr>
              <a:t>  1.6</a:t>
            </a:r>
            <a:r>
              <a:rPr b="0" i="0" lang="en-US" sz="800" u="none" cap="none" strike="noStrike">
                <a:solidFill>
                  <a:schemeClr val="dk1"/>
                </a:solidFill>
                <a:latin typeface="Calibri"/>
                <a:ea typeface="Calibri"/>
                <a:cs typeface="Calibri"/>
                <a:sym typeface="Calibri"/>
              </a:rPr>
              <a:t>           0          0	0            0             0</a:t>
            </a:r>
            <a:endParaRPr b="0" i="0" sz="300" u="none" cap="none" strike="noStrike">
              <a:solidFill>
                <a:srgbClr val="000000"/>
              </a:solidFill>
              <a:latin typeface="Arial"/>
              <a:ea typeface="Arial"/>
              <a:cs typeface="Arial"/>
              <a:sym typeface="Arial"/>
            </a:endParaRPr>
          </a:p>
        </p:txBody>
      </p:sp>
      <p:cxnSp>
        <p:nvCxnSpPr>
          <p:cNvPr id="1120" name="Google Shape;1120;g3b75ff0c716_0_45"/>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121" name="Google Shape;1121;g3b75ff0c716_0_45"/>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122" name="Google Shape;1122;g3b75ff0c716_0_45"/>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123" name="Google Shape;1123;g3b75ff0c716_0_45"/>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124" name="Google Shape;1124;g3b75ff0c716_0_45"/>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125" name="Google Shape;1125;g3b75ff0c716_0_45"/>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126" name="Google Shape;1126;g3b75ff0c716_0_45"/>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1127" name="Google Shape;1127;g3b75ff0c716_0_45"/>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1128" name="Google Shape;1128;g3b75ff0c716_0_45"/>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1129" name="Google Shape;1129;g3b75ff0c716_0_45"/>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1130" name="Google Shape;1130;g3b75ff0c716_0_45"/>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1131" name="Google Shape;1131;g3b75ff0c716_0_45"/>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1132" name="Google Shape;1132;g3b75ff0c716_0_45"/>
          <p:cNvPicPr preferRelativeResize="0"/>
          <p:nvPr/>
        </p:nvPicPr>
        <p:blipFill rotWithShape="1">
          <a:blip r:embed="rId9">
            <a:alphaModFix/>
          </a:blip>
          <a:srcRect b="0" l="0" r="0" t="0"/>
          <a:stretch/>
        </p:blipFill>
        <p:spPr>
          <a:xfrm>
            <a:off x="3757404" y="67131"/>
            <a:ext cx="2005082" cy="889801"/>
          </a:xfrm>
          <a:prstGeom prst="rect">
            <a:avLst/>
          </a:prstGeom>
          <a:noFill/>
          <a:ln>
            <a:noFill/>
          </a:ln>
        </p:spPr>
      </p:pic>
      <p:sp>
        <p:nvSpPr>
          <p:cNvPr id="1133" name="Google Shape;1133;g3b75ff0c716_0_45"/>
          <p:cNvSpPr/>
          <p:nvPr/>
        </p:nvSpPr>
        <p:spPr>
          <a:xfrm>
            <a:off x="3577091" y="56025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34" name="Google Shape;1134;g3b75ff0c716_0_45"/>
          <p:cNvSpPr/>
          <p:nvPr/>
        </p:nvSpPr>
        <p:spPr>
          <a:xfrm>
            <a:off x="5359775" y="553782"/>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135" name="Google Shape;1135;g3b75ff0c716_0_45"/>
          <p:cNvSpPr txBox="1"/>
          <p:nvPr/>
        </p:nvSpPr>
        <p:spPr>
          <a:xfrm>
            <a:off x="2852047" y="2593850"/>
            <a:ext cx="2908200" cy="50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Behavior Policy : </a:t>
            </a:r>
            <a:r>
              <a:rPr b="0" i="0" lang="en-US" sz="700" u="none" cap="none" strike="noStrike">
                <a:solidFill>
                  <a:srgbClr val="000000"/>
                </a:solidFill>
                <a:latin typeface="Arial"/>
                <a:ea typeface="Arial"/>
                <a:cs typeface="Arial"/>
                <a:sym typeface="Arial"/>
              </a:rPr>
              <a:t>ε-greedy is used to select actions based on the policy derived from Q - Value</a:t>
            </a:r>
            <a:r>
              <a:rPr b="1" i="0" lang="en-US" sz="700" u="none" cap="none" strike="noStrike">
                <a:solidFill>
                  <a:schemeClr val="dk1"/>
                </a:solidFill>
                <a:latin typeface="Arial"/>
                <a:ea typeface="Arial"/>
                <a:cs typeface="Arial"/>
                <a:sym typeface="Arial"/>
              </a:rPr>
              <a:t> . Here action “F” for state “C”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Target Policy : </a:t>
            </a:r>
            <a:r>
              <a:rPr b="0" i="0" lang="en-US" sz="700" u="none" cap="none" strike="noStrike">
                <a:solidFill>
                  <a:schemeClr val="dk1"/>
                </a:solidFill>
                <a:latin typeface="Arial"/>
                <a:ea typeface="Arial"/>
                <a:cs typeface="Arial"/>
                <a:sym typeface="Arial"/>
              </a:rPr>
              <a:t>Greedy (MAX) is used to evaluate /update the Q values. </a:t>
            </a:r>
            <a:endParaRPr b="0"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136" name="Google Shape;1136;g3b75ff0c716_0_45"/>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g3b75ff0c716_0_45"/>
          <p:cNvSpPr txBox="1"/>
          <p:nvPr/>
        </p:nvSpPr>
        <p:spPr>
          <a:xfrm>
            <a:off x="82600" y="1717926"/>
            <a:ext cx="2793000" cy="765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Q(C,F) = 0 + 0.8 [2+ (0.9*</a:t>
            </a:r>
            <a:r>
              <a:rPr b="1" i="0" lang="en-US" sz="700" u="none" cap="none" strike="noStrike">
                <a:solidFill>
                  <a:srgbClr val="FF0000"/>
                </a:solidFill>
                <a:latin typeface="Arial"/>
                <a:ea typeface="Arial"/>
                <a:cs typeface="Arial"/>
                <a:sym typeface="Arial"/>
              </a:rPr>
              <a:t> MAX{Q(W,S),Q(W,F)} </a:t>
            </a:r>
            <a:r>
              <a:rPr b="1" i="0" lang="en-US" sz="700" u="none" cap="none" strike="noStrike">
                <a:solidFill>
                  <a:schemeClr val="dk1"/>
                </a:solidFill>
                <a:latin typeface="Arial"/>
                <a:ea typeface="Arial"/>
                <a:cs typeface="Arial"/>
                <a:sym typeface="Arial"/>
              </a:rPr>
              <a:t>)-0] = 1.6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138" name="Google Shape;1138;g3b75ff0c716_0_45"/>
          <p:cNvSpPr/>
          <p:nvPr/>
        </p:nvSpPr>
        <p:spPr>
          <a:xfrm>
            <a:off x="514351" y="1717925"/>
            <a:ext cx="453600" cy="1458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39" name="Google Shape;1139;g3b75ff0c716_0_45"/>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
        <p:nvSpPr>
          <p:cNvPr id="1140" name="Google Shape;1140;g3b75ff0c716_0_45"/>
          <p:cNvSpPr/>
          <p:nvPr/>
        </p:nvSpPr>
        <p:spPr>
          <a:xfrm>
            <a:off x="3596141" y="69360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g3b75ff0c716_0_87"/>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Q-Learning</a:t>
            </a:r>
            <a:endParaRPr/>
          </a:p>
        </p:txBody>
      </p:sp>
      <p:sp>
        <p:nvSpPr>
          <p:cNvPr id="1146" name="Google Shape;1146;g3b75ff0c716_0_87"/>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7" name="Google Shape;1147;g3b75ff0c716_0_87"/>
          <p:cNvGrpSpPr/>
          <p:nvPr/>
        </p:nvGrpSpPr>
        <p:grpSpPr>
          <a:xfrm>
            <a:off x="0" y="3109250"/>
            <a:ext cx="5760261" cy="92075"/>
            <a:chOff x="0" y="3109250"/>
            <a:chExt cx="5760261" cy="92075"/>
          </a:xfrm>
        </p:grpSpPr>
        <p:sp>
          <p:nvSpPr>
            <p:cNvPr id="1148" name="Google Shape;1148;g3b75ff0c716_0_87"/>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g3b75ff0c716_0_87"/>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g3b75ff0c716_0_87"/>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51" name="Google Shape;1151;g3b75ff0c716_0_87"/>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152" name="Google Shape;1152;g3b75ff0c716_0_87"/>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1153" name="Google Shape;1153;g3b75ff0c716_0_87"/>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1154" name="Google Shape;1154;g3b75ff0c716_0_87"/>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1155" name="Google Shape;1155;g3b75ff0c716_0_87"/>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1156" name="Google Shape;1156;g3b75ff0c716_0_87"/>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157" name="Google Shape;1157;g3b75ff0c716_0_87"/>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1158" name="Google Shape;1158;g3b75ff0c716_0_87"/>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159" name="Google Shape;1159;g3b75ff0c716_0_87"/>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160" name="Google Shape;1160;g3b75ff0c716_0_87"/>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161" name="Google Shape;1161;g3b75ff0c716_0_87"/>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162" name="Google Shape;1162;g3b75ff0c716_0_87"/>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1.6           0          0	</a:t>
            </a:r>
            <a:r>
              <a:rPr b="1" i="0" lang="en-US" sz="800" u="none" cap="none" strike="noStrike">
                <a:solidFill>
                  <a:schemeClr val="dk1"/>
                </a:solidFill>
                <a:latin typeface="Calibri"/>
                <a:ea typeface="Calibri"/>
                <a:cs typeface="Calibri"/>
                <a:sym typeface="Calibri"/>
              </a:rPr>
              <a:t>17.15</a:t>
            </a:r>
            <a:r>
              <a:rPr b="0" i="0" lang="en-US" sz="800" u="none" cap="none" strike="noStrike">
                <a:solidFill>
                  <a:schemeClr val="dk1"/>
                </a:solidFill>
                <a:latin typeface="Calibri"/>
                <a:ea typeface="Calibri"/>
                <a:cs typeface="Calibri"/>
                <a:sym typeface="Calibri"/>
              </a:rPr>
              <a:t>      0             0</a:t>
            </a:r>
            <a:endParaRPr b="0" i="0" sz="300" u="none" cap="none" strike="noStrike">
              <a:solidFill>
                <a:srgbClr val="000000"/>
              </a:solidFill>
              <a:latin typeface="Arial"/>
              <a:ea typeface="Arial"/>
              <a:cs typeface="Arial"/>
              <a:sym typeface="Arial"/>
            </a:endParaRPr>
          </a:p>
        </p:txBody>
      </p:sp>
      <p:cxnSp>
        <p:nvCxnSpPr>
          <p:cNvPr id="1163" name="Google Shape;1163;g3b75ff0c716_0_87"/>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164" name="Google Shape;1164;g3b75ff0c716_0_87"/>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165" name="Google Shape;1165;g3b75ff0c716_0_87"/>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166" name="Google Shape;1166;g3b75ff0c716_0_87"/>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167" name="Google Shape;1167;g3b75ff0c716_0_87"/>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168" name="Google Shape;1168;g3b75ff0c716_0_87"/>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169" name="Google Shape;1169;g3b75ff0c716_0_87"/>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1170" name="Google Shape;1170;g3b75ff0c716_0_87"/>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1171" name="Google Shape;1171;g3b75ff0c716_0_87"/>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1172" name="Google Shape;1172;g3b75ff0c716_0_87"/>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1173" name="Google Shape;1173;g3b75ff0c716_0_87"/>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1174" name="Google Shape;1174;g3b75ff0c716_0_87"/>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1175" name="Google Shape;1175;g3b75ff0c716_0_87"/>
          <p:cNvPicPr preferRelativeResize="0"/>
          <p:nvPr/>
        </p:nvPicPr>
        <p:blipFill rotWithShape="1">
          <a:blip r:embed="rId9">
            <a:alphaModFix/>
          </a:blip>
          <a:srcRect b="0" l="0" r="0" t="0"/>
          <a:stretch/>
        </p:blipFill>
        <p:spPr>
          <a:xfrm>
            <a:off x="3757404" y="67131"/>
            <a:ext cx="2005082" cy="889801"/>
          </a:xfrm>
          <a:prstGeom prst="rect">
            <a:avLst/>
          </a:prstGeom>
          <a:noFill/>
          <a:ln>
            <a:noFill/>
          </a:ln>
        </p:spPr>
      </p:pic>
      <p:sp>
        <p:nvSpPr>
          <p:cNvPr id="1176" name="Google Shape;1176;g3b75ff0c716_0_87"/>
          <p:cNvSpPr/>
          <p:nvPr/>
        </p:nvSpPr>
        <p:spPr>
          <a:xfrm>
            <a:off x="3577091" y="49675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7" name="Google Shape;1177;g3b75ff0c716_0_87"/>
          <p:cNvSpPr/>
          <p:nvPr/>
        </p:nvSpPr>
        <p:spPr>
          <a:xfrm>
            <a:off x="5359775" y="553782"/>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178" name="Google Shape;1178;g3b75ff0c716_0_87"/>
          <p:cNvSpPr txBox="1"/>
          <p:nvPr/>
        </p:nvSpPr>
        <p:spPr>
          <a:xfrm>
            <a:off x="2852197" y="2600622"/>
            <a:ext cx="2908200" cy="50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Terminating episode 1 after 2 steps. </a:t>
            </a:r>
            <a:r>
              <a:rPr b="0" i="0" lang="en-US" sz="600" u="none" cap="none" strike="noStrike">
                <a:solidFill>
                  <a:srgbClr val="000000"/>
                </a:solidFill>
                <a:latin typeface="Arial"/>
                <a:ea typeface="Arial"/>
                <a:cs typeface="Arial"/>
                <a:sym typeface="Arial"/>
              </a:rPr>
              <a:t>In practice, we can define an episode cutoff (e.g., after 2 or10 steps or when Overheated occurs). If Overheated isn’t reached,  still the episode an be programmed to end artificially. That’s how learning continues.</a:t>
            </a:r>
            <a:endParaRPr b="1" i="0" sz="600" u="none" cap="none" strike="noStrike">
              <a:solidFill>
                <a:srgbClr val="1B147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1B1472"/>
              </a:solidFill>
              <a:latin typeface="Arial"/>
              <a:ea typeface="Arial"/>
              <a:cs typeface="Arial"/>
              <a:sym typeface="Arial"/>
            </a:endParaRPr>
          </a:p>
        </p:txBody>
      </p:sp>
      <p:sp>
        <p:nvSpPr>
          <p:cNvPr id="1179" name="Google Shape;1179;g3b75ff0c716_0_87"/>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g3b75ff0c716_0_87"/>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
        <p:nvSpPr>
          <p:cNvPr id="1181" name="Google Shape;1181;g3b75ff0c716_0_87"/>
          <p:cNvSpPr txBox="1"/>
          <p:nvPr/>
        </p:nvSpPr>
        <p:spPr>
          <a:xfrm>
            <a:off x="82600" y="1720728"/>
            <a:ext cx="2793000" cy="7659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20,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Q(W,S) = 0 + 0.8 [20+ (0.9</a:t>
            </a:r>
            <a:r>
              <a:rPr b="1" i="0" lang="en-US" sz="700" u="none" cap="none" strike="noStrike">
                <a:solidFill>
                  <a:srgbClr val="FF0000"/>
                </a:solidFill>
                <a:latin typeface="Arial"/>
                <a:ea typeface="Arial"/>
                <a:cs typeface="Arial"/>
                <a:sym typeface="Arial"/>
              </a:rPr>
              <a:t>*(MAX{Q(C,S), Q(C,F)})-</a:t>
            </a:r>
            <a:r>
              <a:rPr b="1" i="0" lang="en-US" sz="700" u="none" cap="none" strike="noStrike">
                <a:solidFill>
                  <a:schemeClr val="dk1"/>
                </a:solidFill>
                <a:latin typeface="Arial"/>
                <a:ea typeface="Arial"/>
                <a:cs typeface="Arial"/>
                <a:sym typeface="Arial"/>
              </a:rPr>
              <a:t>0] = ~17.15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182" name="Google Shape;1182;g3b75ff0c716_0_87"/>
          <p:cNvSpPr/>
          <p:nvPr/>
        </p:nvSpPr>
        <p:spPr>
          <a:xfrm>
            <a:off x="879354" y="1706616"/>
            <a:ext cx="479400" cy="156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83" name="Google Shape;1183;g3b75ff0c716_0_87"/>
          <p:cNvSpPr/>
          <p:nvPr/>
        </p:nvSpPr>
        <p:spPr>
          <a:xfrm>
            <a:off x="309839" y="1424777"/>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184" name="Google Shape;1184;g3b75ff0c716_0_87"/>
          <p:cNvCxnSpPr/>
          <p:nvPr/>
        </p:nvCxnSpPr>
        <p:spPr>
          <a:xfrm>
            <a:off x="910106" y="1424777"/>
            <a:ext cx="0" cy="225300"/>
          </a:xfrm>
          <a:prstGeom prst="straightConnector1">
            <a:avLst/>
          </a:prstGeom>
          <a:noFill/>
          <a:ln cap="flat" cmpd="sng" w="9525">
            <a:solidFill>
              <a:schemeClr val="dk1"/>
            </a:solidFill>
            <a:prstDash val="solid"/>
            <a:round/>
            <a:headEnd len="sm" w="sm" type="none"/>
            <a:tailEnd len="sm" w="sm" type="none"/>
          </a:ln>
        </p:spPr>
      </p:cxnSp>
      <p:cxnSp>
        <p:nvCxnSpPr>
          <p:cNvPr id="1185" name="Google Shape;1185;g3b75ff0c716_0_87"/>
          <p:cNvCxnSpPr/>
          <p:nvPr/>
        </p:nvCxnSpPr>
        <p:spPr>
          <a:xfrm>
            <a:off x="1566089" y="1431404"/>
            <a:ext cx="0" cy="2253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g3b75ff0c716_0_131"/>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Q-Learning</a:t>
            </a:r>
            <a:endParaRPr/>
          </a:p>
        </p:txBody>
      </p:sp>
      <p:sp>
        <p:nvSpPr>
          <p:cNvPr id="1191" name="Google Shape;1191;g3b75ff0c716_0_131"/>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2" name="Google Shape;1192;g3b75ff0c716_0_131"/>
          <p:cNvGrpSpPr/>
          <p:nvPr/>
        </p:nvGrpSpPr>
        <p:grpSpPr>
          <a:xfrm>
            <a:off x="0" y="3109250"/>
            <a:ext cx="5760261" cy="92075"/>
            <a:chOff x="0" y="3109250"/>
            <a:chExt cx="5760261" cy="92075"/>
          </a:xfrm>
        </p:grpSpPr>
        <p:sp>
          <p:nvSpPr>
            <p:cNvPr id="1193" name="Google Shape;1193;g3b75ff0c716_0_131"/>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g3b75ff0c716_0_131"/>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g3b75ff0c716_0_131"/>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6" name="Google Shape;1196;g3b75ff0c716_0_131"/>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197" name="Google Shape;1197;g3b75ff0c716_0_131"/>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1198" name="Google Shape;1198;g3b75ff0c716_0_131"/>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1199" name="Google Shape;1199;g3b75ff0c716_0_131"/>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1200" name="Google Shape;1200;g3b75ff0c716_0_131"/>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1201" name="Google Shape;1201;g3b75ff0c716_0_131"/>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202" name="Google Shape;1202;g3b75ff0c716_0_131"/>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1203" name="Google Shape;1203;g3b75ff0c716_0_131"/>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204" name="Google Shape;1204;g3b75ff0c716_0_131"/>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205" name="Google Shape;1205;g3b75ff0c716_0_131"/>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206" name="Google Shape;1206;g3b75ff0c716_0_131"/>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207" name="Google Shape;1207;g3b75ff0c716_0_131"/>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           0          0	17.15      0             0</a:t>
            </a:r>
            <a:endParaRPr b="0" i="0" sz="300" u="none" cap="none" strike="noStrike">
              <a:solidFill>
                <a:srgbClr val="000000"/>
              </a:solidFill>
              <a:latin typeface="Arial"/>
              <a:ea typeface="Arial"/>
              <a:cs typeface="Arial"/>
              <a:sym typeface="Arial"/>
            </a:endParaRPr>
          </a:p>
        </p:txBody>
      </p:sp>
      <p:cxnSp>
        <p:nvCxnSpPr>
          <p:cNvPr id="1208" name="Google Shape;1208;g3b75ff0c716_0_131"/>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209" name="Google Shape;1209;g3b75ff0c716_0_131"/>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210" name="Google Shape;1210;g3b75ff0c716_0_131"/>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211" name="Google Shape;1211;g3b75ff0c716_0_131"/>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212" name="Google Shape;1212;g3b75ff0c716_0_131"/>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213" name="Google Shape;1213;g3b75ff0c716_0_131"/>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214" name="Google Shape;1214;g3b75ff0c716_0_131"/>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1215" name="Google Shape;1215;g3b75ff0c716_0_131"/>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1216" name="Google Shape;1216;g3b75ff0c716_0_131"/>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1217" name="Google Shape;1217;g3b75ff0c716_0_131"/>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1218" name="Google Shape;1218;g3b75ff0c716_0_131"/>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1219" name="Google Shape;1219;g3b75ff0c716_0_131"/>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1220" name="Google Shape;1220;g3b75ff0c716_0_131"/>
          <p:cNvPicPr preferRelativeResize="0"/>
          <p:nvPr/>
        </p:nvPicPr>
        <p:blipFill rotWithShape="1">
          <a:blip r:embed="rId9">
            <a:alphaModFix/>
          </a:blip>
          <a:srcRect b="0" l="0" r="0" t="0"/>
          <a:stretch/>
        </p:blipFill>
        <p:spPr>
          <a:xfrm>
            <a:off x="3757404" y="67131"/>
            <a:ext cx="2005082" cy="889801"/>
          </a:xfrm>
          <a:prstGeom prst="rect">
            <a:avLst/>
          </a:prstGeom>
          <a:noFill/>
          <a:ln>
            <a:noFill/>
          </a:ln>
        </p:spPr>
      </p:pic>
      <p:sp>
        <p:nvSpPr>
          <p:cNvPr id="1221" name="Google Shape;1221;g3b75ff0c716_0_131"/>
          <p:cNvSpPr/>
          <p:nvPr/>
        </p:nvSpPr>
        <p:spPr>
          <a:xfrm>
            <a:off x="3577091" y="34435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22" name="Google Shape;1222;g3b75ff0c716_0_131"/>
          <p:cNvSpPr/>
          <p:nvPr/>
        </p:nvSpPr>
        <p:spPr>
          <a:xfrm>
            <a:off x="5359775" y="553782"/>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223" name="Google Shape;1223;g3b75ff0c716_0_131"/>
          <p:cNvSpPr txBox="1"/>
          <p:nvPr/>
        </p:nvSpPr>
        <p:spPr>
          <a:xfrm>
            <a:off x="2852197" y="2600622"/>
            <a:ext cx="2908200" cy="50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Target Policy : </a:t>
            </a:r>
            <a:r>
              <a:rPr b="0" i="0" lang="en-US" sz="700" u="none" cap="none" strike="noStrike">
                <a:solidFill>
                  <a:schemeClr val="dk1"/>
                </a:solidFill>
                <a:latin typeface="Arial"/>
                <a:ea typeface="Arial"/>
                <a:cs typeface="Arial"/>
                <a:sym typeface="Arial"/>
              </a:rPr>
              <a:t>Greedy (MAX) is used to evaluate /update the Q values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Behavior Policy : </a:t>
            </a:r>
            <a:r>
              <a:rPr b="0" i="0" lang="en-US" sz="700" u="none" cap="none" strike="noStrike">
                <a:solidFill>
                  <a:srgbClr val="000000"/>
                </a:solidFill>
                <a:latin typeface="Arial"/>
                <a:ea typeface="Arial"/>
                <a:cs typeface="Arial"/>
                <a:sym typeface="Arial"/>
              </a:rPr>
              <a:t>ε-greedy is used to select actions based on the policy derived from Q - Value</a:t>
            </a:r>
            <a:r>
              <a:rPr b="1" i="0" lang="en-US" sz="700" u="none" cap="none" strike="noStrike">
                <a:solidFill>
                  <a:schemeClr val="dk1"/>
                </a:solidFill>
                <a:latin typeface="Arial"/>
                <a:ea typeface="Arial"/>
                <a:cs typeface="Arial"/>
                <a:sym typeface="Arial"/>
              </a:rPr>
              <a:t> </a:t>
            </a:r>
            <a:endParaRPr b="1" i="0" sz="700" u="none" cap="none" strike="noStrike">
              <a:solidFill>
                <a:schemeClr val="dk1"/>
              </a:solidFill>
              <a:latin typeface="Arial"/>
              <a:ea typeface="Arial"/>
              <a:cs typeface="Arial"/>
              <a:sym typeface="Arial"/>
            </a:endParaRPr>
          </a:p>
        </p:txBody>
      </p:sp>
      <p:sp>
        <p:nvSpPr>
          <p:cNvPr id="1224" name="Google Shape;1224;g3b75ff0c716_0_131"/>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g3b75ff0c716_0_131"/>
          <p:cNvSpPr txBox="1"/>
          <p:nvPr/>
        </p:nvSpPr>
        <p:spPr>
          <a:xfrm>
            <a:off x="92818" y="1649835"/>
            <a:ext cx="2793000" cy="18432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20,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4, </a:t>
            </a:r>
            <a:r>
              <a:rPr b="1" i="0" lang="en-US" sz="700" u="none" cap="none" strike="noStrike">
                <a:solidFill>
                  <a:srgbClr val="C00000"/>
                </a:solidFill>
                <a:latin typeface="Arial"/>
                <a:ea typeface="Arial"/>
                <a:cs typeface="Arial"/>
                <a:sym typeface="Arial"/>
              </a:rPr>
              <a:t>W,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-10, </a:t>
            </a:r>
            <a:r>
              <a:rPr b="1" i="0" lang="en-US" sz="700" u="none" cap="none" strike="noStrike">
                <a:solidFill>
                  <a:srgbClr val="C00000"/>
                </a:solidFill>
                <a:latin typeface="Arial"/>
                <a:ea typeface="Arial"/>
                <a:cs typeface="Arial"/>
                <a:sym typeface="Arial"/>
              </a:rPr>
              <a:t>O</a:t>
            </a:r>
            <a:r>
              <a:rPr b="1" i="0" lang="en-US" sz="700" u="none" cap="none" strike="noStrike">
                <a:solidFill>
                  <a:schemeClr val="dk1"/>
                </a:solidFill>
                <a:latin typeface="Arial"/>
                <a:ea typeface="Arial"/>
                <a:cs typeface="Arial"/>
                <a:sym typeface="Arial"/>
              </a:rPr>
              <a:t> </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t=0 : Q(C,F) = 1.6+0.8(2+0.9</a:t>
            </a:r>
            <a:r>
              <a:rPr b="1" i="0" lang="en-US" sz="700" u="none" cap="none" strike="noStrike">
                <a:solidFill>
                  <a:srgbClr val="FF0000"/>
                </a:solidFill>
                <a:latin typeface="Arial"/>
                <a:ea typeface="Arial"/>
                <a:cs typeface="Arial"/>
                <a:sym typeface="Arial"/>
              </a:rPr>
              <a:t>(MAX{1.6,0})</a:t>
            </a:r>
            <a:r>
              <a:rPr b="1" i="0" lang="en-US" sz="700" u="none" cap="none" strike="noStrike">
                <a:solidFill>
                  <a:schemeClr val="dk1"/>
                </a:solidFill>
                <a:latin typeface="Arial"/>
                <a:ea typeface="Arial"/>
                <a:cs typeface="Arial"/>
                <a:sym typeface="Arial"/>
              </a:rPr>
              <a:t>−1.6)=~3.07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t=1 : Q(C,F) = 3.07+0.8(4+0.9</a:t>
            </a:r>
            <a:r>
              <a:rPr b="1" i="0" lang="en-US" sz="700" u="none" cap="none" strike="noStrike">
                <a:solidFill>
                  <a:srgbClr val="FF0000"/>
                </a:solidFill>
                <a:latin typeface="Arial"/>
                <a:ea typeface="Arial"/>
                <a:cs typeface="Arial"/>
                <a:sym typeface="Arial"/>
              </a:rPr>
              <a:t>(MAX{0,17.15})</a:t>
            </a:r>
            <a:r>
              <a:rPr b="1" i="0" lang="en-US" sz="700" u="none" cap="none" strike="noStrike">
                <a:solidFill>
                  <a:schemeClr val="dk1"/>
                </a:solidFill>
                <a:latin typeface="Arial"/>
                <a:ea typeface="Arial"/>
                <a:cs typeface="Arial"/>
                <a:sym typeface="Arial"/>
              </a:rPr>
              <a:t>−3.07)=~16.16</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t=2 : Q(W,S) = 17.15+0.8(-5+0.9</a:t>
            </a:r>
            <a:r>
              <a:rPr b="1" i="0" lang="en-US" sz="700" u="none" cap="none" strike="noStrike">
                <a:solidFill>
                  <a:srgbClr val="FF0000"/>
                </a:solidFill>
                <a:latin typeface="Arial"/>
                <a:ea typeface="Arial"/>
                <a:cs typeface="Arial"/>
                <a:sym typeface="Arial"/>
              </a:rPr>
              <a:t>(MAX{0,17.15})</a:t>
            </a:r>
            <a:r>
              <a:rPr b="1" i="0" lang="en-US" sz="700" u="none" cap="none" strike="noStrike">
                <a:solidFill>
                  <a:schemeClr val="dk1"/>
                </a:solidFill>
                <a:latin typeface="Arial"/>
                <a:ea typeface="Arial"/>
                <a:cs typeface="Arial"/>
                <a:sym typeface="Arial"/>
              </a:rPr>
              <a:t>−17.15)=~11.78</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t=3 : Q(W,S) = 11.78 + 0.8 [1+0.9</a:t>
            </a:r>
            <a:r>
              <a:rPr b="1" i="0" lang="en-US" sz="700" u="none" cap="none" strike="noStrike">
                <a:solidFill>
                  <a:srgbClr val="FF0000"/>
                </a:solidFill>
                <a:latin typeface="Arial"/>
                <a:ea typeface="Arial"/>
                <a:cs typeface="Arial"/>
                <a:sym typeface="Arial"/>
              </a:rPr>
              <a:t>(MAX{0,11.78})</a:t>
            </a:r>
            <a:r>
              <a:rPr b="1" i="0" lang="en-US" sz="700" u="none" cap="none" strike="noStrike">
                <a:solidFill>
                  <a:schemeClr val="dk1"/>
                </a:solidFill>
                <a:latin typeface="Arial"/>
                <a:ea typeface="Arial"/>
                <a:cs typeface="Arial"/>
                <a:sym typeface="Arial"/>
              </a:rPr>
              <a:t>−11.78] = ~11.64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t=4 : Q(W,F) = 0 + 0.8 [-10+ (0.9*0)-0] = ~-8</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226" name="Google Shape;1226;g3b75ff0c716_0_131"/>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
        <p:nvSpPr>
          <p:cNvPr id="1227" name="Google Shape;1227;g3b75ff0c716_0_131"/>
          <p:cNvSpPr txBox="1"/>
          <p:nvPr/>
        </p:nvSpPr>
        <p:spPr>
          <a:xfrm>
            <a:off x="289408" y="1104116"/>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16.16       0        -8	11.64      0             0</a:t>
            </a:r>
            <a:endParaRPr b="0" i="0" sz="3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g3b75ff0c716_0_172"/>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Q-Learning</a:t>
            </a:r>
            <a:endParaRPr/>
          </a:p>
        </p:txBody>
      </p:sp>
      <p:sp>
        <p:nvSpPr>
          <p:cNvPr id="1233" name="Google Shape;1233;g3b75ff0c716_0_172"/>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34" name="Google Shape;1234;g3b75ff0c716_0_172"/>
          <p:cNvGrpSpPr/>
          <p:nvPr/>
        </p:nvGrpSpPr>
        <p:grpSpPr>
          <a:xfrm>
            <a:off x="0" y="3109250"/>
            <a:ext cx="5760261" cy="92075"/>
            <a:chOff x="0" y="3109250"/>
            <a:chExt cx="5760261" cy="92075"/>
          </a:xfrm>
        </p:grpSpPr>
        <p:sp>
          <p:nvSpPr>
            <p:cNvPr id="1235" name="Google Shape;1235;g3b75ff0c716_0_172"/>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g3b75ff0c716_0_172"/>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g3b75ff0c716_0_172"/>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38" name="Google Shape;1238;g3b75ff0c716_0_172"/>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239" name="Google Shape;1239;g3b75ff0c716_0_172"/>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1240" name="Google Shape;1240;g3b75ff0c716_0_172"/>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1241" name="Google Shape;1241;g3b75ff0c716_0_172"/>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1242" name="Google Shape;1242;g3b75ff0c716_0_172"/>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1243" name="Google Shape;1243;g3b75ff0c716_0_172"/>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244" name="Google Shape;1244;g3b75ff0c716_0_172"/>
          <p:cNvPicPr preferRelativeResize="0"/>
          <p:nvPr/>
        </p:nvPicPr>
        <p:blipFill rotWithShape="1">
          <a:blip r:embed="rId6">
            <a:alphaModFix/>
          </a:blip>
          <a:srcRect b="0" l="0" r="0" t="0"/>
          <a:stretch/>
        </p:blipFill>
        <p:spPr>
          <a:xfrm>
            <a:off x="4069116" y="1789961"/>
            <a:ext cx="1640171" cy="889000"/>
          </a:xfrm>
          <a:prstGeom prst="rect">
            <a:avLst/>
          </a:prstGeom>
          <a:noFill/>
          <a:ln>
            <a:noFill/>
          </a:ln>
        </p:spPr>
      </p:pic>
      <p:sp>
        <p:nvSpPr>
          <p:cNvPr id="1245" name="Google Shape;1245;g3b75ff0c716_0_172"/>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246" name="Google Shape;1246;g3b75ff0c716_0_172"/>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247" name="Google Shape;1247;g3b75ff0c716_0_172"/>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248" name="Google Shape;1248;g3b75ff0c716_0_172"/>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249" name="Google Shape;1249;g3b75ff0c716_0_172"/>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           0          0	17.15      0             0</a:t>
            </a:r>
            <a:endParaRPr b="0" i="0" sz="300" u="none" cap="none" strike="noStrike">
              <a:solidFill>
                <a:srgbClr val="000000"/>
              </a:solidFill>
              <a:latin typeface="Arial"/>
              <a:ea typeface="Arial"/>
              <a:cs typeface="Arial"/>
              <a:sym typeface="Arial"/>
            </a:endParaRPr>
          </a:p>
        </p:txBody>
      </p:sp>
      <p:cxnSp>
        <p:nvCxnSpPr>
          <p:cNvPr id="1250" name="Google Shape;1250;g3b75ff0c716_0_172"/>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251" name="Google Shape;1251;g3b75ff0c716_0_172"/>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252" name="Google Shape;1252;g3b75ff0c716_0_172"/>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253" name="Google Shape;1253;g3b75ff0c716_0_172"/>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254" name="Google Shape;1254;g3b75ff0c716_0_172"/>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255" name="Google Shape;1255;g3b75ff0c716_0_172"/>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256" name="Google Shape;1256;g3b75ff0c716_0_172"/>
          <p:cNvPicPr preferRelativeResize="0"/>
          <p:nvPr/>
        </p:nvPicPr>
        <p:blipFill rotWithShape="1">
          <a:blip r:embed="rId7">
            <a:alphaModFix/>
          </a:blip>
          <a:srcRect b="0" l="0" r="0" t="0"/>
          <a:stretch/>
        </p:blipFill>
        <p:spPr>
          <a:xfrm>
            <a:off x="325079" y="652004"/>
            <a:ext cx="247568" cy="107156"/>
          </a:xfrm>
          <a:prstGeom prst="rect">
            <a:avLst/>
          </a:prstGeom>
          <a:noFill/>
          <a:ln>
            <a:noFill/>
          </a:ln>
        </p:spPr>
      </p:pic>
      <p:pic>
        <p:nvPicPr>
          <p:cNvPr id="1257" name="Google Shape;1257;g3b75ff0c716_0_172"/>
          <p:cNvPicPr preferRelativeResize="0"/>
          <p:nvPr/>
        </p:nvPicPr>
        <p:blipFill rotWithShape="1">
          <a:blip r:embed="rId8">
            <a:alphaModFix/>
          </a:blip>
          <a:srcRect b="0" l="0" r="0" t="0"/>
          <a:stretch/>
        </p:blipFill>
        <p:spPr>
          <a:xfrm>
            <a:off x="660303" y="649609"/>
            <a:ext cx="249913" cy="117267"/>
          </a:xfrm>
          <a:prstGeom prst="rect">
            <a:avLst/>
          </a:prstGeom>
          <a:noFill/>
          <a:ln>
            <a:noFill/>
          </a:ln>
        </p:spPr>
      </p:pic>
      <p:pic>
        <p:nvPicPr>
          <p:cNvPr id="1258" name="Google Shape;1258;g3b75ff0c716_0_172"/>
          <p:cNvPicPr preferRelativeResize="0"/>
          <p:nvPr/>
        </p:nvPicPr>
        <p:blipFill rotWithShape="1">
          <a:blip r:embed="rId7">
            <a:alphaModFix/>
          </a:blip>
          <a:srcRect b="0" l="0" r="0" t="0"/>
          <a:stretch/>
        </p:blipFill>
        <p:spPr>
          <a:xfrm>
            <a:off x="967808" y="638754"/>
            <a:ext cx="247568" cy="107156"/>
          </a:xfrm>
          <a:prstGeom prst="rect">
            <a:avLst/>
          </a:prstGeom>
          <a:noFill/>
          <a:ln>
            <a:noFill/>
          </a:ln>
        </p:spPr>
      </p:pic>
      <p:pic>
        <p:nvPicPr>
          <p:cNvPr id="1259" name="Google Shape;1259;g3b75ff0c716_0_172"/>
          <p:cNvPicPr preferRelativeResize="0"/>
          <p:nvPr/>
        </p:nvPicPr>
        <p:blipFill rotWithShape="1">
          <a:blip r:embed="rId8">
            <a:alphaModFix/>
          </a:blip>
          <a:srcRect b="0" l="0" r="0" t="0"/>
          <a:stretch/>
        </p:blipFill>
        <p:spPr>
          <a:xfrm>
            <a:off x="1303032" y="636359"/>
            <a:ext cx="249913" cy="117267"/>
          </a:xfrm>
          <a:prstGeom prst="rect">
            <a:avLst/>
          </a:prstGeom>
          <a:noFill/>
          <a:ln>
            <a:noFill/>
          </a:ln>
        </p:spPr>
      </p:pic>
      <p:pic>
        <p:nvPicPr>
          <p:cNvPr id="1260" name="Google Shape;1260;g3b75ff0c716_0_172"/>
          <p:cNvPicPr preferRelativeResize="0"/>
          <p:nvPr/>
        </p:nvPicPr>
        <p:blipFill rotWithShape="1">
          <a:blip r:embed="rId7">
            <a:alphaModFix/>
          </a:blip>
          <a:srcRect b="0" l="0" r="0" t="0"/>
          <a:stretch/>
        </p:blipFill>
        <p:spPr>
          <a:xfrm>
            <a:off x="1577402" y="638755"/>
            <a:ext cx="247568" cy="107156"/>
          </a:xfrm>
          <a:prstGeom prst="rect">
            <a:avLst/>
          </a:prstGeom>
          <a:noFill/>
          <a:ln>
            <a:noFill/>
          </a:ln>
        </p:spPr>
      </p:pic>
      <p:pic>
        <p:nvPicPr>
          <p:cNvPr id="1261" name="Google Shape;1261;g3b75ff0c716_0_172"/>
          <p:cNvPicPr preferRelativeResize="0"/>
          <p:nvPr/>
        </p:nvPicPr>
        <p:blipFill rotWithShape="1">
          <a:blip r:embed="rId8">
            <a:alphaModFix/>
          </a:blip>
          <a:srcRect b="0" l="0" r="0" t="0"/>
          <a:stretch/>
        </p:blipFill>
        <p:spPr>
          <a:xfrm>
            <a:off x="1912626" y="636360"/>
            <a:ext cx="249913" cy="117267"/>
          </a:xfrm>
          <a:prstGeom prst="rect">
            <a:avLst/>
          </a:prstGeom>
          <a:noFill/>
          <a:ln>
            <a:noFill/>
          </a:ln>
        </p:spPr>
      </p:pic>
      <p:pic>
        <p:nvPicPr>
          <p:cNvPr id="1262" name="Google Shape;1262;g3b75ff0c716_0_172"/>
          <p:cNvPicPr preferRelativeResize="0"/>
          <p:nvPr/>
        </p:nvPicPr>
        <p:blipFill rotWithShape="1">
          <a:blip r:embed="rId9">
            <a:alphaModFix/>
          </a:blip>
          <a:srcRect b="0" l="0" r="0" t="0"/>
          <a:stretch/>
        </p:blipFill>
        <p:spPr>
          <a:xfrm>
            <a:off x="3757404" y="67131"/>
            <a:ext cx="2005082" cy="889801"/>
          </a:xfrm>
          <a:prstGeom prst="rect">
            <a:avLst/>
          </a:prstGeom>
          <a:noFill/>
          <a:ln>
            <a:noFill/>
          </a:ln>
        </p:spPr>
      </p:pic>
      <p:sp>
        <p:nvSpPr>
          <p:cNvPr id="1263" name="Google Shape;1263;g3b75ff0c716_0_172"/>
          <p:cNvSpPr/>
          <p:nvPr/>
        </p:nvSpPr>
        <p:spPr>
          <a:xfrm>
            <a:off x="3577091" y="34435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64" name="Google Shape;1264;g3b75ff0c716_0_172"/>
          <p:cNvSpPr/>
          <p:nvPr/>
        </p:nvSpPr>
        <p:spPr>
          <a:xfrm>
            <a:off x="5359775" y="553782"/>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265" name="Google Shape;1265;g3b75ff0c716_0_172"/>
          <p:cNvSpPr txBox="1"/>
          <p:nvPr/>
        </p:nvSpPr>
        <p:spPr>
          <a:xfrm>
            <a:off x="2852197" y="2600622"/>
            <a:ext cx="2908200" cy="400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Few more episodes are completed and the results of the update per Q(State, Action) is shown . Students are advised to practice this.</a:t>
            </a:r>
            <a:endParaRPr b="1" i="0" sz="700" u="none" cap="none" strike="noStrike">
              <a:solidFill>
                <a:schemeClr val="dk1"/>
              </a:solidFill>
              <a:latin typeface="Arial"/>
              <a:ea typeface="Arial"/>
              <a:cs typeface="Arial"/>
              <a:sym typeface="Arial"/>
            </a:endParaRPr>
          </a:p>
        </p:txBody>
      </p:sp>
      <p:sp>
        <p:nvSpPr>
          <p:cNvPr id="1266" name="Google Shape;1266;g3b75ff0c716_0_172"/>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g3b75ff0c716_0_172"/>
          <p:cNvSpPr txBox="1"/>
          <p:nvPr/>
        </p:nvSpPr>
        <p:spPr>
          <a:xfrm>
            <a:off x="113478" y="2346680"/>
            <a:ext cx="2793000" cy="16278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20,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4, </a:t>
            </a:r>
            <a:r>
              <a:rPr b="1" i="0" lang="en-US" sz="700" u="none" cap="none" strike="noStrike">
                <a:solidFill>
                  <a:srgbClr val="C00000"/>
                </a:solidFill>
                <a:latin typeface="Arial"/>
                <a:ea typeface="Arial"/>
                <a:cs typeface="Arial"/>
                <a:sym typeface="Arial"/>
              </a:rPr>
              <a:t>W,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-10, </a:t>
            </a:r>
            <a:r>
              <a:rPr b="1" i="0" lang="en-US" sz="700" u="none" cap="none" strike="noStrike">
                <a:solidFill>
                  <a:srgbClr val="C00000"/>
                </a:solidFill>
                <a:latin typeface="Arial"/>
                <a:ea typeface="Arial"/>
                <a:cs typeface="Arial"/>
                <a:sym typeface="Arial"/>
              </a:rPr>
              <a:t>O</a:t>
            </a:r>
            <a:r>
              <a:rPr b="1" i="0" lang="en-US" sz="700" u="none" cap="none" strike="noStrike">
                <a:solidFill>
                  <a:schemeClr val="dk1"/>
                </a:solidFill>
                <a:latin typeface="Arial"/>
                <a:ea typeface="Arial"/>
                <a:cs typeface="Arial"/>
                <a:sym typeface="Arial"/>
              </a:rPr>
              <a:t> </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3: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 </a:t>
            </a:r>
            <a:r>
              <a:rPr b="1" i="0" lang="en-US" sz="700" u="none" cap="none" strike="noStrike">
                <a:solidFill>
                  <a:srgbClr val="0070C0"/>
                </a:solidFill>
                <a:latin typeface="Arial"/>
                <a:ea typeface="Arial"/>
                <a:cs typeface="Arial"/>
                <a:sym typeface="Arial"/>
              </a:rPr>
              <a:t>+10, </a:t>
            </a:r>
            <a:r>
              <a:rPr b="1" i="0" lang="en-US" sz="700" u="none" cap="none" strike="noStrike">
                <a:solidFill>
                  <a:srgbClr val="C00000"/>
                </a:solidFill>
                <a:latin typeface="Arial"/>
                <a:ea typeface="Arial"/>
                <a:cs typeface="Arial"/>
                <a:sym typeface="Arial"/>
              </a:rPr>
              <a:t>O</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4: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 </a:t>
            </a:r>
            <a:r>
              <a:rPr b="1" i="0" lang="en-US" sz="700" u="none" cap="none" strike="noStrike">
                <a:solidFill>
                  <a:srgbClr val="0070C0"/>
                </a:solidFill>
                <a:latin typeface="Arial"/>
                <a:ea typeface="Arial"/>
                <a:cs typeface="Arial"/>
                <a:sym typeface="Arial"/>
              </a:rPr>
              <a:t>+10, </a:t>
            </a:r>
            <a:r>
              <a:rPr b="1" i="0" lang="en-US" sz="700" u="none" cap="none" strike="noStrike">
                <a:solidFill>
                  <a:srgbClr val="C00000"/>
                </a:solidFill>
                <a:latin typeface="Arial"/>
                <a:ea typeface="Arial"/>
                <a:cs typeface="Arial"/>
                <a:sym typeface="Arial"/>
              </a:rPr>
              <a:t>C</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5: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6: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268" name="Google Shape;1268;g3b75ff0c716_0_172"/>
          <p:cNvSpPr txBox="1"/>
          <p:nvPr/>
        </p:nvSpPr>
        <p:spPr>
          <a:xfrm>
            <a:off x="54070" y="785748"/>
            <a:ext cx="3873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4</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5</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6</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p:txBody>
      </p:sp>
      <p:sp>
        <p:nvSpPr>
          <p:cNvPr id="1269" name="Google Shape;1269;g3b75ff0c716_0_172"/>
          <p:cNvSpPr txBox="1"/>
          <p:nvPr/>
        </p:nvSpPr>
        <p:spPr>
          <a:xfrm>
            <a:off x="289408" y="1104116"/>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16.16       0        -8	11.64      0             0</a:t>
            </a:r>
            <a:endParaRPr b="0" i="0" sz="300" u="none" cap="none" strike="noStrike">
              <a:solidFill>
                <a:srgbClr val="000000"/>
              </a:solidFill>
              <a:latin typeface="Arial"/>
              <a:ea typeface="Arial"/>
              <a:cs typeface="Arial"/>
              <a:sym typeface="Arial"/>
            </a:endParaRPr>
          </a:p>
        </p:txBody>
      </p:sp>
      <p:sp>
        <p:nvSpPr>
          <p:cNvPr id="1270" name="Google Shape;1270;g3b75ff0c716_0_172"/>
          <p:cNvSpPr txBox="1"/>
          <p:nvPr/>
        </p:nvSpPr>
        <p:spPr>
          <a:xfrm>
            <a:off x="309839" y="143479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16.16       0       6.4	</a:t>
            </a:r>
            <a:r>
              <a:rPr b="0" i="0" lang="en-US" sz="800" u="none" cap="none" strike="noStrike">
                <a:solidFill>
                  <a:srgbClr val="FF0000"/>
                </a:solidFill>
                <a:latin typeface="Calibri"/>
                <a:ea typeface="Calibri"/>
                <a:cs typeface="Calibri"/>
                <a:sym typeface="Calibri"/>
              </a:rPr>
              <a:t>14.71 </a:t>
            </a:r>
            <a:r>
              <a:rPr b="0" i="0" lang="en-US" sz="800" u="none" cap="none" strike="noStrike">
                <a:solidFill>
                  <a:schemeClr val="dk1"/>
                </a:solidFill>
                <a:latin typeface="Calibri"/>
                <a:ea typeface="Calibri"/>
                <a:cs typeface="Calibri"/>
                <a:sym typeface="Calibri"/>
              </a:rPr>
              <a:t>     0             0</a:t>
            </a:r>
            <a:endParaRPr b="0" i="0" sz="300" u="none" cap="none" strike="noStrike">
              <a:solidFill>
                <a:srgbClr val="000000"/>
              </a:solidFill>
              <a:latin typeface="Arial"/>
              <a:ea typeface="Arial"/>
              <a:cs typeface="Arial"/>
              <a:sym typeface="Arial"/>
            </a:endParaRPr>
          </a:p>
        </p:txBody>
      </p:sp>
      <p:sp>
        <p:nvSpPr>
          <p:cNvPr id="1271" name="Google Shape;1271;g3b75ff0c716_0_172"/>
          <p:cNvSpPr/>
          <p:nvPr/>
        </p:nvSpPr>
        <p:spPr>
          <a:xfrm>
            <a:off x="309839" y="16442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272" name="Google Shape;1272;g3b75ff0c716_0_172"/>
          <p:cNvCxnSpPr/>
          <p:nvPr/>
        </p:nvCxnSpPr>
        <p:spPr>
          <a:xfrm>
            <a:off x="910106" y="1644225"/>
            <a:ext cx="0" cy="225300"/>
          </a:xfrm>
          <a:prstGeom prst="straightConnector1">
            <a:avLst/>
          </a:prstGeom>
          <a:noFill/>
          <a:ln cap="flat" cmpd="sng" w="9525">
            <a:solidFill>
              <a:schemeClr val="dk1"/>
            </a:solidFill>
            <a:prstDash val="solid"/>
            <a:round/>
            <a:headEnd len="sm" w="sm" type="none"/>
            <a:tailEnd len="sm" w="sm" type="none"/>
          </a:ln>
        </p:spPr>
      </p:cxnSp>
      <p:cxnSp>
        <p:nvCxnSpPr>
          <p:cNvPr id="1273" name="Google Shape;1273;g3b75ff0c716_0_172"/>
          <p:cNvCxnSpPr/>
          <p:nvPr/>
        </p:nvCxnSpPr>
        <p:spPr>
          <a:xfrm>
            <a:off x="1566089" y="1650852"/>
            <a:ext cx="0" cy="225300"/>
          </a:xfrm>
          <a:prstGeom prst="straightConnector1">
            <a:avLst/>
          </a:prstGeom>
          <a:noFill/>
          <a:ln cap="flat" cmpd="sng" w="9525">
            <a:solidFill>
              <a:schemeClr val="dk1"/>
            </a:solidFill>
            <a:prstDash val="solid"/>
            <a:round/>
            <a:headEnd len="sm" w="sm" type="none"/>
            <a:tailEnd len="sm" w="sm" type="none"/>
          </a:ln>
        </p:spPr>
      </p:cxnSp>
      <p:sp>
        <p:nvSpPr>
          <p:cNvPr id="1274" name="Google Shape;1274;g3b75ff0c716_0_172"/>
          <p:cNvSpPr txBox="1"/>
          <p:nvPr/>
        </p:nvSpPr>
        <p:spPr>
          <a:xfrm>
            <a:off x="309839" y="165704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16.16 11.39     6.4	</a:t>
            </a:r>
            <a:r>
              <a:rPr b="0" i="0" lang="en-US" sz="800" u="none" cap="none" strike="noStrike">
                <a:solidFill>
                  <a:srgbClr val="FF0000"/>
                </a:solidFill>
                <a:latin typeface="Calibri"/>
                <a:ea typeface="Calibri"/>
                <a:cs typeface="Calibri"/>
                <a:sym typeface="Calibri"/>
              </a:rPr>
              <a:t>22.50</a:t>
            </a:r>
            <a:r>
              <a:rPr b="0" i="0" lang="en-US" sz="800" u="none" cap="none" strike="noStrike">
                <a:solidFill>
                  <a:schemeClr val="dk1"/>
                </a:solidFill>
                <a:latin typeface="Calibri"/>
                <a:ea typeface="Calibri"/>
                <a:cs typeface="Calibri"/>
                <a:sym typeface="Calibri"/>
              </a:rPr>
              <a:t>      0             0</a:t>
            </a:r>
            <a:endParaRPr b="0" i="0" sz="300" u="none" cap="none" strike="noStrike">
              <a:solidFill>
                <a:srgbClr val="000000"/>
              </a:solidFill>
              <a:latin typeface="Arial"/>
              <a:ea typeface="Arial"/>
              <a:cs typeface="Arial"/>
              <a:sym typeface="Arial"/>
            </a:endParaRPr>
          </a:p>
        </p:txBody>
      </p:sp>
      <p:sp>
        <p:nvSpPr>
          <p:cNvPr id="1275" name="Google Shape;1275;g3b75ff0c716_0_172"/>
          <p:cNvSpPr/>
          <p:nvPr/>
        </p:nvSpPr>
        <p:spPr>
          <a:xfrm>
            <a:off x="309839" y="18728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276" name="Google Shape;1276;g3b75ff0c716_0_172"/>
          <p:cNvCxnSpPr/>
          <p:nvPr/>
        </p:nvCxnSpPr>
        <p:spPr>
          <a:xfrm>
            <a:off x="910106" y="1872825"/>
            <a:ext cx="0" cy="225300"/>
          </a:xfrm>
          <a:prstGeom prst="straightConnector1">
            <a:avLst/>
          </a:prstGeom>
          <a:noFill/>
          <a:ln cap="flat" cmpd="sng" w="9525">
            <a:solidFill>
              <a:schemeClr val="dk1"/>
            </a:solidFill>
            <a:prstDash val="solid"/>
            <a:round/>
            <a:headEnd len="sm" w="sm" type="none"/>
            <a:tailEnd len="sm" w="sm" type="none"/>
          </a:ln>
        </p:spPr>
      </p:cxnSp>
      <p:cxnSp>
        <p:nvCxnSpPr>
          <p:cNvPr id="1277" name="Google Shape;1277;g3b75ff0c716_0_172"/>
          <p:cNvCxnSpPr/>
          <p:nvPr/>
        </p:nvCxnSpPr>
        <p:spPr>
          <a:xfrm>
            <a:off x="1566089" y="1879452"/>
            <a:ext cx="0" cy="225300"/>
          </a:xfrm>
          <a:prstGeom prst="straightConnector1">
            <a:avLst/>
          </a:prstGeom>
          <a:noFill/>
          <a:ln cap="flat" cmpd="sng" w="9525">
            <a:solidFill>
              <a:schemeClr val="dk1"/>
            </a:solidFill>
            <a:prstDash val="solid"/>
            <a:round/>
            <a:headEnd len="sm" w="sm" type="none"/>
            <a:tailEnd len="sm" w="sm" type="none"/>
          </a:ln>
        </p:spPr>
      </p:cxnSp>
      <p:sp>
        <p:nvSpPr>
          <p:cNvPr id="1278" name="Google Shape;1278;g3b75ff0c716_0_172"/>
          <p:cNvSpPr txBox="1"/>
          <p:nvPr/>
        </p:nvSpPr>
        <p:spPr>
          <a:xfrm>
            <a:off x="309839" y="188564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16.16 11.39     6.4	</a:t>
            </a:r>
            <a:r>
              <a:rPr b="0" i="0" lang="en-US" sz="800" u="none" cap="none" strike="noStrike">
                <a:solidFill>
                  <a:srgbClr val="FF0000"/>
                </a:solidFill>
                <a:latin typeface="Calibri"/>
                <a:ea typeface="Calibri"/>
                <a:cs typeface="Calibri"/>
                <a:sym typeface="Calibri"/>
              </a:rPr>
              <a:t>16.70</a:t>
            </a:r>
            <a:r>
              <a:rPr b="0" i="0" lang="en-US" sz="800" u="none" cap="none" strike="noStrike">
                <a:solidFill>
                  <a:schemeClr val="dk1"/>
                </a:solidFill>
                <a:latin typeface="Calibri"/>
                <a:ea typeface="Calibri"/>
                <a:cs typeface="Calibri"/>
                <a:sym typeface="Calibri"/>
              </a:rPr>
              <a:t>      0             0</a:t>
            </a:r>
            <a:endParaRPr b="0" i="0" sz="300" u="none" cap="none" strike="noStrike">
              <a:solidFill>
                <a:srgbClr val="000000"/>
              </a:solidFill>
              <a:latin typeface="Arial"/>
              <a:ea typeface="Arial"/>
              <a:cs typeface="Arial"/>
              <a:sym typeface="Arial"/>
            </a:endParaRPr>
          </a:p>
        </p:txBody>
      </p:sp>
      <p:sp>
        <p:nvSpPr>
          <p:cNvPr id="1279" name="Google Shape;1279;g3b75ff0c716_0_172"/>
          <p:cNvSpPr/>
          <p:nvPr/>
        </p:nvSpPr>
        <p:spPr>
          <a:xfrm>
            <a:off x="310939" y="2088820"/>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280" name="Google Shape;1280;g3b75ff0c716_0_172"/>
          <p:cNvCxnSpPr/>
          <p:nvPr/>
        </p:nvCxnSpPr>
        <p:spPr>
          <a:xfrm>
            <a:off x="911206" y="2088820"/>
            <a:ext cx="0" cy="225300"/>
          </a:xfrm>
          <a:prstGeom prst="straightConnector1">
            <a:avLst/>
          </a:prstGeom>
          <a:noFill/>
          <a:ln cap="flat" cmpd="sng" w="9525">
            <a:solidFill>
              <a:schemeClr val="dk1"/>
            </a:solidFill>
            <a:prstDash val="solid"/>
            <a:round/>
            <a:headEnd len="sm" w="sm" type="none"/>
            <a:tailEnd len="sm" w="sm" type="none"/>
          </a:ln>
        </p:spPr>
      </p:cxnSp>
      <p:cxnSp>
        <p:nvCxnSpPr>
          <p:cNvPr id="1281" name="Google Shape;1281;g3b75ff0c716_0_172"/>
          <p:cNvCxnSpPr/>
          <p:nvPr/>
        </p:nvCxnSpPr>
        <p:spPr>
          <a:xfrm>
            <a:off x="1567189" y="2095447"/>
            <a:ext cx="0" cy="225300"/>
          </a:xfrm>
          <a:prstGeom prst="straightConnector1">
            <a:avLst/>
          </a:prstGeom>
          <a:noFill/>
          <a:ln cap="flat" cmpd="sng" w="9525">
            <a:solidFill>
              <a:schemeClr val="dk1"/>
            </a:solidFill>
            <a:prstDash val="solid"/>
            <a:round/>
            <a:headEnd len="sm" w="sm" type="none"/>
            <a:tailEnd len="sm" w="sm" type="none"/>
          </a:ln>
        </p:spPr>
      </p:cxnSp>
      <p:sp>
        <p:nvSpPr>
          <p:cNvPr id="1282" name="Google Shape;1282;g3b75ff0c716_0_172"/>
          <p:cNvSpPr txBox="1"/>
          <p:nvPr/>
        </p:nvSpPr>
        <p:spPr>
          <a:xfrm>
            <a:off x="310939" y="2101640"/>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16.16 11.39     6.4	</a:t>
            </a:r>
            <a:r>
              <a:rPr b="0" i="0" lang="en-US" sz="800" u="none" cap="none" strike="noStrike">
                <a:solidFill>
                  <a:srgbClr val="FF0000"/>
                </a:solidFill>
                <a:latin typeface="Calibri"/>
                <a:ea typeface="Calibri"/>
                <a:cs typeface="Calibri"/>
                <a:sym typeface="Calibri"/>
              </a:rPr>
              <a:t>19.37</a:t>
            </a:r>
            <a:r>
              <a:rPr b="0" i="0" lang="en-US" sz="800" u="none" cap="none" strike="noStrike">
                <a:solidFill>
                  <a:schemeClr val="dk1"/>
                </a:solidFill>
                <a:latin typeface="Calibri"/>
                <a:ea typeface="Calibri"/>
                <a:cs typeface="Calibri"/>
                <a:sym typeface="Calibri"/>
              </a:rPr>
              <a:t>      0             0</a:t>
            </a:r>
            <a:endParaRPr b="0" i="0" sz="300" u="none" cap="none" strike="noStrike">
              <a:solidFill>
                <a:srgbClr val="000000"/>
              </a:solidFill>
              <a:latin typeface="Arial"/>
              <a:ea typeface="Arial"/>
              <a:cs typeface="Arial"/>
              <a:sym typeface="Arial"/>
            </a:endParaRPr>
          </a:p>
        </p:txBody>
      </p:sp>
      <p:sp>
        <p:nvSpPr>
          <p:cNvPr id="1283" name="Google Shape;1283;g3b75ff0c716_0_172"/>
          <p:cNvSpPr txBox="1"/>
          <p:nvPr/>
        </p:nvSpPr>
        <p:spPr>
          <a:xfrm>
            <a:off x="3130971" y="1336849"/>
            <a:ext cx="2629200" cy="1225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FF0000"/>
                </a:solidFill>
                <a:latin typeface="Arial"/>
                <a:ea typeface="Arial"/>
                <a:cs typeface="Arial"/>
                <a:sym typeface="Arial"/>
              </a:rPr>
              <a:t>Observe </a:t>
            </a:r>
            <a:r>
              <a:rPr b="1" i="0" lang="en-US" sz="700" u="none" cap="none" strike="noStrike">
                <a:solidFill>
                  <a:srgbClr val="1B1472"/>
                </a:solidFill>
                <a:latin typeface="Arial"/>
                <a:ea typeface="Arial"/>
                <a:cs typeface="Arial"/>
                <a:sym typeface="Arial"/>
              </a:rPr>
              <a:t>the  difference in value updates w.r.t Q(W,S) between successive time steps in episodes 3 to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The true value is approx. Q(W,S) = 15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Due to MAX bias the values are overestimated and this is more pronounced in the presence of NOISE</a:t>
            </a:r>
            <a:endParaRPr b="1" i="0" sz="700" u="none" cap="none" strike="noStrike">
              <a:solidFill>
                <a:srgbClr val="1B147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1" lang="en-US" sz="700" u="none" cap="none" strike="noStrike">
                <a:solidFill>
                  <a:schemeClr val="dk1"/>
                </a:solidFill>
                <a:latin typeface="Arial"/>
                <a:ea typeface="Arial"/>
                <a:cs typeface="Arial"/>
                <a:sym typeface="Arial"/>
              </a:rPr>
              <a:t>Sometimes this diverges from true value.</a:t>
            </a:r>
            <a:endParaRPr b="1" i="1"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1" lang="en-US" sz="700" u="none" cap="none" strike="noStrike">
                <a:solidFill>
                  <a:schemeClr val="dk1"/>
                </a:solidFill>
                <a:latin typeface="Arial"/>
                <a:ea typeface="Arial"/>
                <a:cs typeface="Arial"/>
                <a:sym typeface="Arial"/>
              </a:rPr>
              <a:t>Solution to tackle : Double Q-Learning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1"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1" lang="en-US" sz="600" u="none" cap="none" strike="noStrike">
                <a:solidFill>
                  <a:schemeClr val="dk1"/>
                </a:solidFill>
                <a:latin typeface="Arial"/>
                <a:ea typeface="Arial"/>
                <a:cs typeface="Arial"/>
                <a:sym typeface="Arial"/>
              </a:rPr>
              <a:t>** But in near-deterministic , less noisy environment , Q-learning helps in faster convergence!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1" sz="600" u="none" cap="none" strike="noStrike">
              <a:solidFill>
                <a:schemeClr val="dk1"/>
              </a:solidFill>
              <a:latin typeface="Arial"/>
              <a:ea typeface="Arial"/>
              <a:cs typeface="Arial"/>
              <a:sym typeface="Arial"/>
            </a:endParaRPr>
          </a:p>
        </p:txBody>
      </p:sp>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g3b75ff0c716_0_227"/>
          <p:cNvSpPr txBox="1"/>
          <p:nvPr>
            <p:ph type="title"/>
          </p:nvPr>
        </p:nvSpPr>
        <p:spPr>
          <a:xfrm>
            <a:off x="82600" y="109545"/>
            <a:ext cx="4943400" cy="261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sp>
        <p:nvSpPr>
          <p:cNvPr id="1289" name="Google Shape;1289;g3b75ff0c716_0_227"/>
          <p:cNvSpPr txBox="1"/>
          <p:nvPr>
            <p:ph idx="1" type="body"/>
          </p:nvPr>
        </p:nvSpPr>
        <p:spPr>
          <a:xfrm>
            <a:off x="777220" y="516129"/>
            <a:ext cx="3812400" cy="2462700"/>
          </a:xfrm>
          <a:prstGeom prst="rect">
            <a:avLst/>
          </a:prstGeom>
          <a:noFill/>
          <a:ln>
            <a:noFill/>
          </a:ln>
        </p:spPr>
        <p:txBody>
          <a:bodyPr anchorCtr="0" anchor="t" bIns="0" lIns="0" spcFirstLastPara="1" rIns="0" wrap="square" tIns="0">
            <a:spAutoFit/>
          </a:bodyPr>
          <a:lstStyle/>
          <a:p>
            <a:pPr indent="-228600" lvl="0" marL="457200" rtl="0" algn="ctr">
              <a:lnSpc>
                <a:spcPct val="100000"/>
              </a:lnSpc>
              <a:spcBef>
                <a:spcPts val="0"/>
              </a:spcBef>
              <a:spcAft>
                <a:spcPts val="0"/>
              </a:spcAft>
              <a:buSzPts val="1400"/>
              <a:buNone/>
            </a:pPr>
            <a:r>
              <a:rPr b="1" lang="en-US" sz="1600"/>
              <a:t>Temporal Difference Learning Methods</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t/>
            </a:r>
            <a:endParaRPr b="1" sz="1600"/>
          </a:p>
          <a:p>
            <a:pPr indent="-228600" lvl="0" marL="457200" rtl="0" algn="ctr">
              <a:lnSpc>
                <a:spcPct val="100000"/>
              </a:lnSpc>
              <a:spcBef>
                <a:spcPts val="0"/>
              </a:spcBef>
              <a:spcAft>
                <a:spcPts val="0"/>
              </a:spcAft>
              <a:buSzPts val="1400"/>
              <a:buNone/>
            </a:pPr>
            <a:r>
              <a:rPr b="1" lang="en-US" sz="1600">
                <a:solidFill>
                  <a:schemeClr val="dk1"/>
                </a:solidFill>
              </a:rPr>
              <a:t>Off Policy Control Algorithms</a:t>
            </a:r>
            <a:endParaRPr/>
          </a:p>
          <a:p>
            <a:pPr indent="-228600" lvl="0" marL="457200" rtl="0" algn="ctr">
              <a:lnSpc>
                <a:spcPct val="100000"/>
              </a:lnSpc>
              <a:spcBef>
                <a:spcPts val="0"/>
              </a:spcBef>
              <a:spcAft>
                <a:spcPts val="0"/>
              </a:spcAft>
              <a:buSzPts val="1400"/>
              <a:buNone/>
            </a:pPr>
            <a:r>
              <a:rPr b="1" lang="en-US" sz="1600">
                <a:solidFill>
                  <a:srgbClr val="0070C0"/>
                </a:solidFill>
              </a:rPr>
              <a:t>Double Q-Learning</a:t>
            </a:r>
            <a:endParaRPr b="1" sz="1600">
              <a:solidFill>
                <a:schemeClr val="dk1"/>
              </a:solidFill>
            </a:endParaRPr>
          </a:p>
        </p:txBody>
      </p:sp>
      <p:sp>
        <p:nvSpPr>
          <p:cNvPr id="1290" name="Google Shape;1290;g3b75ff0c716_0_227"/>
          <p:cNvSpPr txBox="1"/>
          <p:nvPr/>
        </p:nvSpPr>
        <p:spPr>
          <a:xfrm>
            <a:off x="0" y="806125"/>
            <a:ext cx="2179200" cy="1704900"/>
          </a:xfrm>
          <a:prstGeom prst="rect">
            <a:avLst/>
          </a:prstGeom>
          <a:solidFill>
            <a:srgbClr val="FFC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1B1472"/>
                </a:solidFill>
              </a:rPr>
              <a:t>Next slides follow a full fledged numerical example of algorithm in the Race car example with Policy Evaluation based learning for 2 iterations</a:t>
            </a:r>
            <a:endParaRPr sz="1050">
              <a:solidFill>
                <a:srgbClr val="1B1472"/>
              </a:solidFill>
            </a:endParaRPr>
          </a:p>
          <a:p>
            <a:pPr indent="0" lvl="0" marL="0" rtl="0" algn="l">
              <a:spcBef>
                <a:spcPts val="0"/>
              </a:spcBef>
              <a:spcAft>
                <a:spcPts val="0"/>
              </a:spcAft>
              <a:buNone/>
            </a:pPr>
            <a:r>
              <a:rPr lang="en-US" sz="1050">
                <a:solidFill>
                  <a:srgbClr val="1B1472"/>
                </a:solidFill>
              </a:rPr>
              <a:t>Learners are advised to go through the run of the algorithm. This is a full fledged lecture material that was used in NSP2 cluster offering in 2025</a:t>
            </a:r>
            <a:endParaRPr sz="1050">
              <a:solidFill>
                <a:srgbClr val="1B147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pic>
        <p:nvPicPr>
          <p:cNvPr id="1295" name="Google Shape;1295;g3b75ff0c716_0_232"/>
          <p:cNvPicPr preferRelativeResize="0"/>
          <p:nvPr/>
        </p:nvPicPr>
        <p:blipFill rotWithShape="1">
          <a:blip r:embed="rId3">
            <a:alphaModFix/>
          </a:blip>
          <a:srcRect b="0" l="0" r="0" t="0"/>
          <a:stretch/>
        </p:blipFill>
        <p:spPr>
          <a:xfrm>
            <a:off x="2339480" y="403678"/>
            <a:ext cx="253340" cy="263412"/>
          </a:xfrm>
          <a:prstGeom prst="rect">
            <a:avLst/>
          </a:prstGeom>
          <a:noFill/>
          <a:ln>
            <a:noFill/>
          </a:ln>
        </p:spPr>
      </p:pic>
      <p:pic>
        <p:nvPicPr>
          <p:cNvPr id="1296" name="Google Shape;1296;g3b75ff0c716_0_232"/>
          <p:cNvPicPr preferRelativeResize="0"/>
          <p:nvPr/>
        </p:nvPicPr>
        <p:blipFill rotWithShape="1">
          <a:blip r:embed="rId4">
            <a:alphaModFix/>
          </a:blip>
          <a:srcRect b="0" l="0" r="0" t="0"/>
          <a:stretch/>
        </p:blipFill>
        <p:spPr>
          <a:xfrm>
            <a:off x="3596565" y="370273"/>
            <a:ext cx="268790" cy="301041"/>
          </a:xfrm>
          <a:prstGeom prst="rect">
            <a:avLst/>
          </a:prstGeom>
          <a:noFill/>
          <a:ln>
            <a:noFill/>
          </a:ln>
        </p:spPr>
      </p:pic>
      <p:pic>
        <p:nvPicPr>
          <p:cNvPr id="1297" name="Google Shape;1297;g3b75ff0c716_0_232"/>
          <p:cNvPicPr preferRelativeResize="0"/>
          <p:nvPr/>
        </p:nvPicPr>
        <p:blipFill rotWithShape="1">
          <a:blip r:embed="rId5">
            <a:alphaModFix/>
          </a:blip>
          <a:srcRect b="0" l="0" r="0" t="0"/>
          <a:stretch/>
        </p:blipFill>
        <p:spPr>
          <a:xfrm>
            <a:off x="2994214" y="410746"/>
            <a:ext cx="276927" cy="275955"/>
          </a:xfrm>
          <a:prstGeom prst="rect">
            <a:avLst/>
          </a:prstGeom>
          <a:noFill/>
          <a:ln>
            <a:noFill/>
          </a:ln>
        </p:spPr>
      </p:pic>
      <p:sp>
        <p:nvSpPr>
          <p:cNvPr id="1298" name="Google Shape;1298;g3b75ff0c716_0_232"/>
          <p:cNvSpPr/>
          <p:nvPr/>
        </p:nvSpPr>
        <p:spPr>
          <a:xfrm>
            <a:off x="2164056" y="1416916"/>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299" name="Google Shape;1299;g3b75ff0c716_0_232"/>
          <p:cNvSpPr/>
          <p:nvPr/>
        </p:nvSpPr>
        <p:spPr>
          <a:xfrm>
            <a:off x="2179296" y="1072214"/>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300" name="Google Shape;1300;g3b75ff0c716_0_232"/>
          <p:cNvSpPr/>
          <p:nvPr/>
        </p:nvSpPr>
        <p:spPr>
          <a:xfrm>
            <a:off x="2182136" y="784025"/>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301" name="Google Shape;1301;g3b75ff0c716_0_232"/>
          <p:cNvCxnSpPr/>
          <p:nvPr/>
        </p:nvCxnSpPr>
        <p:spPr>
          <a:xfrm>
            <a:off x="2764323" y="769938"/>
            <a:ext cx="0" cy="225300"/>
          </a:xfrm>
          <a:prstGeom prst="straightConnector1">
            <a:avLst/>
          </a:prstGeom>
          <a:noFill/>
          <a:ln cap="flat" cmpd="sng" w="9525">
            <a:solidFill>
              <a:schemeClr val="dk1"/>
            </a:solidFill>
            <a:prstDash val="solid"/>
            <a:round/>
            <a:headEnd len="sm" w="sm" type="none"/>
            <a:tailEnd len="sm" w="sm" type="none"/>
          </a:ln>
        </p:spPr>
      </p:cxnSp>
      <p:cxnSp>
        <p:nvCxnSpPr>
          <p:cNvPr id="1302" name="Google Shape;1302;g3b75ff0c716_0_232"/>
          <p:cNvCxnSpPr/>
          <p:nvPr/>
        </p:nvCxnSpPr>
        <p:spPr>
          <a:xfrm>
            <a:off x="2764323" y="1083652"/>
            <a:ext cx="0" cy="225300"/>
          </a:xfrm>
          <a:prstGeom prst="straightConnector1">
            <a:avLst/>
          </a:prstGeom>
          <a:noFill/>
          <a:ln cap="flat" cmpd="sng" w="9525">
            <a:solidFill>
              <a:schemeClr val="dk1"/>
            </a:solidFill>
            <a:prstDash val="solid"/>
            <a:round/>
            <a:headEnd len="sm" w="sm" type="none"/>
            <a:tailEnd len="sm" w="sm" type="none"/>
          </a:ln>
        </p:spPr>
      </p:cxnSp>
      <p:cxnSp>
        <p:nvCxnSpPr>
          <p:cNvPr id="1303" name="Google Shape;1303;g3b75ff0c716_0_232"/>
          <p:cNvCxnSpPr/>
          <p:nvPr/>
        </p:nvCxnSpPr>
        <p:spPr>
          <a:xfrm>
            <a:off x="2764323" y="1416916"/>
            <a:ext cx="0" cy="225300"/>
          </a:xfrm>
          <a:prstGeom prst="straightConnector1">
            <a:avLst/>
          </a:prstGeom>
          <a:noFill/>
          <a:ln cap="flat" cmpd="sng" w="9525">
            <a:solidFill>
              <a:schemeClr val="dk1"/>
            </a:solidFill>
            <a:prstDash val="solid"/>
            <a:round/>
            <a:headEnd len="sm" w="sm" type="none"/>
            <a:tailEnd len="sm" w="sm" type="none"/>
          </a:ln>
        </p:spPr>
      </p:cxnSp>
      <p:cxnSp>
        <p:nvCxnSpPr>
          <p:cNvPr id="1304" name="Google Shape;1304;g3b75ff0c716_0_232"/>
          <p:cNvCxnSpPr/>
          <p:nvPr/>
        </p:nvCxnSpPr>
        <p:spPr>
          <a:xfrm>
            <a:off x="3420306" y="776565"/>
            <a:ext cx="0" cy="225300"/>
          </a:xfrm>
          <a:prstGeom prst="straightConnector1">
            <a:avLst/>
          </a:prstGeom>
          <a:noFill/>
          <a:ln cap="flat" cmpd="sng" w="9525">
            <a:solidFill>
              <a:schemeClr val="dk1"/>
            </a:solidFill>
            <a:prstDash val="solid"/>
            <a:round/>
            <a:headEnd len="sm" w="sm" type="none"/>
            <a:tailEnd len="sm" w="sm" type="none"/>
          </a:ln>
        </p:spPr>
      </p:cxnSp>
      <p:cxnSp>
        <p:nvCxnSpPr>
          <p:cNvPr id="1305" name="Google Shape;1305;g3b75ff0c716_0_232"/>
          <p:cNvCxnSpPr/>
          <p:nvPr/>
        </p:nvCxnSpPr>
        <p:spPr>
          <a:xfrm>
            <a:off x="3420306" y="1090279"/>
            <a:ext cx="0" cy="225300"/>
          </a:xfrm>
          <a:prstGeom prst="straightConnector1">
            <a:avLst/>
          </a:prstGeom>
          <a:noFill/>
          <a:ln cap="flat" cmpd="sng" w="9525">
            <a:solidFill>
              <a:schemeClr val="dk1"/>
            </a:solidFill>
            <a:prstDash val="solid"/>
            <a:round/>
            <a:headEnd len="sm" w="sm" type="none"/>
            <a:tailEnd len="sm" w="sm" type="none"/>
          </a:ln>
        </p:spPr>
      </p:cxnSp>
      <p:cxnSp>
        <p:nvCxnSpPr>
          <p:cNvPr id="1306" name="Google Shape;1306;g3b75ff0c716_0_232"/>
          <p:cNvCxnSpPr/>
          <p:nvPr/>
        </p:nvCxnSpPr>
        <p:spPr>
          <a:xfrm>
            <a:off x="3420306" y="1423543"/>
            <a:ext cx="0" cy="225300"/>
          </a:xfrm>
          <a:prstGeom prst="straightConnector1">
            <a:avLst/>
          </a:prstGeom>
          <a:noFill/>
          <a:ln cap="flat" cmpd="sng" w="9525">
            <a:solidFill>
              <a:schemeClr val="dk1"/>
            </a:solidFill>
            <a:prstDash val="solid"/>
            <a:round/>
            <a:headEnd len="sm" w="sm" type="none"/>
            <a:tailEnd len="sm" w="sm" type="none"/>
          </a:ln>
        </p:spPr>
      </p:cxnSp>
      <p:pic>
        <p:nvPicPr>
          <p:cNvPr id="1307" name="Google Shape;1307;g3b75ff0c716_0_232"/>
          <p:cNvPicPr preferRelativeResize="0"/>
          <p:nvPr/>
        </p:nvPicPr>
        <p:blipFill rotWithShape="1">
          <a:blip r:embed="rId6">
            <a:alphaModFix/>
          </a:blip>
          <a:srcRect b="0" l="0" r="0" t="0"/>
          <a:stretch/>
        </p:blipFill>
        <p:spPr>
          <a:xfrm>
            <a:off x="2179296" y="646945"/>
            <a:ext cx="247568" cy="107156"/>
          </a:xfrm>
          <a:prstGeom prst="rect">
            <a:avLst/>
          </a:prstGeom>
          <a:noFill/>
          <a:ln>
            <a:noFill/>
          </a:ln>
        </p:spPr>
      </p:pic>
      <p:pic>
        <p:nvPicPr>
          <p:cNvPr id="1308" name="Google Shape;1308;g3b75ff0c716_0_232"/>
          <p:cNvPicPr preferRelativeResize="0"/>
          <p:nvPr/>
        </p:nvPicPr>
        <p:blipFill rotWithShape="1">
          <a:blip r:embed="rId7">
            <a:alphaModFix/>
          </a:blip>
          <a:srcRect b="0" l="0" r="0" t="0"/>
          <a:stretch/>
        </p:blipFill>
        <p:spPr>
          <a:xfrm>
            <a:off x="2514520" y="644550"/>
            <a:ext cx="249913" cy="117267"/>
          </a:xfrm>
          <a:prstGeom prst="rect">
            <a:avLst/>
          </a:prstGeom>
          <a:noFill/>
          <a:ln>
            <a:noFill/>
          </a:ln>
        </p:spPr>
      </p:pic>
      <p:pic>
        <p:nvPicPr>
          <p:cNvPr id="1309" name="Google Shape;1309;g3b75ff0c716_0_232"/>
          <p:cNvPicPr preferRelativeResize="0"/>
          <p:nvPr/>
        </p:nvPicPr>
        <p:blipFill rotWithShape="1">
          <a:blip r:embed="rId6">
            <a:alphaModFix/>
          </a:blip>
          <a:srcRect b="0" l="0" r="0" t="0"/>
          <a:stretch/>
        </p:blipFill>
        <p:spPr>
          <a:xfrm>
            <a:off x="2822025" y="633695"/>
            <a:ext cx="247568" cy="107156"/>
          </a:xfrm>
          <a:prstGeom prst="rect">
            <a:avLst/>
          </a:prstGeom>
          <a:noFill/>
          <a:ln>
            <a:noFill/>
          </a:ln>
        </p:spPr>
      </p:pic>
      <p:pic>
        <p:nvPicPr>
          <p:cNvPr id="1310" name="Google Shape;1310;g3b75ff0c716_0_232"/>
          <p:cNvPicPr preferRelativeResize="0"/>
          <p:nvPr/>
        </p:nvPicPr>
        <p:blipFill rotWithShape="1">
          <a:blip r:embed="rId7">
            <a:alphaModFix/>
          </a:blip>
          <a:srcRect b="0" l="0" r="0" t="0"/>
          <a:stretch/>
        </p:blipFill>
        <p:spPr>
          <a:xfrm>
            <a:off x="3157249" y="631300"/>
            <a:ext cx="249913" cy="117267"/>
          </a:xfrm>
          <a:prstGeom prst="rect">
            <a:avLst/>
          </a:prstGeom>
          <a:noFill/>
          <a:ln>
            <a:noFill/>
          </a:ln>
        </p:spPr>
      </p:pic>
      <p:pic>
        <p:nvPicPr>
          <p:cNvPr id="1311" name="Google Shape;1311;g3b75ff0c716_0_232"/>
          <p:cNvPicPr preferRelativeResize="0"/>
          <p:nvPr/>
        </p:nvPicPr>
        <p:blipFill rotWithShape="1">
          <a:blip r:embed="rId6">
            <a:alphaModFix/>
          </a:blip>
          <a:srcRect b="0" l="0" r="0" t="0"/>
          <a:stretch/>
        </p:blipFill>
        <p:spPr>
          <a:xfrm>
            <a:off x="3431619" y="633696"/>
            <a:ext cx="247568" cy="107156"/>
          </a:xfrm>
          <a:prstGeom prst="rect">
            <a:avLst/>
          </a:prstGeom>
          <a:noFill/>
          <a:ln>
            <a:noFill/>
          </a:ln>
        </p:spPr>
      </p:pic>
      <p:pic>
        <p:nvPicPr>
          <p:cNvPr id="1312" name="Google Shape;1312;g3b75ff0c716_0_232"/>
          <p:cNvPicPr preferRelativeResize="0"/>
          <p:nvPr/>
        </p:nvPicPr>
        <p:blipFill rotWithShape="1">
          <a:blip r:embed="rId7">
            <a:alphaModFix/>
          </a:blip>
          <a:srcRect b="0" l="0" r="0" t="0"/>
          <a:stretch/>
        </p:blipFill>
        <p:spPr>
          <a:xfrm>
            <a:off x="3766843" y="631301"/>
            <a:ext cx="249913" cy="117267"/>
          </a:xfrm>
          <a:prstGeom prst="rect">
            <a:avLst/>
          </a:prstGeom>
          <a:noFill/>
          <a:ln>
            <a:noFill/>
          </a:ln>
        </p:spPr>
      </p:pic>
      <p:sp>
        <p:nvSpPr>
          <p:cNvPr id="1313" name="Google Shape;1313;g3b75ff0c716_0_232"/>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	Target		Behavior</a:t>
            </a:r>
            <a:endParaRPr/>
          </a:p>
        </p:txBody>
      </p:sp>
      <p:sp>
        <p:nvSpPr>
          <p:cNvPr id="1314" name="Google Shape;1314;g3b75ff0c716_0_232"/>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15" name="Google Shape;1315;g3b75ff0c716_0_232"/>
          <p:cNvGrpSpPr/>
          <p:nvPr/>
        </p:nvGrpSpPr>
        <p:grpSpPr>
          <a:xfrm>
            <a:off x="0" y="3109250"/>
            <a:ext cx="5760261" cy="92075"/>
            <a:chOff x="0" y="3109250"/>
            <a:chExt cx="5760261" cy="92075"/>
          </a:xfrm>
        </p:grpSpPr>
        <p:sp>
          <p:nvSpPr>
            <p:cNvPr id="1316" name="Google Shape;1316;g3b75ff0c716_0_232"/>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g3b75ff0c716_0_232"/>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g3b75ff0c716_0_232"/>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9" name="Google Shape;1319;g3b75ff0c716_0_232"/>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320" name="Google Shape;1320;g3b75ff0c716_0_232"/>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1321" name="Google Shape;1321;g3b75ff0c716_0_232"/>
          <p:cNvPicPr preferRelativeResize="0"/>
          <p:nvPr/>
        </p:nvPicPr>
        <p:blipFill rotWithShape="1">
          <a:blip r:embed="rId3">
            <a:alphaModFix/>
          </a:blip>
          <a:srcRect b="0" l="0" r="0" t="0"/>
          <a:stretch/>
        </p:blipFill>
        <p:spPr>
          <a:xfrm>
            <a:off x="485263" y="408737"/>
            <a:ext cx="253340" cy="263412"/>
          </a:xfrm>
          <a:prstGeom prst="rect">
            <a:avLst/>
          </a:prstGeom>
          <a:noFill/>
          <a:ln>
            <a:noFill/>
          </a:ln>
        </p:spPr>
      </p:pic>
      <p:pic>
        <p:nvPicPr>
          <p:cNvPr id="1322" name="Google Shape;1322;g3b75ff0c716_0_232"/>
          <p:cNvPicPr preferRelativeResize="0"/>
          <p:nvPr/>
        </p:nvPicPr>
        <p:blipFill rotWithShape="1">
          <a:blip r:embed="rId4">
            <a:alphaModFix/>
          </a:blip>
          <a:srcRect b="0" l="0" r="0" t="0"/>
          <a:stretch/>
        </p:blipFill>
        <p:spPr>
          <a:xfrm>
            <a:off x="1742348" y="375332"/>
            <a:ext cx="268790" cy="301041"/>
          </a:xfrm>
          <a:prstGeom prst="rect">
            <a:avLst/>
          </a:prstGeom>
          <a:noFill/>
          <a:ln>
            <a:noFill/>
          </a:ln>
        </p:spPr>
      </p:pic>
      <p:pic>
        <p:nvPicPr>
          <p:cNvPr id="1323" name="Google Shape;1323;g3b75ff0c716_0_232"/>
          <p:cNvPicPr preferRelativeResize="0"/>
          <p:nvPr/>
        </p:nvPicPr>
        <p:blipFill rotWithShape="1">
          <a:blip r:embed="rId5">
            <a:alphaModFix/>
          </a:blip>
          <a:srcRect b="0" l="0" r="0" t="0"/>
          <a:stretch/>
        </p:blipFill>
        <p:spPr>
          <a:xfrm>
            <a:off x="1139997" y="415805"/>
            <a:ext cx="276927" cy="275955"/>
          </a:xfrm>
          <a:prstGeom prst="rect">
            <a:avLst/>
          </a:prstGeom>
          <a:noFill/>
          <a:ln>
            <a:noFill/>
          </a:ln>
        </p:spPr>
      </p:pic>
      <p:sp>
        <p:nvSpPr>
          <p:cNvPr id="1324" name="Google Shape;1324;g3b75ff0c716_0_232"/>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325" name="Google Shape;1325;g3b75ff0c716_0_232"/>
          <p:cNvPicPr preferRelativeResize="0"/>
          <p:nvPr/>
        </p:nvPicPr>
        <p:blipFill rotWithShape="1">
          <a:blip r:embed="rId8">
            <a:alphaModFix/>
          </a:blip>
          <a:srcRect b="0" l="0" r="0" t="0"/>
          <a:stretch/>
        </p:blipFill>
        <p:spPr>
          <a:xfrm>
            <a:off x="4069116" y="1789961"/>
            <a:ext cx="1640171" cy="889000"/>
          </a:xfrm>
          <a:prstGeom prst="rect">
            <a:avLst/>
          </a:prstGeom>
          <a:noFill/>
          <a:ln>
            <a:noFill/>
          </a:ln>
        </p:spPr>
      </p:pic>
      <p:sp>
        <p:nvSpPr>
          <p:cNvPr id="1326" name="Google Shape;1326;g3b75ff0c716_0_232"/>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327" name="Google Shape;1327;g3b75ff0c716_0_232"/>
          <p:cNvSpPr txBox="1"/>
          <p:nvPr/>
        </p:nvSpPr>
        <p:spPr>
          <a:xfrm>
            <a:off x="82600" y="1717926"/>
            <a:ext cx="2793000" cy="5502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328" name="Google Shape;1328;g3b75ff0c716_0_232"/>
          <p:cNvSpPr/>
          <p:nvPr/>
        </p:nvSpPr>
        <p:spPr>
          <a:xfrm>
            <a:off x="514351" y="1714343"/>
            <a:ext cx="506100" cy="120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29" name="Google Shape;1329;g3b75ff0c716_0_232"/>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330" name="Google Shape;1330;g3b75ff0c716_0_232"/>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331" name="Google Shape;1331;g3b75ff0c716_0_232"/>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332" name="Google Shape;1332;g3b75ff0c716_0_232"/>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p:txBody>
      </p:sp>
      <p:cxnSp>
        <p:nvCxnSpPr>
          <p:cNvPr id="1333" name="Google Shape;1333;g3b75ff0c716_0_232"/>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334" name="Google Shape;1334;g3b75ff0c716_0_232"/>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335" name="Google Shape;1335;g3b75ff0c716_0_232"/>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336" name="Google Shape;1336;g3b75ff0c716_0_232"/>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337" name="Google Shape;1337;g3b75ff0c716_0_232"/>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338" name="Google Shape;1338;g3b75ff0c716_0_232"/>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339" name="Google Shape;1339;g3b75ff0c716_0_232"/>
          <p:cNvPicPr preferRelativeResize="0"/>
          <p:nvPr/>
        </p:nvPicPr>
        <p:blipFill rotWithShape="1">
          <a:blip r:embed="rId6">
            <a:alphaModFix/>
          </a:blip>
          <a:srcRect b="0" l="0" r="0" t="0"/>
          <a:stretch/>
        </p:blipFill>
        <p:spPr>
          <a:xfrm>
            <a:off x="325079" y="652004"/>
            <a:ext cx="247568" cy="107156"/>
          </a:xfrm>
          <a:prstGeom prst="rect">
            <a:avLst/>
          </a:prstGeom>
          <a:noFill/>
          <a:ln>
            <a:noFill/>
          </a:ln>
        </p:spPr>
      </p:pic>
      <p:pic>
        <p:nvPicPr>
          <p:cNvPr id="1340" name="Google Shape;1340;g3b75ff0c716_0_232"/>
          <p:cNvPicPr preferRelativeResize="0"/>
          <p:nvPr/>
        </p:nvPicPr>
        <p:blipFill rotWithShape="1">
          <a:blip r:embed="rId7">
            <a:alphaModFix/>
          </a:blip>
          <a:srcRect b="0" l="0" r="0" t="0"/>
          <a:stretch/>
        </p:blipFill>
        <p:spPr>
          <a:xfrm>
            <a:off x="660303" y="649609"/>
            <a:ext cx="249913" cy="117267"/>
          </a:xfrm>
          <a:prstGeom prst="rect">
            <a:avLst/>
          </a:prstGeom>
          <a:noFill/>
          <a:ln>
            <a:noFill/>
          </a:ln>
        </p:spPr>
      </p:pic>
      <p:pic>
        <p:nvPicPr>
          <p:cNvPr id="1341" name="Google Shape;1341;g3b75ff0c716_0_232"/>
          <p:cNvPicPr preferRelativeResize="0"/>
          <p:nvPr/>
        </p:nvPicPr>
        <p:blipFill rotWithShape="1">
          <a:blip r:embed="rId6">
            <a:alphaModFix/>
          </a:blip>
          <a:srcRect b="0" l="0" r="0" t="0"/>
          <a:stretch/>
        </p:blipFill>
        <p:spPr>
          <a:xfrm>
            <a:off x="967808" y="638754"/>
            <a:ext cx="247568" cy="107156"/>
          </a:xfrm>
          <a:prstGeom prst="rect">
            <a:avLst/>
          </a:prstGeom>
          <a:noFill/>
          <a:ln>
            <a:noFill/>
          </a:ln>
        </p:spPr>
      </p:pic>
      <p:pic>
        <p:nvPicPr>
          <p:cNvPr id="1342" name="Google Shape;1342;g3b75ff0c716_0_232"/>
          <p:cNvPicPr preferRelativeResize="0"/>
          <p:nvPr/>
        </p:nvPicPr>
        <p:blipFill rotWithShape="1">
          <a:blip r:embed="rId7">
            <a:alphaModFix/>
          </a:blip>
          <a:srcRect b="0" l="0" r="0" t="0"/>
          <a:stretch/>
        </p:blipFill>
        <p:spPr>
          <a:xfrm>
            <a:off x="1303032" y="636359"/>
            <a:ext cx="249913" cy="117267"/>
          </a:xfrm>
          <a:prstGeom prst="rect">
            <a:avLst/>
          </a:prstGeom>
          <a:noFill/>
          <a:ln>
            <a:noFill/>
          </a:ln>
        </p:spPr>
      </p:pic>
      <p:pic>
        <p:nvPicPr>
          <p:cNvPr id="1343" name="Google Shape;1343;g3b75ff0c716_0_232"/>
          <p:cNvPicPr preferRelativeResize="0"/>
          <p:nvPr/>
        </p:nvPicPr>
        <p:blipFill rotWithShape="1">
          <a:blip r:embed="rId6">
            <a:alphaModFix/>
          </a:blip>
          <a:srcRect b="0" l="0" r="0" t="0"/>
          <a:stretch/>
        </p:blipFill>
        <p:spPr>
          <a:xfrm>
            <a:off x="1577402" y="638755"/>
            <a:ext cx="247568" cy="107156"/>
          </a:xfrm>
          <a:prstGeom prst="rect">
            <a:avLst/>
          </a:prstGeom>
          <a:noFill/>
          <a:ln>
            <a:noFill/>
          </a:ln>
        </p:spPr>
      </p:pic>
      <p:pic>
        <p:nvPicPr>
          <p:cNvPr id="1344" name="Google Shape;1344;g3b75ff0c716_0_232"/>
          <p:cNvPicPr preferRelativeResize="0"/>
          <p:nvPr/>
        </p:nvPicPr>
        <p:blipFill rotWithShape="1">
          <a:blip r:embed="rId7">
            <a:alphaModFix/>
          </a:blip>
          <a:srcRect b="0" l="0" r="0" t="0"/>
          <a:stretch/>
        </p:blipFill>
        <p:spPr>
          <a:xfrm>
            <a:off x="1912626" y="636360"/>
            <a:ext cx="249913" cy="117267"/>
          </a:xfrm>
          <a:prstGeom prst="rect">
            <a:avLst/>
          </a:prstGeom>
          <a:noFill/>
          <a:ln>
            <a:noFill/>
          </a:ln>
        </p:spPr>
      </p:pic>
      <p:sp>
        <p:nvSpPr>
          <p:cNvPr id="1345" name="Google Shape;1345;g3b75ff0c716_0_232"/>
          <p:cNvSpPr txBox="1"/>
          <p:nvPr/>
        </p:nvSpPr>
        <p:spPr>
          <a:xfrm>
            <a:off x="2852197" y="2600622"/>
            <a:ext cx="2908200" cy="50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Target Policy : </a:t>
            </a:r>
            <a:r>
              <a:rPr b="0" i="0" lang="en-US" sz="700" u="none" cap="none" strike="noStrike">
                <a:solidFill>
                  <a:schemeClr val="dk1"/>
                </a:solidFill>
                <a:latin typeface="Arial"/>
                <a:ea typeface="Arial"/>
                <a:cs typeface="Arial"/>
                <a:sym typeface="Arial"/>
              </a:rPr>
              <a:t>Q2 -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Behavior Policy : </a:t>
            </a:r>
            <a:r>
              <a:rPr b="0" i="0" lang="en-US" sz="700" u="none" cap="none" strike="noStrike">
                <a:solidFill>
                  <a:srgbClr val="000000"/>
                </a:solidFill>
                <a:latin typeface="Arial"/>
                <a:ea typeface="Arial"/>
                <a:cs typeface="Arial"/>
                <a:sym typeface="Arial"/>
              </a:rPr>
              <a:t>Q1-Table is available from other sources/experience/logged data. Above algorithm learns to update this as well.</a:t>
            </a:r>
            <a:endParaRPr b="1" i="0" sz="700" u="none" cap="none" strike="noStrike">
              <a:solidFill>
                <a:schemeClr val="dk1"/>
              </a:solidFill>
              <a:latin typeface="Arial"/>
              <a:ea typeface="Arial"/>
              <a:cs typeface="Arial"/>
              <a:sym typeface="Arial"/>
            </a:endParaRPr>
          </a:p>
        </p:txBody>
      </p:sp>
      <p:pic>
        <p:nvPicPr>
          <p:cNvPr id="1346" name="Google Shape;1346;g3b75ff0c716_0_232"/>
          <p:cNvPicPr preferRelativeResize="0"/>
          <p:nvPr/>
        </p:nvPicPr>
        <p:blipFill rotWithShape="1">
          <a:blip r:embed="rId9">
            <a:alphaModFix/>
          </a:blip>
          <a:srcRect b="0" l="0" r="0" t="0"/>
          <a:stretch/>
        </p:blipFill>
        <p:spPr>
          <a:xfrm>
            <a:off x="3797359" y="35192"/>
            <a:ext cx="1958532" cy="1060146"/>
          </a:xfrm>
          <a:prstGeom prst="rect">
            <a:avLst/>
          </a:prstGeom>
          <a:noFill/>
          <a:ln>
            <a:noFill/>
          </a:ln>
        </p:spPr>
      </p:pic>
      <p:sp>
        <p:nvSpPr>
          <p:cNvPr id="1347" name="Google Shape;1347;g3b75ff0c716_0_232"/>
          <p:cNvSpPr/>
          <p:nvPr/>
        </p:nvSpPr>
        <p:spPr>
          <a:xfrm>
            <a:off x="5365917" y="322469"/>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cxnSp>
        <p:nvCxnSpPr>
          <p:cNvPr id="1348" name="Google Shape;1348;g3b75ff0c716_0_232"/>
          <p:cNvCxnSpPr/>
          <p:nvPr/>
        </p:nvCxnSpPr>
        <p:spPr>
          <a:xfrm rot="-5400000">
            <a:off x="2585539" y="1579264"/>
            <a:ext cx="2316900" cy="650400"/>
          </a:xfrm>
          <a:prstGeom prst="curvedConnector3">
            <a:avLst>
              <a:gd fmla="val 50002" name="adj1"/>
            </a:avLst>
          </a:prstGeom>
          <a:noFill/>
          <a:ln cap="flat" cmpd="sng" w="9525">
            <a:solidFill>
              <a:srgbClr val="FF0000"/>
            </a:solidFill>
            <a:prstDash val="solid"/>
            <a:round/>
            <a:headEnd len="sm" w="sm" type="none"/>
            <a:tailEnd len="med" w="med" type="triangle"/>
          </a:ln>
        </p:spPr>
      </p:cxnSp>
      <p:cxnSp>
        <p:nvCxnSpPr>
          <p:cNvPr id="1349" name="Google Shape;1349;g3b75ff0c716_0_232"/>
          <p:cNvCxnSpPr/>
          <p:nvPr/>
        </p:nvCxnSpPr>
        <p:spPr>
          <a:xfrm>
            <a:off x="2162539" y="410746"/>
            <a:ext cx="16800" cy="1748400"/>
          </a:xfrm>
          <a:prstGeom prst="straightConnector1">
            <a:avLst/>
          </a:prstGeom>
          <a:noFill/>
          <a:ln cap="flat" cmpd="sng" w="9525">
            <a:solidFill>
              <a:srgbClr val="0070C0"/>
            </a:solidFill>
            <a:prstDash val="solid"/>
            <a:round/>
            <a:headEnd len="sm" w="sm" type="none"/>
            <a:tailEnd len="sm" w="sm" type="none"/>
          </a:ln>
        </p:spPr>
      </p:cxnSp>
      <p:sp>
        <p:nvSpPr>
          <p:cNvPr id="1350" name="Google Shape;1350;g3b75ff0c716_0_232"/>
          <p:cNvSpPr/>
          <p:nvPr/>
        </p:nvSpPr>
        <p:spPr>
          <a:xfrm>
            <a:off x="3694424" y="267999"/>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51" name="Google Shape;1351;g3b75ff0c716_0_232"/>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0           0         0                0</a:t>
            </a:r>
            <a:endParaRPr b="0" i="0" sz="300" u="none" cap="none" strike="noStrike">
              <a:solidFill>
                <a:srgbClr val="000000"/>
              </a:solidFill>
              <a:latin typeface="Arial"/>
              <a:ea typeface="Arial"/>
              <a:cs typeface="Arial"/>
              <a:sym typeface="Arial"/>
            </a:endParaRPr>
          </a:p>
        </p:txBody>
      </p:sp>
      <p:sp>
        <p:nvSpPr>
          <p:cNvPr id="1352" name="Google Shape;1352;g3b75ff0c716_0_232"/>
          <p:cNvSpPr txBox="1"/>
          <p:nvPr/>
        </p:nvSpPr>
        <p:spPr>
          <a:xfrm>
            <a:off x="2140174" y="80048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5             1        5           15 </a:t>
            </a:r>
            <a:endParaRPr b="1" i="0" sz="700" u="none" cap="none" strike="noStrike">
              <a:solidFill>
                <a:srgbClr val="0070C0"/>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6"/>
                                        </p:tgtEl>
                                        <p:attrNameLst>
                                          <p:attrName>style.visibility</p:attrName>
                                        </p:attrNameLst>
                                      </p:cBhvr>
                                      <p:to>
                                        <p:strVal val="visible"/>
                                      </p:to>
                                    </p:set>
                                    <p:animEffect filter="fade" transition="in">
                                      <p:cBhvr>
                                        <p:cTn dur="500"/>
                                        <p:tgtEl>
                                          <p:spTgt spid="13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pic>
        <p:nvPicPr>
          <p:cNvPr id="1357" name="Google Shape;1357;g3b75ff0c716_0_293"/>
          <p:cNvPicPr preferRelativeResize="0"/>
          <p:nvPr/>
        </p:nvPicPr>
        <p:blipFill rotWithShape="1">
          <a:blip r:embed="rId3">
            <a:alphaModFix/>
          </a:blip>
          <a:srcRect b="0" l="0" r="0" t="0"/>
          <a:stretch/>
        </p:blipFill>
        <p:spPr>
          <a:xfrm>
            <a:off x="2994214" y="410746"/>
            <a:ext cx="276927" cy="275955"/>
          </a:xfrm>
          <a:prstGeom prst="rect">
            <a:avLst/>
          </a:prstGeom>
          <a:noFill/>
          <a:ln>
            <a:noFill/>
          </a:ln>
        </p:spPr>
      </p:pic>
      <p:sp>
        <p:nvSpPr>
          <p:cNvPr id="1358" name="Google Shape;1358;g3b75ff0c716_0_293"/>
          <p:cNvSpPr/>
          <p:nvPr/>
        </p:nvSpPr>
        <p:spPr>
          <a:xfrm>
            <a:off x="2164056" y="1416916"/>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359" name="Google Shape;1359;g3b75ff0c716_0_293"/>
          <p:cNvSpPr/>
          <p:nvPr/>
        </p:nvSpPr>
        <p:spPr>
          <a:xfrm>
            <a:off x="2179296" y="1072214"/>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360" name="Google Shape;1360;g3b75ff0c716_0_293"/>
          <p:cNvSpPr/>
          <p:nvPr/>
        </p:nvSpPr>
        <p:spPr>
          <a:xfrm>
            <a:off x="2182136" y="784025"/>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361" name="Google Shape;1361;g3b75ff0c716_0_293"/>
          <p:cNvCxnSpPr/>
          <p:nvPr/>
        </p:nvCxnSpPr>
        <p:spPr>
          <a:xfrm>
            <a:off x="2764323" y="769938"/>
            <a:ext cx="0" cy="225300"/>
          </a:xfrm>
          <a:prstGeom prst="straightConnector1">
            <a:avLst/>
          </a:prstGeom>
          <a:noFill/>
          <a:ln cap="flat" cmpd="sng" w="9525">
            <a:solidFill>
              <a:schemeClr val="dk1"/>
            </a:solidFill>
            <a:prstDash val="solid"/>
            <a:round/>
            <a:headEnd len="sm" w="sm" type="none"/>
            <a:tailEnd len="sm" w="sm" type="none"/>
          </a:ln>
        </p:spPr>
      </p:cxnSp>
      <p:cxnSp>
        <p:nvCxnSpPr>
          <p:cNvPr id="1362" name="Google Shape;1362;g3b75ff0c716_0_293"/>
          <p:cNvCxnSpPr/>
          <p:nvPr/>
        </p:nvCxnSpPr>
        <p:spPr>
          <a:xfrm>
            <a:off x="2764323" y="1083652"/>
            <a:ext cx="0" cy="225300"/>
          </a:xfrm>
          <a:prstGeom prst="straightConnector1">
            <a:avLst/>
          </a:prstGeom>
          <a:noFill/>
          <a:ln cap="flat" cmpd="sng" w="9525">
            <a:solidFill>
              <a:schemeClr val="dk1"/>
            </a:solidFill>
            <a:prstDash val="solid"/>
            <a:round/>
            <a:headEnd len="sm" w="sm" type="none"/>
            <a:tailEnd len="sm" w="sm" type="none"/>
          </a:ln>
        </p:spPr>
      </p:cxnSp>
      <p:cxnSp>
        <p:nvCxnSpPr>
          <p:cNvPr id="1363" name="Google Shape;1363;g3b75ff0c716_0_293"/>
          <p:cNvCxnSpPr/>
          <p:nvPr/>
        </p:nvCxnSpPr>
        <p:spPr>
          <a:xfrm>
            <a:off x="2764323" y="1416916"/>
            <a:ext cx="0" cy="225300"/>
          </a:xfrm>
          <a:prstGeom prst="straightConnector1">
            <a:avLst/>
          </a:prstGeom>
          <a:noFill/>
          <a:ln cap="flat" cmpd="sng" w="9525">
            <a:solidFill>
              <a:schemeClr val="dk1"/>
            </a:solidFill>
            <a:prstDash val="solid"/>
            <a:round/>
            <a:headEnd len="sm" w="sm" type="none"/>
            <a:tailEnd len="sm" w="sm" type="none"/>
          </a:ln>
        </p:spPr>
      </p:cxnSp>
      <p:cxnSp>
        <p:nvCxnSpPr>
          <p:cNvPr id="1364" name="Google Shape;1364;g3b75ff0c716_0_293"/>
          <p:cNvCxnSpPr/>
          <p:nvPr/>
        </p:nvCxnSpPr>
        <p:spPr>
          <a:xfrm>
            <a:off x="3420306" y="776565"/>
            <a:ext cx="0" cy="225300"/>
          </a:xfrm>
          <a:prstGeom prst="straightConnector1">
            <a:avLst/>
          </a:prstGeom>
          <a:noFill/>
          <a:ln cap="flat" cmpd="sng" w="9525">
            <a:solidFill>
              <a:schemeClr val="dk1"/>
            </a:solidFill>
            <a:prstDash val="solid"/>
            <a:round/>
            <a:headEnd len="sm" w="sm" type="none"/>
            <a:tailEnd len="sm" w="sm" type="none"/>
          </a:ln>
        </p:spPr>
      </p:cxnSp>
      <p:cxnSp>
        <p:nvCxnSpPr>
          <p:cNvPr id="1365" name="Google Shape;1365;g3b75ff0c716_0_293"/>
          <p:cNvCxnSpPr/>
          <p:nvPr/>
        </p:nvCxnSpPr>
        <p:spPr>
          <a:xfrm>
            <a:off x="3420306" y="1090279"/>
            <a:ext cx="0" cy="225300"/>
          </a:xfrm>
          <a:prstGeom prst="straightConnector1">
            <a:avLst/>
          </a:prstGeom>
          <a:noFill/>
          <a:ln cap="flat" cmpd="sng" w="9525">
            <a:solidFill>
              <a:schemeClr val="dk1"/>
            </a:solidFill>
            <a:prstDash val="solid"/>
            <a:round/>
            <a:headEnd len="sm" w="sm" type="none"/>
            <a:tailEnd len="sm" w="sm" type="none"/>
          </a:ln>
        </p:spPr>
      </p:cxnSp>
      <p:cxnSp>
        <p:nvCxnSpPr>
          <p:cNvPr id="1366" name="Google Shape;1366;g3b75ff0c716_0_293"/>
          <p:cNvCxnSpPr/>
          <p:nvPr/>
        </p:nvCxnSpPr>
        <p:spPr>
          <a:xfrm>
            <a:off x="3420306" y="1423543"/>
            <a:ext cx="0" cy="225300"/>
          </a:xfrm>
          <a:prstGeom prst="straightConnector1">
            <a:avLst/>
          </a:prstGeom>
          <a:noFill/>
          <a:ln cap="flat" cmpd="sng" w="9525">
            <a:solidFill>
              <a:schemeClr val="dk1"/>
            </a:solidFill>
            <a:prstDash val="solid"/>
            <a:round/>
            <a:headEnd len="sm" w="sm" type="none"/>
            <a:tailEnd len="sm" w="sm" type="none"/>
          </a:ln>
        </p:spPr>
      </p:cxnSp>
      <p:pic>
        <p:nvPicPr>
          <p:cNvPr id="1367" name="Google Shape;1367;g3b75ff0c716_0_293"/>
          <p:cNvPicPr preferRelativeResize="0"/>
          <p:nvPr/>
        </p:nvPicPr>
        <p:blipFill rotWithShape="1">
          <a:blip r:embed="rId4">
            <a:alphaModFix/>
          </a:blip>
          <a:srcRect b="0" l="0" r="0" t="0"/>
          <a:stretch/>
        </p:blipFill>
        <p:spPr>
          <a:xfrm>
            <a:off x="2179296" y="646945"/>
            <a:ext cx="247568" cy="107156"/>
          </a:xfrm>
          <a:prstGeom prst="rect">
            <a:avLst/>
          </a:prstGeom>
          <a:noFill/>
          <a:ln>
            <a:noFill/>
          </a:ln>
        </p:spPr>
      </p:pic>
      <p:pic>
        <p:nvPicPr>
          <p:cNvPr id="1368" name="Google Shape;1368;g3b75ff0c716_0_293"/>
          <p:cNvPicPr preferRelativeResize="0"/>
          <p:nvPr/>
        </p:nvPicPr>
        <p:blipFill rotWithShape="1">
          <a:blip r:embed="rId5">
            <a:alphaModFix/>
          </a:blip>
          <a:srcRect b="0" l="0" r="0" t="0"/>
          <a:stretch/>
        </p:blipFill>
        <p:spPr>
          <a:xfrm>
            <a:off x="2514520" y="644550"/>
            <a:ext cx="249913" cy="117267"/>
          </a:xfrm>
          <a:prstGeom prst="rect">
            <a:avLst/>
          </a:prstGeom>
          <a:noFill/>
          <a:ln>
            <a:noFill/>
          </a:ln>
        </p:spPr>
      </p:pic>
      <p:pic>
        <p:nvPicPr>
          <p:cNvPr id="1369" name="Google Shape;1369;g3b75ff0c716_0_293"/>
          <p:cNvPicPr preferRelativeResize="0"/>
          <p:nvPr/>
        </p:nvPicPr>
        <p:blipFill rotWithShape="1">
          <a:blip r:embed="rId4">
            <a:alphaModFix/>
          </a:blip>
          <a:srcRect b="0" l="0" r="0" t="0"/>
          <a:stretch/>
        </p:blipFill>
        <p:spPr>
          <a:xfrm>
            <a:off x="2822025" y="633695"/>
            <a:ext cx="247568" cy="107156"/>
          </a:xfrm>
          <a:prstGeom prst="rect">
            <a:avLst/>
          </a:prstGeom>
          <a:noFill/>
          <a:ln>
            <a:noFill/>
          </a:ln>
        </p:spPr>
      </p:pic>
      <p:pic>
        <p:nvPicPr>
          <p:cNvPr id="1370" name="Google Shape;1370;g3b75ff0c716_0_293"/>
          <p:cNvPicPr preferRelativeResize="0"/>
          <p:nvPr/>
        </p:nvPicPr>
        <p:blipFill rotWithShape="1">
          <a:blip r:embed="rId5">
            <a:alphaModFix/>
          </a:blip>
          <a:srcRect b="0" l="0" r="0" t="0"/>
          <a:stretch/>
        </p:blipFill>
        <p:spPr>
          <a:xfrm>
            <a:off x="3157249" y="631300"/>
            <a:ext cx="249913" cy="117267"/>
          </a:xfrm>
          <a:prstGeom prst="rect">
            <a:avLst/>
          </a:prstGeom>
          <a:noFill/>
          <a:ln>
            <a:noFill/>
          </a:ln>
        </p:spPr>
      </p:pic>
      <p:pic>
        <p:nvPicPr>
          <p:cNvPr id="1371" name="Google Shape;1371;g3b75ff0c716_0_293"/>
          <p:cNvPicPr preferRelativeResize="0"/>
          <p:nvPr/>
        </p:nvPicPr>
        <p:blipFill rotWithShape="1">
          <a:blip r:embed="rId4">
            <a:alphaModFix/>
          </a:blip>
          <a:srcRect b="0" l="0" r="0" t="0"/>
          <a:stretch/>
        </p:blipFill>
        <p:spPr>
          <a:xfrm>
            <a:off x="3431619" y="633696"/>
            <a:ext cx="247568" cy="107156"/>
          </a:xfrm>
          <a:prstGeom prst="rect">
            <a:avLst/>
          </a:prstGeom>
          <a:noFill/>
          <a:ln>
            <a:noFill/>
          </a:ln>
        </p:spPr>
      </p:pic>
      <p:pic>
        <p:nvPicPr>
          <p:cNvPr id="1372" name="Google Shape;1372;g3b75ff0c716_0_293"/>
          <p:cNvPicPr preferRelativeResize="0"/>
          <p:nvPr/>
        </p:nvPicPr>
        <p:blipFill rotWithShape="1">
          <a:blip r:embed="rId5">
            <a:alphaModFix/>
          </a:blip>
          <a:srcRect b="0" l="0" r="0" t="0"/>
          <a:stretch/>
        </p:blipFill>
        <p:spPr>
          <a:xfrm>
            <a:off x="3766843" y="631301"/>
            <a:ext cx="249913" cy="117267"/>
          </a:xfrm>
          <a:prstGeom prst="rect">
            <a:avLst/>
          </a:prstGeom>
          <a:noFill/>
          <a:ln>
            <a:noFill/>
          </a:ln>
        </p:spPr>
      </p:pic>
      <p:cxnSp>
        <p:nvCxnSpPr>
          <p:cNvPr id="1373" name="Google Shape;1373;g3b75ff0c716_0_293"/>
          <p:cNvCxnSpPr/>
          <p:nvPr/>
        </p:nvCxnSpPr>
        <p:spPr>
          <a:xfrm flipH="1">
            <a:off x="2150539" y="410746"/>
            <a:ext cx="12000" cy="1516500"/>
          </a:xfrm>
          <a:prstGeom prst="straightConnector1">
            <a:avLst/>
          </a:prstGeom>
          <a:noFill/>
          <a:ln cap="flat" cmpd="sng" w="9525">
            <a:solidFill>
              <a:srgbClr val="0070C0"/>
            </a:solidFill>
            <a:prstDash val="solid"/>
            <a:round/>
            <a:headEnd len="sm" w="sm" type="none"/>
            <a:tailEnd len="sm" w="sm" type="none"/>
          </a:ln>
        </p:spPr>
      </p:cxnSp>
      <p:sp>
        <p:nvSpPr>
          <p:cNvPr id="1374" name="Google Shape;1374;g3b75ff0c716_0_293"/>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	Target		Behavior</a:t>
            </a:r>
            <a:endParaRPr/>
          </a:p>
        </p:txBody>
      </p:sp>
      <p:sp>
        <p:nvSpPr>
          <p:cNvPr id="1375" name="Google Shape;1375;g3b75ff0c716_0_293"/>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76" name="Google Shape;1376;g3b75ff0c716_0_293"/>
          <p:cNvGrpSpPr/>
          <p:nvPr/>
        </p:nvGrpSpPr>
        <p:grpSpPr>
          <a:xfrm>
            <a:off x="0" y="3109250"/>
            <a:ext cx="5760261" cy="92075"/>
            <a:chOff x="0" y="3109250"/>
            <a:chExt cx="5760261" cy="92075"/>
          </a:xfrm>
        </p:grpSpPr>
        <p:sp>
          <p:nvSpPr>
            <p:cNvPr id="1377" name="Google Shape;1377;g3b75ff0c716_0_293"/>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g3b75ff0c716_0_293"/>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g3b75ff0c716_0_293"/>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80" name="Google Shape;1380;g3b75ff0c716_0_293"/>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381" name="Google Shape;1381;g3b75ff0c716_0_293"/>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1382" name="Google Shape;1382;g3b75ff0c716_0_293"/>
          <p:cNvPicPr preferRelativeResize="0"/>
          <p:nvPr/>
        </p:nvPicPr>
        <p:blipFill rotWithShape="1">
          <a:blip r:embed="rId6">
            <a:alphaModFix/>
          </a:blip>
          <a:srcRect b="0" l="0" r="0" t="0"/>
          <a:stretch/>
        </p:blipFill>
        <p:spPr>
          <a:xfrm>
            <a:off x="485263" y="408737"/>
            <a:ext cx="253340" cy="263412"/>
          </a:xfrm>
          <a:prstGeom prst="rect">
            <a:avLst/>
          </a:prstGeom>
          <a:noFill/>
          <a:ln>
            <a:noFill/>
          </a:ln>
        </p:spPr>
      </p:pic>
      <p:pic>
        <p:nvPicPr>
          <p:cNvPr id="1383" name="Google Shape;1383;g3b75ff0c716_0_293"/>
          <p:cNvPicPr preferRelativeResize="0"/>
          <p:nvPr/>
        </p:nvPicPr>
        <p:blipFill rotWithShape="1">
          <a:blip r:embed="rId7">
            <a:alphaModFix/>
          </a:blip>
          <a:srcRect b="0" l="0" r="0" t="0"/>
          <a:stretch/>
        </p:blipFill>
        <p:spPr>
          <a:xfrm>
            <a:off x="1742348" y="375332"/>
            <a:ext cx="268790" cy="301041"/>
          </a:xfrm>
          <a:prstGeom prst="rect">
            <a:avLst/>
          </a:prstGeom>
          <a:noFill/>
          <a:ln>
            <a:noFill/>
          </a:ln>
        </p:spPr>
      </p:pic>
      <p:pic>
        <p:nvPicPr>
          <p:cNvPr id="1384" name="Google Shape;1384;g3b75ff0c716_0_293"/>
          <p:cNvPicPr preferRelativeResize="0"/>
          <p:nvPr/>
        </p:nvPicPr>
        <p:blipFill rotWithShape="1">
          <a:blip r:embed="rId3">
            <a:alphaModFix/>
          </a:blip>
          <a:srcRect b="0" l="0" r="0" t="0"/>
          <a:stretch/>
        </p:blipFill>
        <p:spPr>
          <a:xfrm>
            <a:off x="1139997" y="415805"/>
            <a:ext cx="276927" cy="275955"/>
          </a:xfrm>
          <a:prstGeom prst="rect">
            <a:avLst/>
          </a:prstGeom>
          <a:noFill/>
          <a:ln>
            <a:noFill/>
          </a:ln>
        </p:spPr>
      </p:pic>
      <p:sp>
        <p:nvSpPr>
          <p:cNvPr id="1385" name="Google Shape;1385;g3b75ff0c716_0_293"/>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386" name="Google Shape;1386;g3b75ff0c716_0_293"/>
          <p:cNvPicPr preferRelativeResize="0"/>
          <p:nvPr/>
        </p:nvPicPr>
        <p:blipFill rotWithShape="1">
          <a:blip r:embed="rId8">
            <a:alphaModFix/>
          </a:blip>
          <a:srcRect b="0" l="0" r="0" t="0"/>
          <a:stretch/>
        </p:blipFill>
        <p:spPr>
          <a:xfrm>
            <a:off x="4069116" y="1789961"/>
            <a:ext cx="1640171" cy="889000"/>
          </a:xfrm>
          <a:prstGeom prst="rect">
            <a:avLst/>
          </a:prstGeom>
          <a:noFill/>
          <a:ln>
            <a:noFill/>
          </a:ln>
        </p:spPr>
      </p:pic>
      <p:sp>
        <p:nvSpPr>
          <p:cNvPr id="1387" name="Google Shape;1387;g3b75ff0c716_0_293"/>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388" name="Google Shape;1388;g3b75ff0c716_0_293"/>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389" name="Google Shape;1389;g3b75ff0c716_0_293"/>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390" name="Google Shape;1390;g3b75ff0c716_0_293"/>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391" name="Google Shape;1391;g3b75ff0c716_0_293"/>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392" name="Google Shape;1392;g3b75ff0c716_0_293"/>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393" name="Google Shape;1393;g3b75ff0c716_0_293"/>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394" name="Google Shape;1394;g3b75ff0c716_0_293"/>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395" name="Google Shape;1395;g3b75ff0c716_0_293"/>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396" name="Google Shape;1396;g3b75ff0c716_0_293"/>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397" name="Google Shape;1397;g3b75ff0c716_0_293"/>
          <p:cNvPicPr preferRelativeResize="0"/>
          <p:nvPr/>
        </p:nvPicPr>
        <p:blipFill rotWithShape="1">
          <a:blip r:embed="rId4">
            <a:alphaModFix/>
          </a:blip>
          <a:srcRect b="0" l="0" r="0" t="0"/>
          <a:stretch/>
        </p:blipFill>
        <p:spPr>
          <a:xfrm>
            <a:off x="325079" y="652004"/>
            <a:ext cx="247568" cy="107156"/>
          </a:xfrm>
          <a:prstGeom prst="rect">
            <a:avLst/>
          </a:prstGeom>
          <a:noFill/>
          <a:ln>
            <a:noFill/>
          </a:ln>
        </p:spPr>
      </p:pic>
      <p:pic>
        <p:nvPicPr>
          <p:cNvPr id="1398" name="Google Shape;1398;g3b75ff0c716_0_293"/>
          <p:cNvPicPr preferRelativeResize="0"/>
          <p:nvPr/>
        </p:nvPicPr>
        <p:blipFill rotWithShape="1">
          <a:blip r:embed="rId5">
            <a:alphaModFix/>
          </a:blip>
          <a:srcRect b="0" l="0" r="0" t="0"/>
          <a:stretch/>
        </p:blipFill>
        <p:spPr>
          <a:xfrm>
            <a:off x="660303" y="649609"/>
            <a:ext cx="249913" cy="117267"/>
          </a:xfrm>
          <a:prstGeom prst="rect">
            <a:avLst/>
          </a:prstGeom>
          <a:noFill/>
          <a:ln>
            <a:noFill/>
          </a:ln>
        </p:spPr>
      </p:pic>
      <p:pic>
        <p:nvPicPr>
          <p:cNvPr id="1399" name="Google Shape;1399;g3b75ff0c716_0_293"/>
          <p:cNvPicPr preferRelativeResize="0"/>
          <p:nvPr/>
        </p:nvPicPr>
        <p:blipFill rotWithShape="1">
          <a:blip r:embed="rId4">
            <a:alphaModFix/>
          </a:blip>
          <a:srcRect b="0" l="0" r="0" t="0"/>
          <a:stretch/>
        </p:blipFill>
        <p:spPr>
          <a:xfrm>
            <a:off x="967808" y="638754"/>
            <a:ext cx="247568" cy="107156"/>
          </a:xfrm>
          <a:prstGeom prst="rect">
            <a:avLst/>
          </a:prstGeom>
          <a:noFill/>
          <a:ln>
            <a:noFill/>
          </a:ln>
        </p:spPr>
      </p:pic>
      <p:pic>
        <p:nvPicPr>
          <p:cNvPr id="1400" name="Google Shape;1400;g3b75ff0c716_0_293"/>
          <p:cNvPicPr preferRelativeResize="0"/>
          <p:nvPr/>
        </p:nvPicPr>
        <p:blipFill rotWithShape="1">
          <a:blip r:embed="rId5">
            <a:alphaModFix/>
          </a:blip>
          <a:srcRect b="0" l="0" r="0" t="0"/>
          <a:stretch/>
        </p:blipFill>
        <p:spPr>
          <a:xfrm>
            <a:off x="1303032" y="636359"/>
            <a:ext cx="249913" cy="117267"/>
          </a:xfrm>
          <a:prstGeom prst="rect">
            <a:avLst/>
          </a:prstGeom>
          <a:noFill/>
          <a:ln>
            <a:noFill/>
          </a:ln>
        </p:spPr>
      </p:pic>
      <p:pic>
        <p:nvPicPr>
          <p:cNvPr id="1401" name="Google Shape;1401;g3b75ff0c716_0_293"/>
          <p:cNvPicPr preferRelativeResize="0"/>
          <p:nvPr/>
        </p:nvPicPr>
        <p:blipFill rotWithShape="1">
          <a:blip r:embed="rId4">
            <a:alphaModFix/>
          </a:blip>
          <a:srcRect b="0" l="0" r="0" t="0"/>
          <a:stretch/>
        </p:blipFill>
        <p:spPr>
          <a:xfrm>
            <a:off x="1577402" y="638755"/>
            <a:ext cx="247568" cy="107156"/>
          </a:xfrm>
          <a:prstGeom prst="rect">
            <a:avLst/>
          </a:prstGeom>
          <a:noFill/>
          <a:ln>
            <a:noFill/>
          </a:ln>
        </p:spPr>
      </p:pic>
      <p:pic>
        <p:nvPicPr>
          <p:cNvPr id="1402" name="Google Shape;1402;g3b75ff0c716_0_293"/>
          <p:cNvPicPr preferRelativeResize="0"/>
          <p:nvPr/>
        </p:nvPicPr>
        <p:blipFill rotWithShape="1">
          <a:blip r:embed="rId5">
            <a:alphaModFix/>
          </a:blip>
          <a:srcRect b="0" l="0" r="0" t="0"/>
          <a:stretch/>
        </p:blipFill>
        <p:spPr>
          <a:xfrm>
            <a:off x="1912626" y="636360"/>
            <a:ext cx="249913" cy="117267"/>
          </a:xfrm>
          <a:prstGeom prst="rect">
            <a:avLst/>
          </a:prstGeom>
          <a:noFill/>
          <a:ln>
            <a:noFill/>
          </a:ln>
        </p:spPr>
      </p:pic>
      <p:sp>
        <p:nvSpPr>
          <p:cNvPr id="1403" name="Google Shape;1403;g3b75ff0c716_0_293"/>
          <p:cNvSpPr txBox="1"/>
          <p:nvPr/>
        </p:nvSpPr>
        <p:spPr>
          <a:xfrm>
            <a:off x="2852197" y="2600622"/>
            <a:ext cx="2908200" cy="50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Target Policy : </a:t>
            </a:r>
            <a:r>
              <a:rPr b="0" i="0" lang="en-US" sz="700" u="none" cap="none" strike="noStrike">
                <a:solidFill>
                  <a:schemeClr val="dk1"/>
                </a:solidFill>
                <a:latin typeface="Arial"/>
                <a:ea typeface="Arial"/>
                <a:cs typeface="Arial"/>
                <a:sym typeface="Arial"/>
              </a:rPr>
              <a:t>Q2 -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Behavior Policy : </a:t>
            </a:r>
            <a:r>
              <a:rPr b="0" i="0" lang="en-US" sz="700" u="none" cap="none" strike="noStrike">
                <a:solidFill>
                  <a:srgbClr val="000000"/>
                </a:solidFill>
                <a:latin typeface="Arial"/>
                <a:ea typeface="Arial"/>
                <a:cs typeface="Arial"/>
                <a:sym typeface="Arial"/>
              </a:rPr>
              <a:t>Q1-Table is available from other sources/experience/logged data. Above algorithm learns to update this as well.</a:t>
            </a:r>
            <a:endParaRPr b="1" i="0" sz="700" u="none" cap="none" strike="noStrike">
              <a:solidFill>
                <a:schemeClr val="dk1"/>
              </a:solidFill>
              <a:latin typeface="Arial"/>
              <a:ea typeface="Arial"/>
              <a:cs typeface="Arial"/>
              <a:sym typeface="Arial"/>
            </a:endParaRPr>
          </a:p>
        </p:txBody>
      </p:sp>
      <p:sp>
        <p:nvSpPr>
          <p:cNvPr id="1404" name="Google Shape;1404;g3b75ff0c716_0_293"/>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g3b75ff0c716_0_293"/>
          <p:cNvSpPr txBox="1"/>
          <p:nvPr/>
        </p:nvSpPr>
        <p:spPr>
          <a:xfrm>
            <a:off x="82600" y="1717926"/>
            <a:ext cx="4248000" cy="11967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Q2(C,F)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0 + 0.8 [2+ (0.9*</a:t>
            </a:r>
            <a:r>
              <a:rPr b="1" i="0" lang="en-US" sz="700" u="none" cap="none" strike="noStrike">
                <a:solidFill>
                  <a:srgbClr val="FF0000"/>
                </a:solidFill>
                <a:latin typeface="Arial"/>
                <a:ea typeface="Arial"/>
                <a:cs typeface="Arial"/>
                <a:sym typeface="Arial"/>
              </a:rPr>
              <a:t> Q1(W, ARGMAX{Q2(W,S),Q2(W,F)}) </a:t>
            </a:r>
            <a:r>
              <a:rPr b="1" i="0" lang="en-US" sz="7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0 + 0.8 [2+ (0.9*</a:t>
            </a:r>
            <a:r>
              <a:rPr b="1" i="0" lang="en-US" sz="700" u="none" cap="none" strike="noStrike">
                <a:solidFill>
                  <a:srgbClr val="FF0000"/>
                </a:solidFill>
                <a:latin typeface="Arial"/>
                <a:ea typeface="Arial"/>
                <a:cs typeface="Arial"/>
                <a:sym typeface="Arial"/>
              </a:rPr>
              <a:t> Q1(W, F</a:t>
            </a:r>
            <a:r>
              <a:rPr b="1" i="0" lang="en-US" sz="700" u="none" cap="none" strike="noStrike">
                <a:solidFill>
                  <a:schemeClr val="dk1"/>
                </a:solidFill>
                <a:latin typeface="Arial"/>
                <a:ea typeface="Arial"/>
                <a:cs typeface="Arial"/>
                <a:sym typeface="Arial"/>
              </a:rPr>
              <a:t>)-0]   </a:t>
            </a:r>
            <a:r>
              <a:rPr b="0" i="1" lang="en-US" sz="700" u="none" cap="none" strike="noStrike">
                <a:solidFill>
                  <a:srgbClr val="0070C0"/>
                </a:solidFill>
                <a:latin typeface="Arial"/>
                <a:ea typeface="Arial"/>
                <a:cs typeface="Arial"/>
                <a:sym typeface="Arial"/>
              </a:rPr>
              <a:t>#Here both S &amp; F had same values hence randomly “F” is chosen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0 + 0.8 [2+ (0.9*</a:t>
            </a:r>
            <a:r>
              <a:rPr b="1" i="0" lang="en-US" sz="700" u="none" cap="none" strike="noStrike">
                <a:solidFill>
                  <a:srgbClr val="FF0000"/>
                </a:solidFill>
                <a:latin typeface="Arial"/>
                <a:ea typeface="Arial"/>
                <a:cs typeface="Arial"/>
                <a:sym typeface="Arial"/>
              </a:rPr>
              <a:t> 5) </a:t>
            </a:r>
            <a:r>
              <a:rPr b="1" i="0" lang="en-US" sz="700" u="none" cap="none" strike="noStrike">
                <a:solidFill>
                  <a:schemeClr val="dk1"/>
                </a:solidFill>
                <a:latin typeface="Arial"/>
                <a:ea typeface="Arial"/>
                <a:cs typeface="Arial"/>
                <a:sym typeface="Arial"/>
              </a:rPr>
              <a:t>- 0]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5.2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406" name="Google Shape;1406;g3b75ff0c716_0_293"/>
          <p:cNvSpPr/>
          <p:nvPr/>
        </p:nvSpPr>
        <p:spPr>
          <a:xfrm>
            <a:off x="514351" y="1717925"/>
            <a:ext cx="453600" cy="1458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07" name="Google Shape;1407;g3b75ff0c716_0_293"/>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pic>
        <p:nvPicPr>
          <p:cNvPr id="1408" name="Google Shape;1408;g3b75ff0c716_0_293"/>
          <p:cNvPicPr preferRelativeResize="0"/>
          <p:nvPr/>
        </p:nvPicPr>
        <p:blipFill rotWithShape="1">
          <a:blip r:embed="rId9">
            <a:alphaModFix/>
          </a:blip>
          <a:srcRect b="0" l="0" r="0" t="0"/>
          <a:stretch/>
        </p:blipFill>
        <p:spPr>
          <a:xfrm>
            <a:off x="3797359" y="35192"/>
            <a:ext cx="1958532" cy="1060146"/>
          </a:xfrm>
          <a:prstGeom prst="rect">
            <a:avLst/>
          </a:prstGeom>
          <a:noFill/>
          <a:ln>
            <a:noFill/>
          </a:ln>
        </p:spPr>
      </p:pic>
      <p:sp>
        <p:nvSpPr>
          <p:cNvPr id="1409" name="Google Shape;1409;g3b75ff0c716_0_293"/>
          <p:cNvSpPr/>
          <p:nvPr/>
        </p:nvSpPr>
        <p:spPr>
          <a:xfrm>
            <a:off x="5365917" y="322469"/>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410" name="Google Shape;1410;g3b75ff0c716_0_293"/>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Calibri"/>
                <a:ea typeface="Calibri"/>
                <a:cs typeface="Calibri"/>
                <a:sym typeface="Calibri"/>
              </a:rPr>
              <a:t>5.2</a:t>
            </a:r>
            <a:r>
              <a:rPr b="0" i="0" lang="en-US" sz="800" u="none" cap="none" strike="noStrike">
                <a:solidFill>
                  <a:schemeClr val="dk1"/>
                </a:solidFill>
                <a:latin typeface="Calibri"/>
                <a:ea typeface="Calibri"/>
                <a:cs typeface="Calibri"/>
                <a:sym typeface="Calibri"/>
              </a:rPr>
              <a:t>          0         0                0</a:t>
            </a:r>
            <a:endParaRPr b="0" i="0" sz="300" u="none" cap="none" strike="noStrike">
              <a:solidFill>
                <a:srgbClr val="000000"/>
              </a:solidFill>
              <a:latin typeface="Arial"/>
              <a:ea typeface="Arial"/>
              <a:cs typeface="Arial"/>
              <a:sym typeface="Arial"/>
            </a:endParaRPr>
          </a:p>
        </p:txBody>
      </p:sp>
      <p:sp>
        <p:nvSpPr>
          <p:cNvPr id="1411" name="Google Shape;1411;g3b75ff0c716_0_293"/>
          <p:cNvSpPr txBox="1"/>
          <p:nvPr/>
        </p:nvSpPr>
        <p:spPr>
          <a:xfrm>
            <a:off x="2140174" y="80048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5             1        5           15 </a:t>
            </a:r>
            <a:endParaRPr b="1" i="0" sz="700" u="none" cap="none" strike="noStrike">
              <a:solidFill>
                <a:srgbClr val="0070C0"/>
              </a:solidFill>
              <a:latin typeface="Arial"/>
              <a:ea typeface="Arial"/>
              <a:cs typeface="Arial"/>
              <a:sym typeface="Arial"/>
            </a:endParaRPr>
          </a:p>
        </p:txBody>
      </p:sp>
      <p:sp>
        <p:nvSpPr>
          <p:cNvPr id="1412" name="Google Shape;1412;g3b75ff0c716_0_293"/>
          <p:cNvSpPr/>
          <p:nvPr/>
        </p:nvSpPr>
        <p:spPr>
          <a:xfrm>
            <a:off x="3852707" y="856757"/>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13" name="Google Shape;1413;g3b75ff0c716_0_293"/>
          <p:cNvSpPr/>
          <p:nvPr/>
        </p:nvSpPr>
        <p:spPr>
          <a:xfrm>
            <a:off x="3786641" y="54755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gtEl>
                                        <p:attrNameLst>
                                          <p:attrName>style.visibility</p:attrName>
                                        </p:attrNameLst>
                                      </p:cBhvr>
                                      <p:to>
                                        <p:strVal val="visible"/>
                                      </p:to>
                                    </p:set>
                                    <p:animEffect filter="fade" transition="in">
                                      <p:cBhvr>
                                        <p:cTn dur="500"/>
                                        <p:tgtEl>
                                          <p:spTgt spid="1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pic>
        <p:nvPicPr>
          <p:cNvPr id="1418" name="Google Shape;1418;g3b75ff0c716_0_353"/>
          <p:cNvPicPr preferRelativeResize="0"/>
          <p:nvPr/>
        </p:nvPicPr>
        <p:blipFill rotWithShape="1">
          <a:blip r:embed="rId3">
            <a:alphaModFix/>
          </a:blip>
          <a:srcRect b="0" l="0" r="0" t="0"/>
          <a:stretch/>
        </p:blipFill>
        <p:spPr>
          <a:xfrm>
            <a:off x="2994214" y="410746"/>
            <a:ext cx="276927" cy="275955"/>
          </a:xfrm>
          <a:prstGeom prst="rect">
            <a:avLst/>
          </a:prstGeom>
          <a:noFill/>
          <a:ln>
            <a:noFill/>
          </a:ln>
        </p:spPr>
      </p:pic>
      <p:sp>
        <p:nvSpPr>
          <p:cNvPr id="1419" name="Google Shape;1419;g3b75ff0c716_0_353"/>
          <p:cNvSpPr/>
          <p:nvPr/>
        </p:nvSpPr>
        <p:spPr>
          <a:xfrm>
            <a:off x="2164056" y="1416916"/>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420" name="Google Shape;1420;g3b75ff0c716_0_353"/>
          <p:cNvSpPr/>
          <p:nvPr/>
        </p:nvSpPr>
        <p:spPr>
          <a:xfrm>
            <a:off x="2179296" y="1072214"/>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421" name="Google Shape;1421;g3b75ff0c716_0_353"/>
          <p:cNvSpPr/>
          <p:nvPr/>
        </p:nvSpPr>
        <p:spPr>
          <a:xfrm>
            <a:off x="2182136" y="784025"/>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422" name="Google Shape;1422;g3b75ff0c716_0_353"/>
          <p:cNvCxnSpPr/>
          <p:nvPr/>
        </p:nvCxnSpPr>
        <p:spPr>
          <a:xfrm>
            <a:off x="2764323" y="769938"/>
            <a:ext cx="0" cy="225300"/>
          </a:xfrm>
          <a:prstGeom prst="straightConnector1">
            <a:avLst/>
          </a:prstGeom>
          <a:noFill/>
          <a:ln cap="flat" cmpd="sng" w="9525">
            <a:solidFill>
              <a:schemeClr val="dk1"/>
            </a:solidFill>
            <a:prstDash val="solid"/>
            <a:round/>
            <a:headEnd len="sm" w="sm" type="none"/>
            <a:tailEnd len="sm" w="sm" type="none"/>
          </a:ln>
        </p:spPr>
      </p:cxnSp>
      <p:cxnSp>
        <p:nvCxnSpPr>
          <p:cNvPr id="1423" name="Google Shape;1423;g3b75ff0c716_0_353"/>
          <p:cNvCxnSpPr/>
          <p:nvPr/>
        </p:nvCxnSpPr>
        <p:spPr>
          <a:xfrm>
            <a:off x="2764323" y="1083652"/>
            <a:ext cx="0" cy="225300"/>
          </a:xfrm>
          <a:prstGeom prst="straightConnector1">
            <a:avLst/>
          </a:prstGeom>
          <a:noFill/>
          <a:ln cap="flat" cmpd="sng" w="9525">
            <a:solidFill>
              <a:schemeClr val="dk1"/>
            </a:solidFill>
            <a:prstDash val="solid"/>
            <a:round/>
            <a:headEnd len="sm" w="sm" type="none"/>
            <a:tailEnd len="sm" w="sm" type="none"/>
          </a:ln>
        </p:spPr>
      </p:cxnSp>
      <p:cxnSp>
        <p:nvCxnSpPr>
          <p:cNvPr id="1424" name="Google Shape;1424;g3b75ff0c716_0_353"/>
          <p:cNvCxnSpPr/>
          <p:nvPr/>
        </p:nvCxnSpPr>
        <p:spPr>
          <a:xfrm>
            <a:off x="2764323" y="1416916"/>
            <a:ext cx="0" cy="225300"/>
          </a:xfrm>
          <a:prstGeom prst="straightConnector1">
            <a:avLst/>
          </a:prstGeom>
          <a:noFill/>
          <a:ln cap="flat" cmpd="sng" w="9525">
            <a:solidFill>
              <a:schemeClr val="dk1"/>
            </a:solidFill>
            <a:prstDash val="solid"/>
            <a:round/>
            <a:headEnd len="sm" w="sm" type="none"/>
            <a:tailEnd len="sm" w="sm" type="none"/>
          </a:ln>
        </p:spPr>
      </p:cxnSp>
      <p:cxnSp>
        <p:nvCxnSpPr>
          <p:cNvPr id="1425" name="Google Shape;1425;g3b75ff0c716_0_353"/>
          <p:cNvCxnSpPr/>
          <p:nvPr/>
        </p:nvCxnSpPr>
        <p:spPr>
          <a:xfrm>
            <a:off x="3420306" y="776565"/>
            <a:ext cx="0" cy="225300"/>
          </a:xfrm>
          <a:prstGeom prst="straightConnector1">
            <a:avLst/>
          </a:prstGeom>
          <a:noFill/>
          <a:ln cap="flat" cmpd="sng" w="9525">
            <a:solidFill>
              <a:schemeClr val="dk1"/>
            </a:solidFill>
            <a:prstDash val="solid"/>
            <a:round/>
            <a:headEnd len="sm" w="sm" type="none"/>
            <a:tailEnd len="sm" w="sm" type="none"/>
          </a:ln>
        </p:spPr>
      </p:cxnSp>
      <p:cxnSp>
        <p:nvCxnSpPr>
          <p:cNvPr id="1426" name="Google Shape;1426;g3b75ff0c716_0_353"/>
          <p:cNvCxnSpPr/>
          <p:nvPr/>
        </p:nvCxnSpPr>
        <p:spPr>
          <a:xfrm>
            <a:off x="3420306" y="1090279"/>
            <a:ext cx="0" cy="225300"/>
          </a:xfrm>
          <a:prstGeom prst="straightConnector1">
            <a:avLst/>
          </a:prstGeom>
          <a:noFill/>
          <a:ln cap="flat" cmpd="sng" w="9525">
            <a:solidFill>
              <a:schemeClr val="dk1"/>
            </a:solidFill>
            <a:prstDash val="solid"/>
            <a:round/>
            <a:headEnd len="sm" w="sm" type="none"/>
            <a:tailEnd len="sm" w="sm" type="none"/>
          </a:ln>
        </p:spPr>
      </p:cxnSp>
      <p:cxnSp>
        <p:nvCxnSpPr>
          <p:cNvPr id="1427" name="Google Shape;1427;g3b75ff0c716_0_353"/>
          <p:cNvCxnSpPr/>
          <p:nvPr/>
        </p:nvCxnSpPr>
        <p:spPr>
          <a:xfrm>
            <a:off x="3420306" y="1423543"/>
            <a:ext cx="0" cy="225300"/>
          </a:xfrm>
          <a:prstGeom prst="straightConnector1">
            <a:avLst/>
          </a:prstGeom>
          <a:noFill/>
          <a:ln cap="flat" cmpd="sng" w="9525">
            <a:solidFill>
              <a:schemeClr val="dk1"/>
            </a:solidFill>
            <a:prstDash val="solid"/>
            <a:round/>
            <a:headEnd len="sm" w="sm" type="none"/>
            <a:tailEnd len="sm" w="sm" type="none"/>
          </a:ln>
        </p:spPr>
      </p:cxnSp>
      <p:pic>
        <p:nvPicPr>
          <p:cNvPr id="1428" name="Google Shape;1428;g3b75ff0c716_0_353"/>
          <p:cNvPicPr preferRelativeResize="0"/>
          <p:nvPr/>
        </p:nvPicPr>
        <p:blipFill rotWithShape="1">
          <a:blip r:embed="rId4">
            <a:alphaModFix/>
          </a:blip>
          <a:srcRect b="0" l="0" r="0" t="0"/>
          <a:stretch/>
        </p:blipFill>
        <p:spPr>
          <a:xfrm>
            <a:off x="2179296" y="646945"/>
            <a:ext cx="247568" cy="107156"/>
          </a:xfrm>
          <a:prstGeom prst="rect">
            <a:avLst/>
          </a:prstGeom>
          <a:noFill/>
          <a:ln>
            <a:noFill/>
          </a:ln>
        </p:spPr>
      </p:pic>
      <p:pic>
        <p:nvPicPr>
          <p:cNvPr id="1429" name="Google Shape;1429;g3b75ff0c716_0_353"/>
          <p:cNvPicPr preferRelativeResize="0"/>
          <p:nvPr/>
        </p:nvPicPr>
        <p:blipFill rotWithShape="1">
          <a:blip r:embed="rId5">
            <a:alphaModFix/>
          </a:blip>
          <a:srcRect b="0" l="0" r="0" t="0"/>
          <a:stretch/>
        </p:blipFill>
        <p:spPr>
          <a:xfrm>
            <a:off x="2514520" y="644550"/>
            <a:ext cx="249913" cy="117267"/>
          </a:xfrm>
          <a:prstGeom prst="rect">
            <a:avLst/>
          </a:prstGeom>
          <a:noFill/>
          <a:ln>
            <a:noFill/>
          </a:ln>
        </p:spPr>
      </p:pic>
      <p:pic>
        <p:nvPicPr>
          <p:cNvPr id="1430" name="Google Shape;1430;g3b75ff0c716_0_353"/>
          <p:cNvPicPr preferRelativeResize="0"/>
          <p:nvPr/>
        </p:nvPicPr>
        <p:blipFill rotWithShape="1">
          <a:blip r:embed="rId4">
            <a:alphaModFix/>
          </a:blip>
          <a:srcRect b="0" l="0" r="0" t="0"/>
          <a:stretch/>
        </p:blipFill>
        <p:spPr>
          <a:xfrm>
            <a:off x="2822025" y="633695"/>
            <a:ext cx="247568" cy="107156"/>
          </a:xfrm>
          <a:prstGeom prst="rect">
            <a:avLst/>
          </a:prstGeom>
          <a:noFill/>
          <a:ln>
            <a:noFill/>
          </a:ln>
        </p:spPr>
      </p:pic>
      <p:pic>
        <p:nvPicPr>
          <p:cNvPr id="1431" name="Google Shape;1431;g3b75ff0c716_0_353"/>
          <p:cNvPicPr preferRelativeResize="0"/>
          <p:nvPr/>
        </p:nvPicPr>
        <p:blipFill rotWithShape="1">
          <a:blip r:embed="rId5">
            <a:alphaModFix/>
          </a:blip>
          <a:srcRect b="0" l="0" r="0" t="0"/>
          <a:stretch/>
        </p:blipFill>
        <p:spPr>
          <a:xfrm>
            <a:off x="3157249" y="631300"/>
            <a:ext cx="249913" cy="117267"/>
          </a:xfrm>
          <a:prstGeom prst="rect">
            <a:avLst/>
          </a:prstGeom>
          <a:noFill/>
          <a:ln>
            <a:noFill/>
          </a:ln>
        </p:spPr>
      </p:pic>
      <p:pic>
        <p:nvPicPr>
          <p:cNvPr id="1432" name="Google Shape;1432;g3b75ff0c716_0_353"/>
          <p:cNvPicPr preferRelativeResize="0"/>
          <p:nvPr/>
        </p:nvPicPr>
        <p:blipFill rotWithShape="1">
          <a:blip r:embed="rId4">
            <a:alphaModFix/>
          </a:blip>
          <a:srcRect b="0" l="0" r="0" t="0"/>
          <a:stretch/>
        </p:blipFill>
        <p:spPr>
          <a:xfrm>
            <a:off x="3431619" y="633696"/>
            <a:ext cx="247568" cy="107156"/>
          </a:xfrm>
          <a:prstGeom prst="rect">
            <a:avLst/>
          </a:prstGeom>
          <a:noFill/>
          <a:ln>
            <a:noFill/>
          </a:ln>
        </p:spPr>
      </p:pic>
      <p:pic>
        <p:nvPicPr>
          <p:cNvPr id="1433" name="Google Shape;1433;g3b75ff0c716_0_353"/>
          <p:cNvPicPr preferRelativeResize="0"/>
          <p:nvPr/>
        </p:nvPicPr>
        <p:blipFill rotWithShape="1">
          <a:blip r:embed="rId5">
            <a:alphaModFix/>
          </a:blip>
          <a:srcRect b="0" l="0" r="0" t="0"/>
          <a:stretch/>
        </p:blipFill>
        <p:spPr>
          <a:xfrm>
            <a:off x="3766843" y="631301"/>
            <a:ext cx="249913" cy="117267"/>
          </a:xfrm>
          <a:prstGeom prst="rect">
            <a:avLst/>
          </a:prstGeom>
          <a:noFill/>
          <a:ln>
            <a:noFill/>
          </a:ln>
        </p:spPr>
      </p:pic>
      <p:cxnSp>
        <p:nvCxnSpPr>
          <p:cNvPr id="1434" name="Google Shape;1434;g3b75ff0c716_0_353"/>
          <p:cNvCxnSpPr/>
          <p:nvPr/>
        </p:nvCxnSpPr>
        <p:spPr>
          <a:xfrm>
            <a:off x="2162539" y="410746"/>
            <a:ext cx="13500" cy="1452900"/>
          </a:xfrm>
          <a:prstGeom prst="straightConnector1">
            <a:avLst/>
          </a:prstGeom>
          <a:noFill/>
          <a:ln cap="flat" cmpd="sng" w="9525">
            <a:solidFill>
              <a:srgbClr val="0070C0"/>
            </a:solidFill>
            <a:prstDash val="solid"/>
            <a:round/>
            <a:headEnd len="sm" w="sm" type="none"/>
            <a:tailEnd len="sm" w="sm" type="none"/>
          </a:ln>
        </p:spPr>
      </p:cxnSp>
      <p:sp>
        <p:nvSpPr>
          <p:cNvPr id="1435" name="Google Shape;1435;g3b75ff0c716_0_353"/>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	Target		Behavior</a:t>
            </a:r>
            <a:endParaRPr/>
          </a:p>
        </p:txBody>
      </p:sp>
      <p:sp>
        <p:nvSpPr>
          <p:cNvPr id="1436" name="Google Shape;1436;g3b75ff0c716_0_353"/>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37" name="Google Shape;1437;g3b75ff0c716_0_353"/>
          <p:cNvGrpSpPr/>
          <p:nvPr/>
        </p:nvGrpSpPr>
        <p:grpSpPr>
          <a:xfrm>
            <a:off x="0" y="3109250"/>
            <a:ext cx="5760261" cy="92075"/>
            <a:chOff x="0" y="3109250"/>
            <a:chExt cx="5760261" cy="92075"/>
          </a:xfrm>
        </p:grpSpPr>
        <p:sp>
          <p:nvSpPr>
            <p:cNvPr id="1438" name="Google Shape;1438;g3b75ff0c716_0_353"/>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g3b75ff0c716_0_353"/>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g3b75ff0c716_0_353"/>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41" name="Google Shape;1441;g3b75ff0c716_0_353"/>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442" name="Google Shape;1442;g3b75ff0c716_0_353"/>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r>
              <a:rPr lang="en-US"/>
              <a:t> </a:t>
            </a:r>
            <a:endParaRPr/>
          </a:p>
        </p:txBody>
      </p:sp>
      <p:pic>
        <p:nvPicPr>
          <p:cNvPr id="1443" name="Google Shape;1443;g3b75ff0c716_0_353"/>
          <p:cNvPicPr preferRelativeResize="0"/>
          <p:nvPr/>
        </p:nvPicPr>
        <p:blipFill rotWithShape="1">
          <a:blip r:embed="rId6">
            <a:alphaModFix/>
          </a:blip>
          <a:srcRect b="0" l="0" r="0" t="0"/>
          <a:stretch/>
        </p:blipFill>
        <p:spPr>
          <a:xfrm>
            <a:off x="485263" y="408737"/>
            <a:ext cx="253340" cy="263412"/>
          </a:xfrm>
          <a:prstGeom prst="rect">
            <a:avLst/>
          </a:prstGeom>
          <a:noFill/>
          <a:ln>
            <a:noFill/>
          </a:ln>
        </p:spPr>
      </p:pic>
      <p:pic>
        <p:nvPicPr>
          <p:cNvPr id="1444" name="Google Shape;1444;g3b75ff0c716_0_353"/>
          <p:cNvPicPr preferRelativeResize="0"/>
          <p:nvPr/>
        </p:nvPicPr>
        <p:blipFill rotWithShape="1">
          <a:blip r:embed="rId7">
            <a:alphaModFix/>
          </a:blip>
          <a:srcRect b="0" l="0" r="0" t="0"/>
          <a:stretch/>
        </p:blipFill>
        <p:spPr>
          <a:xfrm>
            <a:off x="1742348" y="375332"/>
            <a:ext cx="268790" cy="301041"/>
          </a:xfrm>
          <a:prstGeom prst="rect">
            <a:avLst/>
          </a:prstGeom>
          <a:noFill/>
          <a:ln>
            <a:noFill/>
          </a:ln>
        </p:spPr>
      </p:pic>
      <p:pic>
        <p:nvPicPr>
          <p:cNvPr id="1445" name="Google Shape;1445;g3b75ff0c716_0_353"/>
          <p:cNvPicPr preferRelativeResize="0"/>
          <p:nvPr/>
        </p:nvPicPr>
        <p:blipFill rotWithShape="1">
          <a:blip r:embed="rId3">
            <a:alphaModFix/>
          </a:blip>
          <a:srcRect b="0" l="0" r="0" t="0"/>
          <a:stretch/>
        </p:blipFill>
        <p:spPr>
          <a:xfrm>
            <a:off x="1139997" y="415805"/>
            <a:ext cx="276927" cy="275955"/>
          </a:xfrm>
          <a:prstGeom prst="rect">
            <a:avLst/>
          </a:prstGeom>
          <a:noFill/>
          <a:ln>
            <a:noFill/>
          </a:ln>
        </p:spPr>
      </p:pic>
      <p:sp>
        <p:nvSpPr>
          <p:cNvPr id="1446" name="Google Shape;1446;g3b75ff0c716_0_353"/>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447" name="Google Shape;1447;g3b75ff0c716_0_353"/>
          <p:cNvPicPr preferRelativeResize="0"/>
          <p:nvPr/>
        </p:nvPicPr>
        <p:blipFill rotWithShape="1">
          <a:blip r:embed="rId8">
            <a:alphaModFix/>
          </a:blip>
          <a:srcRect b="0" l="0" r="0" t="0"/>
          <a:stretch/>
        </p:blipFill>
        <p:spPr>
          <a:xfrm>
            <a:off x="4069116" y="1789961"/>
            <a:ext cx="1640171" cy="889000"/>
          </a:xfrm>
          <a:prstGeom prst="rect">
            <a:avLst/>
          </a:prstGeom>
          <a:noFill/>
          <a:ln>
            <a:noFill/>
          </a:ln>
        </p:spPr>
      </p:pic>
      <p:sp>
        <p:nvSpPr>
          <p:cNvPr id="1448" name="Google Shape;1448;g3b75ff0c716_0_353"/>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449" name="Google Shape;1449;g3b75ff0c716_0_353"/>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450" name="Google Shape;1450;g3b75ff0c716_0_353"/>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451" name="Google Shape;1451;g3b75ff0c716_0_353"/>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452" name="Google Shape;1452;g3b75ff0c716_0_353"/>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453" name="Google Shape;1453;g3b75ff0c716_0_353"/>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454" name="Google Shape;1454;g3b75ff0c716_0_353"/>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455" name="Google Shape;1455;g3b75ff0c716_0_353"/>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456" name="Google Shape;1456;g3b75ff0c716_0_353"/>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457" name="Google Shape;1457;g3b75ff0c716_0_353"/>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458" name="Google Shape;1458;g3b75ff0c716_0_353"/>
          <p:cNvPicPr preferRelativeResize="0"/>
          <p:nvPr/>
        </p:nvPicPr>
        <p:blipFill rotWithShape="1">
          <a:blip r:embed="rId4">
            <a:alphaModFix/>
          </a:blip>
          <a:srcRect b="0" l="0" r="0" t="0"/>
          <a:stretch/>
        </p:blipFill>
        <p:spPr>
          <a:xfrm>
            <a:off x="325079" y="652004"/>
            <a:ext cx="247568" cy="107156"/>
          </a:xfrm>
          <a:prstGeom prst="rect">
            <a:avLst/>
          </a:prstGeom>
          <a:noFill/>
          <a:ln>
            <a:noFill/>
          </a:ln>
        </p:spPr>
      </p:pic>
      <p:pic>
        <p:nvPicPr>
          <p:cNvPr id="1459" name="Google Shape;1459;g3b75ff0c716_0_353"/>
          <p:cNvPicPr preferRelativeResize="0"/>
          <p:nvPr/>
        </p:nvPicPr>
        <p:blipFill rotWithShape="1">
          <a:blip r:embed="rId5">
            <a:alphaModFix/>
          </a:blip>
          <a:srcRect b="0" l="0" r="0" t="0"/>
          <a:stretch/>
        </p:blipFill>
        <p:spPr>
          <a:xfrm>
            <a:off x="660303" y="649609"/>
            <a:ext cx="249913" cy="117267"/>
          </a:xfrm>
          <a:prstGeom prst="rect">
            <a:avLst/>
          </a:prstGeom>
          <a:noFill/>
          <a:ln>
            <a:noFill/>
          </a:ln>
        </p:spPr>
      </p:pic>
      <p:pic>
        <p:nvPicPr>
          <p:cNvPr id="1460" name="Google Shape;1460;g3b75ff0c716_0_353"/>
          <p:cNvPicPr preferRelativeResize="0"/>
          <p:nvPr/>
        </p:nvPicPr>
        <p:blipFill rotWithShape="1">
          <a:blip r:embed="rId4">
            <a:alphaModFix/>
          </a:blip>
          <a:srcRect b="0" l="0" r="0" t="0"/>
          <a:stretch/>
        </p:blipFill>
        <p:spPr>
          <a:xfrm>
            <a:off x="967808" y="638754"/>
            <a:ext cx="247568" cy="107156"/>
          </a:xfrm>
          <a:prstGeom prst="rect">
            <a:avLst/>
          </a:prstGeom>
          <a:noFill/>
          <a:ln>
            <a:noFill/>
          </a:ln>
        </p:spPr>
      </p:pic>
      <p:pic>
        <p:nvPicPr>
          <p:cNvPr id="1461" name="Google Shape;1461;g3b75ff0c716_0_353"/>
          <p:cNvPicPr preferRelativeResize="0"/>
          <p:nvPr/>
        </p:nvPicPr>
        <p:blipFill rotWithShape="1">
          <a:blip r:embed="rId5">
            <a:alphaModFix/>
          </a:blip>
          <a:srcRect b="0" l="0" r="0" t="0"/>
          <a:stretch/>
        </p:blipFill>
        <p:spPr>
          <a:xfrm>
            <a:off x="1303032" y="636359"/>
            <a:ext cx="249913" cy="117267"/>
          </a:xfrm>
          <a:prstGeom prst="rect">
            <a:avLst/>
          </a:prstGeom>
          <a:noFill/>
          <a:ln>
            <a:noFill/>
          </a:ln>
        </p:spPr>
      </p:pic>
      <p:pic>
        <p:nvPicPr>
          <p:cNvPr id="1462" name="Google Shape;1462;g3b75ff0c716_0_353"/>
          <p:cNvPicPr preferRelativeResize="0"/>
          <p:nvPr/>
        </p:nvPicPr>
        <p:blipFill rotWithShape="1">
          <a:blip r:embed="rId4">
            <a:alphaModFix/>
          </a:blip>
          <a:srcRect b="0" l="0" r="0" t="0"/>
          <a:stretch/>
        </p:blipFill>
        <p:spPr>
          <a:xfrm>
            <a:off x="1577402" y="638755"/>
            <a:ext cx="247568" cy="107156"/>
          </a:xfrm>
          <a:prstGeom prst="rect">
            <a:avLst/>
          </a:prstGeom>
          <a:noFill/>
          <a:ln>
            <a:noFill/>
          </a:ln>
        </p:spPr>
      </p:pic>
      <p:pic>
        <p:nvPicPr>
          <p:cNvPr id="1463" name="Google Shape;1463;g3b75ff0c716_0_353"/>
          <p:cNvPicPr preferRelativeResize="0"/>
          <p:nvPr/>
        </p:nvPicPr>
        <p:blipFill rotWithShape="1">
          <a:blip r:embed="rId5">
            <a:alphaModFix/>
          </a:blip>
          <a:srcRect b="0" l="0" r="0" t="0"/>
          <a:stretch/>
        </p:blipFill>
        <p:spPr>
          <a:xfrm>
            <a:off x="1912626" y="636360"/>
            <a:ext cx="249913" cy="117267"/>
          </a:xfrm>
          <a:prstGeom prst="rect">
            <a:avLst/>
          </a:prstGeom>
          <a:noFill/>
          <a:ln>
            <a:noFill/>
          </a:ln>
        </p:spPr>
      </p:pic>
      <p:sp>
        <p:nvSpPr>
          <p:cNvPr id="1464" name="Google Shape;1464;g3b75ff0c716_0_353"/>
          <p:cNvSpPr/>
          <p:nvPr/>
        </p:nvSpPr>
        <p:spPr>
          <a:xfrm>
            <a:off x="3577091" y="49675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65" name="Google Shape;1465;g3b75ff0c716_0_353"/>
          <p:cNvSpPr txBox="1"/>
          <p:nvPr/>
        </p:nvSpPr>
        <p:spPr>
          <a:xfrm>
            <a:off x="2852197" y="2600622"/>
            <a:ext cx="2908200" cy="50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B1472"/>
                </a:solidFill>
                <a:latin typeface="Arial"/>
                <a:ea typeface="Arial"/>
                <a:cs typeface="Arial"/>
                <a:sym typeface="Arial"/>
              </a:rPr>
              <a:t>Terminating episode 1 after 2 steps. </a:t>
            </a:r>
            <a:r>
              <a:rPr b="0" i="0" lang="en-US" sz="600" u="none" cap="none" strike="noStrike">
                <a:solidFill>
                  <a:srgbClr val="000000"/>
                </a:solidFill>
                <a:latin typeface="Arial"/>
                <a:ea typeface="Arial"/>
                <a:cs typeface="Arial"/>
                <a:sym typeface="Arial"/>
              </a:rPr>
              <a:t>In practice, we can define an episode cutoff (e.g., after 2 or10 steps or when Overheated occurs). If Overheated isn’t reached,  still the episode an be programmed to end artificially. That’s how learning continues.</a:t>
            </a:r>
            <a:endParaRPr b="1" i="0" sz="600" u="none" cap="none" strike="noStrike">
              <a:solidFill>
                <a:srgbClr val="1B147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1B1472"/>
              </a:solidFill>
              <a:latin typeface="Arial"/>
              <a:ea typeface="Arial"/>
              <a:cs typeface="Arial"/>
              <a:sym typeface="Arial"/>
            </a:endParaRPr>
          </a:p>
        </p:txBody>
      </p:sp>
      <p:sp>
        <p:nvSpPr>
          <p:cNvPr id="1466" name="Google Shape;1466;g3b75ff0c716_0_353"/>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g3b75ff0c716_0_353"/>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sp>
        <p:nvSpPr>
          <p:cNvPr id="1468" name="Google Shape;1468;g3b75ff0c716_0_353"/>
          <p:cNvSpPr txBox="1"/>
          <p:nvPr/>
        </p:nvSpPr>
        <p:spPr>
          <a:xfrm>
            <a:off x="82600" y="1720728"/>
            <a:ext cx="3130500" cy="11967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20,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Q2(W,S) = 0 + 0.8 [20+ (0.9</a:t>
            </a:r>
            <a:r>
              <a:rPr b="1" i="0" lang="en-US" sz="700" u="none" cap="none" strike="noStrike">
                <a:solidFill>
                  <a:srgbClr val="FF0000"/>
                </a:solidFill>
                <a:latin typeface="Arial"/>
                <a:ea typeface="Arial"/>
                <a:cs typeface="Arial"/>
                <a:sym typeface="Arial"/>
              </a:rPr>
              <a:t>*(Q1(C, ARGMAX{Q2(C,S), Q2(C,F)}) )-</a:t>
            </a:r>
            <a:r>
              <a:rPr b="1" i="0" lang="en-US" sz="700" u="none" cap="none" strike="noStrike">
                <a:solidFill>
                  <a:schemeClr val="dk1"/>
                </a:solidFill>
                <a:latin typeface="Arial"/>
                <a:ea typeface="Arial"/>
                <a:cs typeface="Arial"/>
                <a:sym typeface="Arial"/>
              </a:rPr>
              <a:t>0]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0 + 0.8 [20+ (0.9</a:t>
            </a:r>
            <a:r>
              <a:rPr b="1" i="0" lang="en-US" sz="700" u="none" cap="none" strike="noStrike">
                <a:solidFill>
                  <a:srgbClr val="FF0000"/>
                </a:solidFill>
                <a:latin typeface="Arial"/>
                <a:ea typeface="Arial"/>
                <a:cs typeface="Arial"/>
                <a:sym typeface="Arial"/>
              </a:rPr>
              <a:t>*(Q1(C, F) )-</a:t>
            </a:r>
            <a:r>
              <a:rPr b="1" i="0" lang="en-US" sz="7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0 + 0.8 [20+ (0.9</a:t>
            </a:r>
            <a:r>
              <a:rPr b="1" i="0" lang="en-US" sz="700" u="none" cap="none" strike="noStrike">
                <a:solidFill>
                  <a:srgbClr val="FF0000"/>
                </a:solidFill>
                <a:latin typeface="Arial"/>
                <a:ea typeface="Arial"/>
                <a:cs typeface="Arial"/>
                <a:sym typeface="Arial"/>
              </a:rPr>
              <a:t>*5)-</a:t>
            </a:r>
            <a:r>
              <a:rPr b="1" i="0" lang="en-US" sz="7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~19.6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469" name="Google Shape;1469;g3b75ff0c716_0_353"/>
          <p:cNvSpPr/>
          <p:nvPr/>
        </p:nvSpPr>
        <p:spPr>
          <a:xfrm>
            <a:off x="879354" y="1706616"/>
            <a:ext cx="479400" cy="156900"/>
          </a:xfrm>
          <a:prstGeom prst="rect">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70" name="Google Shape;1470;g3b75ff0c716_0_353"/>
          <p:cNvSpPr/>
          <p:nvPr/>
        </p:nvSpPr>
        <p:spPr>
          <a:xfrm>
            <a:off x="309839" y="1424777"/>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471" name="Google Shape;1471;g3b75ff0c716_0_353"/>
          <p:cNvCxnSpPr/>
          <p:nvPr/>
        </p:nvCxnSpPr>
        <p:spPr>
          <a:xfrm>
            <a:off x="910106" y="1424777"/>
            <a:ext cx="0" cy="225300"/>
          </a:xfrm>
          <a:prstGeom prst="straightConnector1">
            <a:avLst/>
          </a:prstGeom>
          <a:noFill/>
          <a:ln cap="flat" cmpd="sng" w="9525">
            <a:solidFill>
              <a:schemeClr val="dk1"/>
            </a:solidFill>
            <a:prstDash val="solid"/>
            <a:round/>
            <a:headEnd len="sm" w="sm" type="none"/>
            <a:tailEnd len="sm" w="sm" type="none"/>
          </a:ln>
        </p:spPr>
      </p:cxnSp>
      <p:cxnSp>
        <p:nvCxnSpPr>
          <p:cNvPr id="1472" name="Google Shape;1472;g3b75ff0c716_0_353"/>
          <p:cNvCxnSpPr/>
          <p:nvPr/>
        </p:nvCxnSpPr>
        <p:spPr>
          <a:xfrm>
            <a:off x="1566089" y="1431404"/>
            <a:ext cx="0" cy="225300"/>
          </a:xfrm>
          <a:prstGeom prst="straightConnector1">
            <a:avLst/>
          </a:prstGeom>
          <a:noFill/>
          <a:ln cap="flat" cmpd="sng" w="9525">
            <a:solidFill>
              <a:schemeClr val="dk1"/>
            </a:solidFill>
            <a:prstDash val="solid"/>
            <a:round/>
            <a:headEnd len="sm" w="sm" type="none"/>
            <a:tailEnd len="sm" w="sm" type="none"/>
          </a:ln>
        </p:spPr>
      </p:cxnSp>
      <p:pic>
        <p:nvPicPr>
          <p:cNvPr id="1473" name="Google Shape;1473;g3b75ff0c716_0_353"/>
          <p:cNvPicPr preferRelativeResize="0"/>
          <p:nvPr/>
        </p:nvPicPr>
        <p:blipFill rotWithShape="1">
          <a:blip r:embed="rId9">
            <a:alphaModFix/>
          </a:blip>
          <a:srcRect b="0" l="0" r="0" t="0"/>
          <a:stretch/>
        </p:blipFill>
        <p:spPr>
          <a:xfrm>
            <a:off x="3797359" y="35192"/>
            <a:ext cx="1958532" cy="1060146"/>
          </a:xfrm>
          <a:prstGeom prst="rect">
            <a:avLst/>
          </a:prstGeom>
          <a:noFill/>
          <a:ln>
            <a:noFill/>
          </a:ln>
        </p:spPr>
      </p:pic>
      <p:sp>
        <p:nvSpPr>
          <p:cNvPr id="1474" name="Google Shape;1474;g3b75ff0c716_0_353"/>
          <p:cNvSpPr/>
          <p:nvPr/>
        </p:nvSpPr>
        <p:spPr>
          <a:xfrm>
            <a:off x="5365917" y="322469"/>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475" name="Google Shape;1475;g3b75ff0c716_0_353"/>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5.2          0         0           </a:t>
            </a:r>
            <a:r>
              <a:rPr b="1" i="0" lang="en-US" sz="800" u="none" cap="none" strike="noStrike">
                <a:solidFill>
                  <a:schemeClr val="dk1"/>
                </a:solidFill>
                <a:latin typeface="Calibri"/>
                <a:ea typeface="Calibri"/>
                <a:cs typeface="Calibri"/>
                <a:sym typeface="Calibri"/>
              </a:rPr>
              <a:t>19.6</a:t>
            </a:r>
            <a:endParaRPr b="1" i="0" sz="300" u="none" cap="none" strike="noStrike">
              <a:solidFill>
                <a:srgbClr val="000000"/>
              </a:solidFill>
              <a:latin typeface="Arial"/>
              <a:ea typeface="Arial"/>
              <a:cs typeface="Arial"/>
              <a:sym typeface="Arial"/>
            </a:endParaRPr>
          </a:p>
        </p:txBody>
      </p:sp>
      <p:sp>
        <p:nvSpPr>
          <p:cNvPr id="1476" name="Google Shape;1476;g3b75ff0c716_0_353"/>
          <p:cNvSpPr txBox="1"/>
          <p:nvPr/>
        </p:nvSpPr>
        <p:spPr>
          <a:xfrm>
            <a:off x="2140174" y="80048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5             1        5           15 </a:t>
            </a:r>
            <a:endParaRPr b="0" i="0" sz="700" u="none" cap="none" strike="noStrike">
              <a:solidFill>
                <a:srgbClr val="000000"/>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3"/>
                                        </p:tgtEl>
                                        <p:attrNameLst>
                                          <p:attrName>style.visibility</p:attrName>
                                        </p:attrNameLst>
                                      </p:cBhvr>
                                      <p:to>
                                        <p:strVal val="visible"/>
                                      </p:to>
                                    </p:set>
                                    <p:animEffect filter="fade" transition="in">
                                      <p:cBhvr>
                                        <p:cTn dur="500"/>
                                        <p:tgtEl>
                                          <p:spTgt spid="1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pic>
        <p:nvPicPr>
          <p:cNvPr id="1481" name="Google Shape;1481;g3b75ff0c716_0_415"/>
          <p:cNvPicPr preferRelativeResize="0"/>
          <p:nvPr/>
        </p:nvPicPr>
        <p:blipFill rotWithShape="1">
          <a:blip r:embed="rId3">
            <a:alphaModFix/>
          </a:blip>
          <a:srcRect b="0" l="0" r="0" t="0"/>
          <a:stretch/>
        </p:blipFill>
        <p:spPr>
          <a:xfrm>
            <a:off x="2994214" y="410746"/>
            <a:ext cx="276927" cy="275955"/>
          </a:xfrm>
          <a:prstGeom prst="rect">
            <a:avLst/>
          </a:prstGeom>
          <a:noFill/>
          <a:ln>
            <a:noFill/>
          </a:ln>
        </p:spPr>
      </p:pic>
      <p:sp>
        <p:nvSpPr>
          <p:cNvPr id="1482" name="Google Shape;1482;g3b75ff0c716_0_415"/>
          <p:cNvSpPr/>
          <p:nvPr/>
        </p:nvSpPr>
        <p:spPr>
          <a:xfrm>
            <a:off x="2164056" y="1416916"/>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483" name="Google Shape;1483;g3b75ff0c716_0_415"/>
          <p:cNvSpPr/>
          <p:nvPr/>
        </p:nvSpPr>
        <p:spPr>
          <a:xfrm>
            <a:off x="2179296" y="1072214"/>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484" name="Google Shape;1484;g3b75ff0c716_0_415"/>
          <p:cNvSpPr/>
          <p:nvPr/>
        </p:nvSpPr>
        <p:spPr>
          <a:xfrm>
            <a:off x="2182136" y="784025"/>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485" name="Google Shape;1485;g3b75ff0c716_0_415"/>
          <p:cNvCxnSpPr/>
          <p:nvPr/>
        </p:nvCxnSpPr>
        <p:spPr>
          <a:xfrm>
            <a:off x="2764323" y="769938"/>
            <a:ext cx="0" cy="225300"/>
          </a:xfrm>
          <a:prstGeom prst="straightConnector1">
            <a:avLst/>
          </a:prstGeom>
          <a:noFill/>
          <a:ln cap="flat" cmpd="sng" w="9525">
            <a:solidFill>
              <a:schemeClr val="dk1"/>
            </a:solidFill>
            <a:prstDash val="solid"/>
            <a:round/>
            <a:headEnd len="sm" w="sm" type="none"/>
            <a:tailEnd len="sm" w="sm" type="none"/>
          </a:ln>
        </p:spPr>
      </p:cxnSp>
      <p:cxnSp>
        <p:nvCxnSpPr>
          <p:cNvPr id="1486" name="Google Shape;1486;g3b75ff0c716_0_415"/>
          <p:cNvCxnSpPr/>
          <p:nvPr/>
        </p:nvCxnSpPr>
        <p:spPr>
          <a:xfrm>
            <a:off x="2764323" y="1083652"/>
            <a:ext cx="0" cy="225300"/>
          </a:xfrm>
          <a:prstGeom prst="straightConnector1">
            <a:avLst/>
          </a:prstGeom>
          <a:noFill/>
          <a:ln cap="flat" cmpd="sng" w="9525">
            <a:solidFill>
              <a:schemeClr val="dk1"/>
            </a:solidFill>
            <a:prstDash val="solid"/>
            <a:round/>
            <a:headEnd len="sm" w="sm" type="none"/>
            <a:tailEnd len="sm" w="sm" type="none"/>
          </a:ln>
        </p:spPr>
      </p:cxnSp>
      <p:cxnSp>
        <p:nvCxnSpPr>
          <p:cNvPr id="1487" name="Google Shape;1487;g3b75ff0c716_0_415"/>
          <p:cNvCxnSpPr/>
          <p:nvPr/>
        </p:nvCxnSpPr>
        <p:spPr>
          <a:xfrm>
            <a:off x="2764323" y="1416916"/>
            <a:ext cx="0" cy="225300"/>
          </a:xfrm>
          <a:prstGeom prst="straightConnector1">
            <a:avLst/>
          </a:prstGeom>
          <a:noFill/>
          <a:ln cap="flat" cmpd="sng" w="9525">
            <a:solidFill>
              <a:schemeClr val="dk1"/>
            </a:solidFill>
            <a:prstDash val="solid"/>
            <a:round/>
            <a:headEnd len="sm" w="sm" type="none"/>
            <a:tailEnd len="sm" w="sm" type="none"/>
          </a:ln>
        </p:spPr>
      </p:cxnSp>
      <p:cxnSp>
        <p:nvCxnSpPr>
          <p:cNvPr id="1488" name="Google Shape;1488;g3b75ff0c716_0_415"/>
          <p:cNvCxnSpPr/>
          <p:nvPr/>
        </p:nvCxnSpPr>
        <p:spPr>
          <a:xfrm>
            <a:off x="3420306" y="776565"/>
            <a:ext cx="0" cy="225300"/>
          </a:xfrm>
          <a:prstGeom prst="straightConnector1">
            <a:avLst/>
          </a:prstGeom>
          <a:noFill/>
          <a:ln cap="flat" cmpd="sng" w="9525">
            <a:solidFill>
              <a:schemeClr val="dk1"/>
            </a:solidFill>
            <a:prstDash val="solid"/>
            <a:round/>
            <a:headEnd len="sm" w="sm" type="none"/>
            <a:tailEnd len="sm" w="sm" type="none"/>
          </a:ln>
        </p:spPr>
      </p:cxnSp>
      <p:cxnSp>
        <p:nvCxnSpPr>
          <p:cNvPr id="1489" name="Google Shape;1489;g3b75ff0c716_0_415"/>
          <p:cNvCxnSpPr/>
          <p:nvPr/>
        </p:nvCxnSpPr>
        <p:spPr>
          <a:xfrm>
            <a:off x="3420306" y="1090279"/>
            <a:ext cx="0" cy="225300"/>
          </a:xfrm>
          <a:prstGeom prst="straightConnector1">
            <a:avLst/>
          </a:prstGeom>
          <a:noFill/>
          <a:ln cap="flat" cmpd="sng" w="9525">
            <a:solidFill>
              <a:schemeClr val="dk1"/>
            </a:solidFill>
            <a:prstDash val="solid"/>
            <a:round/>
            <a:headEnd len="sm" w="sm" type="none"/>
            <a:tailEnd len="sm" w="sm" type="none"/>
          </a:ln>
        </p:spPr>
      </p:cxnSp>
      <p:cxnSp>
        <p:nvCxnSpPr>
          <p:cNvPr id="1490" name="Google Shape;1490;g3b75ff0c716_0_415"/>
          <p:cNvCxnSpPr/>
          <p:nvPr/>
        </p:nvCxnSpPr>
        <p:spPr>
          <a:xfrm>
            <a:off x="3420306" y="1423543"/>
            <a:ext cx="0" cy="225300"/>
          </a:xfrm>
          <a:prstGeom prst="straightConnector1">
            <a:avLst/>
          </a:prstGeom>
          <a:noFill/>
          <a:ln cap="flat" cmpd="sng" w="9525">
            <a:solidFill>
              <a:schemeClr val="dk1"/>
            </a:solidFill>
            <a:prstDash val="solid"/>
            <a:round/>
            <a:headEnd len="sm" w="sm" type="none"/>
            <a:tailEnd len="sm" w="sm" type="none"/>
          </a:ln>
        </p:spPr>
      </p:cxnSp>
      <p:pic>
        <p:nvPicPr>
          <p:cNvPr id="1491" name="Google Shape;1491;g3b75ff0c716_0_415"/>
          <p:cNvPicPr preferRelativeResize="0"/>
          <p:nvPr/>
        </p:nvPicPr>
        <p:blipFill rotWithShape="1">
          <a:blip r:embed="rId4">
            <a:alphaModFix/>
          </a:blip>
          <a:srcRect b="0" l="0" r="0" t="0"/>
          <a:stretch/>
        </p:blipFill>
        <p:spPr>
          <a:xfrm>
            <a:off x="2179296" y="646945"/>
            <a:ext cx="247568" cy="107156"/>
          </a:xfrm>
          <a:prstGeom prst="rect">
            <a:avLst/>
          </a:prstGeom>
          <a:noFill/>
          <a:ln>
            <a:noFill/>
          </a:ln>
        </p:spPr>
      </p:pic>
      <p:pic>
        <p:nvPicPr>
          <p:cNvPr id="1492" name="Google Shape;1492;g3b75ff0c716_0_415"/>
          <p:cNvPicPr preferRelativeResize="0"/>
          <p:nvPr/>
        </p:nvPicPr>
        <p:blipFill rotWithShape="1">
          <a:blip r:embed="rId5">
            <a:alphaModFix/>
          </a:blip>
          <a:srcRect b="0" l="0" r="0" t="0"/>
          <a:stretch/>
        </p:blipFill>
        <p:spPr>
          <a:xfrm>
            <a:off x="2514520" y="644550"/>
            <a:ext cx="249913" cy="117267"/>
          </a:xfrm>
          <a:prstGeom prst="rect">
            <a:avLst/>
          </a:prstGeom>
          <a:noFill/>
          <a:ln>
            <a:noFill/>
          </a:ln>
        </p:spPr>
      </p:pic>
      <p:pic>
        <p:nvPicPr>
          <p:cNvPr id="1493" name="Google Shape;1493;g3b75ff0c716_0_415"/>
          <p:cNvPicPr preferRelativeResize="0"/>
          <p:nvPr/>
        </p:nvPicPr>
        <p:blipFill rotWithShape="1">
          <a:blip r:embed="rId4">
            <a:alphaModFix/>
          </a:blip>
          <a:srcRect b="0" l="0" r="0" t="0"/>
          <a:stretch/>
        </p:blipFill>
        <p:spPr>
          <a:xfrm>
            <a:off x="2822025" y="633695"/>
            <a:ext cx="247568" cy="107156"/>
          </a:xfrm>
          <a:prstGeom prst="rect">
            <a:avLst/>
          </a:prstGeom>
          <a:noFill/>
          <a:ln>
            <a:noFill/>
          </a:ln>
        </p:spPr>
      </p:pic>
      <p:pic>
        <p:nvPicPr>
          <p:cNvPr id="1494" name="Google Shape;1494;g3b75ff0c716_0_415"/>
          <p:cNvPicPr preferRelativeResize="0"/>
          <p:nvPr/>
        </p:nvPicPr>
        <p:blipFill rotWithShape="1">
          <a:blip r:embed="rId5">
            <a:alphaModFix/>
          </a:blip>
          <a:srcRect b="0" l="0" r="0" t="0"/>
          <a:stretch/>
        </p:blipFill>
        <p:spPr>
          <a:xfrm>
            <a:off x="3157249" y="631300"/>
            <a:ext cx="249913" cy="117267"/>
          </a:xfrm>
          <a:prstGeom prst="rect">
            <a:avLst/>
          </a:prstGeom>
          <a:noFill/>
          <a:ln>
            <a:noFill/>
          </a:ln>
        </p:spPr>
      </p:pic>
      <p:pic>
        <p:nvPicPr>
          <p:cNvPr id="1495" name="Google Shape;1495;g3b75ff0c716_0_415"/>
          <p:cNvPicPr preferRelativeResize="0"/>
          <p:nvPr/>
        </p:nvPicPr>
        <p:blipFill rotWithShape="1">
          <a:blip r:embed="rId4">
            <a:alphaModFix/>
          </a:blip>
          <a:srcRect b="0" l="0" r="0" t="0"/>
          <a:stretch/>
        </p:blipFill>
        <p:spPr>
          <a:xfrm>
            <a:off x="3431619" y="633696"/>
            <a:ext cx="247568" cy="107156"/>
          </a:xfrm>
          <a:prstGeom prst="rect">
            <a:avLst/>
          </a:prstGeom>
          <a:noFill/>
          <a:ln>
            <a:noFill/>
          </a:ln>
        </p:spPr>
      </p:pic>
      <p:pic>
        <p:nvPicPr>
          <p:cNvPr id="1496" name="Google Shape;1496;g3b75ff0c716_0_415"/>
          <p:cNvPicPr preferRelativeResize="0"/>
          <p:nvPr/>
        </p:nvPicPr>
        <p:blipFill rotWithShape="1">
          <a:blip r:embed="rId5">
            <a:alphaModFix/>
          </a:blip>
          <a:srcRect b="0" l="0" r="0" t="0"/>
          <a:stretch/>
        </p:blipFill>
        <p:spPr>
          <a:xfrm>
            <a:off x="3766843" y="631301"/>
            <a:ext cx="249913" cy="117267"/>
          </a:xfrm>
          <a:prstGeom prst="rect">
            <a:avLst/>
          </a:prstGeom>
          <a:noFill/>
          <a:ln>
            <a:noFill/>
          </a:ln>
        </p:spPr>
      </p:pic>
      <p:cxnSp>
        <p:nvCxnSpPr>
          <p:cNvPr id="1497" name="Google Shape;1497;g3b75ff0c716_0_415"/>
          <p:cNvCxnSpPr/>
          <p:nvPr/>
        </p:nvCxnSpPr>
        <p:spPr>
          <a:xfrm>
            <a:off x="2162539" y="410746"/>
            <a:ext cx="9600" cy="1379100"/>
          </a:xfrm>
          <a:prstGeom prst="straightConnector1">
            <a:avLst/>
          </a:prstGeom>
          <a:noFill/>
          <a:ln cap="flat" cmpd="sng" w="9525">
            <a:solidFill>
              <a:srgbClr val="0070C0"/>
            </a:solidFill>
            <a:prstDash val="solid"/>
            <a:round/>
            <a:headEnd len="sm" w="sm" type="none"/>
            <a:tailEnd len="sm" w="sm" type="none"/>
          </a:ln>
        </p:spPr>
      </p:cxnSp>
      <p:sp>
        <p:nvSpPr>
          <p:cNvPr id="1498" name="Google Shape;1498;g3b75ff0c716_0_415"/>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	Target		Behavior</a:t>
            </a:r>
            <a:endParaRPr/>
          </a:p>
        </p:txBody>
      </p:sp>
      <p:sp>
        <p:nvSpPr>
          <p:cNvPr id="1499" name="Google Shape;1499;g3b75ff0c716_0_415"/>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00" name="Google Shape;1500;g3b75ff0c716_0_415"/>
          <p:cNvGrpSpPr/>
          <p:nvPr/>
        </p:nvGrpSpPr>
        <p:grpSpPr>
          <a:xfrm>
            <a:off x="0" y="3109250"/>
            <a:ext cx="5760261" cy="92075"/>
            <a:chOff x="0" y="3109250"/>
            <a:chExt cx="5760261" cy="92075"/>
          </a:xfrm>
        </p:grpSpPr>
        <p:sp>
          <p:nvSpPr>
            <p:cNvPr id="1501" name="Google Shape;1501;g3b75ff0c716_0_415"/>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g3b75ff0c716_0_415"/>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g3b75ff0c716_0_415"/>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04" name="Google Shape;1504;g3b75ff0c716_0_415"/>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505" name="Google Shape;1505;g3b75ff0c716_0_415"/>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1506" name="Google Shape;1506;g3b75ff0c716_0_415"/>
          <p:cNvPicPr preferRelativeResize="0"/>
          <p:nvPr/>
        </p:nvPicPr>
        <p:blipFill rotWithShape="1">
          <a:blip r:embed="rId6">
            <a:alphaModFix/>
          </a:blip>
          <a:srcRect b="0" l="0" r="0" t="0"/>
          <a:stretch/>
        </p:blipFill>
        <p:spPr>
          <a:xfrm>
            <a:off x="485263" y="408737"/>
            <a:ext cx="253340" cy="263412"/>
          </a:xfrm>
          <a:prstGeom prst="rect">
            <a:avLst/>
          </a:prstGeom>
          <a:noFill/>
          <a:ln>
            <a:noFill/>
          </a:ln>
        </p:spPr>
      </p:pic>
      <p:pic>
        <p:nvPicPr>
          <p:cNvPr id="1507" name="Google Shape;1507;g3b75ff0c716_0_415"/>
          <p:cNvPicPr preferRelativeResize="0"/>
          <p:nvPr/>
        </p:nvPicPr>
        <p:blipFill rotWithShape="1">
          <a:blip r:embed="rId7">
            <a:alphaModFix/>
          </a:blip>
          <a:srcRect b="0" l="0" r="0" t="0"/>
          <a:stretch/>
        </p:blipFill>
        <p:spPr>
          <a:xfrm>
            <a:off x="1742348" y="375332"/>
            <a:ext cx="268790" cy="301041"/>
          </a:xfrm>
          <a:prstGeom prst="rect">
            <a:avLst/>
          </a:prstGeom>
          <a:noFill/>
          <a:ln>
            <a:noFill/>
          </a:ln>
        </p:spPr>
      </p:pic>
      <p:pic>
        <p:nvPicPr>
          <p:cNvPr id="1508" name="Google Shape;1508;g3b75ff0c716_0_415"/>
          <p:cNvPicPr preferRelativeResize="0"/>
          <p:nvPr/>
        </p:nvPicPr>
        <p:blipFill rotWithShape="1">
          <a:blip r:embed="rId3">
            <a:alphaModFix/>
          </a:blip>
          <a:srcRect b="0" l="0" r="0" t="0"/>
          <a:stretch/>
        </p:blipFill>
        <p:spPr>
          <a:xfrm>
            <a:off x="1139997" y="415805"/>
            <a:ext cx="276927" cy="275955"/>
          </a:xfrm>
          <a:prstGeom prst="rect">
            <a:avLst/>
          </a:prstGeom>
          <a:noFill/>
          <a:ln>
            <a:noFill/>
          </a:ln>
        </p:spPr>
      </p:pic>
      <p:sp>
        <p:nvSpPr>
          <p:cNvPr id="1509" name="Google Shape;1509;g3b75ff0c716_0_415"/>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510" name="Google Shape;1510;g3b75ff0c716_0_415"/>
          <p:cNvPicPr preferRelativeResize="0"/>
          <p:nvPr/>
        </p:nvPicPr>
        <p:blipFill rotWithShape="1">
          <a:blip r:embed="rId8">
            <a:alphaModFix/>
          </a:blip>
          <a:srcRect b="0" l="0" r="0" t="0"/>
          <a:stretch/>
        </p:blipFill>
        <p:spPr>
          <a:xfrm>
            <a:off x="4069116" y="1789961"/>
            <a:ext cx="1640171" cy="889000"/>
          </a:xfrm>
          <a:prstGeom prst="rect">
            <a:avLst/>
          </a:prstGeom>
          <a:noFill/>
          <a:ln>
            <a:noFill/>
          </a:ln>
        </p:spPr>
      </p:pic>
      <p:sp>
        <p:nvSpPr>
          <p:cNvPr id="1511" name="Google Shape;1511;g3b75ff0c716_0_415"/>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512" name="Google Shape;1512;g3b75ff0c716_0_415"/>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513" name="Google Shape;1513;g3b75ff0c716_0_415"/>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514" name="Google Shape;1514;g3b75ff0c716_0_415"/>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515" name="Google Shape;1515;g3b75ff0c716_0_415"/>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516" name="Google Shape;1516;g3b75ff0c716_0_415"/>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517" name="Google Shape;1517;g3b75ff0c716_0_415"/>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518" name="Google Shape;1518;g3b75ff0c716_0_415"/>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519" name="Google Shape;1519;g3b75ff0c716_0_415"/>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520" name="Google Shape;1520;g3b75ff0c716_0_415"/>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521" name="Google Shape;1521;g3b75ff0c716_0_415"/>
          <p:cNvPicPr preferRelativeResize="0"/>
          <p:nvPr/>
        </p:nvPicPr>
        <p:blipFill rotWithShape="1">
          <a:blip r:embed="rId4">
            <a:alphaModFix/>
          </a:blip>
          <a:srcRect b="0" l="0" r="0" t="0"/>
          <a:stretch/>
        </p:blipFill>
        <p:spPr>
          <a:xfrm>
            <a:off x="325079" y="652004"/>
            <a:ext cx="247568" cy="107156"/>
          </a:xfrm>
          <a:prstGeom prst="rect">
            <a:avLst/>
          </a:prstGeom>
          <a:noFill/>
          <a:ln>
            <a:noFill/>
          </a:ln>
        </p:spPr>
      </p:pic>
      <p:pic>
        <p:nvPicPr>
          <p:cNvPr id="1522" name="Google Shape;1522;g3b75ff0c716_0_415"/>
          <p:cNvPicPr preferRelativeResize="0"/>
          <p:nvPr/>
        </p:nvPicPr>
        <p:blipFill rotWithShape="1">
          <a:blip r:embed="rId5">
            <a:alphaModFix/>
          </a:blip>
          <a:srcRect b="0" l="0" r="0" t="0"/>
          <a:stretch/>
        </p:blipFill>
        <p:spPr>
          <a:xfrm>
            <a:off x="660303" y="649609"/>
            <a:ext cx="249913" cy="117267"/>
          </a:xfrm>
          <a:prstGeom prst="rect">
            <a:avLst/>
          </a:prstGeom>
          <a:noFill/>
          <a:ln>
            <a:noFill/>
          </a:ln>
        </p:spPr>
      </p:pic>
      <p:pic>
        <p:nvPicPr>
          <p:cNvPr id="1523" name="Google Shape;1523;g3b75ff0c716_0_415"/>
          <p:cNvPicPr preferRelativeResize="0"/>
          <p:nvPr/>
        </p:nvPicPr>
        <p:blipFill rotWithShape="1">
          <a:blip r:embed="rId4">
            <a:alphaModFix/>
          </a:blip>
          <a:srcRect b="0" l="0" r="0" t="0"/>
          <a:stretch/>
        </p:blipFill>
        <p:spPr>
          <a:xfrm>
            <a:off x="967808" y="638754"/>
            <a:ext cx="247568" cy="107156"/>
          </a:xfrm>
          <a:prstGeom prst="rect">
            <a:avLst/>
          </a:prstGeom>
          <a:noFill/>
          <a:ln>
            <a:noFill/>
          </a:ln>
        </p:spPr>
      </p:pic>
      <p:pic>
        <p:nvPicPr>
          <p:cNvPr id="1524" name="Google Shape;1524;g3b75ff0c716_0_415"/>
          <p:cNvPicPr preferRelativeResize="0"/>
          <p:nvPr/>
        </p:nvPicPr>
        <p:blipFill rotWithShape="1">
          <a:blip r:embed="rId5">
            <a:alphaModFix/>
          </a:blip>
          <a:srcRect b="0" l="0" r="0" t="0"/>
          <a:stretch/>
        </p:blipFill>
        <p:spPr>
          <a:xfrm>
            <a:off x="1303032" y="636359"/>
            <a:ext cx="249913" cy="117267"/>
          </a:xfrm>
          <a:prstGeom prst="rect">
            <a:avLst/>
          </a:prstGeom>
          <a:noFill/>
          <a:ln>
            <a:noFill/>
          </a:ln>
        </p:spPr>
      </p:pic>
      <p:pic>
        <p:nvPicPr>
          <p:cNvPr id="1525" name="Google Shape;1525;g3b75ff0c716_0_415"/>
          <p:cNvPicPr preferRelativeResize="0"/>
          <p:nvPr/>
        </p:nvPicPr>
        <p:blipFill rotWithShape="1">
          <a:blip r:embed="rId4">
            <a:alphaModFix/>
          </a:blip>
          <a:srcRect b="0" l="0" r="0" t="0"/>
          <a:stretch/>
        </p:blipFill>
        <p:spPr>
          <a:xfrm>
            <a:off x="1577402" y="638755"/>
            <a:ext cx="247568" cy="107156"/>
          </a:xfrm>
          <a:prstGeom prst="rect">
            <a:avLst/>
          </a:prstGeom>
          <a:noFill/>
          <a:ln>
            <a:noFill/>
          </a:ln>
        </p:spPr>
      </p:pic>
      <p:pic>
        <p:nvPicPr>
          <p:cNvPr id="1526" name="Google Shape;1526;g3b75ff0c716_0_415"/>
          <p:cNvPicPr preferRelativeResize="0"/>
          <p:nvPr/>
        </p:nvPicPr>
        <p:blipFill rotWithShape="1">
          <a:blip r:embed="rId5">
            <a:alphaModFix/>
          </a:blip>
          <a:srcRect b="0" l="0" r="0" t="0"/>
          <a:stretch/>
        </p:blipFill>
        <p:spPr>
          <a:xfrm>
            <a:off x="1912626" y="636360"/>
            <a:ext cx="249913" cy="117267"/>
          </a:xfrm>
          <a:prstGeom prst="rect">
            <a:avLst/>
          </a:prstGeom>
          <a:noFill/>
          <a:ln>
            <a:noFill/>
          </a:ln>
        </p:spPr>
      </p:pic>
      <p:sp>
        <p:nvSpPr>
          <p:cNvPr id="1527" name="Google Shape;1527;g3b75ff0c716_0_415"/>
          <p:cNvSpPr txBox="1"/>
          <p:nvPr/>
        </p:nvSpPr>
        <p:spPr>
          <a:xfrm>
            <a:off x="3157249" y="2600622"/>
            <a:ext cx="2603100" cy="5085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Target Policy : </a:t>
            </a:r>
            <a:r>
              <a:rPr b="0" i="0" lang="en-US" sz="700" u="none" cap="none" strike="noStrike">
                <a:solidFill>
                  <a:schemeClr val="dk1"/>
                </a:solidFill>
                <a:latin typeface="Arial"/>
                <a:ea typeface="Arial"/>
                <a:cs typeface="Arial"/>
                <a:sym typeface="Arial"/>
              </a:rPr>
              <a:t>Q2 -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Behavior Policy : </a:t>
            </a:r>
            <a:r>
              <a:rPr b="0" i="0" lang="en-US" sz="700" u="none" cap="none" strike="noStrike">
                <a:solidFill>
                  <a:srgbClr val="000000"/>
                </a:solidFill>
                <a:latin typeface="Arial"/>
                <a:ea typeface="Arial"/>
                <a:cs typeface="Arial"/>
                <a:sym typeface="Arial"/>
              </a:rPr>
              <a:t>Q1-Table is available from other sources/experience/logged data. Above algorithm learns to update this as well.</a:t>
            </a:r>
            <a:endParaRPr b="1" i="0" sz="700" u="none" cap="none" strike="noStrike">
              <a:solidFill>
                <a:schemeClr val="dk1"/>
              </a:solidFill>
              <a:latin typeface="Arial"/>
              <a:ea typeface="Arial"/>
              <a:cs typeface="Arial"/>
              <a:sym typeface="Arial"/>
            </a:endParaRPr>
          </a:p>
        </p:txBody>
      </p:sp>
      <p:sp>
        <p:nvSpPr>
          <p:cNvPr id="1528" name="Google Shape;1528;g3b75ff0c716_0_415"/>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g3b75ff0c716_0_415"/>
          <p:cNvSpPr txBox="1"/>
          <p:nvPr/>
        </p:nvSpPr>
        <p:spPr>
          <a:xfrm>
            <a:off x="92818" y="1649835"/>
            <a:ext cx="3924000" cy="16278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20,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 </a:t>
            </a:r>
            <a:r>
              <a:rPr b="1" i="0" lang="en-US" sz="700" u="none" cap="none" strike="noStrike">
                <a:solidFill>
                  <a:schemeClr val="dk1"/>
                </a:solidFill>
                <a:latin typeface="Arial"/>
                <a:ea typeface="Arial"/>
                <a:cs typeface="Arial"/>
                <a:sym typeface="Arial"/>
              </a:rPr>
              <a:t>F</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4, </a:t>
            </a:r>
            <a:r>
              <a:rPr b="1" i="0" lang="en-US" sz="700" u="none" cap="none" strike="noStrike">
                <a:solidFill>
                  <a:srgbClr val="C00000"/>
                </a:solidFill>
                <a:latin typeface="Arial"/>
                <a:ea typeface="Arial"/>
                <a:cs typeface="Arial"/>
                <a:sym typeface="Arial"/>
              </a:rPr>
              <a:t>W,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-10, </a:t>
            </a:r>
            <a:r>
              <a:rPr b="1" i="0" lang="en-US" sz="700" u="none" cap="none" strike="noStrike">
                <a:solidFill>
                  <a:srgbClr val="C00000"/>
                </a:solidFill>
                <a:latin typeface="Arial"/>
                <a:ea typeface="Arial"/>
                <a:cs typeface="Arial"/>
                <a:sym typeface="Arial"/>
              </a:rPr>
              <a:t>O</a:t>
            </a:r>
            <a:r>
              <a:rPr b="1" i="0" lang="en-US" sz="700" u="none" cap="none" strike="noStrike">
                <a:solidFill>
                  <a:schemeClr val="dk1"/>
                </a:solidFill>
                <a:latin typeface="Arial"/>
                <a:ea typeface="Arial"/>
                <a:cs typeface="Arial"/>
                <a:sym typeface="Arial"/>
              </a:rPr>
              <a:t> </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t=0 : Q2(C,F) = 5.2+0.8(2+0.9</a:t>
            </a:r>
            <a:r>
              <a:rPr b="1" i="0" lang="en-US" sz="700" u="none" cap="none" strike="noStrike">
                <a:solidFill>
                  <a:srgbClr val="FF0000"/>
                </a:solidFill>
                <a:latin typeface="Arial"/>
                <a:ea typeface="Arial"/>
                <a:cs typeface="Arial"/>
                <a:sym typeface="Arial"/>
              </a:rPr>
              <a:t>(Q1(C, ARGMAX{Q2(C,F), Q2(C,S)})) </a:t>
            </a:r>
            <a:r>
              <a:rPr b="1" i="0" lang="en-US" sz="700" u="none" cap="none" strike="noStrike">
                <a:solidFill>
                  <a:schemeClr val="dk1"/>
                </a:solidFill>
                <a:latin typeface="Arial"/>
                <a:ea typeface="Arial"/>
                <a:cs typeface="Arial"/>
                <a:sym typeface="Arial"/>
              </a:rPr>
              <a:t>−5.2)=~6.24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0070C0"/>
                </a:solidFill>
                <a:latin typeface="Arial"/>
                <a:ea typeface="Arial"/>
                <a:cs typeface="Arial"/>
                <a:sym typeface="Arial"/>
              </a:rPr>
              <a:t>For step 2 : The loop goes to Q1(S,A) where the behavior policy is updated: </a:t>
            </a:r>
            <a:endParaRPr b="0" i="1" sz="7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t=1 : Q1(C,F) = 5+0.8(4+0.9</a:t>
            </a:r>
            <a:r>
              <a:rPr b="1" i="0" lang="en-US" sz="700" u="none" cap="none" strike="noStrike">
                <a:solidFill>
                  <a:srgbClr val="FF0000"/>
                </a:solidFill>
                <a:latin typeface="Arial"/>
                <a:ea typeface="Arial"/>
                <a:cs typeface="Arial"/>
                <a:sym typeface="Arial"/>
              </a:rPr>
              <a:t>(Q2(W, ARGMAX{ Q1(W,S) , Q1(W,F) }) )</a:t>
            </a:r>
            <a:r>
              <a:rPr b="1" i="0" lang="en-US" sz="700" u="none" cap="none" strike="noStrike">
                <a:solidFill>
                  <a:schemeClr val="dk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 5+0.8(4+0.9</a:t>
            </a:r>
            <a:r>
              <a:rPr b="1" i="0" lang="en-US" sz="700" u="none" cap="none" strike="noStrike">
                <a:solidFill>
                  <a:srgbClr val="FF0000"/>
                </a:solidFill>
                <a:latin typeface="Arial"/>
                <a:ea typeface="Arial"/>
                <a:cs typeface="Arial"/>
                <a:sym typeface="Arial"/>
              </a:rPr>
              <a:t>(Q2(W, ARGMAX{ 15, 5}) )</a:t>
            </a:r>
            <a:r>
              <a:rPr b="1" i="0" lang="en-US" sz="700" u="none" cap="none" strike="noStrike">
                <a:solidFill>
                  <a:schemeClr val="dk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 5+0.8(4+0.9</a:t>
            </a:r>
            <a:r>
              <a:rPr b="1" i="0" lang="en-US" sz="700" u="none" cap="none" strike="noStrike">
                <a:solidFill>
                  <a:srgbClr val="FF0000"/>
                </a:solidFill>
                <a:latin typeface="Arial"/>
                <a:ea typeface="Arial"/>
                <a:cs typeface="Arial"/>
                <a:sym typeface="Arial"/>
              </a:rPr>
              <a:t>(Q2(W, S) )</a:t>
            </a:r>
            <a:r>
              <a:rPr b="1" i="0" lang="en-US" sz="700" u="none" cap="none" strike="noStrike">
                <a:solidFill>
                  <a:schemeClr val="dk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                      = 5+0.8(4+0.9</a:t>
            </a:r>
            <a:r>
              <a:rPr b="1" i="0" lang="en-US" sz="700" u="none" cap="none" strike="noStrike">
                <a:solidFill>
                  <a:srgbClr val="FF0000"/>
                </a:solidFill>
                <a:latin typeface="Arial"/>
                <a:ea typeface="Arial"/>
                <a:cs typeface="Arial"/>
                <a:sym typeface="Arial"/>
              </a:rPr>
              <a:t>(19.6 )</a:t>
            </a:r>
            <a:r>
              <a:rPr b="1" i="0" lang="en-US" sz="700" u="none" cap="none" strike="noStrike">
                <a:solidFill>
                  <a:schemeClr val="dk1"/>
                </a:solidFill>
                <a:latin typeface="Arial"/>
                <a:ea typeface="Arial"/>
                <a:cs typeface="Arial"/>
                <a:sym typeface="Arial"/>
              </a:rPr>
              <a:t>−5)    =~18.3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Only two time step is shown here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Other time steps updated target policy ie., Q2 table and the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result is tabulated above.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530" name="Google Shape;1530;g3b75ff0c716_0_415"/>
          <p:cNvSpPr txBox="1"/>
          <p:nvPr/>
        </p:nvSpPr>
        <p:spPr>
          <a:xfrm>
            <a:off x="54070" y="785748"/>
            <a:ext cx="3873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1" baseline="-25000" i="0" sz="700" u="none" cap="none" strike="noStrike">
              <a:solidFill>
                <a:srgbClr val="000000"/>
              </a:solidFill>
              <a:latin typeface="Arial"/>
              <a:ea typeface="Arial"/>
              <a:cs typeface="Arial"/>
              <a:sym typeface="Arial"/>
            </a:endParaRPr>
          </a:p>
        </p:txBody>
      </p:sp>
      <p:pic>
        <p:nvPicPr>
          <p:cNvPr id="1531" name="Google Shape;1531;g3b75ff0c716_0_415"/>
          <p:cNvPicPr preferRelativeResize="0"/>
          <p:nvPr/>
        </p:nvPicPr>
        <p:blipFill rotWithShape="1">
          <a:blip r:embed="rId9">
            <a:alphaModFix/>
          </a:blip>
          <a:srcRect b="0" l="0" r="0" t="0"/>
          <a:stretch/>
        </p:blipFill>
        <p:spPr>
          <a:xfrm>
            <a:off x="3797359" y="35192"/>
            <a:ext cx="1958532" cy="1060146"/>
          </a:xfrm>
          <a:prstGeom prst="rect">
            <a:avLst/>
          </a:prstGeom>
          <a:noFill/>
          <a:ln>
            <a:noFill/>
          </a:ln>
        </p:spPr>
      </p:pic>
      <p:sp>
        <p:nvSpPr>
          <p:cNvPr id="1532" name="Google Shape;1532;g3b75ff0c716_0_415"/>
          <p:cNvSpPr/>
          <p:nvPr/>
        </p:nvSpPr>
        <p:spPr>
          <a:xfrm>
            <a:off x="5365917" y="322469"/>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533" name="Google Shape;1533;g3b75ff0c716_0_415"/>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5.2          0         0           19.6</a:t>
            </a:r>
            <a:endParaRPr b="0" i="0" sz="300" u="none" cap="none" strike="noStrike">
              <a:solidFill>
                <a:srgbClr val="000000"/>
              </a:solidFill>
              <a:latin typeface="Arial"/>
              <a:ea typeface="Arial"/>
              <a:cs typeface="Arial"/>
              <a:sym typeface="Arial"/>
            </a:endParaRPr>
          </a:p>
        </p:txBody>
      </p:sp>
      <p:sp>
        <p:nvSpPr>
          <p:cNvPr id="1534" name="Google Shape;1534;g3b75ff0c716_0_415"/>
          <p:cNvSpPr txBox="1"/>
          <p:nvPr/>
        </p:nvSpPr>
        <p:spPr>
          <a:xfrm>
            <a:off x="289408" y="1104116"/>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Calibri"/>
                <a:ea typeface="Calibri"/>
                <a:cs typeface="Calibri"/>
                <a:sym typeface="Calibri"/>
              </a:rPr>
              <a:t> 6.24        </a:t>
            </a:r>
            <a:r>
              <a:rPr b="0" i="0" lang="en-US" sz="800" u="none" cap="none" strike="noStrike">
                <a:solidFill>
                  <a:schemeClr val="dk1"/>
                </a:solidFill>
                <a:latin typeface="Calibri"/>
                <a:ea typeface="Calibri"/>
                <a:cs typeface="Calibri"/>
                <a:sym typeface="Calibri"/>
              </a:rPr>
              <a:t>0  </a:t>
            </a:r>
            <a:r>
              <a:rPr b="1" i="0" lang="en-US" sz="800" u="none" cap="none" strike="noStrike">
                <a:solidFill>
                  <a:schemeClr val="dk1"/>
                </a:solidFill>
                <a:latin typeface="Calibri"/>
                <a:ea typeface="Calibri"/>
                <a:cs typeface="Calibri"/>
                <a:sym typeface="Calibri"/>
              </a:rPr>
              <a:t>      -8           13.74</a:t>
            </a:r>
            <a:endParaRPr b="1" i="0" sz="300" u="none" cap="none" strike="noStrike">
              <a:solidFill>
                <a:srgbClr val="000000"/>
              </a:solidFill>
              <a:latin typeface="Arial"/>
              <a:ea typeface="Arial"/>
              <a:cs typeface="Arial"/>
              <a:sym typeface="Arial"/>
            </a:endParaRPr>
          </a:p>
        </p:txBody>
      </p:sp>
      <p:sp>
        <p:nvSpPr>
          <p:cNvPr id="1535" name="Google Shape;1535;g3b75ff0c716_0_415"/>
          <p:cNvSpPr txBox="1"/>
          <p:nvPr/>
        </p:nvSpPr>
        <p:spPr>
          <a:xfrm>
            <a:off x="2153082" y="111650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18.3 </a:t>
            </a:r>
            <a:r>
              <a:rPr b="0" i="0" lang="en-US" sz="700" u="none" cap="none" strike="noStrike">
                <a:solidFill>
                  <a:srgbClr val="000000"/>
                </a:solidFill>
                <a:latin typeface="Arial"/>
                <a:ea typeface="Arial"/>
                <a:cs typeface="Arial"/>
                <a:sym typeface="Arial"/>
              </a:rPr>
              <a:t>       1        5          15 </a:t>
            </a:r>
            <a:endParaRPr b="0" i="0" sz="700" u="none" cap="none" strike="noStrike">
              <a:solidFill>
                <a:srgbClr val="000000"/>
              </a:solidFill>
              <a:latin typeface="Arial"/>
              <a:ea typeface="Arial"/>
              <a:cs typeface="Arial"/>
              <a:sym typeface="Arial"/>
            </a:endParaRPr>
          </a:p>
        </p:txBody>
      </p:sp>
      <p:sp>
        <p:nvSpPr>
          <p:cNvPr id="1536" name="Google Shape;1536;g3b75ff0c716_0_415"/>
          <p:cNvSpPr txBox="1"/>
          <p:nvPr/>
        </p:nvSpPr>
        <p:spPr>
          <a:xfrm>
            <a:off x="2140174" y="80048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5             1        5           15 </a:t>
            </a:r>
            <a:endParaRPr b="0" i="0" sz="700" u="none" cap="none" strike="noStrike">
              <a:solidFill>
                <a:srgbClr val="000000"/>
              </a:solidFill>
              <a:latin typeface="Arial"/>
              <a:ea typeface="Arial"/>
              <a:cs typeface="Arial"/>
              <a:sym typeface="Arial"/>
            </a:endParaRPr>
          </a:p>
        </p:txBody>
      </p:sp>
      <p:cxnSp>
        <p:nvCxnSpPr>
          <p:cNvPr id="1537" name="Google Shape;1537;g3b75ff0c716_0_415"/>
          <p:cNvCxnSpPr/>
          <p:nvPr/>
        </p:nvCxnSpPr>
        <p:spPr>
          <a:xfrm rot="-5400000">
            <a:off x="2876693" y="933650"/>
            <a:ext cx="1513500" cy="1127700"/>
          </a:xfrm>
          <a:prstGeom prst="curvedConnector3">
            <a:avLst>
              <a:gd fmla="val 13495" name="adj1"/>
            </a:avLst>
          </a:prstGeom>
          <a:noFill/>
          <a:ln cap="flat" cmpd="sng" w="9525">
            <a:solidFill>
              <a:srgbClr val="4A7DBA"/>
            </a:solidFill>
            <a:prstDash val="solid"/>
            <a:round/>
            <a:headEnd len="sm" w="sm" type="none"/>
            <a:tailEnd len="med" w="med" type="triangle"/>
          </a:ln>
        </p:spPr>
      </p:cxnSp>
      <p:sp>
        <p:nvSpPr>
          <p:cNvPr id="1538" name="Google Shape;1538;g3b75ff0c716_0_415"/>
          <p:cNvSpPr/>
          <p:nvPr/>
        </p:nvSpPr>
        <p:spPr>
          <a:xfrm>
            <a:off x="3729702" y="453168"/>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39" name="Google Shape;1539;g3b75ff0c716_0_415"/>
          <p:cNvSpPr/>
          <p:nvPr/>
        </p:nvSpPr>
        <p:spPr>
          <a:xfrm>
            <a:off x="3850905" y="69549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540" name="Google Shape;1540;g3b75ff0c716_0_415"/>
          <p:cNvCxnSpPr/>
          <p:nvPr/>
        </p:nvCxnSpPr>
        <p:spPr>
          <a:xfrm rot="-5400000">
            <a:off x="1492138" y="1827861"/>
            <a:ext cx="1370100" cy="332100"/>
          </a:xfrm>
          <a:prstGeom prst="curvedConnector3">
            <a:avLst>
              <a:gd fmla="val 50000" name="adj1"/>
            </a:avLst>
          </a:prstGeom>
          <a:noFill/>
          <a:ln cap="flat" cmpd="sng" w="9525">
            <a:solidFill>
              <a:schemeClr val="dk1"/>
            </a:solidFill>
            <a:prstDash val="solid"/>
            <a:round/>
            <a:headEnd len="sm" w="sm" type="none"/>
            <a:tailEnd len="med" w="med" type="triangle"/>
          </a:ln>
        </p:spPr>
      </p:cxn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1"/>
                                        </p:tgtEl>
                                        <p:attrNameLst>
                                          <p:attrName>style.visibility</p:attrName>
                                        </p:attrNameLst>
                                      </p:cBhvr>
                                      <p:to>
                                        <p:strVal val="visible"/>
                                      </p:to>
                                    </p:set>
                                    <p:animEffect filter="fade" transition="in">
                                      <p:cBhvr>
                                        <p:cTn dur="500"/>
                                        <p:tgtEl>
                                          <p:spTgt spid="15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pic>
        <p:nvPicPr>
          <p:cNvPr id="1545" name="Google Shape;1545;g3b75ff0c716_0_478"/>
          <p:cNvPicPr preferRelativeResize="0"/>
          <p:nvPr/>
        </p:nvPicPr>
        <p:blipFill rotWithShape="1">
          <a:blip r:embed="rId3">
            <a:alphaModFix/>
          </a:blip>
          <a:srcRect b="0" l="0" r="0" t="0"/>
          <a:stretch/>
        </p:blipFill>
        <p:spPr>
          <a:xfrm>
            <a:off x="2994214" y="410746"/>
            <a:ext cx="276927" cy="275955"/>
          </a:xfrm>
          <a:prstGeom prst="rect">
            <a:avLst/>
          </a:prstGeom>
          <a:noFill/>
          <a:ln>
            <a:noFill/>
          </a:ln>
        </p:spPr>
      </p:pic>
      <p:sp>
        <p:nvSpPr>
          <p:cNvPr id="1546" name="Google Shape;1546;g3b75ff0c716_0_478"/>
          <p:cNvSpPr/>
          <p:nvPr/>
        </p:nvSpPr>
        <p:spPr>
          <a:xfrm>
            <a:off x="2164056" y="1416916"/>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547" name="Google Shape;1547;g3b75ff0c716_0_478"/>
          <p:cNvSpPr/>
          <p:nvPr/>
        </p:nvSpPr>
        <p:spPr>
          <a:xfrm>
            <a:off x="2179296" y="1072214"/>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548" name="Google Shape;1548;g3b75ff0c716_0_478"/>
          <p:cNvSpPr/>
          <p:nvPr/>
        </p:nvSpPr>
        <p:spPr>
          <a:xfrm>
            <a:off x="2182136" y="784025"/>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549" name="Google Shape;1549;g3b75ff0c716_0_478"/>
          <p:cNvCxnSpPr/>
          <p:nvPr/>
        </p:nvCxnSpPr>
        <p:spPr>
          <a:xfrm>
            <a:off x="2764323" y="769938"/>
            <a:ext cx="0" cy="225300"/>
          </a:xfrm>
          <a:prstGeom prst="straightConnector1">
            <a:avLst/>
          </a:prstGeom>
          <a:noFill/>
          <a:ln cap="flat" cmpd="sng" w="9525">
            <a:solidFill>
              <a:schemeClr val="dk1"/>
            </a:solidFill>
            <a:prstDash val="solid"/>
            <a:round/>
            <a:headEnd len="sm" w="sm" type="none"/>
            <a:tailEnd len="sm" w="sm" type="none"/>
          </a:ln>
        </p:spPr>
      </p:cxnSp>
      <p:cxnSp>
        <p:nvCxnSpPr>
          <p:cNvPr id="1550" name="Google Shape;1550;g3b75ff0c716_0_478"/>
          <p:cNvCxnSpPr/>
          <p:nvPr/>
        </p:nvCxnSpPr>
        <p:spPr>
          <a:xfrm>
            <a:off x="2764323" y="1083652"/>
            <a:ext cx="0" cy="225300"/>
          </a:xfrm>
          <a:prstGeom prst="straightConnector1">
            <a:avLst/>
          </a:prstGeom>
          <a:noFill/>
          <a:ln cap="flat" cmpd="sng" w="9525">
            <a:solidFill>
              <a:schemeClr val="dk1"/>
            </a:solidFill>
            <a:prstDash val="solid"/>
            <a:round/>
            <a:headEnd len="sm" w="sm" type="none"/>
            <a:tailEnd len="sm" w="sm" type="none"/>
          </a:ln>
        </p:spPr>
      </p:cxnSp>
      <p:cxnSp>
        <p:nvCxnSpPr>
          <p:cNvPr id="1551" name="Google Shape;1551;g3b75ff0c716_0_478"/>
          <p:cNvCxnSpPr/>
          <p:nvPr/>
        </p:nvCxnSpPr>
        <p:spPr>
          <a:xfrm>
            <a:off x="2764323" y="1416916"/>
            <a:ext cx="0" cy="225300"/>
          </a:xfrm>
          <a:prstGeom prst="straightConnector1">
            <a:avLst/>
          </a:prstGeom>
          <a:noFill/>
          <a:ln cap="flat" cmpd="sng" w="9525">
            <a:solidFill>
              <a:schemeClr val="dk1"/>
            </a:solidFill>
            <a:prstDash val="solid"/>
            <a:round/>
            <a:headEnd len="sm" w="sm" type="none"/>
            <a:tailEnd len="sm" w="sm" type="none"/>
          </a:ln>
        </p:spPr>
      </p:cxnSp>
      <p:cxnSp>
        <p:nvCxnSpPr>
          <p:cNvPr id="1552" name="Google Shape;1552;g3b75ff0c716_0_478"/>
          <p:cNvCxnSpPr/>
          <p:nvPr/>
        </p:nvCxnSpPr>
        <p:spPr>
          <a:xfrm>
            <a:off x="3420306" y="776565"/>
            <a:ext cx="0" cy="225300"/>
          </a:xfrm>
          <a:prstGeom prst="straightConnector1">
            <a:avLst/>
          </a:prstGeom>
          <a:noFill/>
          <a:ln cap="flat" cmpd="sng" w="9525">
            <a:solidFill>
              <a:schemeClr val="dk1"/>
            </a:solidFill>
            <a:prstDash val="solid"/>
            <a:round/>
            <a:headEnd len="sm" w="sm" type="none"/>
            <a:tailEnd len="sm" w="sm" type="none"/>
          </a:ln>
        </p:spPr>
      </p:cxnSp>
      <p:cxnSp>
        <p:nvCxnSpPr>
          <p:cNvPr id="1553" name="Google Shape;1553;g3b75ff0c716_0_478"/>
          <p:cNvCxnSpPr/>
          <p:nvPr/>
        </p:nvCxnSpPr>
        <p:spPr>
          <a:xfrm>
            <a:off x="3420306" y="1090279"/>
            <a:ext cx="0" cy="225300"/>
          </a:xfrm>
          <a:prstGeom prst="straightConnector1">
            <a:avLst/>
          </a:prstGeom>
          <a:noFill/>
          <a:ln cap="flat" cmpd="sng" w="9525">
            <a:solidFill>
              <a:schemeClr val="dk1"/>
            </a:solidFill>
            <a:prstDash val="solid"/>
            <a:round/>
            <a:headEnd len="sm" w="sm" type="none"/>
            <a:tailEnd len="sm" w="sm" type="none"/>
          </a:ln>
        </p:spPr>
      </p:cxnSp>
      <p:cxnSp>
        <p:nvCxnSpPr>
          <p:cNvPr id="1554" name="Google Shape;1554;g3b75ff0c716_0_478"/>
          <p:cNvCxnSpPr/>
          <p:nvPr/>
        </p:nvCxnSpPr>
        <p:spPr>
          <a:xfrm>
            <a:off x="3420306" y="1423543"/>
            <a:ext cx="0" cy="225300"/>
          </a:xfrm>
          <a:prstGeom prst="straightConnector1">
            <a:avLst/>
          </a:prstGeom>
          <a:noFill/>
          <a:ln cap="flat" cmpd="sng" w="9525">
            <a:solidFill>
              <a:schemeClr val="dk1"/>
            </a:solidFill>
            <a:prstDash val="solid"/>
            <a:round/>
            <a:headEnd len="sm" w="sm" type="none"/>
            <a:tailEnd len="sm" w="sm" type="none"/>
          </a:ln>
        </p:spPr>
      </p:cxnSp>
      <p:pic>
        <p:nvPicPr>
          <p:cNvPr id="1555" name="Google Shape;1555;g3b75ff0c716_0_478"/>
          <p:cNvPicPr preferRelativeResize="0"/>
          <p:nvPr/>
        </p:nvPicPr>
        <p:blipFill rotWithShape="1">
          <a:blip r:embed="rId4">
            <a:alphaModFix/>
          </a:blip>
          <a:srcRect b="0" l="0" r="0" t="0"/>
          <a:stretch/>
        </p:blipFill>
        <p:spPr>
          <a:xfrm>
            <a:off x="2179296" y="646945"/>
            <a:ext cx="247568" cy="107156"/>
          </a:xfrm>
          <a:prstGeom prst="rect">
            <a:avLst/>
          </a:prstGeom>
          <a:noFill/>
          <a:ln>
            <a:noFill/>
          </a:ln>
        </p:spPr>
      </p:pic>
      <p:pic>
        <p:nvPicPr>
          <p:cNvPr id="1556" name="Google Shape;1556;g3b75ff0c716_0_478"/>
          <p:cNvPicPr preferRelativeResize="0"/>
          <p:nvPr/>
        </p:nvPicPr>
        <p:blipFill rotWithShape="1">
          <a:blip r:embed="rId5">
            <a:alphaModFix/>
          </a:blip>
          <a:srcRect b="0" l="0" r="0" t="0"/>
          <a:stretch/>
        </p:blipFill>
        <p:spPr>
          <a:xfrm>
            <a:off x="2514520" y="644550"/>
            <a:ext cx="249913" cy="117267"/>
          </a:xfrm>
          <a:prstGeom prst="rect">
            <a:avLst/>
          </a:prstGeom>
          <a:noFill/>
          <a:ln>
            <a:noFill/>
          </a:ln>
        </p:spPr>
      </p:pic>
      <p:pic>
        <p:nvPicPr>
          <p:cNvPr id="1557" name="Google Shape;1557;g3b75ff0c716_0_478"/>
          <p:cNvPicPr preferRelativeResize="0"/>
          <p:nvPr/>
        </p:nvPicPr>
        <p:blipFill rotWithShape="1">
          <a:blip r:embed="rId4">
            <a:alphaModFix/>
          </a:blip>
          <a:srcRect b="0" l="0" r="0" t="0"/>
          <a:stretch/>
        </p:blipFill>
        <p:spPr>
          <a:xfrm>
            <a:off x="2822025" y="633695"/>
            <a:ext cx="247568" cy="107156"/>
          </a:xfrm>
          <a:prstGeom prst="rect">
            <a:avLst/>
          </a:prstGeom>
          <a:noFill/>
          <a:ln>
            <a:noFill/>
          </a:ln>
        </p:spPr>
      </p:pic>
      <p:pic>
        <p:nvPicPr>
          <p:cNvPr id="1558" name="Google Shape;1558;g3b75ff0c716_0_478"/>
          <p:cNvPicPr preferRelativeResize="0"/>
          <p:nvPr/>
        </p:nvPicPr>
        <p:blipFill rotWithShape="1">
          <a:blip r:embed="rId5">
            <a:alphaModFix/>
          </a:blip>
          <a:srcRect b="0" l="0" r="0" t="0"/>
          <a:stretch/>
        </p:blipFill>
        <p:spPr>
          <a:xfrm>
            <a:off x="3157249" y="631300"/>
            <a:ext cx="249913" cy="117267"/>
          </a:xfrm>
          <a:prstGeom prst="rect">
            <a:avLst/>
          </a:prstGeom>
          <a:noFill/>
          <a:ln>
            <a:noFill/>
          </a:ln>
        </p:spPr>
      </p:pic>
      <p:pic>
        <p:nvPicPr>
          <p:cNvPr id="1559" name="Google Shape;1559;g3b75ff0c716_0_478"/>
          <p:cNvPicPr preferRelativeResize="0"/>
          <p:nvPr/>
        </p:nvPicPr>
        <p:blipFill rotWithShape="1">
          <a:blip r:embed="rId4">
            <a:alphaModFix/>
          </a:blip>
          <a:srcRect b="0" l="0" r="0" t="0"/>
          <a:stretch/>
        </p:blipFill>
        <p:spPr>
          <a:xfrm>
            <a:off x="3431619" y="633696"/>
            <a:ext cx="247568" cy="107156"/>
          </a:xfrm>
          <a:prstGeom prst="rect">
            <a:avLst/>
          </a:prstGeom>
          <a:noFill/>
          <a:ln>
            <a:noFill/>
          </a:ln>
        </p:spPr>
      </p:pic>
      <p:pic>
        <p:nvPicPr>
          <p:cNvPr id="1560" name="Google Shape;1560;g3b75ff0c716_0_478"/>
          <p:cNvPicPr preferRelativeResize="0"/>
          <p:nvPr/>
        </p:nvPicPr>
        <p:blipFill rotWithShape="1">
          <a:blip r:embed="rId5">
            <a:alphaModFix/>
          </a:blip>
          <a:srcRect b="0" l="0" r="0" t="0"/>
          <a:stretch/>
        </p:blipFill>
        <p:spPr>
          <a:xfrm>
            <a:off x="3766843" y="631301"/>
            <a:ext cx="249913" cy="117267"/>
          </a:xfrm>
          <a:prstGeom prst="rect">
            <a:avLst/>
          </a:prstGeom>
          <a:noFill/>
          <a:ln>
            <a:noFill/>
          </a:ln>
        </p:spPr>
      </p:pic>
      <p:cxnSp>
        <p:nvCxnSpPr>
          <p:cNvPr id="1561" name="Google Shape;1561;g3b75ff0c716_0_478"/>
          <p:cNvCxnSpPr/>
          <p:nvPr/>
        </p:nvCxnSpPr>
        <p:spPr>
          <a:xfrm>
            <a:off x="2162539" y="410746"/>
            <a:ext cx="0" cy="1975500"/>
          </a:xfrm>
          <a:prstGeom prst="straightConnector1">
            <a:avLst/>
          </a:prstGeom>
          <a:noFill/>
          <a:ln cap="flat" cmpd="sng" w="9525">
            <a:solidFill>
              <a:srgbClr val="0070C0"/>
            </a:solidFill>
            <a:prstDash val="solid"/>
            <a:round/>
            <a:headEnd len="sm" w="sm" type="none"/>
            <a:tailEnd len="sm" w="sm" type="none"/>
          </a:ln>
        </p:spPr>
      </p:cxnSp>
      <p:sp>
        <p:nvSpPr>
          <p:cNvPr id="1562" name="Google Shape;1562;g3b75ff0c716_0_478"/>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	Target		Behavior</a:t>
            </a:r>
            <a:endParaRPr/>
          </a:p>
        </p:txBody>
      </p:sp>
      <p:sp>
        <p:nvSpPr>
          <p:cNvPr id="1563" name="Google Shape;1563;g3b75ff0c716_0_478"/>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64" name="Google Shape;1564;g3b75ff0c716_0_478"/>
          <p:cNvGrpSpPr/>
          <p:nvPr/>
        </p:nvGrpSpPr>
        <p:grpSpPr>
          <a:xfrm>
            <a:off x="0" y="3109250"/>
            <a:ext cx="5760261" cy="92075"/>
            <a:chOff x="0" y="3109250"/>
            <a:chExt cx="5760261" cy="92075"/>
          </a:xfrm>
        </p:grpSpPr>
        <p:sp>
          <p:nvSpPr>
            <p:cNvPr id="1565" name="Google Shape;1565;g3b75ff0c716_0_478"/>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g3b75ff0c716_0_478"/>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g3b75ff0c716_0_478"/>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68" name="Google Shape;1568;g3b75ff0c716_0_478"/>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569" name="Google Shape;1569;g3b75ff0c716_0_478"/>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1570" name="Google Shape;1570;g3b75ff0c716_0_478"/>
          <p:cNvPicPr preferRelativeResize="0"/>
          <p:nvPr/>
        </p:nvPicPr>
        <p:blipFill rotWithShape="1">
          <a:blip r:embed="rId6">
            <a:alphaModFix/>
          </a:blip>
          <a:srcRect b="0" l="0" r="0" t="0"/>
          <a:stretch/>
        </p:blipFill>
        <p:spPr>
          <a:xfrm>
            <a:off x="485263" y="408737"/>
            <a:ext cx="253340" cy="263412"/>
          </a:xfrm>
          <a:prstGeom prst="rect">
            <a:avLst/>
          </a:prstGeom>
          <a:noFill/>
          <a:ln>
            <a:noFill/>
          </a:ln>
        </p:spPr>
      </p:pic>
      <p:pic>
        <p:nvPicPr>
          <p:cNvPr id="1571" name="Google Shape;1571;g3b75ff0c716_0_478"/>
          <p:cNvPicPr preferRelativeResize="0"/>
          <p:nvPr/>
        </p:nvPicPr>
        <p:blipFill rotWithShape="1">
          <a:blip r:embed="rId7">
            <a:alphaModFix/>
          </a:blip>
          <a:srcRect b="0" l="0" r="0" t="0"/>
          <a:stretch/>
        </p:blipFill>
        <p:spPr>
          <a:xfrm>
            <a:off x="1742348" y="375332"/>
            <a:ext cx="268790" cy="301041"/>
          </a:xfrm>
          <a:prstGeom prst="rect">
            <a:avLst/>
          </a:prstGeom>
          <a:noFill/>
          <a:ln>
            <a:noFill/>
          </a:ln>
        </p:spPr>
      </p:pic>
      <p:pic>
        <p:nvPicPr>
          <p:cNvPr id="1572" name="Google Shape;1572;g3b75ff0c716_0_478"/>
          <p:cNvPicPr preferRelativeResize="0"/>
          <p:nvPr/>
        </p:nvPicPr>
        <p:blipFill rotWithShape="1">
          <a:blip r:embed="rId3">
            <a:alphaModFix/>
          </a:blip>
          <a:srcRect b="0" l="0" r="0" t="0"/>
          <a:stretch/>
        </p:blipFill>
        <p:spPr>
          <a:xfrm>
            <a:off x="1139997" y="415805"/>
            <a:ext cx="276927" cy="275955"/>
          </a:xfrm>
          <a:prstGeom prst="rect">
            <a:avLst/>
          </a:prstGeom>
          <a:noFill/>
          <a:ln>
            <a:noFill/>
          </a:ln>
        </p:spPr>
      </p:pic>
      <p:sp>
        <p:nvSpPr>
          <p:cNvPr id="1573" name="Google Shape;1573;g3b75ff0c716_0_478"/>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574" name="Google Shape;1574;g3b75ff0c716_0_478"/>
          <p:cNvPicPr preferRelativeResize="0"/>
          <p:nvPr/>
        </p:nvPicPr>
        <p:blipFill rotWithShape="1">
          <a:blip r:embed="rId8">
            <a:alphaModFix/>
          </a:blip>
          <a:srcRect b="0" l="0" r="0" t="0"/>
          <a:stretch/>
        </p:blipFill>
        <p:spPr>
          <a:xfrm>
            <a:off x="4069116" y="1789961"/>
            <a:ext cx="1640171" cy="889000"/>
          </a:xfrm>
          <a:prstGeom prst="rect">
            <a:avLst/>
          </a:prstGeom>
          <a:noFill/>
          <a:ln>
            <a:noFill/>
          </a:ln>
        </p:spPr>
      </p:pic>
      <p:sp>
        <p:nvSpPr>
          <p:cNvPr id="1575" name="Google Shape;1575;g3b75ff0c716_0_478"/>
          <p:cNvSpPr txBox="1"/>
          <p:nvPr/>
        </p:nvSpPr>
        <p:spPr>
          <a:xfrm>
            <a:off x="4680998" y="1796495"/>
            <a:ext cx="41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π</a:t>
            </a:r>
            <a:endParaRPr b="1" baseline="-25000" i="0" sz="1100" u="none" cap="none" strike="noStrike">
              <a:solidFill>
                <a:schemeClr val="dk1"/>
              </a:solidFill>
              <a:latin typeface="Arial"/>
              <a:ea typeface="Arial"/>
              <a:cs typeface="Arial"/>
              <a:sym typeface="Arial"/>
            </a:endParaRPr>
          </a:p>
        </p:txBody>
      </p:sp>
      <p:sp>
        <p:nvSpPr>
          <p:cNvPr id="1576" name="Google Shape;1576;g3b75ff0c716_0_478"/>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577" name="Google Shape;1577;g3b75ff0c716_0_478"/>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578" name="Google Shape;1578;g3b75ff0c716_0_478"/>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579" name="Google Shape;1579;g3b75ff0c716_0_478"/>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5.2          0         0           19.6</a:t>
            </a:r>
            <a:endParaRPr b="0" i="0" sz="300" u="none" cap="none" strike="noStrike">
              <a:solidFill>
                <a:srgbClr val="000000"/>
              </a:solidFill>
              <a:latin typeface="Arial"/>
              <a:ea typeface="Arial"/>
              <a:cs typeface="Arial"/>
              <a:sym typeface="Arial"/>
            </a:endParaRPr>
          </a:p>
        </p:txBody>
      </p:sp>
      <p:cxnSp>
        <p:nvCxnSpPr>
          <p:cNvPr id="1580" name="Google Shape;1580;g3b75ff0c716_0_478"/>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581" name="Google Shape;1581;g3b75ff0c716_0_478"/>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582" name="Google Shape;1582;g3b75ff0c716_0_478"/>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583" name="Google Shape;1583;g3b75ff0c716_0_478"/>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584" name="Google Shape;1584;g3b75ff0c716_0_478"/>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585" name="Google Shape;1585;g3b75ff0c716_0_478"/>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586" name="Google Shape;1586;g3b75ff0c716_0_478"/>
          <p:cNvPicPr preferRelativeResize="0"/>
          <p:nvPr/>
        </p:nvPicPr>
        <p:blipFill rotWithShape="1">
          <a:blip r:embed="rId4">
            <a:alphaModFix/>
          </a:blip>
          <a:srcRect b="0" l="0" r="0" t="0"/>
          <a:stretch/>
        </p:blipFill>
        <p:spPr>
          <a:xfrm>
            <a:off x="325079" y="652004"/>
            <a:ext cx="247568" cy="107156"/>
          </a:xfrm>
          <a:prstGeom prst="rect">
            <a:avLst/>
          </a:prstGeom>
          <a:noFill/>
          <a:ln>
            <a:noFill/>
          </a:ln>
        </p:spPr>
      </p:pic>
      <p:pic>
        <p:nvPicPr>
          <p:cNvPr id="1587" name="Google Shape;1587;g3b75ff0c716_0_478"/>
          <p:cNvPicPr preferRelativeResize="0"/>
          <p:nvPr/>
        </p:nvPicPr>
        <p:blipFill rotWithShape="1">
          <a:blip r:embed="rId5">
            <a:alphaModFix/>
          </a:blip>
          <a:srcRect b="0" l="0" r="0" t="0"/>
          <a:stretch/>
        </p:blipFill>
        <p:spPr>
          <a:xfrm>
            <a:off x="660303" y="649609"/>
            <a:ext cx="249913" cy="117267"/>
          </a:xfrm>
          <a:prstGeom prst="rect">
            <a:avLst/>
          </a:prstGeom>
          <a:noFill/>
          <a:ln>
            <a:noFill/>
          </a:ln>
        </p:spPr>
      </p:pic>
      <p:pic>
        <p:nvPicPr>
          <p:cNvPr id="1588" name="Google Shape;1588;g3b75ff0c716_0_478"/>
          <p:cNvPicPr preferRelativeResize="0"/>
          <p:nvPr/>
        </p:nvPicPr>
        <p:blipFill rotWithShape="1">
          <a:blip r:embed="rId4">
            <a:alphaModFix/>
          </a:blip>
          <a:srcRect b="0" l="0" r="0" t="0"/>
          <a:stretch/>
        </p:blipFill>
        <p:spPr>
          <a:xfrm>
            <a:off x="967808" y="638754"/>
            <a:ext cx="247568" cy="107156"/>
          </a:xfrm>
          <a:prstGeom prst="rect">
            <a:avLst/>
          </a:prstGeom>
          <a:noFill/>
          <a:ln>
            <a:noFill/>
          </a:ln>
        </p:spPr>
      </p:pic>
      <p:pic>
        <p:nvPicPr>
          <p:cNvPr id="1589" name="Google Shape;1589;g3b75ff0c716_0_478"/>
          <p:cNvPicPr preferRelativeResize="0"/>
          <p:nvPr/>
        </p:nvPicPr>
        <p:blipFill rotWithShape="1">
          <a:blip r:embed="rId5">
            <a:alphaModFix/>
          </a:blip>
          <a:srcRect b="0" l="0" r="0" t="0"/>
          <a:stretch/>
        </p:blipFill>
        <p:spPr>
          <a:xfrm>
            <a:off x="1303032" y="636359"/>
            <a:ext cx="249913" cy="117267"/>
          </a:xfrm>
          <a:prstGeom prst="rect">
            <a:avLst/>
          </a:prstGeom>
          <a:noFill/>
          <a:ln>
            <a:noFill/>
          </a:ln>
        </p:spPr>
      </p:pic>
      <p:pic>
        <p:nvPicPr>
          <p:cNvPr id="1590" name="Google Shape;1590;g3b75ff0c716_0_478"/>
          <p:cNvPicPr preferRelativeResize="0"/>
          <p:nvPr/>
        </p:nvPicPr>
        <p:blipFill rotWithShape="1">
          <a:blip r:embed="rId4">
            <a:alphaModFix/>
          </a:blip>
          <a:srcRect b="0" l="0" r="0" t="0"/>
          <a:stretch/>
        </p:blipFill>
        <p:spPr>
          <a:xfrm>
            <a:off x="1577402" y="638755"/>
            <a:ext cx="247568" cy="107156"/>
          </a:xfrm>
          <a:prstGeom prst="rect">
            <a:avLst/>
          </a:prstGeom>
          <a:noFill/>
          <a:ln>
            <a:noFill/>
          </a:ln>
        </p:spPr>
      </p:pic>
      <p:pic>
        <p:nvPicPr>
          <p:cNvPr id="1591" name="Google Shape;1591;g3b75ff0c716_0_478"/>
          <p:cNvPicPr preferRelativeResize="0"/>
          <p:nvPr/>
        </p:nvPicPr>
        <p:blipFill rotWithShape="1">
          <a:blip r:embed="rId5">
            <a:alphaModFix/>
          </a:blip>
          <a:srcRect b="0" l="0" r="0" t="0"/>
          <a:stretch/>
        </p:blipFill>
        <p:spPr>
          <a:xfrm>
            <a:off x="1912626" y="636360"/>
            <a:ext cx="249913" cy="117267"/>
          </a:xfrm>
          <a:prstGeom prst="rect">
            <a:avLst/>
          </a:prstGeom>
          <a:noFill/>
          <a:ln>
            <a:noFill/>
          </a:ln>
        </p:spPr>
      </p:pic>
      <p:sp>
        <p:nvSpPr>
          <p:cNvPr id="1592" name="Google Shape;1592;g3b75ff0c716_0_478"/>
          <p:cNvSpPr/>
          <p:nvPr/>
        </p:nvSpPr>
        <p:spPr>
          <a:xfrm>
            <a:off x="3577091" y="34435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93" name="Google Shape;1593;g3b75ff0c716_0_478"/>
          <p:cNvSpPr txBox="1"/>
          <p:nvPr/>
        </p:nvSpPr>
        <p:spPr>
          <a:xfrm>
            <a:off x="2852197" y="2600622"/>
            <a:ext cx="2908200" cy="400200"/>
          </a:xfrm>
          <a:prstGeom prst="rect">
            <a:avLst/>
          </a:prstGeom>
          <a:solidFill>
            <a:srgbClr val="FFFF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chemeClr val="dk1"/>
                </a:solidFill>
                <a:latin typeface="Arial"/>
                <a:ea typeface="Arial"/>
                <a:cs typeface="Arial"/>
                <a:sym typeface="Arial"/>
              </a:rPr>
              <a:t>Two more episodes are completed and the results of the update per Q(State, Action) is shown . Students are advised to practice this.</a:t>
            </a:r>
            <a:endParaRPr b="1" i="0" sz="700" u="none" cap="none" strike="noStrike">
              <a:solidFill>
                <a:schemeClr val="dk1"/>
              </a:solidFill>
              <a:latin typeface="Arial"/>
              <a:ea typeface="Arial"/>
              <a:cs typeface="Arial"/>
              <a:sym typeface="Arial"/>
            </a:endParaRPr>
          </a:p>
        </p:txBody>
      </p:sp>
      <p:sp>
        <p:nvSpPr>
          <p:cNvPr id="1594" name="Google Shape;1594;g3b75ff0c716_0_478"/>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g3b75ff0c716_0_478"/>
          <p:cNvSpPr txBox="1"/>
          <p:nvPr/>
        </p:nvSpPr>
        <p:spPr>
          <a:xfrm>
            <a:off x="113478" y="2346680"/>
            <a:ext cx="2793000" cy="16278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1: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20,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2,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4, </a:t>
            </a:r>
            <a:r>
              <a:rPr b="1" i="0" lang="en-US" sz="700" u="none" cap="none" strike="noStrike">
                <a:solidFill>
                  <a:srgbClr val="C00000"/>
                </a:solidFill>
                <a:latin typeface="Arial"/>
                <a:ea typeface="Arial"/>
                <a:cs typeface="Arial"/>
                <a:sym typeface="Arial"/>
              </a:rPr>
              <a:t>W,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 , </a:t>
            </a:r>
            <a:r>
              <a:rPr b="1" i="0" lang="en-US" sz="700" u="none" cap="none" strike="noStrike">
                <a:solidFill>
                  <a:schemeClr val="dk1"/>
                </a:solidFill>
                <a:latin typeface="Arial"/>
                <a:ea typeface="Arial"/>
                <a:cs typeface="Arial"/>
                <a:sym typeface="Arial"/>
              </a:rPr>
              <a:t>F,</a:t>
            </a:r>
            <a:r>
              <a:rPr b="1" i="0" lang="en-US" sz="700" u="none" cap="none" strike="noStrike">
                <a:solidFill>
                  <a:srgbClr val="0070C0"/>
                </a:solidFill>
                <a:latin typeface="Arial"/>
                <a:ea typeface="Arial"/>
                <a:cs typeface="Arial"/>
                <a:sym typeface="Arial"/>
              </a:rPr>
              <a:t> -10, </a:t>
            </a:r>
            <a:r>
              <a:rPr b="1" i="0" lang="en-US" sz="700" u="none" cap="none" strike="noStrike">
                <a:solidFill>
                  <a:srgbClr val="C00000"/>
                </a:solidFill>
                <a:latin typeface="Arial"/>
                <a:ea typeface="Arial"/>
                <a:cs typeface="Arial"/>
                <a:sym typeface="Arial"/>
              </a:rPr>
              <a:t>O</a:t>
            </a:r>
            <a:r>
              <a:rPr b="1" i="0" lang="en-US" sz="700" u="none" cap="none" strike="noStrike">
                <a:solidFill>
                  <a:schemeClr val="dk1"/>
                </a:solidFill>
                <a:latin typeface="Arial"/>
                <a:ea typeface="Arial"/>
                <a:cs typeface="Arial"/>
                <a:sym typeface="Arial"/>
              </a:rPr>
              <a:t> </a:t>
            </a:r>
            <a:endParaRPr b="1" i="0" sz="7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3: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F, </a:t>
            </a:r>
            <a:r>
              <a:rPr b="1" i="0" lang="en-US" sz="700" u="none" cap="none" strike="noStrike">
                <a:solidFill>
                  <a:srgbClr val="0070C0"/>
                </a:solidFill>
                <a:latin typeface="Arial"/>
                <a:ea typeface="Arial"/>
                <a:cs typeface="Arial"/>
                <a:sym typeface="Arial"/>
              </a:rPr>
              <a:t>+10, </a:t>
            </a:r>
            <a:r>
              <a:rPr b="1" i="0" lang="en-US" sz="700" u="none" cap="none" strike="noStrike">
                <a:solidFill>
                  <a:srgbClr val="C00000"/>
                </a:solidFill>
                <a:latin typeface="Arial"/>
                <a:ea typeface="Arial"/>
                <a:cs typeface="Arial"/>
                <a:sym typeface="Arial"/>
              </a:rPr>
              <a:t>O</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4: </a:t>
            </a:r>
            <a:r>
              <a:rPr b="1" i="0" lang="en-US" sz="700" u="none" cap="none" strike="noStrike">
                <a:solidFill>
                  <a:srgbClr val="C00000"/>
                </a:solidFill>
                <a:latin typeface="Arial"/>
                <a:ea typeface="Arial"/>
                <a:cs typeface="Arial"/>
                <a:sym typeface="Arial"/>
              </a:rPr>
              <a:t>C</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+1,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 </a:t>
            </a:r>
            <a:r>
              <a:rPr b="1" i="0" lang="en-US" sz="700" u="none" cap="none" strike="noStrike">
                <a:solidFill>
                  <a:srgbClr val="0070C0"/>
                </a:solidFill>
                <a:latin typeface="Arial"/>
                <a:ea typeface="Arial"/>
                <a:cs typeface="Arial"/>
                <a:sym typeface="Arial"/>
              </a:rPr>
              <a:t>+10, </a:t>
            </a:r>
            <a:r>
              <a:rPr b="1" i="0" lang="en-US" sz="700" u="none" cap="none" strike="noStrike">
                <a:solidFill>
                  <a:srgbClr val="C00000"/>
                </a:solidFill>
                <a:latin typeface="Arial"/>
                <a:ea typeface="Arial"/>
                <a:cs typeface="Arial"/>
                <a:sym typeface="Arial"/>
              </a:rPr>
              <a:t>C</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5: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70C0"/>
                </a:solidFill>
                <a:latin typeface="Arial"/>
                <a:ea typeface="Arial"/>
                <a:cs typeface="Arial"/>
                <a:sym typeface="Arial"/>
              </a:rPr>
              <a:t>Episode 6: </a:t>
            </a:r>
            <a:r>
              <a:rPr b="1" i="0" lang="en-US" sz="700" u="none" cap="none" strike="noStrike">
                <a:solidFill>
                  <a:srgbClr val="C00000"/>
                </a:solidFill>
                <a:latin typeface="Arial"/>
                <a:ea typeface="Arial"/>
                <a:cs typeface="Arial"/>
                <a:sym typeface="Arial"/>
              </a:rPr>
              <a:t>W</a:t>
            </a:r>
            <a:r>
              <a:rPr b="1" i="0" lang="en-US" sz="700" u="none" cap="none" strike="noStrike">
                <a:solidFill>
                  <a:srgbClr val="0070C0"/>
                </a:solidFill>
                <a:latin typeface="Arial"/>
                <a:ea typeface="Arial"/>
                <a:cs typeface="Arial"/>
                <a:sym typeface="Arial"/>
              </a:rPr>
              <a:t>, </a:t>
            </a:r>
            <a:r>
              <a:rPr b="1" i="0" lang="en-US" sz="700" u="none" cap="none" strike="noStrike">
                <a:solidFill>
                  <a:schemeClr val="dk1"/>
                </a:solidFill>
                <a:latin typeface="Arial"/>
                <a:ea typeface="Arial"/>
                <a:cs typeface="Arial"/>
                <a:sym typeface="Arial"/>
              </a:rPr>
              <a:t>S</a:t>
            </a:r>
            <a:r>
              <a:rPr b="1" i="0" lang="en-US" sz="700" u="none" cap="none" strike="noStrike">
                <a:solidFill>
                  <a:srgbClr val="0070C0"/>
                </a:solidFill>
                <a:latin typeface="Arial"/>
                <a:ea typeface="Arial"/>
                <a:cs typeface="Arial"/>
                <a:sym typeface="Arial"/>
              </a:rPr>
              <a:t>, +5, </a:t>
            </a:r>
            <a:r>
              <a:rPr b="1" i="0" lang="en-US" sz="700" u="none" cap="none" strike="noStrike">
                <a:solidFill>
                  <a:srgbClr val="C00000"/>
                </a:solidFill>
                <a:latin typeface="Arial"/>
                <a:ea typeface="Arial"/>
                <a:cs typeface="Arial"/>
                <a:sym typeface="Arial"/>
              </a:rPr>
              <a:t>W</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Arial"/>
              <a:ea typeface="Arial"/>
              <a:cs typeface="Arial"/>
              <a:sym typeface="Arial"/>
            </a:endParaRPr>
          </a:p>
        </p:txBody>
      </p:sp>
      <p:sp>
        <p:nvSpPr>
          <p:cNvPr id="1596" name="Google Shape;1596;g3b75ff0c716_0_478"/>
          <p:cNvSpPr txBox="1"/>
          <p:nvPr/>
        </p:nvSpPr>
        <p:spPr>
          <a:xfrm>
            <a:off x="54070" y="785748"/>
            <a:ext cx="3873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4</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5</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6</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p:txBody>
      </p:sp>
      <p:sp>
        <p:nvSpPr>
          <p:cNvPr id="1597" name="Google Shape;1597;g3b75ff0c716_0_478"/>
          <p:cNvSpPr txBox="1"/>
          <p:nvPr/>
        </p:nvSpPr>
        <p:spPr>
          <a:xfrm>
            <a:off x="289408" y="1104116"/>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0        -8           13.74</a:t>
            </a:r>
            <a:endParaRPr b="0" i="0" sz="300" u="none" cap="none" strike="noStrike">
              <a:solidFill>
                <a:srgbClr val="000000"/>
              </a:solidFill>
              <a:latin typeface="Arial"/>
              <a:ea typeface="Arial"/>
              <a:cs typeface="Arial"/>
              <a:sym typeface="Arial"/>
            </a:endParaRPr>
          </a:p>
        </p:txBody>
      </p:sp>
      <p:sp>
        <p:nvSpPr>
          <p:cNvPr id="1598" name="Google Shape;1598;g3b75ff0c716_0_478"/>
          <p:cNvSpPr txBox="1"/>
          <p:nvPr/>
        </p:nvSpPr>
        <p:spPr>
          <a:xfrm>
            <a:off x="309839" y="143479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6.24        0        </a:t>
            </a:r>
            <a:r>
              <a:rPr b="1" i="0" lang="en-US" sz="800" u="none" cap="none" strike="noStrike">
                <a:solidFill>
                  <a:schemeClr val="dk1"/>
                </a:solidFill>
                <a:latin typeface="Calibri"/>
                <a:ea typeface="Calibri"/>
                <a:cs typeface="Calibri"/>
                <a:sym typeface="Calibri"/>
              </a:rPr>
              <a:t>9</a:t>
            </a:r>
            <a:r>
              <a:rPr b="0" i="0" lang="en-US" sz="800" u="none" cap="none" strike="noStrike">
                <a:solidFill>
                  <a:schemeClr val="dk1"/>
                </a:solidFill>
                <a:latin typeface="Calibri"/>
                <a:ea typeface="Calibri"/>
                <a:cs typeface="Calibri"/>
                <a:sym typeface="Calibri"/>
              </a:rPr>
              <a:t>           13.74</a:t>
            </a:r>
            <a:endParaRPr b="0" i="0" sz="300" u="none" cap="none" strike="noStrike">
              <a:solidFill>
                <a:srgbClr val="000000"/>
              </a:solidFill>
              <a:latin typeface="Arial"/>
              <a:ea typeface="Arial"/>
              <a:cs typeface="Arial"/>
              <a:sym typeface="Arial"/>
            </a:endParaRPr>
          </a:p>
        </p:txBody>
      </p:sp>
      <p:sp>
        <p:nvSpPr>
          <p:cNvPr id="1599" name="Google Shape;1599;g3b75ff0c716_0_478"/>
          <p:cNvSpPr/>
          <p:nvPr/>
        </p:nvSpPr>
        <p:spPr>
          <a:xfrm>
            <a:off x="309839" y="16442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00" name="Google Shape;1600;g3b75ff0c716_0_478"/>
          <p:cNvCxnSpPr/>
          <p:nvPr/>
        </p:nvCxnSpPr>
        <p:spPr>
          <a:xfrm>
            <a:off x="910106" y="1644225"/>
            <a:ext cx="0" cy="225300"/>
          </a:xfrm>
          <a:prstGeom prst="straightConnector1">
            <a:avLst/>
          </a:prstGeom>
          <a:noFill/>
          <a:ln cap="flat" cmpd="sng" w="9525">
            <a:solidFill>
              <a:schemeClr val="dk1"/>
            </a:solidFill>
            <a:prstDash val="solid"/>
            <a:round/>
            <a:headEnd len="sm" w="sm" type="none"/>
            <a:tailEnd len="sm" w="sm" type="none"/>
          </a:ln>
        </p:spPr>
      </p:cxnSp>
      <p:cxnSp>
        <p:nvCxnSpPr>
          <p:cNvPr id="1601" name="Google Shape;1601;g3b75ff0c716_0_478"/>
          <p:cNvCxnSpPr/>
          <p:nvPr/>
        </p:nvCxnSpPr>
        <p:spPr>
          <a:xfrm>
            <a:off x="1566089" y="1650852"/>
            <a:ext cx="0" cy="225300"/>
          </a:xfrm>
          <a:prstGeom prst="straightConnector1">
            <a:avLst/>
          </a:prstGeom>
          <a:noFill/>
          <a:ln cap="flat" cmpd="sng" w="9525">
            <a:solidFill>
              <a:schemeClr val="dk1"/>
            </a:solidFill>
            <a:prstDash val="solid"/>
            <a:round/>
            <a:headEnd len="sm" w="sm" type="none"/>
            <a:tailEnd len="sm" w="sm" type="none"/>
          </a:ln>
        </p:spPr>
      </p:cxnSp>
      <p:sp>
        <p:nvSpPr>
          <p:cNvPr id="1602" name="Google Shape;1602;g3b75ff0c716_0_478"/>
          <p:cNvSpPr txBox="1"/>
          <p:nvPr/>
        </p:nvSpPr>
        <p:spPr>
          <a:xfrm>
            <a:off x="309839" y="165704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a:t>
            </a:r>
            <a:r>
              <a:rPr b="1" i="0" lang="en-US" sz="800" u="none" cap="none" strike="noStrike">
                <a:solidFill>
                  <a:schemeClr val="dk1"/>
                </a:solidFill>
                <a:latin typeface="Calibri"/>
                <a:ea typeface="Calibri"/>
                <a:cs typeface="Calibri"/>
                <a:sym typeface="Calibri"/>
              </a:rPr>
              <a:t>12.9</a:t>
            </a:r>
            <a:r>
              <a:rPr b="0" i="0" lang="en-US" sz="800" u="none" cap="none" strike="noStrike">
                <a:solidFill>
                  <a:schemeClr val="dk1"/>
                </a:solidFill>
                <a:latin typeface="Calibri"/>
                <a:ea typeface="Calibri"/>
                <a:cs typeface="Calibri"/>
                <a:sym typeface="Calibri"/>
              </a:rPr>
              <a:t>      9            </a:t>
            </a:r>
            <a:r>
              <a:rPr b="1" i="0" lang="en-US" sz="800" u="none" cap="none" strike="noStrike">
                <a:solidFill>
                  <a:schemeClr val="dk1"/>
                </a:solidFill>
                <a:latin typeface="Calibri"/>
                <a:ea typeface="Calibri"/>
                <a:cs typeface="Calibri"/>
                <a:sym typeface="Calibri"/>
              </a:rPr>
              <a:t>15.71</a:t>
            </a:r>
            <a:endParaRPr b="1" i="0" sz="300" u="none" cap="none" strike="noStrike">
              <a:solidFill>
                <a:srgbClr val="000000"/>
              </a:solidFill>
              <a:latin typeface="Arial"/>
              <a:ea typeface="Arial"/>
              <a:cs typeface="Arial"/>
              <a:sym typeface="Arial"/>
            </a:endParaRPr>
          </a:p>
        </p:txBody>
      </p:sp>
      <p:sp>
        <p:nvSpPr>
          <p:cNvPr id="1603" name="Google Shape;1603;g3b75ff0c716_0_478"/>
          <p:cNvSpPr/>
          <p:nvPr/>
        </p:nvSpPr>
        <p:spPr>
          <a:xfrm>
            <a:off x="309839" y="18728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04" name="Google Shape;1604;g3b75ff0c716_0_478"/>
          <p:cNvCxnSpPr/>
          <p:nvPr/>
        </p:nvCxnSpPr>
        <p:spPr>
          <a:xfrm>
            <a:off x="910106" y="1872825"/>
            <a:ext cx="0" cy="225300"/>
          </a:xfrm>
          <a:prstGeom prst="straightConnector1">
            <a:avLst/>
          </a:prstGeom>
          <a:noFill/>
          <a:ln cap="flat" cmpd="sng" w="9525">
            <a:solidFill>
              <a:schemeClr val="dk1"/>
            </a:solidFill>
            <a:prstDash val="solid"/>
            <a:round/>
            <a:headEnd len="sm" w="sm" type="none"/>
            <a:tailEnd len="sm" w="sm" type="none"/>
          </a:ln>
        </p:spPr>
      </p:cxnSp>
      <p:cxnSp>
        <p:nvCxnSpPr>
          <p:cNvPr id="1605" name="Google Shape;1605;g3b75ff0c716_0_478"/>
          <p:cNvCxnSpPr/>
          <p:nvPr/>
        </p:nvCxnSpPr>
        <p:spPr>
          <a:xfrm>
            <a:off x="1566089" y="1879452"/>
            <a:ext cx="0" cy="225300"/>
          </a:xfrm>
          <a:prstGeom prst="straightConnector1">
            <a:avLst/>
          </a:prstGeom>
          <a:noFill/>
          <a:ln cap="flat" cmpd="sng" w="9525">
            <a:solidFill>
              <a:schemeClr val="dk1"/>
            </a:solidFill>
            <a:prstDash val="solid"/>
            <a:round/>
            <a:headEnd len="sm" w="sm" type="none"/>
            <a:tailEnd len="sm" w="sm" type="none"/>
          </a:ln>
        </p:spPr>
      </p:cxnSp>
      <p:sp>
        <p:nvSpPr>
          <p:cNvPr id="1606" name="Google Shape;1606;g3b75ff0c716_0_478"/>
          <p:cNvSpPr txBox="1"/>
          <p:nvPr/>
        </p:nvSpPr>
        <p:spPr>
          <a:xfrm>
            <a:off x="309839" y="188564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6.24    12.9      9            </a:t>
            </a:r>
            <a:r>
              <a:rPr b="1" i="0" lang="en-US" sz="800" u="none" cap="none" strike="noStrike">
                <a:solidFill>
                  <a:schemeClr val="dk1"/>
                </a:solidFill>
                <a:latin typeface="Calibri"/>
                <a:ea typeface="Calibri"/>
                <a:cs typeface="Calibri"/>
                <a:sym typeface="Calibri"/>
              </a:rPr>
              <a:t>10.57</a:t>
            </a:r>
            <a:endParaRPr b="0" i="0" sz="300" u="none" cap="none" strike="noStrike">
              <a:solidFill>
                <a:srgbClr val="000000"/>
              </a:solidFill>
              <a:latin typeface="Arial"/>
              <a:ea typeface="Arial"/>
              <a:cs typeface="Arial"/>
              <a:sym typeface="Arial"/>
            </a:endParaRPr>
          </a:p>
        </p:txBody>
      </p:sp>
      <p:sp>
        <p:nvSpPr>
          <p:cNvPr id="1607" name="Google Shape;1607;g3b75ff0c716_0_478"/>
          <p:cNvSpPr/>
          <p:nvPr/>
        </p:nvSpPr>
        <p:spPr>
          <a:xfrm>
            <a:off x="310939" y="2088820"/>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08" name="Google Shape;1608;g3b75ff0c716_0_478"/>
          <p:cNvCxnSpPr/>
          <p:nvPr/>
        </p:nvCxnSpPr>
        <p:spPr>
          <a:xfrm>
            <a:off x="911206" y="2088820"/>
            <a:ext cx="0" cy="225300"/>
          </a:xfrm>
          <a:prstGeom prst="straightConnector1">
            <a:avLst/>
          </a:prstGeom>
          <a:noFill/>
          <a:ln cap="flat" cmpd="sng" w="9525">
            <a:solidFill>
              <a:schemeClr val="dk1"/>
            </a:solidFill>
            <a:prstDash val="solid"/>
            <a:round/>
            <a:headEnd len="sm" w="sm" type="none"/>
            <a:tailEnd len="sm" w="sm" type="none"/>
          </a:ln>
        </p:spPr>
      </p:cxnSp>
      <p:cxnSp>
        <p:nvCxnSpPr>
          <p:cNvPr id="1609" name="Google Shape;1609;g3b75ff0c716_0_478"/>
          <p:cNvCxnSpPr/>
          <p:nvPr/>
        </p:nvCxnSpPr>
        <p:spPr>
          <a:xfrm>
            <a:off x="1567189" y="2095447"/>
            <a:ext cx="0" cy="225300"/>
          </a:xfrm>
          <a:prstGeom prst="straightConnector1">
            <a:avLst/>
          </a:prstGeom>
          <a:noFill/>
          <a:ln cap="flat" cmpd="sng" w="9525">
            <a:solidFill>
              <a:schemeClr val="dk1"/>
            </a:solidFill>
            <a:prstDash val="solid"/>
            <a:round/>
            <a:headEnd len="sm" w="sm" type="none"/>
            <a:tailEnd len="sm" w="sm" type="none"/>
          </a:ln>
        </p:spPr>
      </p:cxnSp>
      <p:sp>
        <p:nvSpPr>
          <p:cNvPr id="1610" name="Google Shape;1610;g3b75ff0c716_0_478"/>
          <p:cNvSpPr txBox="1"/>
          <p:nvPr/>
        </p:nvSpPr>
        <p:spPr>
          <a:xfrm>
            <a:off x="310939" y="2101640"/>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6.24    12.9      9            </a:t>
            </a:r>
            <a:r>
              <a:rPr b="1" i="0" lang="en-US" sz="800" u="none" cap="none" strike="noStrike">
                <a:solidFill>
                  <a:schemeClr val="dk1"/>
                </a:solidFill>
                <a:latin typeface="Calibri"/>
                <a:ea typeface="Calibri"/>
                <a:cs typeface="Calibri"/>
                <a:sym typeface="Calibri"/>
              </a:rPr>
              <a:t>13.7</a:t>
            </a:r>
            <a:endParaRPr b="0" i="0" sz="300" u="none" cap="none" strike="noStrike">
              <a:solidFill>
                <a:srgbClr val="000000"/>
              </a:solidFill>
              <a:latin typeface="Arial"/>
              <a:ea typeface="Arial"/>
              <a:cs typeface="Arial"/>
              <a:sym typeface="Arial"/>
            </a:endParaRPr>
          </a:p>
        </p:txBody>
      </p:sp>
      <p:pic>
        <p:nvPicPr>
          <p:cNvPr id="1611" name="Google Shape;1611;g3b75ff0c716_0_478"/>
          <p:cNvPicPr preferRelativeResize="0"/>
          <p:nvPr/>
        </p:nvPicPr>
        <p:blipFill rotWithShape="1">
          <a:blip r:embed="rId9">
            <a:alphaModFix/>
          </a:blip>
          <a:srcRect b="0" l="0" r="0" t="0"/>
          <a:stretch/>
        </p:blipFill>
        <p:spPr>
          <a:xfrm>
            <a:off x="3797359" y="35192"/>
            <a:ext cx="1958532" cy="1060146"/>
          </a:xfrm>
          <a:prstGeom prst="rect">
            <a:avLst/>
          </a:prstGeom>
          <a:noFill/>
          <a:ln>
            <a:noFill/>
          </a:ln>
        </p:spPr>
      </p:pic>
      <p:sp>
        <p:nvSpPr>
          <p:cNvPr id="1612" name="Google Shape;1612;g3b75ff0c716_0_478"/>
          <p:cNvSpPr/>
          <p:nvPr/>
        </p:nvSpPr>
        <p:spPr>
          <a:xfrm>
            <a:off x="5365917" y="322469"/>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613" name="Google Shape;1613;g3b75ff0c716_0_478"/>
          <p:cNvSpPr/>
          <p:nvPr/>
        </p:nvSpPr>
        <p:spPr>
          <a:xfrm>
            <a:off x="2157689" y="16569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14" name="Google Shape;1614;g3b75ff0c716_0_478"/>
          <p:cNvCxnSpPr/>
          <p:nvPr/>
        </p:nvCxnSpPr>
        <p:spPr>
          <a:xfrm>
            <a:off x="2757956" y="1656925"/>
            <a:ext cx="0" cy="225300"/>
          </a:xfrm>
          <a:prstGeom prst="straightConnector1">
            <a:avLst/>
          </a:prstGeom>
          <a:noFill/>
          <a:ln cap="flat" cmpd="sng" w="9525">
            <a:solidFill>
              <a:schemeClr val="dk1"/>
            </a:solidFill>
            <a:prstDash val="solid"/>
            <a:round/>
            <a:headEnd len="sm" w="sm" type="none"/>
            <a:tailEnd len="sm" w="sm" type="none"/>
          </a:ln>
        </p:spPr>
      </p:cxnSp>
      <p:cxnSp>
        <p:nvCxnSpPr>
          <p:cNvPr id="1615" name="Google Shape;1615;g3b75ff0c716_0_478"/>
          <p:cNvCxnSpPr/>
          <p:nvPr/>
        </p:nvCxnSpPr>
        <p:spPr>
          <a:xfrm>
            <a:off x="3413939" y="1663552"/>
            <a:ext cx="0" cy="225300"/>
          </a:xfrm>
          <a:prstGeom prst="straightConnector1">
            <a:avLst/>
          </a:prstGeom>
          <a:noFill/>
          <a:ln cap="flat" cmpd="sng" w="9525">
            <a:solidFill>
              <a:schemeClr val="dk1"/>
            </a:solidFill>
            <a:prstDash val="solid"/>
            <a:round/>
            <a:headEnd len="sm" w="sm" type="none"/>
            <a:tailEnd len="sm" w="sm" type="none"/>
          </a:ln>
        </p:spPr>
      </p:cxnSp>
      <p:sp>
        <p:nvSpPr>
          <p:cNvPr id="1616" name="Google Shape;1616;g3b75ff0c716_0_478"/>
          <p:cNvSpPr txBox="1"/>
          <p:nvPr/>
        </p:nvSpPr>
        <p:spPr>
          <a:xfrm>
            <a:off x="2157689" y="1669745"/>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a:t>
            </a:r>
            <a:r>
              <a:rPr b="1" i="0" lang="en-US" sz="700" u="none" cap="none" strike="noStrike">
                <a:solidFill>
                  <a:srgbClr val="000000"/>
                </a:solidFill>
                <a:latin typeface="Arial"/>
                <a:ea typeface="Arial"/>
                <a:cs typeface="Arial"/>
                <a:sym typeface="Arial"/>
              </a:rPr>
              <a:t>15.87</a:t>
            </a:r>
            <a:r>
              <a:rPr b="0" i="0" lang="en-US" sz="700" u="none" cap="none" strike="noStrike">
                <a:solidFill>
                  <a:srgbClr val="000000"/>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sp>
        <p:nvSpPr>
          <p:cNvPr id="1617" name="Google Shape;1617;g3b75ff0c716_0_478"/>
          <p:cNvSpPr/>
          <p:nvPr/>
        </p:nvSpPr>
        <p:spPr>
          <a:xfrm>
            <a:off x="2157689" y="18855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18" name="Google Shape;1618;g3b75ff0c716_0_478"/>
          <p:cNvCxnSpPr/>
          <p:nvPr/>
        </p:nvCxnSpPr>
        <p:spPr>
          <a:xfrm>
            <a:off x="2757956" y="1885525"/>
            <a:ext cx="0" cy="225300"/>
          </a:xfrm>
          <a:prstGeom prst="straightConnector1">
            <a:avLst/>
          </a:prstGeom>
          <a:noFill/>
          <a:ln cap="flat" cmpd="sng" w="9525">
            <a:solidFill>
              <a:schemeClr val="dk1"/>
            </a:solidFill>
            <a:prstDash val="solid"/>
            <a:round/>
            <a:headEnd len="sm" w="sm" type="none"/>
            <a:tailEnd len="sm" w="sm" type="none"/>
          </a:ln>
        </p:spPr>
      </p:cxnSp>
      <p:cxnSp>
        <p:nvCxnSpPr>
          <p:cNvPr id="1619" name="Google Shape;1619;g3b75ff0c716_0_478"/>
          <p:cNvCxnSpPr/>
          <p:nvPr/>
        </p:nvCxnSpPr>
        <p:spPr>
          <a:xfrm>
            <a:off x="3413939" y="1892152"/>
            <a:ext cx="0" cy="225300"/>
          </a:xfrm>
          <a:prstGeom prst="straightConnector1">
            <a:avLst/>
          </a:prstGeom>
          <a:noFill/>
          <a:ln cap="flat" cmpd="sng" w="9525">
            <a:solidFill>
              <a:schemeClr val="dk1"/>
            </a:solidFill>
            <a:prstDash val="solid"/>
            <a:round/>
            <a:headEnd len="sm" w="sm" type="none"/>
            <a:tailEnd len="sm" w="sm" type="none"/>
          </a:ln>
        </p:spPr>
      </p:cxnSp>
      <p:sp>
        <p:nvSpPr>
          <p:cNvPr id="1620" name="Google Shape;1620;g3b75ff0c716_0_478"/>
          <p:cNvSpPr txBox="1"/>
          <p:nvPr/>
        </p:nvSpPr>
        <p:spPr>
          <a:xfrm>
            <a:off x="2157689" y="1898345"/>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18.3        1        5         15.87 </a:t>
            </a:r>
            <a:endParaRPr b="0" i="0" sz="700" u="none" cap="none" strike="noStrike">
              <a:solidFill>
                <a:srgbClr val="000000"/>
              </a:solidFill>
              <a:latin typeface="Arial"/>
              <a:ea typeface="Arial"/>
              <a:cs typeface="Arial"/>
              <a:sym typeface="Arial"/>
            </a:endParaRPr>
          </a:p>
        </p:txBody>
      </p:sp>
      <p:sp>
        <p:nvSpPr>
          <p:cNvPr id="1621" name="Google Shape;1621;g3b75ff0c716_0_478"/>
          <p:cNvSpPr/>
          <p:nvPr/>
        </p:nvSpPr>
        <p:spPr>
          <a:xfrm>
            <a:off x="2158789" y="2101520"/>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22" name="Google Shape;1622;g3b75ff0c716_0_478"/>
          <p:cNvCxnSpPr/>
          <p:nvPr/>
        </p:nvCxnSpPr>
        <p:spPr>
          <a:xfrm>
            <a:off x="2759056" y="2101520"/>
            <a:ext cx="0" cy="225300"/>
          </a:xfrm>
          <a:prstGeom prst="straightConnector1">
            <a:avLst/>
          </a:prstGeom>
          <a:noFill/>
          <a:ln cap="flat" cmpd="sng" w="9525">
            <a:solidFill>
              <a:schemeClr val="dk1"/>
            </a:solidFill>
            <a:prstDash val="solid"/>
            <a:round/>
            <a:headEnd len="sm" w="sm" type="none"/>
            <a:tailEnd len="sm" w="sm" type="none"/>
          </a:ln>
        </p:spPr>
      </p:cxnSp>
      <p:cxnSp>
        <p:nvCxnSpPr>
          <p:cNvPr id="1623" name="Google Shape;1623;g3b75ff0c716_0_478"/>
          <p:cNvCxnSpPr/>
          <p:nvPr/>
        </p:nvCxnSpPr>
        <p:spPr>
          <a:xfrm>
            <a:off x="3415039" y="2108147"/>
            <a:ext cx="0" cy="225300"/>
          </a:xfrm>
          <a:prstGeom prst="straightConnector1">
            <a:avLst/>
          </a:prstGeom>
          <a:noFill/>
          <a:ln cap="flat" cmpd="sng" w="9525">
            <a:solidFill>
              <a:schemeClr val="dk1"/>
            </a:solidFill>
            <a:prstDash val="solid"/>
            <a:round/>
            <a:headEnd len="sm" w="sm" type="none"/>
            <a:tailEnd len="sm" w="sm" type="none"/>
          </a:ln>
        </p:spPr>
      </p:cxnSp>
      <p:sp>
        <p:nvSpPr>
          <p:cNvPr id="1624" name="Google Shape;1624;g3b75ff0c716_0_478"/>
          <p:cNvSpPr txBox="1"/>
          <p:nvPr/>
        </p:nvSpPr>
        <p:spPr>
          <a:xfrm>
            <a:off x="2158789" y="2114340"/>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18.3        1        5         15.87 </a:t>
            </a:r>
            <a:endParaRPr b="0" i="0" sz="700" u="none" cap="none" strike="noStrike">
              <a:solidFill>
                <a:srgbClr val="000000"/>
              </a:solidFill>
              <a:latin typeface="Arial"/>
              <a:ea typeface="Arial"/>
              <a:cs typeface="Arial"/>
              <a:sym typeface="Arial"/>
            </a:endParaRPr>
          </a:p>
        </p:txBody>
      </p:sp>
      <p:sp>
        <p:nvSpPr>
          <p:cNvPr id="1625" name="Google Shape;1625;g3b75ff0c716_0_478"/>
          <p:cNvSpPr txBox="1"/>
          <p:nvPr/>
        </p:nvSpPr>
        <p:spPr>
          <a:xfrm>
            <a:off x="2157688" y="1429163"/>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18.3        1        5         16.89 </a:t>
            </a:r>
            <a:endParaRPr b="0" i="0" sz="700" u="none" cap="none" strike="noStrike">
              <a:solidFill>
                <a:srgbClr val="000000"/>
              </a:solidFill>
              <a:latin typeface="Arial"/>
              <a:ea typeface="Arial"/>
              <a:cs typeface="Arial"/>
              <a:sym typeface="Arial"/>
            </a:endParaRPr>
          </a:p>
        </p:txBody>
      </p:sp>
      <p:sp>
        <p:nvSpPr>
          <p:cNvPr id="1626" name="Google Shape;1626;g3b75ff0c716_0_478"/>
          <p:cNvSpPr txBox="1"/>
          <p:nvPr/>
        </p:nvSpPr>
        <p:spPr>
          <a:xfrm>
            <a:off x="2153082" y="111650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18.3        1        5          15 </a:t>
            </a:r>
            <a:endParaRPr b="0" i="0" sz="700" u="none" cap="none" strike="noStrike">
              <a:solidFill>
                <a:srgbClr val="000000"/>
              </a:solidFill>
              <a:latin typeface="Arial"/>
              <a:ea typeface="Arial"/>
              <a:cs typeface="Arial"/>
              <a:sym typeface="Arial"/>
            </a:endParaRPr>
          </a:p>
        </p:txBody>
      </p:sp>
      <p:sp>
        <p:nvSpPr>
          <p:cNvPr id="1627" name="Google Shape;1627;g3b75ff0c716_0_478"/>
          <p:cNvSpPr txBox="1"/>
          <p:nvPr/>
        </p:nvSpPr>
        <p:spPr>
          <a:xfrm>
            <a:off x="2140174" y="80048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5             1        5           15 </a:t>
            </a:r>
            <a:endParaRPr b="0" i="0" sz="700" u="none" cap="none" strike="noStrike">
              <a:solidFill>
                <a:srgbClr val="000000"/>
              </a:solidFill>
              <a:latin typeface="Arial"/>
              <a:ea typeface="Arial"/>
              <a:cs typeface="Arial"/>
              <a:sym typeface="Arial"/>
            </a:endParaRPr>
          </a:p>
        </p:txBody>
      </p:sp>
      <p:sp>
        <p:nvSpPr>
          <p:cNvPr id="1628" name="Google Shape;1628;g3b75ff0c716_0_478"/>
          <p:cNvSpPr/>
          <p:nvPr/>
        </p:nvSpPr>
        <p:spPr>
          <a:xfrm>
            <a:off x="4321655" y="1133463"/>
            <a:ext cx="13686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1" i="1" lang="en-US" sz="700" u="none" cap="none" strike="noStrike">
                <a:solidFill>
                  <a:srgbClr val="0070C0"/>
                </a:solidFill>
                <a:latin typeface="Arial"/>
                <a:ea typeface="Arial"/>
                <a:cs typeface="Arial"/>
                <a:sym typeface="Arial"/>
              </a:rPr>
              <a:t>Note : Only in Episode 3 step 1 , episode 4 step 2, the loop is simulated to Q1(S,A) loop, where the behavior policy is updated: </a:t>
            </a:r>
            <a:endParaRPr b="1" i="1" sz="700" u="none" cap="none" strike="noStrike">
              <a:solidFill>
                <a:srgbClr val="0070C0"/>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1"/>
                                        </p:tgtEl>
                                        <p:attrNameLst>
                                          <p:attrName>style.visibility</p:attrName>
                                        </p:attrNameLst>
                                      </p:cBhvr>
                                      <p:to>
                                        <p:strVal val="visible"/>
                                      </p:to>
                                    </p:set>
                                    <p:animEffect filter="fade" transition="in">
                                      <p:cBhvr>
                                        <p:cTn dur="500"/>
                                        <p:tgtEl>
                                          <p:spTgt spid="1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pic>
        <p:nvPicPr>
          <p:cNvPr id="1633" name="Google Shape;1633;g3b75ff0c716_0_565"/>
          <p:cNvPicPr preferRelativeResize="0"/>
          <p:nvPr/>
        </p:nvPicPr>
        <p:blipFill rotWithShape="1">
          <a:blip r:embed="rId3">
            <a:alphaModFix/>
          </a:blip>
          <a:srcRect b="0" l="0" r="0" t="0"/>
          <a:stretch/>
        </p:blipFill>
        <p:spPr>
          <a:xfrm>
            <a:off x="2994214" y="410746"/>
            <a:ext cx="276927" cy="275955"/>
          </a:xfrm>
          <a:prstGeom prst="rect">
            <a:avLst/>
          </a:prstGeom>
          <a:noFill/>
          <a:ln>
            <a:noFill/>
          </a:ln>
        </p:spPr>
      </p:pic>
      <p:sp>
        <p:nvSpPr>
          <p:cNvPr id="1634" name="Google Shape;1634;g3b75ff0c716_0_565"/>
          <p:cNvSpPr/>
          <p:nvPr/>
        </p:nvSpPr>
        <p:spPr>
          <a:xfrm>
            <a:off x="2164056" y="1416916"/>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635" name="Google Shape;1635;g3b75ff0c716_0_565"/>
          <p:cNvSpPr/>
          <p:nvPr/>
        </p:nvSpPr>
        <p:spPr>
          <a:xfrm>
            <a:off x="2179296" y="1072214"/>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636" name="Google Shape;1636;g3b75ff0c716_0_565"/>
          <p:cNvSpPr/>
          <p:nvPr/>
        </p:nvSpPr>
        <p:spPr>
          <a:xfrm>
            <a:off x="2182136" y="784025"/>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37" name="Google Shape;1637;g3b75ff0c716_0_565"/>
          <p:cNvCxnSpPr/>
          <p:nvPr/>
        </p:nvCxnSpPr>
        <p:spPr>
          <a:xfrm>
            <a:off x="2764323" y="769938"/>
            <a:ext cx="0" cy="225300"/>
          </a:xfrm>
          <a:prstGeom prst="straightConnector1">
            <a:avLst/>
          </a:prstGeom>
          <a:noFill/>
          <a:ln cap="flat" cmpd="sng" w="9525">
            <a:solidFill>
              <a:schemeClr val="dk1"/>
            </a:solidFill>
            <a:prstDash val="solid"/>
            <a:round/>
            <a:headEnd len="sm" w="sm" type="none"/>
            <a:tailEnd len="sm" w="sm" type="none"/>
          </a:ln>
        </p:spPr>
      </p:cxnSp>
      <p:cxnSp>
        <p:nvCxnSpPr>
          <p:cNvPr id="1638" name="Google Shape;1638;g3b75ff0c716_0_565"/>
          <p:cNvCxnSpPr/>
          <p:nvPr/>
        </p:nvCxnSpPr>
        <p:spPr>
          <a:xfrm>
            <a:off x="2764323" y="1083652"/>
            <a:ext cx="0" cy="225300"/>
          </a:xfrm>
          <a:prstGeom prst="straightConnector1">
            <a:avLst/>
          </a:prstGeom>
          <a:noFill/>
          <a:ln cap="flat" cmpd="sng" w="9525">
            <a:solidFill>
              <a:schemeClr val="dk1"/>
            </a:solidFill>
            <a:prstDash val="solid"/>
            <a:round/>
            <a:headEnd len="sm" w="sm" type="none"/>
            <a:tailEnd len="sm" w="sm" type="none"/>
          </a:ln>
        </p:spPr>
      </p:cxnSp>
      <p:cxnSp>
        <p:nvCxnSpPr>
          <p:cNvPr id="1639" name="Google Shape;1639;g3b75ff0c716_0_565"/>
          <p:cNvCxnSpPr/>
          <p:nvPr/>
        </p:nvCxnSpPr>
        <p:spPr>
          <a:xfrm>
            <a:off x="2764323" y="1416916"/>
            <a:ext cx="0" cy="225300"/>
          </a:xfrm>
          <a:prstGeom prst="straightConnector1">
            <a:avLst/>
          </a:prstGeom>
          <a:noFill/>
          <a:ln cap="flat" cmpd="sng" w="9525">
            <a:solidFill>
              <a:schemeClr val="dk1"/>
            </a:solidFill>
            <a:prstDash val="solid"/>
            <a:round/>
            <a:headEnd len="sm" w="sm" type="none"/>
            <a:tailEnd len="sm" w="sm" type="none"/>
          </a:ln>
        </p:spPr>
      </p:cxnSp>
      <p:cxnSp>
        <p:nvCxnSpPr>
          <p:cNvPr id="1640" name="Google Shape;1640;g3b75ff0c716_0_565"/>
          <p:cNvCxnSpPr/>
          <p:nvPr/>
        </p:nvCxnSpPr>
        <p:spPr>
          <a:xfrm>
            <a:off x="3420306" y="776565"/>
            <a:ext cx="0" cy="225300"/>
          </a:xfrm>
          <a:prstGeom prst="straightConnector1">
            <a:avLst/>
          </a:prstGeom>
          <a:noFill/>
          <a:ln cap="flat" cmpd="sng" w="9525">
            <a:solidFill>
              <a:schemeClr val="dk1"/>
            </a:solidFill>
            <a:prstDash val="solid"/>
            <a:round/>
            <a:headEnd len="sm" w="sm" type="none"/>
            <a:tailEnd len="sm" w="sm" type="none"/>
          </a:ln>
        </p:spPr>
      </p:cxnSp>
      <p:cxnSp>
        <p:nvCxnSpPr>
          <p:cNvPr id="1641" name="Google Shape;1641;g3b75ff0c716_0_565"/>
          <p:cNvCxnSpPr/>
          <p:nvPr/>
        </p:nvCxnSpPr>
        <p:spPr>
          <a:xfrm>
            <a:off x="3420306" y="1090279"/>
            <a:ext cx="0" cy="225300"/>
          </a:xfrm>
          <a:prstGeom prst="straightConnector1">
            <a:avLst/>
          </a:prstGeom>
          <a:noFill/>
          <a:ln cap="flat" cmpd="sng" w="9525">
            <a:solidFill>
              <a:schemeClr val="dk1"/>
            </a:solidFill>
            <a:prstDash val="solid"/>
            <a:round/>
            <a:headEnd len="sm" w="sm" type="none"/>
            <a:tailEnd len="sm" w="sm" type="none"/>
          </a:ln>
        </p:spPr>
      </p:cxnSp>
      <p:cxnSp>
        <p:nvCxnSpPr>
          <p:cNvPr id="1642" name="Google Shape;1642;g3b75ff0c716_0_565"/>
          <p:cNvCxnSpPr/>
          <p:nvPr/>
        </p:nvCxnSpPr>
        <p:spPr>
          <a:xfrm>
            <a:off x="3420306" y="1423543"/>
            <a:ext cx="0" cy="225300"/>
          </a:xfrm>
          <a:prstGeom prst="straightConnector1">
            <a:avLst/>
          </a:prstGeom>
          <a:noFill/>
          <a:ln cap="flat" cmpd="sng" w="9525">
            <a:solidFill>
              <a:schemeClr val="dk1"/>
            </a:solidFill>
            <a:prstDash val="solid"/>
            <a:round/>
            <a:headEnd len="sm" w="sm" type="none"/>
            <a:tailEnd len="sm" w="sm" type="none"/>
          </a:ln>
        </p:spPr>
      </p:cxnSp>
      <p:pic>
        <p:nvPicPr>
          <p:cNvPr id="1643" name="Google Shape;1643;g3b75ff0c716_0_565"/>
          <p:cNvPicPr preferRelativeResize="0"/>
          <p:nvPr/>
        </p:nvPicPr>
        <p:blipFill rotWithShape="1">
          <a:blip r:embed="rId4">
            <a:alphaModFix/>
          </a:blip>
          <a:srcRect b="0" l="0" r="0" t="0"/>
          <a:stretch/>
        </p:blipFill>
        <p:spPr>
          <a:xfrm>
            <a:off x="2179296" y="646945"/>
            <a:ext cx="247568" cy="107156"/>
          </a:xfrm>
          <a:prstGeom prst="rect">
            <a:avLst/>
          </a:prstGeom>
          <a:noFill/>
          <a:ln>
            <a:noFill/>
          </a:ln>
        </p:spPr>
      </p:pic>
      <p:pic>
        <p:nvPicPr>
          <p:cNvPr id="1644" name="Google Shape;1644;g3b75ff0c716_0_565"/>
          <p:cNvPicPr preferRelativeResize="0"/>
          <p:nvPr/>
        </p:nvPicPr>
        <p:blipFill rotWithShape="1">
          <a:blip r:embed="rId5">
            <a:alphaModFix/>
          </a:blip>
          <a:srcRect b="0" l="0" r="0" t="0"/>
          <a:stretch/>
        </p:blipFill>
        <p:spPr>
          <a:xfrm>
            <a:off x="2514520" y="644550"/>
            <a:ext cx="249913" cy="117267"/>
          </a:xfrm>
          <a:prstGeom prst="rect">
            <a:avLst/>
          </a:prstGeom>
          <a:noFill/>
          <a:ln>
            <a:noFill/>
          </a:ln>
        </p:spPr>
      </p:pic>
      <p:pic>
        <p:nvPicPr>
          <p:cNvPr id="1645" name="Google Shape;1645;g3b75ff0c716_0_565"/>
          <p:cNvPicPr preferRelativeResize="0"/>
          <p:nvPr/>
        </p:nvPicPr>
        <p:blipFill rotWithShape="1">
          <a:blip r:embed="rId4">
            <a:alphaModFix/>
          </a:blip>
          <a:srcRect b="0" l="0" r="0" t="0"/>
          <a:stretch/>
        </p:blipFill>
        <p:spPr>
          <a:xfrm>
            <a:off x="2822025" y="633695"/>
            <a:ext cx="247568" cy="107156"/>
          </a:xfrm>
          <a:prstGeom prst="rect">
            <a:avLst/>
          </a:prstGeom>
          <a:noFill/>
          <a:ln>
            <a:noFill/>
          </a:ln>
        </p:spPr>
      </p:pic>
      <p:pic>
        <p:nvPicPr>
          <p:cNvPr id="1646" name="Google Shape;1646;g3b75ff0c716_0_565"/>
          <p:cNvPicPr preferRelativeResize="0"/>
          <p:nvPr/>
        </p:nvPicPr>
        <p:blipFill rotWithShape="1">
          <a:blip r:embed="rId5">
            <a:alphaModFix/>
          </a:blip>
          <a:srcRect b="0" l="0" r="0" t="0"/>
          <a:stretch/>
        </p:blipFill>
        <p:spPr>
          <a:xfrm>
            <a:off x="3157249" y="631300"/>
            <a:ext cx="249913" cy="117267"/>
          </a:xfrm>
          <a:prstGeom prst="rect">
            <a:avLst/>
          </a:prstGeom>
          <a:noFill/>
          <a:ln>
            <a:noFill/>
          </a:ln>
        </p:spPr>
      </p:pic>
      <p:pic>
        <p:nvPicPr>
          <p:cNvPr id="1647" name="Google Shape;1647;g3b75ff0c716_0_565"/>
          <p:cNvPicPr preferRelativeResize="0"/>
          <p:nvPr/>
        </p:nvPicPr>
        <p:blipFill rotWithShape="1">
          <a:blip r:embed="rId4">
            <a:alphaModFix/>
          </a:blip>
          <a:srcRect b="0" l="0" r="0" t="0"/>
          <a:stretch/>
        </p:blipFill>
        <p:spPr>
          <a:xfrm>
            <a:off x="3431619" y="633696"/>
            <a:ext cx="247568" cy="107156"/>
          </a:xfrm>
          <a:prstGeom prst="rect">
            <a:avLst/>
          </a:prstGeom>
          <a:noFill/>
          <a:ln>
            <a:noFill/>
          </a:ln>
        </p:spPr>
      </p:pic>
      <p:pic>
        <p:nvPicPr>
          <p:cNvPr id="1648" name="Google Shape;1648;g3b75ff0c716_0_565"/>
          <p:cNvPicPr preferRelativeResize="0"/>
          <p:nvPr/>
        </p:nvPicPr>
        <p:blipFill rotWithShape="1">
          <a:blip r:embed="rId5">
            <a:alphaModFix/>
          </a:blip>
          <a:srcRect b="0" l="0" r="0" t="0"/>
          <a:stretch/>
        </p:blipFill>
        <p:spPr>
          <a:xfrm>
            <a:off x="3766843" y="631301"/>
            <a:ext cx="249913" cy="117267"/>
          </a:xfrm>
          <a:prstGeom prst="rect">
            <a:avLst/>
          </a:prstGeom>
          <a:noFill/>
          <a:ln>
            <a:noFill/>
          </a:ln>
        </p:spPr>
      </p:pic>
      <p:cxnSp>
        <p:nvCxnSpPr>
          <p:cNvPr id="1649" name="Google Shape;1649;g3b75ff0c716_0_565"/>
          <p:cNvCxnSpPr/>
          <p:nvPr/>
        </p:nvCxnSpPr>
        <p:spPr>
          <a:xfrm>
            <a:off x="2162539" y="410746"/>
            <a:ext cx="0" cy="1975500"/>
          </a:xfrm>
          <a:prstGeom prst="straightConnector1">
            <a:avLst/>
          </a:prstGeom>
          <a:noFill/>
          <a:ln cap="flat" cmpd="sng" w="9525">
            <a:solidFill>
              <a:srgbClr val="0070C0"/>
            </a:solidFill>
            <a:prstDash val="solid"/>
            <a:round/>
            <a:headEnd len="sm" w="sm" type="none"/>
            <a:tailEnd len="sm" w="sm" type="none"/>
          </a:ln>
        </p:spPr>
      </p:cxnSp>
      <p:sp>
        <p:nvSpPr>
          <p:cNvPr id="1650" name="Google Shape;1650;g3b75ff0c716_0_565"/>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	Target		Behavior</a:t>
            </a:r>
            <a:endParaRPr/>
          </a:p>
        </p:txBody>
      </p:sp>
      <p:sp>
        <p:nvSpPr>
          <p:cNvPr id="1651" name="Google Shape;1651;g3b75ff0c716_0_565"/>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2" name="Google Shape;1652;g3b75ff0c716_0_565"/>
          <p:cNvGrpSpPr/>
          <p:nvPr/>
        </p:nvGrpSpPr>
        <p:grpSpPr>
          <a:xfrm>
            <a:off x="0" y="3109250"/>
            <a:ext cx="5760261" cy="92075"/>
            <a:chOff x="0" y="3109250"/>
            <a:chExt cx="5760261" cy="92075"/>
          </a:xfrm>
        </p:grpSpPr>
        <p:sp>
          <p:nvSpPr>
            <p:cNvPr id="1653" name="Google Shape;1653;g3b75ff0c716_0_565"/>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g3b75ff0c716_0_565"/>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g3b75ff0c716_0_565"/>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56" name="Google Shape;1656;g3b75ff0c716_0_565"/>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657" name="Google Shape;1657;g3b75ff0c716_0_565"/>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pic>
        <p:nvPicPr>
          <p:cNvPr id="1658" name="Google Shape;1658;g3b75ff0c716_0_565"/>
          <p:cNvPicPr preferRelativeResize="0"/>
          <p:nvPr/>
        </p:nvPicPr>
        <p:blipFill rotWithShape="1">
          <a:blip r:embed="rId6">
            <a:alphaModFix/>
          </a:blip>
          <a:srcRect b="0" l="0" r="0" t="0"/>
          <a:stretch/>
        </p:blipFill>
        <p:spPr>
          <a:xfrm>
            <a:off x="485263" y="408737"/>
            <a:ext cx="253340" cy="263412"/>
          </a:xfrm>
          <a:prstGeom prst="rect">
            <a:avLst/>
          </a:prstGeom>
          <a:noFill/>
          <a:ln>
            <a:noFill/>
          </a:ln>
        </p:spPr>
      </p:pic>
      <p:pic>
        <p:nvPicPr>
          <p:cNvPr id="1659" name="Google Shape;1659;g3b75ff0c716_0_565"/>
          <p:cNvPicPr preferRelativeResize="0"/>
          <p:nvPr/>
        </p:nvPicPr>
        <p:blipFill rotWithShape="1">
          <a:blip r:embed="rId7">
            <a:alphaModFix/>
          </a:blip>
          <a:srcRect b="0" l="0" r="0" t="0"/>
          <a:stretch/>
        </p:blipFill>
        <p:spPr>
          <a:xfrm>
            <a:off x="1742348" y="375332"/>
            <a:ext cx="268790" cy="301041"/>
          </a:xfrm>
          <a:prstGeom prst="rect">
            <a:avLst/>
          </a:prstGeom>
          <a:noFill/>
          <a:ln>
            <a:noFill/>
          </a:ln>
        </p:spPr>
      </p:pic>
      <p:pic>
        <p:nvPicPr>
          <p:cNvPr id="1660" name="Google Shape;1660;g3b75ff0c716_0_565"/>
          <p:cNvPicPr preferRelativeResize="0"/>
          <p:nvPr/>
        </p:nvPicPr>
        <p:blipFill rotWithShape="1">
          <a:blip r:embed="rId3">
            <a:alphaModFix/>
          </a:blip>
          <a:srcRect b="0" l="0" r="0" t="0"/>
          <a:stretch/>
        </p:blipFill>
        <p:spPr>
          <a:xfrm>
            <a:off x="1139997" y="415805"/>
            <a:ext cx="276927" cy="275955"/>
          </a:xfrm>
          <a:prstGeom prst="rect">
            <a:avLst/>
          </a:prstGeom>
          <a:noFill/>
          <a:ln>
            <a:noFill/>
          </a:ln>
        </p:spPr>
      </p:pic>
      <p:sp>
        <p:nvSpPr>
          <p:cNvPr id="1661" name="Google Shape;1661;g3b75ff0c716_0_565"/>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sp>
        <p:nvSpPr>
          <p:cNvPr id="1662" name="Google Shape;1662;g3b75ff0c716_0_565"/>
          <p:cNvSpPr/>
          <p:nvPr/>
        </p:nvSpPr>
        <p:spPr>
          <a:xfrm>
            <a:off x="309839" y="142197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663" name="Google Shape;1663;g3b75ff0c716_0_565"/>
          <p:cNvSpPr/>
          <p:nvPr/>
        </p:nvSpPr>
        <p:spPr>
          <a:xfrm>
            <a:off x="325079" y="1077273"/>
            <a:ext cx="1837500" cy="2508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664" name="Google Shape;1664;g3b75ff0c716_0_565"/>
          <p:cNvSpPr/>
          <p:nvPr/>
        </p:nvSpPr>
        <p:spPr>
          <a:xfrm>
            <a:off x="327919" y="789084"/>
            <a:ext cx="1844100" cy="2154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sp>
        <p:nvSpPr>
          <p:cNvPr id="1665" name="Google Shape;1665;g3b75ff0c716_0_565"/>
          <p:cNvSpPr txBox="1"/>
          <p:nvPr/>
        </p:nvSpPr>
        <p:spPr>
          <a:xfrm>
            <a:off x="289408" y="79888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5.2          0         0           19.6</a:t>
            </a:r>
            <a:endParaRPr b="0" i="0" sz="300" u="none" cap="none" strike="noStrike">
              <a:solidFill>
                <a:srgbClr val="000000"/>
              </a:solidFill>
              <a:latin typeface="Arial"/>
              <a:ea typeface="Arial"/>
              <a:cs typeface="Arial"/>
              <a:sym typeface="Arial"/>
            </a:endParaRPr>
          </a:p>
        </p:txBody>
      </p:sp>
      <p:cxnSp>
        <p:nvCxnSpPr>
          <p:cNvPr id="1666" name="Google Shape;1666;g3b75ff0c716_0_565"/>
          <p:cNvCxnSpPr/>
          <p:nvPr/>
        </p:nvCxnSpPr>
        <p:spPr>
          <a:xfrm>
            <a:off x="910106" y="774997"/>
            <a:ext cx="0" cy="225300"/>
          </a:xfrm>
          <a:prstGeom prst="straightConnector1">
            <a:avLst/>
          </a:prstGeom>
          <a:noFill/>
          <a:ln cap="flat" cmpd="sng" w="9525">
            <a:solidFill>
              <a:schemeClr val="dk1"/>
            </a:solidFill>
            <a:prstDash val="solid"/>
            <a:round/>
            <a:headEnd len="sm" w="sm" type="none"/>
            <a:tailEnd len="sm" w="sm" type="none"/>
          </a:ln>
        </p:spPr>
      </p:cxnSp>
      <p:cxnSp>
        <p:nvCxnSpPr>
          <p:cNvPr id="1667" name="Google Shape;1667;g3b75ff0c716_0_565"/>
          <p:cNvCxnSpPr/>
          <p:nvPr/>
        </p:nvCxnSpPr>
        <p:spPr>
          <a:xfrm>
            <a:off x="910106" y="1088711"/>
            <a:ext cx="0" cy="225300"/>
          </a:xfrm>
          <a:prstGeom prst="straightConnector1">
            <a:avLst/>
          </a:prstGeom>
          <a:noFill/>
          <a:ln cap="flat" cmpd="sng" w="9525">
            <a:solidFill>
              <a:schemeClr val="dk1"/>
            </a:solidFill>
            <a:prstDash val="solid"/>
            <a:round/>
            <a:headEnd len="sm" w="sm" type="none"/>
            <a:tailEnd len="sm" w="sm" type="none"/>
          </a:ln>
        </p:spPr>
      </p:cxnSp>
      <p:cxnSp>
        <p:nvCxnSpPr>
          <p:cNvPr id="1668" name="Google Shape;1668;g3b75ff0c716_0_565"/>
          <p:cNvCxnSpPr/>
          <p:nvPr/>
        </p:nvCxnSpPr>
        <p:spPr>
          <a:xfrm>
            <a:off x="910106" y="1421975"/>
            <a:ext cx="0" cy="225300"/>
          </a:xfrm>
          <a:prstGeom prst="straightConnector1">
            <a:avLst/>
          </a:prstGeom>
          <a:noFill/>
          <a:ln cap="flat" cmpd="sng" w="9525">
            <a:solidFill>
              <a:schemeClr val="dk1"/>
            </a:solidFill>
            <a:prstDash val="solid"/>
            <a:round/>
            <a:headEnd len="sm" w="sm" type="none"/>
            <a:tailEnd len="sm" w="sm" type="none"/>
          </a:ln>
        </p:spPr>
      </p:cxnSp>
      <p:cxnSp>
        <p:nvCxnSpPr>
          <p:cNvPr id="1669" name="Google Shape;1669;g3b75ff0c716_0_565"/>
          <p:cNvCxnSpPr/>
          <p:nvPr/>
        </p:nvCxnSpPr>
        <p:spPr>
          <a:xfrm>
            <a:off x="1566089" y="781624"/>
            <a:ext cx="0" cy="225300"/>
          </a:xfrm>
          <a:prstGeom prst="straightConnector1">
            <a:avLst/>
          </a:prstGeom>
          <a:noFill/>
          <a:ln cap="flat" cmpd="sng" w="9525">
            <a:solidFill>
              <a:schemeClr val="dk1"/>
            </a:solidFill>
            <a:prstDash val="solid"/>
            <a:round/>
            <a:headEnd len="sm" w="sm" type="none"/>
            <a:tailEnd len="sm" w="sm" type="none"/>
          </a:ln>
        </p:spPr>
      </p:cxnSp>
      <p:cxnSp>
        <p:nvCxnSpPr>
          <p:cNvPr id="1670" name="Google Shape;1670;g3b75ff0c716_0_565"/>
          <p:cNvCxnSpPr/>
          <p:nvPr/>
        </p:nvCxnSpPr>
        <p:spPr>
          <a:xfrm>
            <a:off x="1566089" y="1095338"/>
            <a:ext cx="0" cy="225300"/>
          </a:xfrm>
          <a:prstGeom prst="straightConnector1">
            <a:avLst/>
          </a:prstGeom>
          <a:noFill/>
          <a:ln cap="flat" cmpd="sng" w="9525">
            <a:solidFill>
              <a:schemeClr val="dk1"/>
            </a:solidFill>
            <a:prstDash val="solid"/>
            <a:round/>
            <a:headEnd len="sm" w="sm" type="none"/>
            <a:tailEnd len="sm" w="sm" type="none"/>
          </a:ln>
        </p:spPr>
      </p:cxnSp>
      <p:cxnSp>
        <p:nvCxnSpPr>
          <p:cNvPr id="1671" name="Google Shape;1671;g3b75ff0c716_0_565"/>
          <p:cNvCxnSpPr/>
          <p:nvPr/>
        </p:nvCxnSpPr>
        <p:spPr>
          <a:xfrm>
            <a:off x="1566089" y="1428602"/>
            <a:ext cx="0" cy="225300"/>
          </a:xfrm>
          <a:prstGeom prst="straightConnector1">
            <a:avLst/>
          </a:prstGeom>
          <a:noFill/>
          <a:ln cap="flat" cmpd="sng" w="9525">
            <a:solidFill>
              <a:schemeClr val="dk1"/>
            </a:solidFill>
            <a:prstDash val="solid"/>
            <a:round/>
            <a:headEnd len="sm" w="sm" type="none"/>
            <a:tailEnd len="sm" w="sm" type="none"/>
          </a:ln>
        </p:spPr>
      </p:cxnSp>
      <p:pic>
        <p:nvPicPr>
          <p:cNvPr id="1672" name="Google Shape;1672;g3b75ff0c716_0_565"/>
          <p:cNvPicPr preferRelativeResize="0"/>
          <p:nvPr/>
        </p:nvPicPr>
        <p:blipFill rotWithShape="1">
          <a:blip r:embed="rId4">
            <a:alphaModFix/>
          </a:blip>
          <a:srcRect b="0" l="0" r="0" t="0"/>
          <a:stretch/>
        </p:blipFill>
        <p:spPr>
          <a:xfrm>
            <a:off x="325079" y="652004"/>
            <a:ext cx="247568" cy="107156"/>
          </a:xfrm>
          <a:prstGeom prst="rect">
            <a:avLst/>
          </a:prstGeom>
          <a:noFill/>
          <a:ln>
            <a:noFill/>
          </a:ln>
        </p:spPr>
      </p:pic>
      <p:pic>
        <p:nvPicPr>
          <p:cNvPr id="1673" name="Google Shape;1673;g3b75ff0c716_0_565"/>
          <p:cNvPicPr preferRelativeResize="0"/>
          <p:nvPr/>
        </p:nvPicPr>
        <p:blipFill rotWithShape="1">
          <a:blip r:embed="rId5">
            <a:alphaModFix/>
          </a:blip>
          <a:srcRect b="0" l="0" r="0" t="0"/>
          <a:stretch/>
        </p:blipFill>
        <p:spPr>
          <a:xfrm>
            <a:off x="660303" y="649609"/>
            <a:ext cx="249913" cy="117267"/>
          </a:xfrm>
          <a:prstGeom prst="rect">
            <a:avLst/>
          </a:prstGeom>
          <a:noFill/>
          <a:ln>
            <a:noFill/>
          </a:ln>
        </p:spPr>
      </p:pic>
      <p:pic>
        <p:nvPicPr>
          <p:cNvPr id="1674" name="Google Shape;1674;g3b75ff0c716_0_565"/>
          <p:cNvPicPr preferRelativeResize="0"/>
          <p:nvPr/>
        </p:nvPicPr>
        <p:blipFill rotWithShape="1">
          <a:blip r:embed="rId4">
            <a:alphaModFix/>
          </a:blip>
          <a:srcRect b="0" l="0" r="0" t="0"/>
          <a:stretch/>
        </p:blipFill>
        <p:spPr>
          <a:xfrm>
            <a:off x="967808" y="638754"/>
            <a:ext cx="247568" cy="107156"/>
          </a:xfrm>
          <a:prstGeom prst="rect">
            <a:avLst/>
          </a:prstGeom>
          <a:noFill/>
          <a:ln>
            <a:noFill/>
          </a:ln>
        </p:spPr>
      </p:pic>
      <p:pic>
        <p:nvPicPr>
          <p:cNvPr id="1675" name="Google Shape;1675;g3b75ff0c716_0_565"/>
          <p:cNvPicPr preferRelativeResize="0"/>
          <p:nvPr/>
        </p:nvPicPr>
        <p:blipFill rotWithShape="1">
          <a:blip r:embed="rId5">
            <a:alphaModFix/>
          </a:blip>
          <a:srcRect b="0" l="0" r="0" t="0"/>
          <a:stretch/>
        </p:blipFill>
        <p:spPr>
          <a:xfrm>
            <a:off x="1303032" y="636359"/>
            <a:ext cx="249913" cy="117267"/>
          </a:xfrm>
          <a:prstGeom prst="rect">
            <a:avLst/>
          </a:prstGeom>
          <a:noFill/>
          <a:ln>
            <a:noFill/>
          </a:ln>
        </p:spPr>
      </p:pic>
      <p:pic>
        <p:nvPicPr>
          <p:cNvPr id="1676" name="Google Shape;1676;g3b75ff0c716_0_565"/>
          <p:cNvPicPr preferRelativeResize="0"/>
          <p:nvPr/>
        </p:nvPicPr>
        <p:blipFill rotWithShape="1">
          <a:blip r:embed="rId4">
            <a:alphaModFix/>
          </a:blip>
          <a:srcRect b="0" l="0" r="0" t="0"/>
          <a:stretch/>
        </p:blipFill>
        <p:spPr>
          <a:xfrm>
            <a:off x="1577402" y="638755"/>
            <a:ext cx="247568" cy="107156"/>
          </a:xfrm>
          <a:prstGeom prst="rect">
            <a:avLst/>
          </a:prstGeom>
          <a:noFill/>
          <a:ln>
            <a:noFill/>
          </a:ln>
        </p:spPr>
      </p:pic>
      <p:pic>
        <p:nvPicPr>
          <p:cNvPr id="1677" name="Google Shape;1677;g3b75ff0c716_0_565"/>
          <p:cNvPicPr preferRelativeResize="0"/>
          <p:nvPr/>
        </p:nvPicPr>
        <p:blipFill rotWithShape="1">
          <a:blip r:embed="rId5">
            <a:alphaModFix/>
          </a:blip>
          <a:srcRect b="0" l="0" r="0" t="0"/>
          <a:stretch/>
        </p:blipFill>
        <p:spPr>
          <a:xfrm>
            <a:off x="1912626" y="636360"/>
            <a:ext cx="249913" cy="117267"/>
          </a:xfrm>
          <a:prstGeom prst="rect">
            <a:avLst/>
          </a:prstGeom>
          <a:noFill/>
          <a:ln>
            <a:noFill/>
          </a:ln>
        </p:spPr>
      </p:pic>
      <p:sp>
        <p:nvSpPr>
          <p:cNvPr id="1678" name="Google Shape;1678;g3b75ff0c716_0_565"/>
          <p:cNvSpPr/>
          <p:nvPr/>
        </p:nvSpPr>
        <p:spPr>
          <a:xfrm>
            <a:off x="3577091" y="344354"/>
            <a:ext cx="187500" cy="45600"/>
          </a:xfrm>
          <a:prstGeom prst="rightArrow">
            <a:avLst>
              <a:gd fmla="val 50000" name="adj1"/>
              <a:gd fmla="val 50000" name="adj2"/>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79" name="Google Shape;1679;g3b75ff0c716_0_565"/>
          <p:cNvSpPr/>
          <p:nvPr/>
        </p:nvSpPr>
        <p:spPr>
          <a:xfrm>
            <a:off x="2172013" y="2524829"/>
            <a:ext cx="0" cy="41862"/>
          </a:xfrm>
          <a:custGeom>
            <a:rect b="b" l="l" r="r" t="t"/>
            <a:pathLst>
              <a:path extrusionOk="0" h="19050" w="120000">
                <a:moveTo>
                  <a:pt x="0" y="19049"/>
                </a:moveTo>
                <a:lnTo>
                  <a:pt x="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g3b75ff0c716_0_565"/>
          <p:cNvSpPr txBox="1"/>
          <p:nvPr/>
        </p:nvSpPr>
        <p:spPr>
          <a:xfrm>
            <a:off x="54070" y="785748"/>
            <a:ext cx="3873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1</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2</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4</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5</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Q</a:t>
            </a:r>
            <a:r>
              <a:rPr b="1" baseline="-25000" i="0" lang="en-US" sz="700" u="none" cap="none" strike="noStrike">
                <a:solidFill>
                  <a:srgbClr val="000000"/>
                </a:solidFill>
                <a:latin typeface="Arial"/>
                <a:ea typeface="Arial"/>
                <a:cs typeface="Arial"/>
                <a:sym typeface="Arial"/>
              </a:rPr>
              <a:t>6</a:t>
            </a:r>
            <a:endParaRPr b="1" baseline="-2500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1" baseline="-25000" i="0" sz="700" u="none" cap="none" strike="noStrike">
              <a:solidFill>
                <a:srgbClr val="000000"/>
              </a:solidFill>
              <a:latin typeface="Arial"/>
              <a:ea typeface="Arial"/>
              <a:cs typeface="Arial"/>
              <a:sym typeface="Arial"/>
            </a:endParaRPr>
          </a:p>
        </p:txBody>
      </p:sp>
      <p:sp>
        <p:nvSpPr>
          <p:cNvPr id="1681" name="Google Shape;1681;g3b75ff0c716_0_565"/>
          <p:cNvSpPr txBox="1"/>
          <p:nvPr/>
        </p:nvSpPr>
        <p:spPr>
          <a:xfrm>
            <a:off x="289408" y="1104116"/>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0        -8           13.74</a:t>
            </a:r>
            <a:endParaRPr b="0" i="0" sz="300" u="none" cap="none" strike="noStrike">
              <a:solidFill>
                <a:srgbClr val="000000"/>
              </a:solidFill>
              <a:latin typeface="Arial"/>
              <a:ea typeface="Arial"/>
              <a:cs typeface="Arial"/>
              <a:sym typeface="Arial"/>
            </a:endParaRPr>
          </a:p>
        </p:txBody>
      </p:sp>
      <p:sp>
        <p:nvSpPr>
          <p:cNvPr id="1682" name="Google Shape;1682;g3b75ff0c716_0_565"/>
          <p:cNvSpPr txBox="1"/>
          <p:nvPr/>
        </p:nvSpPr>
        <p:spPr>
          <a:xfrm>
            <a:off x="309839" y="143479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6.24        0        </a:t>
            </a:r>
            <a:r>
              <a:rPr b="1" i="0" lang="en-US" sz="800" u="none" cap="none" strike="noStrike">
                <a:solidFill>
                  <a:schemeClr val="dk1"/>
                </a:solidFill>
                <a:latin typeface="Calibri"/>
                <a:ea typeface="Calibri"/>
                <a:cs typeface="Calibri"/>
                <a:sym typeface="Calibri"/>
              </a:rPr>
              <a:t>9</a:t>
            </a:r>
            <a:r>
              <a:rPr b="0" i="0" lang="en-US" sz="800" u="none" cap="none" strike="noStrike">
                <a:solidFill>
                  <a:schemeClr val="dk1"/>
                </a:solidFill>
                <a:latin typeface="Calibri"/>
                <a:ea typeface="Calibri"/>
                <a:cs typeface="Calibri"/>
                <a:sym typeface="Calibri"/>
              </a:rPr>
              <a:t>           13.74</a:t>
            </a:r>
            <a:endParaRPr b="0" i="0" sz="300" u="none" cap="none" strike="noStrike">
              <a:solidFill>
                <a:srgbClr val="000000"/>
              </a:solidFill>
              <a:latin typeface="Arial"/>
              <a:ea typeface="Arial"/>
              <a:cs typeface="Arial"/>
              <a:sym typeface="Arial"/>
            </a:endParaRPr>
          </a:p>
        </p:txBody>
      </p:sp>
      <p:sp>
        <p:nvSpPr>
          <p:cNvPr id="1683" name="Google Shape;1683;g3b75ff0c716_0_565"/>
          <p:cNvSpPr/>
          <p:nvPr/>
        </p:nvSpPr>
        <p:spPr>
          <a:xfrm>
            <a:off x="309839" y="16442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84" name="Google Shape;1684;g3b75ff0c716_0_565"/>
          <p:cNvCxnSpPr/>
          <p:nvPr/>
        </p:nvCxnSpPr>
        <p:spPr>
          <a:xfrm>
            <a:off x="910106" y="1644225"/>
            <a:ext cx="0" cy="225300"/>
          </a:xfrm>
          <a:prstGeom prst="straightConnector1">
            <a:avLst/>
          </a:prstGeom>
          <a:noFill/>
          <a:ln cap="flat" cmpd="sng" w="9525">
            <a:solidFill>
              <a:schemeClr val="dk1"/>
            </a:solidFill>
            <a:prstDash val="solid"/>
            <a:round/>
            <a:headEnd len="sm" w="sm" type="none"/>
            <a:tailEnd len="sm" w="sm" type="none"/>
          </a:ln>
        </p:spPr>
      </p:cxnSp>
      <p:cxnSp>
        <p:nvCxnSpPr>
          <p:cNvPr id="1685" name="Google Shape;1685;g3b75ff0c716_0_565"/>
          <p:cNvCxnSpPr/>
          <p:nvPr/>
        </p:nvCxnSpPr>
        <p:spPr>
          <a:xfrm>
            <a:off x="1566089" y="1650852"/>
            <a:ext cx="0" cy="225300"/>
          </a:xfrm>
          <a:prstGeom prst="straightConnector1">
            <a:avLst/>
          </a:prstGeom>
          <a:noFill/>
          <a:ln cap="flat" cmpd="sng" w="9525">
            <a:solidFill>
              <a:schemeClr val="dk1"/>
            </a:solidFill>
            <a:prstDash val="solid"/>
            <a:round/>
            <a:headEnd len="sm" w="sm" type="none"/>
            <a:tailEnd len="sm" w="sm" type="none"/>
          </a:ln>
        </p:spPr>
      </p:cxnSp>
      <p:sp>
        <p:nvSpPr>
          <p:cNvPr id="1686" name="Google Shape;1686;g3b75ff0c716_0_565"/>
          <p:cNvSpPr txBox="1"/>
          <p:nvPr/>
        </p:nvSpPr>
        <p:spPr>
          <a:xfrm>
            <a:off x="309839" y="165704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a:t>
            </a:r>
            <a:r>
              <a:rPr b="1" i="0" lang="en-US" sz="800" u="none" cap="none" strike="noStrike">
                <a:solidFill>
                  <a:schemeClr val="dk1"/>
                </a:solidFill>
                <a:latin typeface="Calibri"/>
                <a:ea typeface="Calibri"/>
                <a:cs typeface="Calibri"/>
                <a:sym typeface="Calibri"/>
              </a:rPr>
              <a:t>12.9</a:t>
            </a:r>
            <a:r>
              <a:rPr b="0" i="0" lang="en-US" sz="800" u="none" cap="none" strike="noStrike">
                <a:solidFill>
                  <a:schemeClr val="dk1"/>
                </a:solidFill>
                <a:latin typeface="Calibri"/>
                <a:ea typeface="Calibri"/>
                <a:cs typeface="Calibri"/>
                <a:sym typeface="Calibri"/>
              </a:rPr>
              <a:t>      9            </a:t>
            </a:r>
            <a:r>
              <a:rPr b="1" i="0" lang="en-US" sz="800" u="none" cap="none" strike="noStrike">
                <a:solidFill>
                  <a:schemeClr val="dk1"/>
                </a:solidFill>
                <a:latin typeface="Calibri"/>
                <a:ea typeface="Calibri"/>
                <a:cs typeface="Calibri"/>
                <a:sym typeface="Calibri"/>
              </a:rPr>
              <a:t>15.71</a:t>
            </a:r>
            <a:endParaRPr b="1" i="0" sz="300" u="none" cap="none" strike="noStrike">
              <a:solidFill>
                <a:srgbClr val="000000"/>
              </a:solidFill>
              <a:latin typeface="Arial"/>
              <a:ea typeface="Arial"/>
              <a:cs typeface="Arial"/>
              <a:sym typeface="Arial"/>
            </a:endParaRPr>
          </a:p>
        </p:txBody>
      </p:sp>
      <p:sp>
        <p:nvSpPr>
          <p:cNvPr id="1687" name="Google Shape;1687;g3b75ff0c716_0_565"/>
          <p:cNvSpPr/>
          <p:nvPr/>
        </p:nvSpPr>
        <p:spPr>
          <a:xfrm>
            <a:off x="309839" y="18728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88" name="Google Shape;1688;g3b75ff0c716_0_565"/>
          <p:cNvCxnSpPr/>
          <p:nvPr/>
        </p:nvCxnSpPr>
        <p:spPr>
          <a:xfrm>
            <a:off x="910106" y="1872825"/>
            <a:ext cx="0" cy="225300"/>
          </a:xfrm>
          <a:prstGeom prst="straightConnector1">
            <a:avLst/>
          </a:prstGeom>
          <a:noFill/>
          <a:ln cap="flat" cmpd="sng" w="9525">
            <a:solidFill>
              <a:schemeClr val="dk1"/>
            </a:solidFill>
            <a:prstDash val="solid"/>
            <a:round/>
            <a:headEnd len="sm" w="sm" type="none"/>
            <a:tailEnd len="sm" w="sm" type="none"/>
          </a:ln>
        </p:spPr>
      </p:cxnSp>
      <p:cxnSp>
        <p:nvCxnSpPr>
          <p:cNvPr id="1689" name="Google Shape;1689;g3b75ff0c716_0_565"/>
          <p:cNvCxnSpPr/>
          <p:nvPr/>
        </p:nvCxnSpPr>
        <p:spPr>
          <a:xfrm>
            <a:off x="1566089" y="1879452"/>
            <a:ext cx="0" cy="225300"/>
          </a:xfrm>
          <a:prstGeom prst="straightConnector1">
            <a:avLst/>
          </a:prstGeom>
          <a:noFill/>
          <a:ln cap="flat" cmpd="sng" w="9525">
            <a:solidFill>
              <a:schemeClr val="dk1"/>
            </a:solidFill>
            <a:prstDash val="solid"/>
            <a:round/>
            <a:headEnd len="sm" w="sm" type="none"/>
            <a:tailEnd len="sm" w="sm" type="none"/>
          </a:ln>
        </p:spPr>
      </p:cxnSp>
      <p:sp>
        <p:nvSpPr>
          <p:cNvPr id="1690" name="Google Shape;1690;g3b75ff0c716_0_565"/>
          <p:cNvSpPr txBox="1"/>
          <p:nvPr/>
        </p:nvSpPr>
        <p:spPr>
          <a:xfrm>
            <a:off x="309839" y="1885645"/>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6.24    12.9      9            </a:t>
            </a:r>
            <a:r>
              <a:rPr b="1" i="0" lang="en-US" sz="800" u="none" cap="none" strike="noStrike">
                <a:solidFill>
                  <a:schemeClr val="dk1"/>
                </a:solidFill>
                <a:latin typeface="Calibri"/>
                <a:ea typeface="Calibri"/>
                <a:cs typeface="Calibri"/>
                <a:sym typeface="Calibri"/>
              </a:rPr>
              <a:t>10.57</a:t>
            </a:r>
            <a:endParaRPr b="0" i="0" sz="300" u="none" cap="none" strike="noStrike">
              <a:solidFill>
                <a:srgbClr val="000000"/>
              </a:solidFill>
              <a:latin typeface="Arial"/>
              <a:ea typeface="Arial"/>
              <a:cs typeface="Arial"/>
              <a:sym typeface="Arial"/>
            </a:endParaRPr>
          </a:p>
        </p:txBody>
      </p:sp>
      <p:sp>
        <p:nvSpPr>
          <p:cNvPr id="1691" name="Google Shape;1691;g3b75ff0c716_0_565"/>
          <p:cNvSpPr/>
          <p:nvPr/>
        </p:nvSpPr>
        <p:spPr>
          <a:xfrm>
            <a:off x="310939" y="2088820"/>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92" name="Google Shape;1692;g3b75ff0c716_0_565"/>
          <p:cNvCxnSpPr/>
          <p:nvPr/>
        </p:nvCxnSpPr>
        <p:spPr>
          <a:xfrm>
            <a:off x="911206" y="2088820"/>
            <a:ext cx="0" cy="225300"/>
          </a:xfrm>
          <a:prstGeom prst="straightConnector1">
            <a:avLst/>
          </a:prstGeom>
          <a:noFill/>
          <a:ln cap="flat" cmpd="sng" w="9525">
            <a:solidFill>
              <a:schemeClr val="dk1"/>
            </a:solidFill>
            <a:prstDash val="solid"/>
            <a:round/>
            <a:headEnd len="sm" w="sm" type="none"/>
            <a:tailEnd len="sm" w="sm" type="none"/>
          </a:ln>
        </p:spPr>
      </p:cxnSp>
      <p:cxnSp>
        <p:nvCxnSpPr>
          <p:cNvPr id="1693" name="Google Shape;1693;g3b75ff0c716_0_565"/>
          <p:cNvCxnSpPr/>
          <p:nvPr/>
        </p:nvCxnSpPr>
        <p:spPr>
          <a:xfrm>
            <a:off x="1567189" y="2095447"/>
            <a:ext cx="0" cy="225300"/>
          </a:xfrm>
          <a:prstGeom prst="straightConnector1">
            <a:avLst/>
          </a:prstGeom>
          <a:noFill/>
          <a:ln cap="flat" cmpd="sng" w="9525">
            <a:solidFill>
              <a:schemeClr val="dk1"/>
            </a:solidFill>
            <a:prstDash val="solid"/>
            <a:round/>
            <a:headEnd len="sm" w="sm" type="none"/>
            <a:tailEnd len="sm" w="sm" type="none"/>
          </a:ln>
        </p:spPr>
      </p:cxnSp>
      <p:sp>
        <p:nvSpPr>
          <p:cNvPr id="1694" name="Google Shape;1694;g3b75ff0c716_0_565"/>
          <p:cNvSpPr txBox="1"/>
          <p:nvPr/>
        </p:nvSpPr>
        <p:spPr>
          <a:xfrm>
            <a:off x="310939" y="2101640"/>
            <a:ext cx="1929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 6.24    12.9      9            </a:t>
            </a:r>
            <a:r>
              <a:rPr b="1" i="0" lang="en-US" sz="800" u="none" cap="none" strike="noStrike">
                <a:solidFill>
                  <a:schemeClr val="dk1"/>
                </a:solidFill>
                <a:latin typeface="Calibri"/>
                <a:ea typeface="Calibri"/>
                <a:cs typeface="Calibri"/>
                <a:sym typeface="Calibri"/>
              </a:rPr>
              <a:t>13.7</a:t>
            </a:r>
            <a:endParaRPr b="0" i="0" sz="300" u="none" cap="none" strike="noStrike">
              <a:solidFill>
                <a:srgbClr val="000000"/>
              </a:solidFill>
              <a:latin typeface="Arial"/>
              <a:ea typeface="Arial"/>
              <a:cs typeface="Arial"/>
              <a:sym typeface="Arial"/>
            </a:endParaRPr>
          </a:p>
        </p:txBody>
      </p:sp>
      <p:pic>
        <p:nvPicPr>
          <p:cNvPr id="1695" name="Google Shape;1695;g3b75ff0c716_0_565"/>
          <p:cNvPicPr preferRelativeResize="0"/>
          <p:nvPr/>
        </p:nvPicPr>
        <p:blipFill rotWithShape="1">
          <a:blip r:embed="rId8">
            <a:alphaModFix/>
          </a:blip>
          <a:srcRect b="0" l="0" r="0" t="0"/>
          <a:stretch/>
        </p:blipFill>
        <p:spPr>
          <a:xfrm>
            <a:off x="3797359" y="35192"/>
            <a:ext cx="1958532" cy="1060146"/>
          </a:xfrm>
          <a:prstGeom prst="rect">
            <a:avLst/>
          </a:prstGeom>
          <a:noFill/>
          <a:ln>
            <a:noFill/>
          </a:ln>
        </p:spPr>
      </p:pic>
      <p:sp>
        <p:nvSpPr>
          <p:cNvPr id="1696" name="Google Shape;1696;g3b75ff0c716_0_565"/>
          <p:cNvSpPr/>
          <p:nvPr/>
        </p:nvSpPr>
        <p:spPr>
          <a:xfrm>
            <a:off x="5365917" y="322469"/>
            <a:ext cx="477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Ꜫ = 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γ = 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α  = 0.8</a:t>
            </a:r>
            <a:endParaRPr b="1" i="0" sz="600" u="none" cap="none" strike="noStrike">
              <a:solidFill>
                <a:srgbClr val="000000"/>
              </a:solidFill>
              <a:latin typeface="Arial"/>
              <a:ea typeface="Arial"/>
              <a:cs typeface="Arial"/>
              <a:sym typeface="Arial"/>
            </a:endParaRPr>
          </a:p>
        </p:txBody>
      </p:sp>
      <p:sp>
        <p:nvSpPr>
          <p:cNvPr id="1697" name="Google Shape;1697;g3b75ff0c716_0_565"/>
          <p:cNvSpPr/>
          <p:nvPr/>
        </p:nvSpPr>
        <p:spPr>
          <a:xfrm>
            <a:off x="2157689" y="16569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698" name="Google Shape;1698;g3b75ff0c716_0_565"/>
          <p:cNvCxnSpPr/>
          <p:nvPr/>
        </p:nvCxnSpPr>
        <p:spPr>
          <a:xfrm>
            <a:off x="2757956" y="1656925"/>
            <a:ext cx="0" cy="225300"/>
          </a:xfrm>
          <a:prstGeom prst="straightConnector1">
            <a:avLst/>
          </a:prstGeom>
          <a:noFill/>
          <a:ln cap="flat" cmpd="sng" w="9525">
            <a:solidFill>
              <a:schemeClr val="dk1"/>
            </a:solidFill>
            <a:prstDash val="solid"/>
            <a:round/>
            <a:headEnd len="sm" w="sm" type="none"/>
            <a:tailEnd len="sm" w="sm" type="none"/>
          </a:ln>
        </p:spPr>
      </p:cxnSp>
      <p:cxnSp>
        <p:nvCxnSpPr>
          <p:cNvPr id="1699" name="Google Shape;1699;g3b75ff0c716_0_565"/>
          <p:cNvCxnSpPr/>
          <p:nvPr/>
        </p:nvCxnSpPr>
        <p:spPr>
          <a:xfrm>
            <a:off x="3413939" y="1663552"/>
            <a:ext cx="0" cy="225300"/>
          </a:xfrm>
          <a:prstGeom prst="straightConnector1">
            <a:avLst/>
          </a:prstGeom>
          <a:noFill/>
          <a:ln cap="flat" cmpd="sng" w="9525">
            <a:solidFill>
              <a:schemeClr val="dk1"/>
            </a:solidFill>
            <a:prstDash val="solid"/>
            <a:round/>
            <a:headEnd len="sm" w="sm" type="none"/>
            <a:tailEnd len="sm" w="sm" type="none"/>
          </a:ln>
        </p:spPr>
      </p:cxnSp>
      <p:sp>
        <p:nvSpPr>
          <p:cNvPr id="1700" name="Google Shape;1700;g3b75ff0c716_0_565"/>
          <p:cNvSpPr txBox="1"/>
          <p:nvPr/>
        </p:nvSpPr>
        <p:spPr>
          <a:xfrm>
            <a:off x="2157689" y="1669745"/>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a:t>
            </a:r>
            <a:r>
              <a:rPr b="1" i="0" lang="en-US" sz="700" u="none" cap="none" strike="noStrike">
                <a:solidFill>
                  <a:srgbClr val="000000"/>
                </a:solidFill>
                <a:latin typeface="Arial"/>
                <a:ea typeface="Arial"/>
                <a:cs typeface="Arial"/>
                <a:sym typeface="Arial"/>
              </a:rPr>
              <a:t>15.87</a:t>
            </a:r>
            <a:r>
              <a:rPr b="0" i="0" lang="en-US" sz="700" u="none" cap="none" strike="noStrike">
                <a:solidFill>
                  <a:srgbClr val="000000"/>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sp>
        <p:nvSpPr>
          <p:cNvPr id="1701" name="Google Shape;1701;g3b75ff0c716_0_565"/>
          <p:cNvSpPr/>
          <p:nvPr/>
        </p:nvSpPr>
        <p:spPr>
          <a:xfrm>
            <a:off x="2157689" y="1885525"/>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702" name="Google Shape;1702;g3b75ff0c716_0_565"/>
          <p:cNvCxnSpPr/>
          <p:nvPr/>
        </p:nvCxnSpPr>
        <p:spPr>
          <a:xfrm>
            <a:off x="2757956" y="1885525"/>
            <a:ext cx="0" cy="225300"/>
          </a:xfrm>
          <a:prstGeom prst="straightConnector1">
            <a:avLst/>
          </a:prstGeom>
          <a:noFill/>
          <a:ln cap="flat" cmpd="sng" w="9525">
            <a:solidFill>
              <a:schemeClr val="dk1"/>
            </a:solidFill>
            <a:prstDash val="solid"/>
            <a:round/>
            <a:headEnd len="sm" w="sm" type="none"/>
            <a:tailEnd len="sm" w="sm" type="none"/>
          </a:ln>
        </p:spPr>
      </p:cxnSp>
      <p:cxnSp>
        <p:nvCxnSpPr>
          <p:cNvPr id="1703" name="Google Shape;1703;g3b75ff0c716_0_565"/>
          <p:cNvCxnSpPr/>
          <p:nvPr/>
        </p:nvCxnSpPr>
        <p:spPr>
          <a:xfrm>
            <a:off x="3413939" y="1892152"/>
            <a:ext cx="0" cy="225300"/>
          </a:xfrm>
          <a:prstGeom prst="straightConnector1">
            <a:avLst/>
          </a:prstGeom>
          <a:noFill/>
          <a:ln cap="flat" cmpd="sng" w="9525">
            <a:solidFill>
              <a:schemeClr val="dk1"/>
            </a:solidFill>
            <a:prstDash val="solid"/>
            <a:round/>
            <a:headEnd len="sm" w="sm" type="none"/>
            <a:tailEnd len="sm" w="sm" type="none"/>
          </a:ln>
        </p:spPr>
      </p:cxnSp>
      <p:sp>
        <p:nvSpPr>
          <p:cNvPr id="1704" name="Google Shape;1704;g3b75ff0c716_0_565"/>
          <p:cNvSpPr txBox="1"/>
          <p:nvPr/>
        </p:nvSpPr>
        <p:spPr>
          <a:xfrm>
            <a:off x="2157689" y="1898345"/>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18.3        1        5         15.87 </a:t>
            </a:r>
            <a:endParaRPr b="0" i="0" sz="700" u="none" cap="none" strike="noStrike">
              <a:solidFill>
                <a:srgbClr val="000000"/>
              </a:solidFill>
              <a:latin typeface="Arial"/>
              <a:ea typeface="Arial"/>
              <a:cs typeface="Arial"/>
              <a:sym typeface="Arial"/>
            </a:endParaRPr>
          </a:p>
        </p:txBody>
      </p:sp>
      <p:sp>
        <p:nvSpPr>
          <p:cNvPr id="1705" name="Google Shape;1705;g3b75ff0c716_0_565"/>
          <p:cNvSpPr/>
          <p:nvPr/>
        </p:nvSpPr>
        <p:spPr>
          <a:xfrm>
            <a:off x="2158789" y="2101520"/>
            <a:ext cx="1852800" cy="2217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500" u="none" cap="none" strike="noStrike">
              <a:solidFill>
                <a:schemeClr val="lt1"/>
              </a:solidFill>
              <a:latin typeface="Calibri"/>
              <a:ea typeface="Calibri"/>
              <a:cs typeface="Calibri"/>
              <a:sym typeface="Calibri"/>
            </a:endParaRPr>
          </a:p>
        </p:txBody>
      </p:sp>
      <p:cxnSp>
        <p:nvCxnSpPr>
          <p:cNvPr id="1706" name="Google Shape;1706;g3b75ff0c716_0_565"/>
          <p:cNvCxnSpPr/>
          <p:nvPr/>
        </p:nvCxnSpPr>
        <p:spPr>
          <a:xfrm>
            <a:off x="2759056" y="2101520"/>
            <a:ext cx="0" cy="225300"/>
          </a:xfrm>
          <a:prstGeom prst="straightConnector1">
            <a:avLst/>
          </a:prstGeom>
          <a:noFill/>
          <a:ln cap="flat" cmpd="sng" w="9525">
            <a:solidFill>
              <a:schemeClr val="dk1"/>
            </a:solidFill>
            <a:prstDash val="solid"/>
            <a:round/>
            <a:headEnd len="sm" w="sm" type="none"/>
            <a:tailEnd len="sm" w="sm" type="none"/>
          </a:ln>
        </p:spPr>
      </p:cxnSp>
      <p:cxnSp>
        <p:nvCxnSpPr>
          <p:cNvPr id="1707" name="Google Shape;1707;g3b75ff0c716_0_565"/>
          <p:cNvCxnSpPr/>
          <p:nvPr/>
        </p:nvCxnSpPr>
        <p:spPr>
          <a:xfrm>
            <a:off x="3415039" y="2108147"/>
            <a:ext cx="0" cy="225300"/>
          </a:xfrm>
          <a:prstGeom prst="straightConnector1">
            <a:avLst/>
          </a:prstGeom>
          <a:noFill/>
          <a:ln cap="flat" cmpd="sng" w="9525">
            <a:solidFill>
              <a:schemeClr val="dk1"/>
            </a:solidFill>
            <a:prstDash val="solid"/>
            <a:round/>
            <a:headEnd len="sm" w="sm" type="none"/>
            <a:tailEnd len="sm" w="sm" type="none"/>
          </a:ln>
        </p:spPr>
      </p:cxnSp>
      <p:sp>
        <p:nvSpPr>
          <p:cNvPr id="1708" name="Google Shape;1708;g3b75ff0c716_0_565"/>
          <p:cNvSpPr txBox="1"/>
          <p:nvPr/>
        </p:nvSpPr>
        <p:spPr>
          <a:xfrm>
            <a:off x="2158789" y="2114340"/>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18.3        1        5         15.87 </a:t>
            </a:r>
            <a:endParaRPr b="0" i="0" sz="700" u="none" cap="none" strike="noStrike">
              <a:solidFill>
                <a:srgbClr val="000000"/>
              </a:solidFill>
              <a:latin typeface="Arial"/>
              <a:ea typeface="Arial"/>
              <a:cs typeface="Arial"/>
              <a:sym typeface="Arial"/>
            </a:endParaRPr>
          </a:p>
        </p:txBody>
      </p:sp>
      <p:sp>
        <p:nvSpPr>
          <p:cNvPr id="1709" name="Google Shape;1709;g3b75ff0c716_0_565"/>
          <p:cNvSpPr txBox="1"/>
          <p:nvPr/>
        </p:nvSpPr>
        <p:spPr>
          <a:xfrm>
            <a:off x="2157688" y="1429163"/>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18.3        1        5         16.89 </a:t>
            </a:r>
            <a:endParaRPr b="0" i="0" sz="700" u="none" cap="none" strike="noStrike">
              <a:solidFill>
                <a:srgbClr val="000000"/>
              </a:solidFill>
              <a:latin typeface="Arial"/>
              <a:ea typeface="Arial"/>
              <a:cs typeface="Arial"/>
              <a:sym typeface="Arial"/>
            </a:endParaRPr>
          </a:p>
        </p:txBody>
      </p:sp>
      <p:sp>
        <p:nvSpPr>
          <p:cNvPr id="1710" name="Google Shape;1710;g3b75ff0c716_0_565"/>
          <p:cNvSpPr txBox="1"/>
          <p:nvPr/>
        </p:nvSpPr>
        <p:spPr>
          <a:xfrm>
            <a:off x="2153082" y="111650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18.3        1        5          15 </a:t>
            </a:r>
            <a:endParaRPr b="0" i="0" sz="700" u="none" cap="none" strike="noStrike">
              <a:solidFill>
                <a:srgbClr val="000000"/>
              </a:solidFill>
              <a:latin typeface="Arial"/>
              <a:ea typeface="Arial"/>
              <a:cs typeface="Arial"/>
              <a:sym typeface="Arial"/>
            </a:endParaRPr>
          </a:p>
        </p:txBody>
      </p:sp>
      <p:sp>
        <p:nvSpPr>
          <p:cNvPr id="1711" name="Google Shape;1711;g3b75ff0c716_0_565"/>
          <p:cNvSpPr txBox="1"/>
          <p:nvPr/>
        </p:nvSpPr>
        <p:spPr>
          <a:xfrm>
            <a:off x="2140174" y="800486"/>
            <a:ext cx="19290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5             1        5           15 </a:t>
            </a:r>
            <a:endParaRPr b="0" i="0" sz="700" u="none" cap="none" strike="noStrike">
              <a:solidFill>
                <a:srgbClr val="000000"/>
              </a:solidFill>
              <a:latin typeface="Arial"/>
              <a:ea typeface="Arial"/>
              <a:cs typeface="Arial"/>
              <a:sym typeface="Arial"/>
            </a:endParaRPr>
          </a:p>
        </p:txBody>
      </p:sp>
      <p:pic>
        <p:nvPicPr>
          <p:cNvPr id="1712" name="Google Shape;1712;g3b75ff0c716_0_565"/>
          <p:cNvPicPr preferRelativeResize="0"/>
          <p:nvPr/>
        </p:nvPicPr>
        <p:blipFill rotWithShape="1">
          <a:blip r:embed="rId9">
            <a:alphaModFix/>
          </a:blip>
          <a:srcRect b="0" l="0" r="0" t="0"/>
          <a:stretch/>
        </p:blipFill>
        <p:spPr>
          <a:xfrm>
            <a:off x="4126336" y="1181424"/>
            <a:ext cx="1562241" cy="1894180"/>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5"/>
                                        </p:tgtEl>
                                        <p:attrNameLst>
                                          <p:attrName>style.visibility</p:attrName>
                                        </p:attrNameLst>
                                      </p:cBhvr>
                                      <p:to>
                                        <p:strVal val="visible"/>
                                      </p:to>
                                    </p:set>
                                    <p:animEffect filter="fade" transition="in">
                                      <p:cBhvr>
                                        <p:cTn dur="500"/>
                                        <p:tgtEl>
                                          <p:spTgt spid="16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
        <p:nvSpPr>
          <p:cNvPr id="1717" name="Google Shape;1717;g3b75ff0c716_0_648"/>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	 DP 		TD 	     MC </a:t>
            </a:r>
            <a:endParaRPr/>
          </a:p>
        </p:txBody>
      </p:sp>
      <p:grpSp>
        <p:nvGrpSpPr>
          <p:cNvPr id="1718" name="Google Shape;1718;g3b75ff0c716_0_648"/>
          <p:cNvGrpSpPr/>
          <p:nvPr/>
        </p:nvGrpSpPr>
        <p:grpSpPr>
          <a:xfrm>
            <a:off x="0" y="3109250"/>
            <a:ext cx="5760261" cy="92075"/>
            <a:chOff x="0" y="3109250"/>
            <a:chExt cx="5760261" cy="92075"/>
          </a:xfrm>
        </p:grpSpPr>
        <p:sp>
          <p:nvSpPr>
            <p:cNvPr id="1719" name="Google Shape;1719;g3b75ff0c716_0_648"/>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g3b75ff0c716_0_648"/>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g3b75ff0c716_0_648"/>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22" name="Google Shape;1722;g3b75ff0c716_0_648"/>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723" name="Google Shape;1723;g3b75ff0c716_0_648"/>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sp>
        <p:nvSpPr>
          <p:cNvPr id="1724" name="Google Shape;1724;g3b75ff0c716_0_648"/>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725" name="Google Shape;1725;g3b75ff0c716_0_648"/>
          <p:cNvPicPr preferRelativeResize="0"/>
          <p:nvPr/>
        </p:nvPicPr>
        <p:blipFill rotWithShape="1">
          <a:blip r:embed="rId3">
            <a:alphaModFix/>
          </a:blip>
          <a:srcRect b="0" l="0" r="0" t="0"/>
          <a:stretch/>
        </p:blipFill>
        <p:spPr>
          <a:xfrm>
            <a:off x="498602" y="680207"/>
            <a:ext cx="1505730" cy="1123193"/>
          </a:xfrm>
          <a:prstGeom prst="rect">
            <a:avLst/>
          </a:prstGeom>
          <a:noFill/>
          <a:ln>
            <a:noFill/>
          </a:ln>
        </p:spPr>
      </p:pic>
      <p:pic>
        <p:nvPicPr>
          <p:cNvPr id="1726" name="Google Shape;1726;g3b75ff0c716_0_648"/>
          <p:cNvPicPr preferRelativeResize="0"/>
          <p:nvPr/>
        </p:nvPicPr>
        <p:blipFill rotWithShape="1">
          <a:blip r:embed="rId4">
            <a:alphaModFix/>
          </a:blip>
          <a:srcRect b="0" l="0" r="0" t="0"/>
          <a:stretch/>
        </p:blipFill>
        <p:spPr>
          <a:xfrm>
            <a:off x="12512" y="2349019"/>
            <a:ext cx="2813000" cy="262970"/>
          </a:xfrm>
          <a:prstGeom prst="rect">
            <a:avLst/>
          </a:prstGeom>
          <a:noFill/>
          <a:ln cap="flat" cmpd="sng" w="9525">
            <a:solidFill>
              <a:schemeClr val="dk1"/>
            </a:solidFill>
            <a:prstDash val="solid"/>
            <a:round/>
            <a:headEnd len="sm" w="sm" type="none"/>
            <a:tailEnd len="sm" w="sm" type="none"/>
          </a:ln>
        </p:spPr>
      </p:pic>
      <p:pic>
        <p:nvPicPr>
          <p:cNvPr id="1727" name="Google Shape;1727;g3b75ff0c716_0_648"/>
          <p:cNvPicPr preferRelativeResize="0"/>
          <p:nvPr/>
        </p:nvPicPr>
        <p:blipFill rotWithShape="1">
          <a:blip r:embed="rId5">
            <a:alphaModFix/>
          </a:blip>
          <a:srcRect b="0" l="0" r="0" t="0"/>
          <a:stretch/>
        </p:blipFill>
        <p:spPr>
          <a:xfrm>
            <a:off x="4094018" y="816671"/>
            <a:ext cx="258238" cy="1950375"/>
          </a:xfrm>
          <a:prstGeom prst="rect">
            <a:avLst/>
          </a:prstGeom>
          <a:noFill/>
          <a:ln>
            <a:noFill/>
          </a:ln>
        </p:spPr>
      </p:pic>
      <p:pic>
        <p:nvPicPr>
          <p:cNvPr id="1728" name="Google Shape;1728;g3b75ff0c716_0_648"/>
          <p:cNvPicPr preferRelativeResize="0"/>
          <p:nvPr/>
        </p:nvPicPr>
        <p:blipFill rotWithShape="1">
          <a:blip r:embed="rId6">
            <a:alphaModFix/>
          </a:blip>
          <a:srcRect b="0" l="0" r="0" t="0"/>
          <a:stretch/>
        </p:blipFill>
        <p:spPr>
          <a:xfrm>
            <a:off x="4271191" y="2331942"/>
            <a:ext cx="1259660" cy="289519"/>
          </a:xfrm>
          <a:prstGeom prst="rect">
            <a:avLst/>
          </a:prstGeom>
          <a:noFill/>
          <a:ln cap="flat" cmpd="sng" w="9525">
            <a:solidFill>
              <a:schemeClr val="dk1"/>
            </a:solidFill>
            <a:prstDash val="solid"/>
            <a:round/>
            <a:headEnd len="sm" w="sm" type="none"/>
            <a:tailEnd len="sm" w="sm" type="none"/>
          </a:ln>
        </p:spPr>
      </p:pic>
      <p:sp>
        <p:nvSpPr>
          <p:cNvPr id="1729" name="Google Shape;1729;g3b75ff0c716_0_648"/>
          <p:cNvSpPr txBox="1"/>
          <p:nvPr/>
        </p:nvSpPr>
        <p:spPr>
          <a:xfrm>
            <a:off x="3892740" y="728733"/>
            <a:ext cx="4026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S</a:t>
            </a:r>
            <a:r>
              <a:rPr b="1" baseline="-25000" i="1" lang="en-US" sz="900" u="none" cap="none" strike="noStrike">
                <a:solidFill>
                  <a:srgbClr val="000000"/>
                </a:solidFill>
                <a:latin typeface="Arial"/>
                <a:ea typeface="Arial"/>
                <a:cs typeface="Arial"/>
                <a:sym typeface="Arial"/>
              </a:rPr>
              <a:t>T</a:t>
            </a:r>
            <a:r>
              <a:rPr b="1" i="1" lang="en-US" sz="900" u="none" cap="none" strike="noStrike">
                <a:solidFill>
                  <a:srgbClr val="000000"/>
                </a:solidFill>
                <a:latin typeface="Arial"/>
                <a:ea typeface="Arial"/>
                <a:cs typeface="Arial"/>
                <a:sym typeface="Arial"/>
              </a:rPr>
              <a:t> </a:t>
            </a:r>
            <a:endParaRPr b="1" i="1" sz="900" u="none" cap="none" strike="noStrike">
              <a:solidFill>
                <a:srgbClr val="000000"/>
              </a:solidFill>
              <a:latin typeface="Arial"/>
              <a:ea typeface="Arial"/>
              <a:cs typeface="Arial"/>
              <a:sym typeface="Arial"/>
            </a:endParaRPr>
          </a:p>
        </p:txBody>
      </p:sp>
      <p:pic>
        <p:nvPicPr>
          <p:cNvPr id="1730" name="Google Shape;1730;g3b75ff0c716_0_648"/>
          <p:cNvPicPr preferRelativeResize="0"/>
          <p:nvPr/>
        </p:nvPicPr>
        <p:blipFill rotWithShape="1">
          <a:blip r:embed="rId7">
            <a:alphaModFix/>
          </a:blip>
          <a:srcRect b="0" l="0" r="0" t="0"/>
          <a:stretch/>
        </p:blipFill>
        <p:spPr>
          <a:xfrm>
            <a:off x="2693154" y="668857"/>
            <a:ext cx="444538" cy="1029846"/>
          </a:xfrm>
          <a:prstGeom prst="rect">
            <a:avLst/>
          </a:prstGeom>
          <a:noFill/>
          <a:ln>
            <a:noFill/>
          </a:ln>
        </p:spPr>
      </p:pic>
      <p:pic>
        <p:nvPicPr>
          <p:cNvPr id="1731" name="Google Shape;1731;g3b75ff0c716_0_648"/>
          <p:cNvPicPr preferRelativeResize="0"/>
          <p:nvPr/>
        </p:nvPicPr>
        <p:blipFill rotWithShape="1">
          <a:blip r:embed="rId8">
            <a:alphaModFix/>
          </a:blip>
          <a:srcRect b="0" l="0" r="0" t="0"/>
          <a:stretch/>
        </p:blipFill>
        <p:spPr>
          <a:xfrm>
            <a:off x="2203450" y="499477"/>
            <a:ext cx="1639815" cy="140958"/>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g3b75ff0c716_0_666"/>
          <p:cNvSpPr txBox="1"/>
          <p:nvPr>
            <p:ph type="title"/>
          </p:nvPr>
        </p:nvSpPr>
        <p:spPr>
          <a:xfrm>
            <a:off x="82600" y="109545"/>
            <a:ext cx="4943400" cy="276900"/>
          </a:xfrm>
          <a:prstGeom prst="rect">
            <a:avLst/>
          </a:prstGeom>
          <a:noFill/>
          <a:ln>
            <a:noFill/>
          </a:ln>
        </p:spPr>
        <p:txBody>
          <a:bodyPr anchorCtr="0" anchor="t" bIns="0" lIns="0" spcFirstLastPara="1" rIns="0" wrap="square" tIns="15225">
            <a:spAutoFit/>
          </a:bodyPr>
          <a:lstStyle/>
          <a:p>
            <a:pPr indent="0" lvl="0" marL="25400" rtl="0" algn="l">
              <a:lnSpc>
                <a:spcPct val="100000"/>
              </a:lnSpc>
              <a:spcBef>
                <a:spcPts val="0"/>
              </a:spcBef>
              <a:spcAft>
                <a:spcPts val="0"/>
              </a:spcAft>
              <a:buSzPts val="1400"/>
              <a:buNone/>
            </a:pPr>
            <a:r>
              <a:rPr lang="en-US">
                <a:solidFill>
                  <a:srgbClr val="FFFFFF"/>
                </a:solidFill>
              </a:rPr>
              <a:t>	 DP 		TD 	                   MC </a:t>
            </a:r>
            <a:endParaRPr/>
          </a:p>
        </p:txBody>
      </p:sp>
      <p:grpSp>
        <p:nvGrpSpPr>
          <p:cNvPr id="1737" name="Google Shape;1737;g3b75ff0c716_0_666"/>
          <p:cNvGrpSpPr/>
          <p:nvPr/>
        </p:nvGrpSpPr>
        <p:grpSpPr>
          <a:xfrm>
            <a:off x="0" y="3109250"/>
            <a:ext cx="5760261" cy="92075"/>
            <a:chOff x="0" y="3109250"/>
            <a:chExt cx="5760261" cy="92075"/>
          </a:xfrm>
        </p:grpSpPr>
        <p:sp>
          <p:nvSpPr>
            <p:cNvPr id="1738" name="Google Shape;1738;g3b75ff0c716_0_666"/>
            <p:cNvSpPr/>
            <p:nvPr/>
          </p:nvSpPr>
          <p:spPr>
            <a:xfrm>
              <a:off x="0"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FACA2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g3b75ff0c716_0_666"/>
            <p:cNvSpPr/>
            <p:nvPr/>
          </p:nvSpPr>
          <p:spPr>
            <a:xfrm>
              <a:off x="1923862" y="3109250"/>
              <a:ext cx="1912620" cy="92075"/>
            </a:xfrm>
            <a:custGeom>
              <a:rect b="b" l="l" r="r" t="t"/>
              <a:pathLst>
                <a:path extrusionOk="0" h="92075" w="1912620">
                  <a:moveTo>
                    <a:pt x="0" y="91521"/>
                  </a:moveTo>
                  <a:lnTo>
                    <a:pt x="0" y="0"/>
                  </a:lnTo>
                  <a:lnTo>
                    <a:pt x="1912348" y="0"/>
                  </a:lnTo>
                  <a:lnTo>
                    <a:pt x="1912348" y="91521"/>
                  </a:lnTo>
                  <a:lnTo>
                    <a:pt x="0" y="91521"/>
                  </a:lnTo>
                  <a:close/>
                </a:path>
              </a:pathLst>
            </a:custGeom>
            <a:solidFill>
              <a:srgbClr val="76C3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g3b75ff0c716_0_666"/>
            <p:cNvSpPr/>
            <p:nvPr/>
          </p:nvSpPr>
          <p:spPr>
            <a:xfrm>
              <a:off x="3836211" y="3109250"/>
              <a:ext cx="1924050" cy="92075"/>
            </a:xfrm>
            <a:custGeom>
              <a:rect b="b" l="l" r="r" t="t"/>
              <a:pathLst>
                <a:path extrusionOk="0" h="92075" w="1924050">
                  <a:moveTo>
                    <a:pt x="0" y="91521"/>
                  </a:moveTo>
                  <a:lnTo>
                    <a:pt x="0" y="0"/>
                  </a:lnTo>
                  <a:lnTo>
                    <a:pt x="1923862" y="0"/>
                  </a:lnTo>
                  <a:lnTo>
                    <a:pt x="1923862" y="91521"/>
                  </a:lnTo>
                  <a:lnTo>
                    <a:pt x="0" y="91521"/>
                  </a:lnTo>
                  <a:close/>
                </a:path>
              </a:pathLst>
            </a:custGeom>
            <a:solidFill>
              <a:srgbClr val="EC202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41" name="Google Shape;1741;g3b75ff0c716_0_666"/>
          <p:cNvSpPr txBox="1"/>
          <p:nvPr>
            <p:ph idx="11" type="ftr"/>
          </p:nvPr>
        </p:nvSpPr>
        <p:spPr>
          <a:xfrm>
            <a:off x="572122" y="3137672"/>
            <a:ext cx="735300" cy="92400"/>
          </a:xfrm>
          <a:prstGeom prst="rect">
            <a:avLst/>
          </a:prstGeom>
          <a:noFill/>
          <a:ln>
            <a:noFill/>
          </a:ln>
        </p:spPr>
        <p:txBody>
          <a:bodyPr anchorCtr="0" anchor="t" bIns="0" lIns="0" spcFirstLastPara="1" rIns="0" wrap="square" tIns="0">
            <a:spAutoFit/>
          </a:bodyPr>
          <a:lstStyle/>
          <a:p>
            <a:pPr indent="0" lvl="0" marL="12700" rtl="0" algn="l">
              <a:lnSpc>
                <a:spcPct val="111666"/>
              </a:lnSpc>
              <a:spcBef>
                <a:spcPts val="0"/>
              </a:spcBef>
              <a:spcAft>
                <a:spcPts val="0"/>
              </a:spcAft>
              <a:buSzPts val="1400"/>
              <a:buNone/>
            </a:pPr>
            <a:r>
              <a:rPr lang="en-US"/>
              <a:t>BITS P</a:t>
            </a:r>
            <a:r>
              <a:rPr lang="en-US" cap="small"/>
              <a:t>ilani</a:t>
            </a:r>
            <a:r>
              <a:rPr lang="en-US"/>
              <a:t> WILP</a:t>
            </a:r>
            <a:endParaRPr/>
          </a:p>
        </p:txBody>
      </p:sp>
      <p:sp>
        <p:nvSpPr>
          <p:cNvPr id="1742" name="Google Shape;1742;g3b75ff0c716_0_666"/>
          <p:cNvSpPr txBox="1"/>
          <p:nvPr>
            <p:ph idx="12" type="sldNum"/>
          </p:nvPr>
        </p:nvSpPr>
        <p:spPr>
          <a:xfrm>
            <a:off x="4648848" y="3137672"/>
            <a:ext cx="318300" cy="92400"/>
          </a:xfrm>
          <a:prstGeom prst="rect">
            <a:avLst/>
          </a:prstGeom>
          <a:noFill/>
          <a:ln>
            <a:noFill/>
          </a:ln>
        </p:spPr>
        <p:txBody>
          <a:bodyPr anchorCtr="0" anchor="t" bIns="0" lIns="0" spcFirstLastPara="1" rIns="0" wrap="square" tIns="0">
            <a:spAutoFit/>
          </a:bodyPr>
          <a:lstStyle/>
          <a:p>
            <a:pPr indent="0" lvl="0" marL="59055" rtl="0" algn="l">
              <a:lnSpc>
                <a:spcPct val="111666"/>
              </a:lnSpc>
              <a:spcBef>
                <a:spcPts val="0"/>
              </a:spcBef>
              <a:spcAft>
                <a:spcPts val="0"/>
              </a:spcAft>
              <a:buClr>
                <a:srgbClr val="000000"/>
              </a:buClr>
              <a:buSzPts val="600"/>
              <a:buFont typeface="Arial"/>
              <a:buNone/>
            </a:pPr>
            <a:fld id="{00000000-1234-1234-1234-123412341234}" type="slidenum">
              <a:rPr lang="en-US"/>
              <a:t>‹#›</a:t>
            </a:fld>
            <a:endParaRPr/>
          </a:p>
        </p:txBody>
      </p:sp>
      <p:sp>
        <p:nvSpPr>
          <p:cNvPr id="1743" name="Google Shape;1743;g3b75ff0c716_0_666"/>
          <p:cNvSpPr txBox="1"/>
          <p:nvPr/>
        </p:nvSpPr>
        <p:spPr>
          <a:xfrm>
            <a:off x="2283723" y="3137672"/>
            <a:ext cx="1329900" cy="92400"/>
          </a:xfrm>
          <a:prstGeom prst="rect">
            <a:avLst/>
          </a:prstGeom>
          <a:noFill/>
          <a:ln>
            <a:noFill/>
          </a:ln>
        </p:spPr>
        <p:txBody>
          <a:bodyPr anchorCtr="0" anchor="t" bIns="0" lIns="0" spcFirstLastPara="1" rIns="0" wrap="square" tIns="0">
            <a:spAutoFit/>
          </a:bodyPr>
          <a:lstStyle/>
          <a:p>
            <a:pPr indent="0" lvl="0" marL="12700" marR="0" rtl="0" algn="l">
              <a:lnSpc>
                <a:spcPct val="111666"/>
              </a:lnSpc>
              <a:spcBef>
                <a:spcPts val="0"/>
              </a:spcBef>
              <a:spcAft>
                <a:spcPts val="0"/>
              </a:spcAft>
              <a:buClr>
                <a:srgbClr val="000000"/>
              </a:buClr>
              <a:buSzPts val="600"/>
              <a:buFont typeface="Arial"/>
              <a:buNone/>
            </a:pPr>
            <a:r>
              <a:rPr b="0" i="0" lang="en-US" sz="600" u="sng" cap="none" strike="noStrike">
                <a:solidFill>
                  <a:schemeClr val="hlink"/>
                </a:solidFill>
                <a:latin typeface="Calibri"/>
                <a:ea typeface="Calibri"/>
                <a:cs typeface="Calibri"/>
                <a:sym typeface="Calibri"/>
              </a:rPr>
              <a:t>Deep Reinforcement Learning</a:t>
            </a:r>
            <a:endParaRPr b="0" i="0" sz="600" u="none" cap="none" strike="noStrike">
              <a:solidFill>
                <a:srgbClr val="000000"/>
              </a:solidFill>
              <a:latin typeface="Calibri"/>
              <a:ea typeface="Calibri"/>
              <a:cs typeface="Calibri"/>
              <a:sym typeface="Calibri"/>
            </a:endParaRPr>
          </a:p>
        </p:txBody>
      </p:sp>
      <p:pic>
        <p:nvPicPr>
          <p:cNvPr id="1744" name="Google Shape;1744;g3b75ff0c716_0_666"/>
          <p:cNvPicPr preferRelativeResize="0"/>
          <p:nvPr/>
        </p:nvPicPr>
        <p:blipFill rotWithShape="1">
          <a:blip r:embed="rId3">
            <a:alphaModFix/>
          </a:blip>
          <a:srcRect b="0" l="0" r="0" t="0"/>
          <a:stretch/>
        </p:blipFill>
        <p:spPr>
          <a:xfrm>
            <a:off x="512138" y="728733"/>
            <a:ext cx="1411724" cy="1123025"/>
          </a:xfrm>
          <a:prstGeom prst="rect">
            <a:avLst/>
          </a:prstGeom>
          <a:noFill/>
          <a:ln>
            <a:noFill/>
          </a:ln>
        </p:spPr>
      </p:pic>
      <p:pic>
        <p:nvPicPr>
          <p:cNvPr id="1745" name="Google Shape;1745;g3b75ff0c716_0_666"/>
          <p:cNvPicPr preferRelativeResize="0"/>
          <p:nvPr/>
        </p:nvPicPr>
        <p:blipFill rotWithShape="1">
          <a:blip r:embed="rId4">
            <a:alphaModFix/>
          </a:blip>
          <a:srcRect b="0" l="0" r="0" t="0"/>
          <a:stretch/>
        </p:blipFill>
        <p:spPr>
          <a:xfrm>
            <a:off x="82600" y="2198937"/>
            <a:ext cx="2444700" cy="384387"/>
          </a:xfrm>
          <a:prstGeom prst="rect">
            <a:avLst/>
          </a:prstGeom>
          <a:noFill/>
          <a:ln cap="flat" cmpd="sng" w="9525">
            <a:solidFill>
              <a:schemeClr val="dk1"/>
            </a:solidFill>
            <a:prstDash val="solid"/>
            <a:round/>
            <a:headEnd len="sm" w="sm" type="none"/>
            <a:tailEnd len="sm" w="sm" type="none"/>
          </a:ln>
        </p:spPr>
      </p:pic>
      <p:pic>
        <p:nvPicPr>
          <p:cNvPr id="1746" name="Google Shape;1746;g3b75ff0c716_0_666"/>
          <p:cNvPicPr preferRelativeResize="0"/>
          <p:nvPr/>
        </p:nvPicPr>
        <p:blipFill rotWithShape="1">
          <a:blip r:embed="rId5">
            <a:alphaModFix/>
          </a:blip>
          <a:srcRect b="0" l="0" r="0" t="0"/>
          <a:stretch/>
        </p:blipFill>
        <p:spPr>
          <a:xfrm>
            <a:off x="4649496" y="469592"/>
            <a:ext cx="365089" cy="1549600"/>
          </a:xfrm>
          <a:prstGeom prst="rect">
            <a:avLst/>
          </a:prstGeom>
          <a:noFill/>
          <a:ln>
            <a:noFill/>
          </a:ln>
        </p:spPr>
      </p:pic>
      <p:sp>
        <p:nvSpPr>
          <p:cNvPr id="1747" name="Google Shape;1747;g3b75ff0c716_0_666"/>
          <p:cNvSpPr txBox="1"/>
          <p:nvPr/>
        </p:nvSpPr>
        <p:spPr>
          <a:xfrm>
            <a:off x="4864295" y="431686"/>
            <a:ext cx="4026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s,a</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1" i="1"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000000"/>
                </a:solidFill>
                <a:latin typeface="Arial"/>
                <a:ea typeface="Arial"/>
                <a:cs typeface="Arial"/>
                <a:sym typeface="Arial"/>
              </a:rPr>
              <a:t>S</a:t>
            </a:r>
            <a:r>
              <a:rPr b="1" baseline="-25000" i="1" lang="en-US" sz="900" u="none" cap="none" strike="noStrike">
                <a:solidFill>
                  <a:srgbClr val="000000"/>
                </a:solidFill>
                <a:latin typeface="Arial"/>
                <a:ea typeface="Arial"/>
                <a:cs typeface="Arial"/>
                <a:sym typeface="Arial"/>
              </a:rPr>
              <a:t>T</a:t>
            </a:r>
            <a:r>
              <a:rPr b="1" i="1" lang="en-US" sz="900" u="none" cap="none" strike="noStrike">
                <a:solidFill>
                  <a:srgbClr val="000000"/>
                </a:solidFill>
                <a:latin typeface="Arial"/>
                <a:ea typeface="Arial"/>
                <a:cs typeface="Arial"/>
                <a:sym typeface="Arial"/>
              </a:rPr>
              <a:t> </a:t>
            </a:r>
            <a:endParaRPr b="1" i="1" sz="900" u="none" cap="none" strike="noStrike">
              <a:solidFill>
                <a:srgbClr val="000000"/>
              </a:solidFill>
              <a:latin typeface="Arial"/>
              <a:ea typeface="Arial"/>
              <a:cs typeface="Arial"/>
              <a:sym typeface="Arial"/>
            </a:endParaRPr>
          </a:p>
        </p:txBody>
      </p:sp>
      <p:pic>
        <p:nvPicPr>
          <p:cNvPr id="1748" name="Google Shape;1748;g3b75ff0c716_0_666"/>
          <p:cNvPicPr preferRelativeResize="0"/>
          <p:nvPr/>
        </p:nvPicPr>
        <p:blipFill rotWithShape="1">
          <a:blip r:embed="rId6">
            <a:alphaModFix/>
          </a:blip>
          <a:srcRect b="0" l="0" r="0" t="0"/>
          <a:stretch/>
        </p:blipFill>
        <p:spPr>
          <a:xfrm>
            <a:off x="4398324" y="2003917"/>
            <a:ext cx="1309687" cy="144036"/>
          </a:xfrm>
          <a:prstGeom prst="rect">
            <a:avLst/>
          </a:prstGeom>
          <a:noFill/>
          <a:ln cap="flat" cmpd="sng" w="9525">
            <a:solidFill>
              <a:schemeClr val="dk1"/>
            </a:solidFill>
            <a:prstDash val="solid"/>
            <a:round/>
            <a:headEnd len="sm" w="sm" type="none"/>
            <a:tailEnd len="sm" w="sm" type="none"/>
          </a:ln>
        </p:spPr>
      </p:pic>
      <p:pic>
        <p:nvPicPr>
          <p:cNvPr id="1749" name="Google Shape;1749;g3b75ff0c716_0_666"/>
          <p:cNvPicPr preferRelativeResize="0"/>
          <p:nvPr/>
        </p:nvPicPr>
        <p:blipFill rotWithShape="1">
          <a:blip r:embed="rId7">
            <a:alphaModFix/>
          </a:blip>
          <a:srcRect b="0" l="0" r="0" t="0"/>
          <a:stretch/>
        </p:blipFill>
        <p:spPr>
          <a:xfrm>
            <a:off x="2075931" y="617906"/>
            <a:ext cx="296650" cy="859679"/>
          </a:xfrm>
          <a:prstGeom prst="rect">
            <a:avLst/>
          </a:prstGeom>
          <a:noFill/>
          <a:ln>
            <a:noFill/>
          </a:ln>
        </p:spPr>
      </p:pic>
      <p:pic>
        <p:nvPicPr>
          <p:cNvPr id="1750" name="Google Shape;1750;g3b75ff0c716_0_666"/>
          <p:cNvPicPr preferRelativeResize="0"/>
          <p:nvPr/>
        </p:nvPicPr>
        <p:blipFill rotWithShape="1">
          <a:blip r:embed="rId8">
            <a:alphaModFix/>
          </a:blip>
          <a:srcRect b="0" l="0" r="0" t="0"/>
          <a:stretch/>
        </p:blipFill>
        <p:spPr>
          <a:xfrm>
            <a:off x="2476729" y="943647"/>
            <a:ext cx="720435" cy="908111"/>
          </a:xfrm>
          <a:prstGeom prst="rect">
            <a:avLst/>
          </a:prstGeom>
          <a:noFill/>
          <a:ln>
            <a:noFill/>
          </a:ln>
        </p:spPr>
      </p:pic>
      <p:pic>
        <p:nvPicPr>
          <p:cNvPr id="1751" name="Google Shape;1751;g3b75ff0c716_0_666"/>
          <p:cNvPicPr preferRelativeResize="0"/>
          <p:nvPr/>
        </p:nvPicPr>
        <p:blipFill rotWithShape="1">
          <a:blip r:embed="rId9">
            <a:alphaModFix/>
          </a:blip>
          <a:srcRect b="0" l="0" r="0" t="0"/>
          <a:stretch/>
        </p:blipFill>
        <p:spPr>
          <a:xfrm>
            <a:off x="3190917" y="1627933"/>
            <a:ext cx="944436" cy="896003"/>
          </a:xfrm>
          <a:prstGeom prst="rect">
            <a:avLst/>
          </a:prstGeom>
          <a:noFill/>
          <a:ln>
            <a:noFill/>
          </a:ln>
        </p:spPr>
      </p:pic>
      <p:pic>
        <p:nvPicPr>
          <p:cNvPr id="1752" name="Google Shape;1752;g3b75ff0c716_0_666"/>
          <p:cNvPicPr preferRelativeResize="0"/>
          <p:nvPr/>
        </p:nvPicPr>
        <p:blipFill rotWithShape="1">
          <a:blip r:embed="rId10">
            <a:alphaModFix/>
          </a:blip>
          <a:srcRect b="0" l="0" r="0" t="0"/>
          <a:stretch/>
        </p:blipFill>
        <p:spPr>
          <a:xfrm>
            <a:off x="2135398" y="502728"/>
            <a:ext cx="1812452" cy="129173"/>
          </a:xfrm>
          <a:prstGeom prst="rect">
            <a:avLst/>
          </a:prstGeom>
          <a:noFill/>
          <a:ln cap="flat" cmpd="sng" w="9525">
            <a:solidFill>
              <a:schemeClr val="dk1"/>
            </a:solidFill>
            <a:prstDash val="solid"/>
            <a:round/>
            <a:headEnd len="sm" w="sm" type="none"/>
            <a:tailEnd len="sm" w="sm" type="none"/>
          </a:ln>
        </p:spPr>
      </p:pic>
      <p:pic>
        <p:nvPicPr>
          <p:cNvPr id="1753" name="Google Shape;1753;g3b75ff0c716_0_666"/>
          <p:cNvPicPr preferRelativeResize="0"/>
          <p:nvPr/>
        </p:nvPicPr>
        <p:blipFill rotWithShape="1">
          <a:blip r:embed="rId11">
            <a:alphaModFix/>
          </a:blip>
          <a:srcRect b="0" l="0" r="11535" t="-7688"/>
          <a:stretch/>
        </p:blipFill>
        <p:spPr>
          <a:xfrm>
            <a:off x="2836946" y="2471808"/>
            <a:ext cx="1839048" cy="330902"/>
          </a:xfrm>
          <a:prstGeom prst="rect">
            <a:avLst/>
          </a:prstGeom>
          <a:noFill/>
          <a:ln cap="flat" cmpd="sng" w="9525">
            <a:solidFill>
              <a:schemeClr val="dk1"/>
            </a:solidFill>
            <a:prstDash val="solid"/>
            <a:round/>
            <a:headEnd len="sm" w="sm" type="none"/>
            <a:tailEnd len="sm" w="sm" type="none"/>
          </a:ln>
        </p:spPr>
      </p:pic>
      <p:pic>
        <p:nvPicPr>
          <p:cNvPr id="1754" name="Google Shape;1754;g3b75ff0c716_0_666"/>
          <p:cNvPicPr preferRelativeResize="0"/>
          <p:nvPr/>
        </p:nvPicPr>
        <p:blipFill rotWithShape="1">
          <a:blip r:embed="rId12">
            <a:alphaModFix/>
          </a:blip>
          <a:srcRect b="0" l="0" r="0" t="0"/>
          <a:stretch/>
        </p:blipFill>
        <p:spPr>
          <a:xfrm>
            <a:off x="2472271" y="854967"/>
            <a:ext cx="2128619" cy="132731"/>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